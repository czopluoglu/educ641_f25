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8648700" cy="6489700"/>
  <p:notesSz cx="8648700" cy="64897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49128" y="2011807"/>
            <a:ext cx="7356792" cy="1362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98257" y="3634232"/>
            <a:ext cx="6058535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#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#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32752" y="1492631"/>
            <a:ext cx="37649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457350" y="1492631"/>
            <a:ext cx="37649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#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8648700" cy="6486525"/>
          </a:xfrm>
          <a:custGeom>
            <a:avLst/>
            <a:gdLst/>
            <a:ahLst/>
            <a:cxnLst/>
            <a:rect l="l" t="t" r="r" b="b"/>
            <a:pathLst>
              <a:path w="8648700" h="6486525">
                <a:moveTo>
                  <a:pt x="8648699" y="6486524"/>
                </a:moveTo>
                <a:lnTo>
                  <a:pt x="0" y="64865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64865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#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#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206375"/>
            <a:ext cx="5531485" cy="425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8800" y="1195069"/>
            <a:ext cx="7360284" cy="4121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942717" y="6035421"/>
            <a:ext cx="2769616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32752" y="6035421"/>
            <a:ext cx="1990661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112174" y="6228353"/>
            <a:ext cx="359290" cy="157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#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simplypsychology.org/karl-popper.html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tandfonline.com/doi/full/10.1080/00031305.2016.1154108" TargetMode="Externa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8648700" cy="6486525"/>
          </a:xfrm>
          <a:custGeom>
            <a:avLst/>
            <a:gdLst/>
            <a:ahLst/>
            <a:cxnLst/>
            <a:rect l="l" t="t" r="r" b="b"/>
            <a:pathLst>
              <a:path w="8648700" h="6486525">
                <a:moveTo>
                  <a:pt x="8648699" y="6486524"/>
                </a:moveTo>
                <a:lnTo>
                  <a:pt x="0" y="64865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64865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8648700" cy="6486525"/>
            <a:chOff x="0" y="0"/>
            <a:chExt cx="8648700" cy="64865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67399" y="5610224"/>
              <a:ext cx="2381249" cy="48577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7624" y="47625"/>
              <a:ext cx="8553450" cy="6391275"/>
            </a:xfrm>
            <a:custGeom>
              <a:avLst/>
              <a:gdLst/>
              <a:ahLst/>
              <a:cxnLst/>
              <a:rect l="l" t="t" r="r" b="b"/>
              <a:pathLst>
                <a:path w="8553450" h="6391275">
                  <a:moveTo>
                    <a:pt x="0" y="0"/>
                  </a:moveTo>
                  <a:lnTo>
                    <a:pt x="8553449" y="0"/>
                  </a:lnTo>
                  <a:lnTo>
                    <a:pt x="8553449" y="6391274"/>
                  </a:lnTo>
                  <a:lnTo>
                    <a:pt x="0" y="6391274"/>
                  </a:lnTo>
                  <a:lnTo>
                    <a:pt x="0" y="0"/>
                  </a:lnTo>
                  <a:close/>
                </a:path>
              </a:pathLst>
            </a:custGeom>
            <a:ln w="95249">
              <a:solidFill>
                <a:srgbClr val="1546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654049" y="3235324"/>
            <a:ext cx="599376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500" spc="-175">
                <a:solidFill>
                  <a:srgbClr val="FFFFFF"/>
                </a:solidFill>
                <a:latin typeface="Trebuchet MS"/>
                <a:cs typeface="Trebuchet MS"/>
              </a:rPr>
              <a:t>Introduction</a:t>
            </a:r>
            <a:r>
              <a:rPr dirty="0" sz="4500" spc="-2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-22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4500" spc="-2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-180">
                <a:solidFill>
                  <a:srgbClr val="FFFFFF"/>
                </a:solidFill>
                <a:latin typeface="Trebuchet MS"/>
                <a:cs typeface="Trebuchet MS"/>
              </a:rPr>
              <a:t>Statistical </a:t>
            </a:r>
            <a:r>
              <a:rPr dirty="0" sz="4500" spc="-120">
                <a:solidFill>
                  <a:srgbClr val="FFFFFF"/>
                </a:solidFill>
                <a:latin typeface="Trebuchet MS"/>
                <a:cs typeface="Trebuchet MS"/>
              </a:rPr>
              <a:t>Inference</a:t>
            </a:r>
            <a:endParaRPr sz="45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54049" y="4959350"/>
            <a:ext cx="2713990" cy="1120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210">
                <a:solidFill>
                  <a:srgbClr val="FFFFFF"/>
                </a:solidFill>
                <a:latin typeface="Trebuchet MS"/>
                <a:cs typeface="Trebuchet MS"/>
              </a:rPr>
              <a:t>EDUC</a:t>
            </a:r>
            <a:r>
              <a:rPr dirty="0" sz="3000" spc="-1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000" spc="-320">
                <a:solidFill>
                  <a:srgbClr val="FFFFFF"/>
                </a:solidFill>
                <a:latin typeface="Trebuchet MS"/>
                <a:cs typeface="Trebuchet MS"/>
              </a:rPr>
              <a:t>641:</a:t>
            </a:r>
            <a:r>
              <a:rPr dirty="0" sz="3000" spc="-1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000" spc="-204">
                <a:solidFill>
                  <a:srgbClr val="FFFFFF"/>
                </a:solidFill>
                <a:latin typeface="Trebuchet MS"/>
                <a:cs typeface="Trebuchet MS"/>
              </a:rPr>
              <a:t>Week</a:t>
            </a:r>
            <a:r>
              <a:rPr dirty="0" sz="3000" spc="-1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000" spc="-5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dirty="0" sz="2250" spc="-130">
                <a:solidFill>
                  <a:srgbClr val="252629"/>
                </a:solidFill>
                <a:latin typeface="Trebuchet MS"/>
                <a:cs typeface="Trebuchet MS"/>
              </a:rPr>
              <a:t>Cengiz </a:t>
            </a:r>
            <a:r>
              <a:rPr dirty="0" sz="2250" spc="-10">
                <a:solidFill>
                  <a:srgbClr val="252629"/>
                </a:solidFill>
                <a:latin typeface="Trebuchet MS"/>
                <a:cs typeface="Trebuchet MS"/>
              </a:rPr>
              <a:t>Zopluoglu</a:t>
            </a:r>
            <a:endParaRPr sz="2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8800" y="206375"/>
            <a:ext cx="779780" cy="4254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75"/>
              <a:t>Goals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39800" y="795019"/>
            <a:ext cx="7113905" cy="207391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Trebuchet MS"/>
                <a:cs typeface="Trebuchet MS"/>
              </a:rPr>
              <a:t>Learn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make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claims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about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populations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using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-45">
                <a:latin typeface="Trebuchet MS"/>
                <a:cs typeface="Trebuchet MS"/>
              </a:rPr>
              <a:t>data,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underlying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logic </a:t>
            </a:r>
            <a:r>
              <a:rPr dirty="0" sz="1450">
                <a:latin typeface="Trebuchet MS"/>
                <a:cs typeface="Trebuchet MS"/>
              </a:rPr>
              <a:t>behind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Null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Hypothesis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Significance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Testing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(NHST).</a:t>
            </a:r>
            <a:endParaRPr sz="1450">
              <a:latin typeface="Trebuchet MS"/>
              <a:cs typeface="Trebuchet MS"/>
            </a:endParaRPr>
          </a:p>
          <a:p>
            <a:pPr marL="12700" marR="313055">
              <a:lnSpc>
                <a:spcPts val="3229"/>
              </a:lnSpc>
              <a:spcBef>
                <a:spcPts val="215"/>
              </a:spcBef>
            </a:pPr>
            <a:r>
              <a:rPr dirty="0" sz="1450" spc="-10">
                <a:latin typeface="Trebuchet MS"/>
                <a:cs typeface="Trebuchet MS"/>
              </a:rPr>
              <a:t>Formulate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hypotheses,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compute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statistics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p-</a:t>
            </a:r>
            <a:r>
              <a:rPr dirty="0" sz="1450" spc="-10">
                <a:latin typeface="Trebuchet MS"/>
                <a:cs typeface="Trebuchet MS"/>
              </a:rPr>
              <a:t>values,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20">
                <a:latin typeface="Trebuchet MS"/>
                <a:cs typeface="Trebuchet MS"/>
              </a:rPr>
              <a:t> interpret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results. </a:t>
            </a:r>
            <a:r>
              <a:rPr dirty="0" sz="1450" spc="-30">
                <a:latin typeface="Trebuchet MS"/>
                <a:cs typeface="Trebuchet MS"/>
              </a:rPr>
              <a:t>Practice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one-sample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70" i="1">
                <a:latin typeface="Lucida Sans"/>
                <a:cs typeface="Lucida Sans"/>
              </a:rPr>
              <a:t>z</a:t>
            </a:r>
            <a:r>
              <a:rPr dirty="0" sz="1450" spc="-70">
                <a:latin typeface="Trebuchet MS"/>
                <a:cs typeface="Trebuchet MS"/>
              </a:rPr>
              <a:t>-</a:t>
            </a:r>
            <a:r>
              <a:rPr dirty="0" sz="1450" spc="-10">
                <a:latin typeface="Trebuchet MS"/>
                <a:cs typeface="Trebuchet MS"/>
              </a:rPr>
              <a:t>test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gateway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</a:t>
            </a:r>
            <a:r>
              <a:rPr dirty="0" sz="1450">
                <a:latin typeface="Trebuchet MS"/>
                <a:cs typeface="Trebuchet MS"/>
              </a:rPr>
              <a:t>tests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10">
                <a:latin typeface="Trebuchet MS"/>
                <a:cs typeface="Trebuchet MS"/>
              </a:rPr>
              <a:t> beyond.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1450">
                <a:latin typeface="Trebuchet MS"/>
                <a:cs typeface="Trebuchet MS"/>
              </a:rPr>
              <a:t>Understand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Type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Type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II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errors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50">
                <a:latin typeface="Trebuchet MS"/>
                <a:cs typeface="Trebuchet MS"/>
              </a:rPr>
              <a:t>Understand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difference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between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one-tailed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10">
                <a:latin typeface="Trebuchet MS"/>
                <a:cs typeface="Trebuchet MS"/>
              </a:rPr>
              <a:t> two-</a:t>
            </a:r>
            <a:r>
              <a:rPr dirty="0" sz="1450">
                <a:latin typeface="Trebuchet MS"/>
                <a:cs typeface="Trebuchet MS"/>
              </a:rPr>
              <a:t>tailed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771524" y="15239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1524" y="19335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71524" y="23336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771524" y="27336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2663825"/>
            <a:ext cx="6076315" cy="12827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95"/>
              </a:spcBef>
            </a:pPr>
            <a:r>
              <a:rPr dirty="0" sz="4100" spc="-125">
                <a:solidFill>
                  <a:srgbClr val="FFFFFF"/>
                </a:solidFill>
              </a:rPr>
              <a:t>Null</a:t>
            </a:r>
            <a:r>
              <a:rPr dirty="0" sz="4100" spc="-245">
                <a:solidFill>
                  <a:srgbClr val="FFFFFF"/>
                </a:solidFill>
              </a:rPr>
              <a:t> </a:t>
            </a:r>
            <a:r>
              <a:rPr dirty="0" sz="4100" spc="-110">
                <a:solidFill>
                  <a:srgbClr val="FFFFFF"/>
                </a:solidFill>
              </a:rPr>
              <a:t>Hypothesis</a:t>
            </a:r>
            <a:r>
              <a:rPr dirty="0" sz="4100" spc="-240">
                <a:solidFill>
                  <a:srgbClr val="FFFFFF"/>
                </a:solidFill>
              </a:rPr>
              <a:t> </a:t>
            </a:r>
            <a:r>
              <a:rPr dirty="0" sz="4100" spc="-160">
                <a:solidFill>
                  <a:srgbClr val="FFFFFF"/>
                </a:solidFill>
              </a:rPr>
              <a:t>Significance </a:t>
            </a:r>
            <a:r>
              <a:rPr dirty="0" sz="4100" spc="-215">
                <a:solidFill>
                  <a:srgbClr val="FFFFFF"/>
                </a:solidFill>
              </a:rPr>
              <a:t>Testing</a:t>
            </a:r>
            <a:r>
              <a:rPr dirty="0" sz="4100" spc="-245">
                <a:solidFill>
                  <a:srgbClr val="FFFFFF"/>
                </a:solidFill>
              </a:rPr>
              <a:t> </a:t>
            </a:r>
            <a:r>
              <a:rPr dirty="0" sz="4100" spc="-60">
                <a:solidFill>
                  <a:srgbClr val="FFFFFF"/>
                </a:solidFill>
              </a:rPr>
              <a:t>(NHST)</a:t>
            </a:r>
            <a:endParaRPr sz="4100"/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60"/>
              <a:t>Why</a:t>
            </a:r>
            <a:r>
              <a:rPr dirty="0" spc="-120"/>
              <a:t> </a:t>
            </a:r>
            <a:r>
              <a:rPr dirty="0" spc="-105"/>
              <a:t>Statistical</a:t>
            </a:r>
            <a:r>
              <a:rPr dirty="0" spc="-114"/>
              <a:t> </a:t>
            </a:r>
            <a:r>
              <a:rPr dirty="0" spc="-90"/>
              <a:t>Inference?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39800" y="795019"/>
            <a:ext cx="7063740" cy="21120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30">
                <a:latin typeface="Trebuchet MS"/>
                <a:cs typeface="Trebuchet MS"/>
              </a:rPr>
              <a:t>We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almost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never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access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entire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population</a:t>
            </a:r>
            <a:endParaRPr sz="1450">
              <a:latin typeface="Trebuchet MS"/>
              <a:cs typeface="Trebuchet MS"/>
            </a:endParaRPr>
          </a:p>
          <a:p>
            <a:pPr marL="12700" marR="274320">
              <a:lnSpc>
                <a:spcPts val="1730"/>
              </a:lnSpc>
              <a:spcBef>
                <a:spcPts val="1475"/>
              </a:spcBef>
            </a:pPr>
            <a:r>
              <a:rPr dirty="0" sz="1450" spc="-30">
                <a:latin typeface="Trebuchet MS"/>
                <a:cs typeface="Trebuchet MS"/>
              </a:rPr>
              <a:t>We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work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(mostly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single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sample),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which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random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subsets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that </a:t>
            </a:r>
            <a:r>
              <a:rPr dirty="0" sz="1450" spc="-10">
                <a:latin typeface="Trebuchet MS"/>
                <a:cs typeface="Trebuchet MS"/>
              </a:rPr>
              <a:t>population.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730"/>
              </a:lnSpc>
              <a:spcBef>
                <a:spcPts val="1490"/>
              </a:spcBef>
            </a:pPr>
            <a:r>
              <a:rPr dirty="0" sz="1450">
                <a:latin typeface="Trebuchet MS"/>
                <a:cs typeface="Trebuchet MS"/>
              </a:rPr>
              <a:t>Samples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vary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another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(sampling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variability),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our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observed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statistics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70">
                <a:latin typeface="Trebuchet MS"/>
                <a:cs typeface="Trebuchet MS"/>
              </a:rPr>
              <a:t>(e.g.,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means)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will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also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vary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70">
                <a:latin typeface="Trebuchet MS"/>
                <a:cs typeface="Trebuchet MS"/>
              </a:rPr>
              <a:t>—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if</a:t>
            </a:r>
            <a:r>
              <a:rPr dirty="0" sz="1450">
                <a:latin typeface="Trebuchet MS"/>
                <a:cs typeface="Trebuchet MS"/>
              </a:rPr>
              <a:t> the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underlying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hasn’t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changed.</a:t>
            </a:r>
            <a:endParaRPr sz="1450">
              <a:latin typeface="Trebuchet MS"/>
              <a:cs typeface="Trebuchet MS"/>
            </a:endParaRPr>
          </a:p>
          <a:p>
            <a:pPr marL="12700" marR="139065">
              <a:lnSpc>
                <a:spcPts val="1730"/>
              </a:lnSpc>
              <a:spcBef>
                <a:spcPts val="1415"/>
              </a:spcBef>
            </a:pPr>
            <a:r>
              <a:rPr dirty="0" sz="1450" spc="-10">
                <a:latin typeface="Trebuchet MS"/>
                <a:cs typeface="Trebuchet MS"/>
              </a:rPr>
              <a:t>Inference</a:t>
            </a:r>
            <a:r>
              <a:rPr dirty="0" sz="1450">
                <a:latin typeface="Trebuchet MS"/>
                <a:cs typeface="Trebuchet MS"/>
              </a:rPr>
              <a:t> is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process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 using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information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 make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statements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about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unseen</a:t>
            </a:r>
            <a:r>
              <a:rPr dirty="0" sz="1450" spc="1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population.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771524" y="13049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1524" y="19335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71524" y="2552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50"/>
              <a:t>What</a:t>
            </a:r>
            <a:r>
              <a:rPr dirty="0" spc="-165"/>
              <a:t> </a:t>
            </a:r>
            <a:r>
              <a:rPr dirty="0"/>
              <a:t>is</a:t>
            </a:r>
            <a:r>
              <a:rPr dirty="0" spc="-160"/>
              <a:t> </a:t>
            </a:r>
            <a:r>
              <a:rPr dirty="0" spc="-90"/>
              <a:t>a</a:t>
            </a:r>
            <a:r>
              <a:rPr dirty="0" spc="-160"/>
              <a:t> </a:t>
            </a:r>
            <a:r>
              <a:rPr dirty="0" spc="-35"/>
              <a:t>hypothesis?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39800" y="795019"/>
            <a:ext cx="7103109" cy="37217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35" b="1">
                <a:latin typeface="Trebuchet MS"/>
                <a:cs typeface="Trebuchet MS"/>
              </a:rPr>
              <a:t>Research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Hypothesis:</a:t>
            </a:r>
            <a:r>
              <a:rPr dirty="0" sz="1450" spc="-4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claim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about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world.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substantive,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scientific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idea.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usually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expresses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“something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happening”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40">
                <a:latin typeface="Trebuchet MS"/>
                <a:cs typeface="Trebuchet MS"/>
              </a:rPr>
              <a:t>“there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difference/effect.”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730"/>
              </a:lnSpc>
              <a:spcBef>
                <a:spcPts val="1475"/>
              </a:spcBef>
            </a:pPr>
            <a:r>
              <a:rPr dirty="0" sz="1450" spc="-40" i="1">
                <a:latin typeface="Lucida Sans"/>
                <a:cs typeface="Lucida Sans"/>
              </a:rPr>
              <a:t>“Students</a:t>
            </a:r>
            <a:r>
              <a:rPr dirty="0" sz="1450" spc="-65" i="1">
                <a:latin typeface="Lucida Sans"/>
                <a:cs typeface="Lucida Sans"/>
              </a:rPr>
              <a:t> </a:t>
            </a:r>
            <a:r>
              <a:rPr dirty="0" sz="1450" spc="-70" i="1">
                <a:latin typeface="Lucida Sans"/>
                <a:cs typeface="Lucida Sans"/>
              </a:rPr>
              <a:t>who</a:t>
            </a:r>
            <a:r>
              <a:rPr dirty="0" sz="1450" spc="-60" i="1">
                <a:latin typeface="Lucida Sans"/>
                <a:cs typeface="Lucida Sans"/>
              </a:rPr>
              <a:t> </a:t>
            </a:r>
            <a:r>
              <a:rPr dirty="0" sz="1450" spc="-70" i="1">
                <a:latin typeface="Lucida Sans"/>
                <a:cs typeface="Lucida Sans"/>
              </a:rPr>
              <a:t>receive</a:t>
            </a:r>
            <a:r>
              <a:rPr dirty="0" sz="1450" spc="-65" i="1">
                <a:latin typeface="Lucida Sans"/>
                <a:cs typeface="Lucida Sans"/>
              </a:rPr>
              <a:t> </a:t>
            </a:r>
            <a:r>
              <a:rPr dirty="0" sz="1450" spc="-70" i="1">
                <a:latin typeface="Lucida Sans"/>
                <a:cs typeface="Lucida Sans"/>
              </a:rPr>
              <a:t>Cognitive</a:t>
            </a:r>
            <a:r>
              <a:rPr dirty="0" sz="1450" spc="-60" i="1">
                <a:latin typeface="Lucida Sans"/>
                <a:cs typeface="Lucida Sans"/>
              </a:rPr>
              <a:t> Behavioral </a:t>
            </a:r>
            <a:r>
              <a:rPr dirty="0" sz="1450" spc="-105" i="1">
                <a:latin typeface="Lucida Sans"/>
                <a:cs typeface="Lucida Sans"/>
              </a:rPr>
              <a:t>Therapy</a:t>
            </a:r>
            <a:r>
              <a:rPr dirty="0" sz="1450" spc="-65" i="1">
                <a:latin typeface="Lucida Sans"/>
                <a:cs typeface="Lucida Sans"/>
              </a:rPr>
              <a:t> </a:t>
            </a:r>
            <a:r>
              <a:rPr dirty="0" sz="1450" spc="-90" i="1">
                <a:latin typeface="Lucida Sans"/>
                <a:cs typeface="Lucida Sans"/>
              </a:rPr>
              <a:t>(CBT)</a:t>
            </a:r>
            <a:r>
              <a:rPr dirty="0" sz="1450" spc="-60" i="1">
                <a:latin typeface="Lucida Sans"/>
                <a:cs typeface="Lucida Sans"/>
              </a:rPr>
              <a:t> </a:t>
            </a:r>
            <a:r>
              <a:rPr dirty="0" sz="1450" spc="-80" i="1">
                <a:latin typeface="Lucida Sans"/>
                <a:cs typeface="Lucida Sans"/>
              </a:rPr>
              <a:t>have</a:t>
            </a:r>
            <a:r>
              <a:rPr dirty="0" sz="1450" spc="-60" i="1">
                <a:latin typeface="Lucida Sans"/>
                <a:cs typeface="Lucida Sans"/>
              </a:rPr>
              <a:t> </a:t>
            </a:r>
            <a:r>
              <a:rPr dirty="0" sz="1450" spc="-65" i="1">
                <a:latin typeface="Lucida Sans"/>
                <a:cs typeface="Lucida Sans"/>
              </a:rPr>
              <a:t>lower </a:t>
            </a:r>
            <a:r>
              <a:rPr dirty="0" sz="1450" spc="-50" i="1">
                <a:latin typeface="Lucida Sans"/>
                <a:cs typeface="Lucida Sans"/>
              </a:rPr>
              <a:t>test</a:t>
            </a:r>
            <a:r>
              <a:rPr dirty="0" sz="1450" spc="-60" i="1">
                <a:latin typeface="Lucida Sans"/>
                <a:cs typeface="Lucida Sans"/>
              </a:rPr>
              <a:t> </a:t>
            </a:r>
            <a:r>
              <a:rPr dirty="0" sz="1450" spc="-70" i="1">
                <a:latin typeface="Lucida Sans"/>
                <a:cs typeface="Lucida Sans"/>
              </a:rPr>
              <a:t>anxiety</a:t>
            </a:r>
            <a:r>
              <a:rPr dirty="0" sz="1450" spc="-60" i="1">
                <a:latin typeface="Lucida Sans"/>
                <a:cs typeface="Lucida Sans"/>
              </a:rPr>
              <a:t> </a:t>
            </a:r>
            <a:r>
              <a:rPr dirty="0" sz="1450" spc="-20" i="1">
                <a:latin typeface="Lucida Sans"/>
                <a:cs typeface="Lucida Sans"/>
              </a:rPr>
              <a:t>than</a:t>
            </a:r>
            <a:r>
              <a:rPr dirty="0" sz="1450" spc="-20" i="1">
                <a:latin typeface="Lucida Sans"/>
                <a:cs typeface="Lucida Sans"/>
              </a:rPr>
              <a:t> </a:t>
            </a:r>
            <a:r>
              <a:rPr dirty="0" sz="1450" spc="-70" i="1">
                <a:latin typeface="Lucida Sans"/>
                <a:cs typeface="Lucida Sans"/>
              </a:rPr>
              <a:t>before</a:t>
            </a:r>
            <a:r>
              <a:rPr dirty="0" sz="1450" spc="-60" i="1">
                <a:latin typeface="Lucida Sans"/>
                <a:cs typeface="Lucida San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therapy.”</a:t>
            </a:r>
            <a:endParaRPr sz="1450">
              <a:latin typeface="Lucida Sans"/>
              <a:cs typeface="Lucida Sans"/>
            </a:endParaRPr>
          </a:p>
          <a:p>
            <a:pPr marL="12700" marR="2332355">
              <a:lnSpc>
                <a:spcPts val="3150"/>
              </a:lnSpc>
              <a:spcBef>
                <a:spcPts val="280"/>
              </a:spcBef>
            </a:pPr>
            <a:r>
              <a:rPr dirty="0" sz="1450" spc="-20" b="1">
                <a:latin typeface="Trebuchet MS"/>
                <a:cs typeface="Trebuchet MS"/>
              </a:rPr>
              <a:t>Null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Hypothesis:</a:t>
            </a:r>
            <a:r>
              <a:rPr dirty="0" sz="1450" spc="-30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“no-</a:t>
            </a:r>
            <a:r>
              <a:rPr dirty="0" sz="1450" spc="-65">
                <a:latin typeface="Trebuchet MS"/>
                <a:cs typeface="Trebuchet MS"/>
              </a:rPr>
              <a:t>effect”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“no-</a:t>
            </a:r>
            <a:r>
              <a:rPr dirty="0" sz="1450" spc="-40">
                <a:latin typeface="Trebuchet MS"/>
                <a:cs typeface="Trebuchet MS"/>
              </a:rPr>
              <a:t>difference”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claim.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default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position.</a:t>
            </a:r>
            <a:endParaRPr sz="1450">
              <a:latin typeface="Trebuchet MS"/>
              <a:cs typeface="Trebuchet MS"/>
            </a:endParaRPr>
          </a:p>
          <a:p>
            <a:pPr marL="12700" marR="299720">
              <a:lnSpc>
                <a:spcPts val="1730"/>
              </a:lnSpc>
              <a:spcBef>
                <a:spcPts val="1135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>
                <a:latin typeface="Trebuchet MS"/>
                <a:cs typeface="Trebuchet MS"/>
              </a:rPr>
              <a:t> idea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nothing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systematic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changed,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any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observed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change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due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to </a:t>
            </a:r>
            <a:r>
              <a:rPr dirty="0" sz="1450">
                <a:latin typeface="Trebuchet MS"/>
                <a:cs typeface="Trebuchet MS"/>
              </a:rPr>
              <a:t>random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chance.</a:t>
            </a:r>
            <a:endParaRPr sz="1450">
              <a:latin typeface="Trebuchet MS"/>
              <a:cs typeface="Trebuchet MS"/>
            </a:endParaRPr>
          </a:p>
          <a:p>
            <a:pPr marL="12700" marR="395605">
              <a:lnSpc>
                <a:spcPts val="1730"/>
              </a:lnSpc>
              <a:spcBef>
                <a:spcPts val="1490"/>
              </a:spcBef>
            </a:pPr>
            <a:r>
              <a:rPr dirty="0" sz="1450" spc="-35" b="1">
                <a:latin typeface="Trebuchet MS"/>
                <a:cs typeface="Trebuchet MS"/>
              </a:rPr>
              <a:t>Scientific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reasoning: </a:t>
            </a:r>
            <a:r>
              <a:rPr dirty="0" sz="1450" spc="-30">
                <a:latin typeface="Trebuchet MS"/>
                <a:cs typeface="Trebuchet MS"/>
              </a:rPr>
              <a:t>We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attempt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falsify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null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hypothesis,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confirm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research</a:t>
            </a:r>
            <a:r>
              <a:rPr dirty="0" sz="1450" spc="-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hypothesis.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771524" y="27336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1524" y="41624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8800" y="206375"/>
            <a:ext cx="6722745" cy="82550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90"/>
              </a:spcBef>
            </a:pPr>
            <a:r>
              <a:rPr dirty="0" spc="-65"/>
              <a:t>Philosophy</a:t>
            </a:r>
            <a:r>
              <a:rPr dirty="0" spc="-140"/>
              <a:t> </a:t>
            </a:r>
            <a:r>
              <a:rPr dirty="0" spc="-70"/>
              <a:t>behind</a:t>
            </a:r>
            <a:r>
              <a:rPr dirty="0" spc="-135"/>
              <a:t> </a:t>
            </a:r>
            <a:r>
              <a:rPr dirty="0" spc="-65"/>
              <a:t>hypothesis</a:t>
            </a:r>
            <a:r>
              <a:rPr dirty="0" spc="-135"/>
              <a:t> </a:t>
            </a:r>
            <a:r>
              <a:rPr dirty="0" spc="-95"/>
              <a:t>testing</a:t>
            </a:r>
            <a:r>
              <a:rPr dirty="0" spc="-135"/>
              <a:t> </a:t>
            </a:r>
            <a:r>
              <a:rPr dirty="0" spc="-130"/>
              <a:t>(Hume</a:t>
            </a:r>
            <a:r>
              <a:rPr dirty="0" spc="-135"/>
              <a:t> </a:t>
            </a:r>
            <a:r>
              <a:rPr dirty="0" spc="-25"/>
              <a:t>and </a:t>
            </a:r>
            <a:r>
              <a:rPr dirty="0" spc="-10"/>
              <a:t>Popper)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771524" y="13049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1919287"/>
            <a:ext cx="66675" cy="666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2328862"/>
            <a:ext cx="66675" cy="666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2947987"/>
            <a:ext cx="66675" cy="66674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771524" y="3571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3967162"/>
            <a:ext cx="66675" cy="6667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4367212"/>
            <a:ext cx="66675" cy="6667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4776787"/>
            <a:ext cx="66675" cy="66674"/>
          </a:xfrm>
          <a:prstGeom prst="rect">
            <a:avLst/>
          </a:prstGeom>
        </p:spPr>
      </p:pic>
      <p:sp>
        <p:nvSpPr>
          <p:cNvPr id="12" name="object 1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393065" marR="198120">
              <a:lnSpc>
                <a:spcPts val="1730"/>
              </a:lnSpc>
              <a:spcBef>
                <a:spcPts val="155"/>
              </a:spcBef>
            </a:pPr>
            <a:r>
              <a:rPr dirty="0" spc="-25"/>
              <a:t>Hume's</a:t>
            </a:r>
            <a:r>
              <a:rPr dirty="0" spc="-75"/>
              <a:t> </a:t>
            </a:r>
            <a:r>
              <a:rPr dirty="0" spc="-50"/>
              <a:t>argument:</a:t>
            </a:r>
            <a:r>
              <a:rPr dirty="0" spc="-65"/>
              <a:t> </a:t>
            </a:r>
            <a:r>
              <a:rPr dirty="0" spc="-30"/>
              <a:t>Inductive</a:t>
            </a:r>
            <a:r>
              <a:rPr dirty="0" spc="-65"/>
              <a:t> </a:t>
            </a:r>
            <a:r>
              <a:rPr dirty="0" spc="-35"/>
              <a:t>reasoning,</a:t>
            </a:r>
            <a:r>
              <a:rPr dirty="0" spc="-60"/>
              <a:t> </a:t>
            </a:r>
            <a:r>
              <a:rPr dirty="0" spc="-25"/>
              <a:t>drawing</a:t>
            </a:r>
            <a:r>
              <a:rPr dirty="0" spc="-65"/>
              <a:t> </a:t>
            </a:r>
            <a:r>
              <a:rPr dirty="0" spc="-35"/>
              <a:t>general</a:t>
            </a:r>
            <a:r>
              <a:rPr dirty="0" spc="-65"/>
              <a:t> </a:t>
            </a:r>
            <a:r>
              <a:rPr dirty="0" spc="-10"/>
              <a:t>conclusions</a:t>
            </a:r>
            <a:r>
              <a:rPr dirty="0" spc="-65"/>
              <a:t> </a:t>
            </a:r>
            <a:r>
              <a:rPr dirty="0" spc="-45"/>
              <a:t>from</a:t>
            </a:r>
            <a:r>
              <a:rPr dirty="0" spc="-60"/>
              <a:t> </a:t>
            </a:r>
            <a:r>
              <a:rPr dirty="0" spc="-10"/>
              <a:t>specific </a:t>
            </a:r>
            <a:r>
              <a:rPr dirty="0" spc="-25"/>
              <a:t>observations,</a:t>
            </a:r>
            <a:r>
              <a:rPr dirty="0" spc="-65"/>
              <a:t> </a:t>
            </a:r>
            <a:r>
              <a:rPr dirty="0" spc="-35"/>
              <a:t>can</a:t>
            </a:r>
            <a:r>
              <a:rPr dirty="0" spc="-65"/>
              <a:t> </a:t>
            </a:r>
            <a:r>
              <a:rPr dirty="0" spc="-55"/>
              <a:t>never</a:t>
            </a:r>
            <a:r>
              <a:rPr dirty="0" spc="-65"/>
              <a:t> </a:t>
            </a:r>
            <a:r>
              <a:rPr dirty="0" spc="-45"/>
              <a:t>prove</a:t>
            </a:r>
            <a:r>
              <a:rPr dirty="0" spc="-65"/>
              <a:t> </a:t>
            </a:r>
            <a:r>
              <a:rPr dirty="0"/>
              <a:t>a</a:t>
            </a:r>
            <a:r>
              <a:rPr dirty="0" spc="-65"/>
              <a:t> </a:t>
            </a:r>
            <a:r>
              <a:rPr dirty="0" spc="-30"/>
              <a:t>universal</a:t>
            </a:r>
            <a:r>
              <a:rPr dirty="0" spc="-65"/>
              <a:t> </a:t>
            </a:r>
            <a:r>
              <a:rPr dirty="0" spc="-10"/>
              <a:t>truth</a:t>
            </a:r>
          </a:p>
          <a:p>
            <a:pPr marL="774065">
              <a:lnSpc>
                <a:spcPct val="100000"/>
              </a:lnSpc>
              <a:spcBef>
                <a:spcPts val="1350"/>
              </a:spcBef>
            </a:pPr>
            <a:r>
              <a:rPr dirty="0" b="0">
                <a:latin typeface="Trebuchet MS"/>
                <a:cs typeface="Trebuchet MS"/>
              </a:rPr>
              <a:t>How</a:t>
            </a:r>
            <a:r>
              <a:rPr dirty="0" spc="-4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to</a:t>
            </a:r>
            <a:r>
              <a:rPr dirty="0" spc="-3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prove</a:t>
            </a:r>
            <a:r>
              <a:rPr dirty="0" spc="-3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the</a:t>
            </a:r>
            <a:r>
              <a:rPr dirty="0" spc="-40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statement</a:t>
            </a:r>
            <a:r>
              <a:rPr dirty="0" spc="-3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"All</a:t>
            </a:r>
            <a:r>
              <a:rPr dirty="0" spc="-3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swans</a:t>
            </a:r>
            <a:r>
              <a:rPr dirty="0" spc="-4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are</a:t>
            </a:r>
            <a:r>
              <a:rPr dirty="0" spc="-35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white."?</a:t>
            </a:r>
          </a:p>
          <a:p>
            <a:pPr marL="774065" marR="5080">
              <a:lnSpc>
                <a:spcPts val="1730"/>
              </a:lnSpc>
              <a:spcBef>
                <a:spcPts val="1550"/>
              </a:spcBef>
            </a:pPr>
            <a:r>
              <a:rPr dirty="0" spc="55" b="0">
                <a:latin typeface="Trebuchet MS"/>
                <a:cs typeface="Trebuchet MS"/>
              </a:rPr>
              <a:t>No</a:t>
            </a:r>
            <a:r>
              <a:rPr dirty="0" spc="1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amount</a:t>
            </a:r>
            <a:r>
              <a:rPr dirty="0" spc="1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of</a:t>
            </a:r>
            <a:r>
              <a:rPr dirty="0" spc="1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observations</a:t>
            </a:r>
            <a:r>
              <a:rPr dirty="0" spc="1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of</a:t>
            </a:r>
            <a:r>
              <a:rPr dirty="0" spc="10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white</a:t>
            </a:r>
            <a:r>
              <a:rPr dirty="0" spc="1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swans</a:t>
            </a:r>
            <a:r>
              <a:rPr dirty="0" spc="15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will</a:t>
            </a:r>
            <a:r>
              <a:rPr dirty="0" spc="1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prove</a:t>
            </a:r>
            <a:r>
              <a:rPr dirty="0" spc="1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this</a:t>
            </a:r>
            <a:r>
              <a:rPr dirty="0" spc="1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unless</a:t>
            </a:r>
            <a:r>
              <a:rPr dirty="0" spc="15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we</a:t>
            </a:r>
            <a:r>
              <a:rPr dirty="0" spc="1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observe</a:t>
            </a:r>
            <a:r>
              <a:rPr dirty="0" spc="10" b="0">
                <a:latin typeface="Trebuchet MS"/>
                <a:cs typeface="Trebuchet MS"/>
              </a:rPr>
              <a:t> </a:t>
            </a:r>
            <a:r>
              <a:rPr dirty="0" spc="-25" b="0">
                <a:latin typeface="Trebuchet MS"/>
                <a:cs typeface="Trebuchet MS"/>
              </a:rPr>
              <a:t>all </a:t>
            </a:r>
            <a:r>
              <a:rPr dirty="0" b="0">
                <a:latin typeface="Trebuchet MS"/>
                <a:cs typeface="Trebuchet MS"/>
              </a:rPr>
              <a:t>swans,</a:t>
            </a:r>
            <a:r>
              <a:rPr dirty="0" spc="-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including the ones</a:t>
            </a:r>
            <a:r>
              <a:rPr dirty="0" spc="-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not </a:t>
            </a:r>
            <a:r>
              <a:rPr dirty="0" spc="-20" b="0">
                <a:latin typeface="Trebuchet MS"/>
                <a:cs typeface="Trebuchet MS"/>
              </a:rPr>
              <a:t>yet</a:t>
            </a:r>
            <a:r>
              <a:rPr dirty="0" b="0">
                <a:latin typeface="Trebuchet MS"/>
                <a:cs typeface="Trebuchet MS"/>
              </a:rPr>
              <a:t> </a:t>
            </a:r>
            <a:r>
              <a:rPr dirty="0" spc="-20" b="0">
                <a:latin typeface="Trebuchet MS"/>
                <a:cs typeface="Trebuchet MS"/>
              </a:rPr>
              <a:t>born.</a:t>
            </a:r>
          </a:p>
          <a:p>
            <a:pPr marL="774065" marR="18415">
              <a:lnSpc>
                <a:spcPts val="1720"/>
              </a:lnSpc>
              <a:spcBef>
                <a:spcPts val="1425"/>
              </a:spcBef>
            </a:pPr>
            <a:r>
              <a:rPr dirty="0" b="0">
                <a:latin typeface="Trebuchet MS"/>
                <a:cs typeface="Trebuchet MS"/>
              </a:rPr>
              <a:t>On</a:t>
            </a:r>
            <a:r>
              <a:rPr dirty="0" spc="-2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the</a:t>
            </a:r>
            <a:r>
              <a:rPr dirty="0" spc="-2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other</a:t>
            </a:r>
            <a:r>
              <a:rPr dirty="0" spc="-2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hand,</a:t>
            </a:r>
            <a:r>
              <a:rPr dirty="0" spc="-2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the</a:t>
            </a:r>
            <a:r>
              <a:rPr dirty="0" spc="-2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observation</a:t>
            </a:r>
            <a:r>
              <a:rPr dirty="0" spc="-2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of</a:t>
            </a:r>
            <a:r>
              <a:rPr dirty="0" spc="-2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a</a:t>
            </a:r>
            <a:r>
              <a:rPr dirty="0" spc="-2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single</a:t>
            </a:r>
            <a:r>
              <a:rPr dirty="0" spc="-2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black</a:t>
            </a:r>
            <a:r>
              <a:rPr dirty="0" spc="-2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swan</a:t>
            </a:r>
            <a:r>
              <a:rPr dirty="0" spc="-2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is</a:t>
            </a:r>
            <a:r>
              <a:rPr dirty="0" spc="-20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sufficient</a:t>
            </a:r>
            <a:r>
              <a:rPr dirty="0" spc="-2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to</a:t>
            </a:r>
            <a:r>
              <a:rPr dirty="0" spc="-25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falsify </a:t>
            </a:r>
            <a:r>
              <a:rPr dirty="0" b="0">
                <a:latin typeface="Trebuchet MS"/>
                <a:cs typeface="Trebuchet MS"/>
              </a:rPr>
              <a:t>this</a:t>
            </a:r>
            <a:r>
              <a:rPr dirty="0" spc="10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statement.</a:t>
            </a:r>
          </a:p>
          <a:p>
            <a:pPr marL="393065">
              <a:lnSpc>
                <a:spcPct val="100000"/>
              </a:lnSpc>
              <a:spcBef>
                <a:spcPts val="1360"/>
              </a:spcBef>
            </a:pPr>
            <a:r>
              <a:rPr dirty="0" spc="-10"/>
              <a:t>Popper's</a:t>
            </a:r>
            <a:r>
              <a:rPr dirty="0" spc="-65"/>
              <a:t> </a:t>
            </a:r>
            <a:r>
              <a:rPr dirty="0" spc="-35"/>
              <a:t>solution:</a:t>
            </a:r>
            <a:r>
              <a:rPr dirty="0" spc="-65"/>
              <a:t> </a:t>
            </a:r>
            <a:r>
              <a:rPr dirty="0" spc="-10"/>
              <a:t>Progress</a:t>
            </a:r>
            <a:r>
              <a:rPr dirty="0" spc="-65"/>
              <a:t> </a:t>
            </a:r>
            <a:r>
              <a:rPr dirty="0" spc="-20"/>
              <a:t>by</a:t>
            </a:r>
            <a:r>
              <a:rPr dirty="0" spc="-65"/>
              <a:t> </a:t>
            </a:r>
            <a:r>
              <a:rPr dirty="0" spc="-10"/>
              <a:t>falsification</a:t>
            </a:r>
          </a:p>
          <a:p>
            <a:pPr marL="774065" marR="558800">
              <a:lnSpc>
                <a:spcPct val="181000"/>
              </a:lnSpc>
            </a:pPr>
            <a:r>
              <a:rPr dirty="0" spc="-30" b="0">
                <a:latin typeface="Trebuchet MS"/>
                <a:cs typeface="Trebuchet MS"/>
              </a:rPr>
              <a:t>We</a:t>
            </a:r>
            <a:r>
              <a:rPr dirty="0" spc="-2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can</a:t>
            </a:r>
            <a:r>
              <a:rPr dirty="0" spc="-2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advance</a:t>
            </a:r>
            <a:r>
              <a:rPr dirty="0" spc="-25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scientific</a:t>
            </a:r>
            <a:r>
              <a:rPr dirty="0" spc="-2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knowledge</a:t>
            </a:r>
            <a:r>
              <a:rPr dirty="0" spc="-2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by</a:t>
            </a:r>
            <a:r>
              <a:rPr dirty="0" spc="-2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showing</a:t>
            </a:r>
            <a:r>
              <a:rPr dirty="0" spc="-2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what</a:t>
            </a:r>
            <a:r>
              <a:rPr dirty="0" spc="-2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theories</a:t>
            </a:r>
            <a:r>
              <a:rPr dirty="0" spc="-2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are</a:t>
            </a:r>
            <a:r>
              <a:rPr dirty="0" spc="-20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false. </a:t>
            </a:r>
            <a:r>
              <a:rPr dirty="0" b="0">
                <a:latin typeface="Trebuchet MS"/>
                <a:cs typeface="Trebuchet MS"/>
              </a:rPr>
              <a:t>Theories</a:t>
            </a:r>
            <a:r>
              <a:rPr dirty="0" spc="-1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must</a:t>
            </a:r>
            <a:r>
              <a:rPr dirty="0" spc="-1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be</a:t>
            </a:r>
            <a:r>
              <a:rPr dirty="0" spc="-5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falsifiable </a:t>
            </a:r>
            <a:r>
              <a:rPr dirty="0" b="0">
                <a:latin typeface="Trebuchet MS"/>
                <a:cs typeface="Trebuchet MS"/>
              </a:rPr>
              <a:t>to</a:t>
            </a:r>
            <a:r>
              <a:rPr dirty="0" spc="-1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be</a:t>
            </a:r>
            <a:r>
              <a:rPr dirty="0" spc="-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considered</a:t>
            </a:r>
            <a:r>
              <a:rPr dirty="0" spc="-1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as</a:t>
            </a:r>
            <a:r>
              <a:rPr dirty="0" spc="-5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scientific</a:t>
            </a:r>
          </a:p>
          <a:p>
            <a:pPr marL="12700" marR="2966085" indent="762000">
              <a:lnSpc>
                <a:spcPct val="181000"/>
              </a:lnSpc>
              <a:spcBef>
                <a:spcPts val="75"/>
              </a:spcBef>
            </a:pPr>
            <a:r>
              <a:rPr dirty="0" b="0">
                <a:latin typeface="Trebuchet MS"/>
                <a:cs typeface="Trebuchet MS"/>
              </a:rPr>
              <a:t>Science</a:t>
            </a:r>
            <a:r>
              <a:rPr dirty="0" spc="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progresses</a:t>
            </a:r>
            <a:r>
              <a:rPr dirty="0" spc="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by</a:t>
            </a:r>
            <a:r>
              <a:rPr dirty="0" spc="10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ruling</a:t>
            </a:r>
            <a:r>
              <a:rPr dirty="0" spc="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out</a:t>
            </a:r>
            <a:r>
              <a:rPr dirty="0" spc="5" b="0">
                <a:latin typeface="Trebuchet MS"/>
                <a:cs typeface="Trebuchet MS"/>
              </a:rPr>
              <a:t> </a:t>
            </a:r>
            <a:r>
              <a:rPr dirty="0" b="0">
                <a:latin typeface="Trebuchet MS"/>
                <a:cs typeface="Trebuchet MS"/>
              </a:rPr>
              <a:t>false</a:t>
            </a:r>
            <a:r>
              <a:rPr dirty="0" spc="10" b="0">
                <a:latin typeface="Trebuchet MS"/>
                <a:cs typeface="Trebuchet MS"/>
              </a:rPr>
              <a:t> </a:t>
            </a:r>
            <a:r>
              <a:rPr dirty="0" spc="-10" b="0">
                <a:latin typeface="Trebuchet MS"/>
                <a:cs typeface="Trebuchet MS"/>
              </a:rPr>
              <a:t>ideas </a:t>
            </a:r>
            <a:r>
              <a:rPr dirty="0" spc="-25" b="0">
                <a:solidFill>
                  <a:srgbClr val="3F97B4"/>
                </a:solidFill>
                <a:latin typeface="Trebuchet MS"/>
                <a:cs typeface="Trebuchet MS"/>
                <a:hlinkClick r:id="rId4"/>
              </a:rPr>
              <a:t>https://www.simplypsychology.org/karl-</a:t>
            </a:r>
            <a:r>
              <a:rPr dirty="0" spc="-10" b="0">
                <a:solidFill>
                  <a:srgbClr val="3F97B4"/>
                </a:solidFill>
                <a:latin typeface="Trebuchet MS"/>
                <a:cs typeface="Trebuchet MS"/>
                <a:hlinkClick r:id="rId4"/>
              </a:rPr>
              <a:t>popper.html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1499" y="1038224"/>
            <a:ext cx="7505700" cy="9525"/>
          </a:xfrm>
          <a:custGeom>
            <a:avLst/>
            <a:gdLst/>
            <a:ahLst/>
            <a:cxnLst/>
            <a:rect l="l" t="t" r="r" b="b"/>
            <a:pathLst>
              <a:path w="7505700" h="9525">
                <a:moveTo>
                  <a:pt x="7505699" y="9524"/>
                </a:moveTo>
                <a:lnTo>
                  <a:pt x="0" y="9524"/>
                </a:lnTo>
                <a:lnTo>
                  <a:pt x="0" y="0"/>
                </a:lnTo>
                <a:lnTo>
                  <a:pt x="7505699" y="0"/>
                </a:lnTo>
                <a:lnTo>
                  <a:pt x="7505699" y="95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71499" y="4933949"/>
            <a:ext cx="7505700" cy="9525"/>
          </a:xfrm>
          <a:custGeom>
            <a:avLst/>
            <a:gdLst/>
            <a:ahLst/>
            <a:cxnLst/>
            <a:rect l="l" t="t" r="r" b="b"/>
            <a:pathLst>
              <a:path w="7505700" h="9525">
                <a:moveTo>
                  <a:pt x="7505699" y="9524"/>
                </a:moveTo>
                <a:lnTo>
                  <a:pt x="0" y="9524"/>
                </a:lnTo>
                <a:lnTo>
                  <a:pt x="0" y="0"/>
                </a:lnTo>
                <a:lnTo>
                  <a:pt x="7505699" y="0"/>
                </a:lnTo>
                <a:lnTo>
                  <a:pt x="7505699" y="95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590549" y="1066799"/>
          <a:ext cx="7543800" cy="3845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9175"/>
                <a:gridCol w="2514600"/>
                <a:gridCol w="1962150"/>
                <a:gridCol w="1971675"/>
              </a:tblGrid>
              <a:tr h="537845"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-10" b="1">
                          <a:latin typeface="Trebuchet MS"/>
                          <a:cs typeface="Trebuchet MS"/>
                        </a:rPr>
                        <a:t>Domain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149225"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-35" b="1">
                          <a:latin typeface="Trebuchet MS"/>
                          <a:cs typeface="Trebuchet MS"/>
                        </a:rPr>
                        <a:t>Research</a:t>
                      </a:r>
                      <a:r>
                        <a:rPr dirty="0" sz="1450" spc="-7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 b="1">
                          <a:latin typeface="Trebuchet MS"/>
                          <a:cs typeface="Trebuchet MS"/>
                        </a:rPr>
                        <a:t>Hypothesis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1492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2321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450" spc="-20" b="1">
                          <a:latin typeface="Trebuchet MS"/>
                          <a:cs typeface="Trebuchet MS"/>
                        </a:rPr>
                        <a:t>Null</a:t>
                      </a:r>
                      <a:r>
                        <a:rPr dirty="0" sz="1450" spc="-7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 b="1">
                          <a:latin typeface="Trebuchet MS"/>
                          <a:cs typeface="Trebuchet MS"/>
                        </a:rPr>
                        <a:t>Hypothesis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1492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716280" marR="244475" indent="-455295">
                        <a:lnSpc>
                          <a:spcPts val="1730"/>
                        </a:lnSpc>
                        <a:spcBef>
                          <a:spcPts val="340"/>
                        </a:spcBef>
                      </a:pPr>
                      <a:r>
                        <a:rPr dirty="0" sz="1450" spc="-35" b="1">
                          <a:latin typeface="Trebuchet MS"/>
                          <a:cs typeface="Trebuchet MS"/>
                        </a:rPr>
                        <a:t>What</a:t>
                      </a:r>
                      <a:r>
                        <a:rPr dirty="0" sz="1450" spc="-9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5" b="1">
                          <a:latin typeface="Trebuchet MS"/>
                          <a:cs typeface="Trebuchet MS"/>
                        </a:rPr>
                        <a:t>falsification </a:t>
                      </a:r>
                      <a:r>
                        <a:rPr dirty="0" sz="1450" spc="-20" b="1">
                          <a:latin typeface="Trebuchet MS"/>
                          <a:cs typeface="Trebuchet MS"/>
                        </a:rPr>
                        <a:t>means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3180">
                    <a:lnL w="19050">
                      <a:solidFill>
                        <a:srgbClr val="FFFFFF"/>
                      </a:solidFill>
                      <a:prstDash val="solid"/>
                    </a:lnL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795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Medicine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6040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0325" marR="400050">
                        <a:lnSpc>
                          <a:spcPts val="1730"/>
                        </a:lnSpc>
                        <a:spcBef>
                          <a:spcPts val="525"/>
                        </a:spcBef>
                      </a:pPr>
                      <a:r>
                        <a:rPr dirty="0" sz="145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45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new</a:t>
                      </a:r>
                      <a:r>
                        <a:rPr dirty="0" sz="145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drug</a:t>
                      </a:r>
                      <a:r>
                        <a:rPr dirty="0" sz="145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lowers</a:t>
                      </a:r>
                      <a:r>
                        <a:rPr dirty="0" sz="145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0">
                          <a:latin typeface="Trebuchet MS"/>
                          <a:cs typeface="Trebuchet MS"/>
                        </a:rPr>
                        <a:t>blood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pressure</a:t>
                      </a:r>
                      <a:r>
                        <a:rPr dirty="0" sz="14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compared</a:t>
                      </a:r>
                      <a:r>
                        <a:rPr dirty="0" sz="14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5">
                          <a:latin typeface="Trebuchet MS"/>
                          <a:cs typeface="Trebuchet MS"/>
                        </a:rPr>
                        <a:t>to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placebo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66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150" marR="92710">
                        <a:lnSpc>
                          <a:spcPts val="1730"/>
                        </a:lnSpc>
                        <a:spcBef>
                          <a:spcPts val="525"/>
                        </a:spcBef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 drug and</a:t>
                      </a:r>
                      <a:r>
                        <a:rPr dirty="0" sz="145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placebo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have</a:t>
                      </a:r>
                      <a:r>
                        <a:rPr dirty="0" sz="145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145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same</a:t>
                      </a:r>
                      <a:r>
                        <a:rPr dirty="0" sz="145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0">
                          <a:latin typeface="Trebuchet MS"/>
                          <a:cs typeface="Trebuchet MS"/>
                        </a:rPr>
                        <a:t>mean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blood</a:t>
                      </a:r>
                      <a:r>
                        <a:rPr dirty="0" sz="1450" spc="1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pressure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66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just" marL="57150" marR="123825">
                        <a:lnSpc>
                          <a:spcPts val="1730"/>
                        </a:lnSpc>
                        <a:spcBef>
                          <a:spcPts val="525"/>
                        </a:spcBef>
                      </a:pPr>
                      <a:r>
                        <a:rPr dirty="0" sz="1450" spc="-20">
                          <a:latin typeface="Trebuchet MS"/>
                          <a:cs typeface="Trebuchet MS"/>
                        </a:rPr>
                        <a:t>Rejecting</a:t>
                      </a:r>
                      <a:r>
                        <a:rPr dirty="0" sz="145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H</a:t>
                      </a:r>
                      <a:r>
                        <a:rPr dirty="0" sz="1450">
                          <a:latin typeface="Times New Roman"/>
                          <a:cs typeface="Times New Roman"/>
                        </a:rPr>
                        <a:t>₀</a:t>
                      </a:r>
                      <a:r>
                        <a:rPr dirty="0" sz="145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suggests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the drug </a:t>
                      </a:r>
                      <a:r>
                        <a:rPr dirty="0" sz="1450" spc="-45" i="1">
                          <a:latin typeface="Lucida Sans"/>
                          <a:cs typeface="Lucida Sans"/>
                        </a:rPr>
                        <a:t>likely</a:t>
                      </a:r>
                      <a:r>
                        <a:rPr dirty="0" sz="1450" spc="-20" i="1"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has </a:t>
                      </a:r>
                      <a:r>
                        <a:rPr dirty="0" sz="1450" spc="-25">
                          <a:latin typeface="Trebuchet MS"/>
                          <a:cs typeface="Trebuchet MS"/>
                        </a:rPr>
                        <a:t>an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effect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6675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970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Education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156210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172720">
                        <a:lnSpc>
                          <a:spcPts val="1720"/>
                        </a:lnSpc>
                        <a:spcBef>
                          <a:spcPts val="350"/>
                        </a:spcBef>
                      </a:pPr>
                      <a:r>
                        <a:rPr dirty="0" sz="1450">
                          <a:latin typeface="Trebuchet MS"/>
                          <a:cs typeface="Trebuchet MS"/>
                        </a:rPr>
                        <a:t>Students taught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with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active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learning</a:t>
                      </a:r>
                      <a:r>
                        <a:rPr dirty="0" sz="14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score</a:t>
                      </a:r>
                      <a:r>
                        <a:rPr dirty="0" sz="14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higher</a:t>
                      </a:r>
                      <a:r>
                        <a:rPr dirty="0" sz="1450" spc="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0">
                          <a:latin typeface="Trebuchet MS"/>
                          <a:cs typeface="Trebuchet MS"/>
                        </a:rPr>
                        <a:t>than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those</a:t>
                      </a:r>
                      <a:r>
                        <a:rPr dirty="0" sz="14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with</a:t>
                      </a:r>
                      <a:r>
                        <a:rPr dirty="0" sz="145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0">
                          <a:latin typeface="Trebuchet MS"/>
                          <a:cs typeface="Trebuchet MS"/>
                        </a:rPr>
                        <a:t>lecture-only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teaching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127000">
                        <a:lnSpc>
                          <a:spcPts val="1730"/>
                        </a:lnSpc>
                        <a:spcBef>
                          <a:spcPts val="1240"/>
                        </a:spcBef>
                      </a:pPr>
                      <a:r>
                        <a:rPr dirty="0" sz="1450">
                          <a:latin typeface="Trebuchet MS"/>
                          <a:cs typeface="Trebuchet MS"/>
                        </a:rPr>
                        <a:t>Both</a:t>
                      </a:r>
                      <a:r>
                        <a:rPr dirty="0" sz="1450" spc="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groups</a:t>
                      </a:r>
                      <a:r>
                        <a:rPr dirty="0" sz="1450" spc="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have</a:t>
                      </a:r>
                      <a:r>
                        <a:rPr dirty="0" sz="1450" spc="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5">
                          <a:latin typeface="Trebuchet MS"/>
                          <a:cs typeface="Trebuchet MS"/>
                        </a:rPr>
                        <a:t>the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same</a:t>
                      </a:r>
                      <a:r>
                        <a:rPr dirty="0" sz="14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mean</a:t>
                      </a:r>
                      <a:r>
                        <a:rPr dirty="0" sz="14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0">
                          <a:latin typeface="Trebuchet MS"/>
                          <a:cs typeface="Trebuchet MS"/>
                        </a:rPr>
                        <a:t>test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scores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1574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57150" marR="116205">
                        <a:lnSpc>
                          <a:spcPts val="1730"/>
                        </a:lnSpc>
                        <a:spcBef>
                          <a:spcPts val="1240"/>
                        </a:spcBef>
                      </a:pPr>
                      <a:r>
                        <a:rPr dirty="0" sz="1450" spc="-20">
                          <a:latin typeface="Trebuchet MS"/>
                          <a:cs typeface="Trebuchet MS"/>
                        </a:rPr>
                        <a:t>Rejecting</a:t>
                      </a:r>
                      <a:r>
                        <a:rPr dirty="0" sz="145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H</a:t>
                      </a:r>
                      <a:r>
                        <a:rPr dirty="0" sz="1450">
                          <a:latin typeface="Times New Roman"/>
                          <a:cs typeface="Times New Roman"/>
                        </a:rPr>
                        <a:t>₀</a:t>
                      </a:r>
                      <a:r>
                        <a:rPr dirty="0" sz="145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supports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that</a:t>
                      </a:r>
                      <a:r>
                        <a:rPr dirty="0" sz="1450" spc="-8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teaching</a:t>
                      </a:r>
                      <a:r>
                        <a:rPr dirty="0" sz="1450" spc="-8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method likely</a:t>
                      </a:r>
                      <a:r>
                        <a:rPr dirty="0" sz="1450" spc="-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matters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15748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789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dirty="0" sz="1450" spc="-10">
                          <a:latin typeface="Trebuchet MS"/>
                          <a:cs typeface="Trebuchet MS"/>
                        </a:rPr>
                        <a:t>Psychology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096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0325" marR="147320">
                        <a:lnSpc>
                          <a:spcPts val="1730"/>
                        </a:lnSpc>
                        <a:spcBef>
                          <a:spcPts val="490"/>
                        </a:spcBef>
                      </a:pPr>
                      <a:r>
                        <a:rPr dirty="0" sz="1450">
                          <a:latin typeface="Trebuchet MS"/>
                          <a:cs typeface="Trebuchet MS"/>
                        </a:rPr>
                        <a:t>People</a:t>
                      </a:r>
                      <a:r>
                        <a:rPr dirty="0" sz="145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recognize</a:t>
                      </a:r>
                      <a:r>
                        <a:rPr dirty="0" sz="145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emotional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words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0">
                          <a:latin typeface="Trebuchet MS"/>
                          <a:cs typeface="Trebuchet MS"/>
                        </a:rPr>
                        <a:t>faster</a:t>
                      </a:r>
                      <a:r>
                        <a:rPr dirty="0" sz="145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than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 neutral words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22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marR="250190">
                        <a:lnSpc>
                          <a:spcPts val="1730"/>
                        </a:lnSpc>
                        <a:spcBef>
                          <a:spcPts val="490"/>
                        </a:spcBef>
                      </a:pPr>
                      <a:r>
                        <a:rPr dirty="0" sz="1450">
                          <a:latin typeface="Trebuchet MS"/>
                          <a:cs typeface="Trebuchet MS"/>
                        </a:rPr>
                        <a:t>Reaction</a:t>
                      </a:r>
                      <a:r>
                        <a:rPr dirty="0" sz="145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times</a:t>
                      </a:r>
                      <a:r>
                        <a:rPr dirty="0" sz="145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5">
                          <a:latin typeface="Trebuchet MS"/>
                          <a:cs typeface="Trebuchet MS"/>
                        </a:rPr>
                        <a:t>are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equal</a:t>
                      </a:r>
                      <a:r>
                        <a:rPr dirty="0" sz="145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dirty="0" sz="145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emotional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1450" spc="-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neutral</a:t>
                      </a:r>
                      <a:r>
                        <a:rPr dirty="0" sz="1450" spc="-20">
                          <a:latin typeface="Trebuchet MS"/>
                          <a:cs typeface="Trebuchet MS"/>
                        </a:rPr>
                        <a:t> words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22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 marR="127000">
                        <a:lnSpc>
                          <a:spcPts val="1730"/>
                        </a:lnSpc>
                        <a:spcBef>
                          <a:spcPts val="490"/>
                        </a:spcBef>
                      </a:pPr>
                      <a:r>
                        <a:rPr dirty="0" sz="1450" spc="-20">
                          <a:latin typeface="Trebuchet MS"/>
                          <a:cs typeface="Trebuchet MS"/>
                        </a:rPr>
                        <a:t>Rejecting</a:t>
                      </a:r>
                      <a:r>
                        <a:rPr dirty="0" sz="145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H</a:t>
                      </a:r>
                      <a:r>
                        <a:rPr dirty="0" sz="1450">
                          <a:latin typeface="Times New Roman"/>
                          <a:cs typeface="Times New Roman"/>
                        </a:rPr>
                        <a:t>₀</a:t>
                      </a:r>
                      <a:r>
                        <a:rPr dirty="0" sz="145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supports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an</a:t>
                      </a:r>
                      <a:r>
                        <a:rPr dirty="0" sz="145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emotional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processing</a:t>
                      </a:r>
                      <a:r>
                        <a:rPr dirty="0" sz="1450" spc="1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effect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2230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751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47625">
                        <a:lnSpc>
                          <a:spcPct val="100000"/>
                        </a:lnSpc>
                      </a:pPr>
                      <a:r>
                        <a:rPr dirty="0" sz="1450" spc="35">
                          <a:latin typeface="Trebuchet MS"/>
                          <a:cs typeface="Trebuchet MS"/>
                        </a:rPr>
                        <a:t>Business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1910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151765">
                        <a:lnSpc>
                          <a:spcPts val="1730"/>
                        </a:lnSpc>
                        <a:spcBef>
                          <a:spcPts val="1240"/>
                        </a:spcBef>
                      </a:pPr>
                      <a:r>
                        <a:rPr dirty="0" sz="1450">
                          <a:latin typeface="Trebuchet MS"/>
                          <a:cs typeface="Trebuchet MS"/>
                        </a:rPr>
                        <a:t>Changing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website</a:t>
                      </a:r>
                      <a:r>
                        <a:rPr dirty="0" sz="145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design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increases</a:t>
                      </a:r>
                      <a:r>
                        <a:rPr dirty="0" sz="1450" spc="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5">
                          <a:latin typeface="Trebuchet MS"/>
                          <a:cs typeface="Trebuchet MS"/>
                        </a:rPr>
                        <a:t>click-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through</a:t>
                      </a:r>
                      <a:r>
                        <a:rPr dirty="0" sz="1450" spc="7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0">
                          <a:latin typeface="Trebuchet MS"/>
                          <a:cs typeface="Trebuchet MS"/>
                        </a:rPr>
                        <a:t>rate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1574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229235">
                        <a:lnSpc>
                          <a:spcPts val="1730"/>
                        </a:lnSpc>
                        <a:spcBef>
                          <a:spcPts val="1240"/>
                        </a:spcBef>
                      </a:pPr>
                      <a:r>
                        <a:rPr dirty="0" sz="1450" spc="-35">
                          <a:latin typeface="Trebuchet MS"/>
                          <a:cs typeface="Trebuchet MS"/>
                        </a:rPr>
                        <a:t>Click-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through</a:t>
                      </a:r>
                      <a:r>
                        <a:rPr dirty="0" sz="14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40">
                          <a:latin typeface="Trebuchet MS"/>
                          <a:cs typeface="Trebuchet MS"/>
                        </a:rPr>
                        <a:t>rate</a:t>
                      </a:r>
                      <a:r>
                        <a:rPr dirty="0" sz="1450" spc="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5">
                          <a:latin typeface="Trebuchet MS"/>
                          <a:cs typeface="Trebuchet MS"/>
                        </a:rPr>
                        <a:t>is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unchanged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1574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150" marR="149225">
                        <a:lnSpc>
                          <a:spcPts val="1730"/>
                        </a:lnSpc>
                        <a:spcBef>
                          <a:spcPts val="340"/>
                        </a:spcBef>
                      </a:pPr>
                      <a:r>
                        <a:rPr dirty="0" sz="1450" spc="-20">
                          <a:latin typeface="Trebuchet MS"/>
                          <a:cs typeface="Trebuchet MS"/>
                        </a:rPr>
                        <a:t>Rejecting</a:t>
                      </a:r>
                      <a:r>
                        <a:rPr dirty="0" sz="145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H</a:t>
                      </a:r>
                      <a:r>
                        <a:rPr dirty="0" sz="1450">
                          <a:latin typeface="Times New Roman"/>
                          <a:cs typeface="Times New Roman"/>
                        </a:rPr>
                        <a:t>₀</a:t>
                      </a:r>
                      <a:r>
                        <a:rPr dirty="0" sz="145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suggests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dirty="0" sz="145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new design</a:t>
                      </a:r>
                      <a:r>
                        <a:rPr dirty="0" sz="145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5">
                          <a:latin typeface="Trebuchet MS"/>
                          <a:cs typeface="Trebuchet MS"/>
                        </a:rPr>
                        <a:t>has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likely</a:t>
                      </a:r>
                      <a:r>
                        <a:rPr dirty="0" sz="145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an</a:t>
                      </a:r>
                      <a:r>
                        <a:rPr dirty="0" sz="1450" spc="-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impact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318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558800" y="394970"/>
            <a:ext cx="7319009" cy="464184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Trebuchet MS"/>
                <a:cs typeface="Trebuchet MS"/>
              </a:rPr>
              <a:t>Any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claim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about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existence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40">
                <a:latin typeface="Trebuchet MS"/>
                <a:cs typeface="Trebuchet MS"/>
              </a:rPr>
              <a:t>effect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cannot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made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unless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first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shown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a </a:t>
            </a:r>
            <a:r>
              <a:rPr dirty="0" sz="1450">
                <a:latin typeface="Trebuchet MS"/>
                <a:cs typeface="Trebuchet MS"/>
              </a:rPr>
              <a:t>situation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no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40">
                <a:latin typeface="Trebuchet MS"/>
                <a:cs typeface="Trebuchet MS"/>
              </a:rPr>
              <a:t>effect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untenable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75"/>
              <a:t>Null</a:t>
            </a:r>
            <a:r>
              <a:rPr dirty="0" spc="-125"/>
              <a:t> </a:t>
            </a:r>
            <a:r>
              <a:rPr dirty="0" spc="-70"/>
              <a:t>Hypothesis</a:t>
            </a:r>
            <a:r>
              <a:rPr dirty="0" spc="-120"/>
              <a:t> </a:t>
            </a:r>
            <a:r>
              <a:rPr dirty="0" spc="-110"/>
              <a:t>Significance</a:t>
            </a:r>
            <a:r>
              <a:rPr dirty="0" spc="-120"/>
              <a:t> </a:t>
            </a:r>
            <a:r>
              <a:rPr dirty="0" spc="-95"/>
              <a:t>Testing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46100" y="795019"/>
            <a:ext cx="7392670" cy="24765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05765" indent="-194310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405765" algn="l"/>
              </a:tabLst>
            </a:pPr>
            <a:r>
              <a:rPr dirty="0" sz="1450">
                <a:latin typeface="Trebuchet MS"/>
                <a:cs typeface="Trebuchet MS"/>
              </a:rPr>
              <a:t>Begin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research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question.</a:t>
            </a:r>
            <a:endParaRPr sz="1450">
              <a:latin typeface="Trebuchet MS"/>
              <a:cs typeface="Trebuchet MS"/>
            </a:endParaRPr>
          </a:p>
          <a:p>
            <a:pPr marL="405765" indent="-194310">
              <a:lnSpc>
                <a:spcPct val="100000"/>
              </a:lnSpc>
              <a:spcBef>
                <a:spcPts val="1410"/>
              </a:spcBef>
              <a:buAutoNum type="arabicPeriod"/>
              <a:tabLst>
                <a:tab pos="405765" algn="l"/>
              </a:tabLst>
            </a:pPr>
            <a:r>
              <a:rPr dirty="0" sz="1450">
                <a:latin typeface="Trebuchet MS"/>
                <a:cs typeface="Trebuchet MS"/>
              </a:rPr>
              <a:t>Set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up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null</a:t>
            </a:r>
            <a:r>
              <a:rPr dirty="0" sz="1450" spc="-10">
                <a:latin typeface="Trebuchet MS"/>
                <a:cs typeface="Trebuchet MS"/>
              </a:rPr>
              <a:t> hypothesis.</a:t>
            </a:r>
            <a:endParaRPr sz="1450">
              <a:latin typeface="Trebuchet MS"/>
              <a:cs typeface="Trebuchet MS"/>
            </a:endParaRPr>
          </a:p>
          <a:p>
            <a:pPr marL="405765" indent="-194310">
              <a:lnSpc>
                <a:spcPct val="100000"/>
              </a:lnSpc>
              <a:spcBef>
                <a:spcPts val="1385"/>
              </a:spcBef>
              <a:buAutoNum type="arabicPeriod"/>
              <a:tabLst>
                <a:tab pos="405765" algn="l"/>
              </a:tabLst>
            </a:pPr>
            <a:r>
              <a:rPr dirty="0" sz="1450" spc="-20">
                <a:latin typeface="Trebuchet MS"/>
                <a:cs typeface="Trebuchet MS"/>
              </a:rPr>
              <a:t>Translate</a:t>
            </a:r>
            <a:r>
              <a:rPr dirty="0" sz="1450">
                <a:latin typeface="Trebuchet MS"/>
                <a:cs typeface="Trebuchet MS"/>
              </a:rPr>
              <a:t> both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into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statistical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hypothesis (</a:t>
            </a: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7936" sz="1575">
                <a:latin typeface="Tahoma"/>
                <a:cs typeface="Tahoma"/>
              </a:rPr>
              <a:t>0</a:t>
            </a:r>
            <a:r>
              <a:rPr dirty="0" baseline="-7936" sz="1575" spc="307">
                <a:latin typeface="Tahoma"/>
                <a:cs typeface="Tahoma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550" spc="-20" i="1">
                <a:latin typeface="Verdana"/>
                <a:cs typeface="Verdana"/>
              </a:rPr>
              <a:t>H</a:t>
            </a:r>
            <a:r>
              <a:rPr dirty="0" baseline="-7936" sz="1575" spc="-30">
                <a:latin typeface="Tahoma"/>
                <a:cs typeface="Tahoma"/>
              </a:rPr>
              <a:t>1</a:t>
            </a:r>
            <a:r>
              <a:rPr dirty="0" sz="1450" spc="-20">
                <a:latin typeface="Trebuchet MS"/>
                <a:cs typeface="Trebuchet MS"/>
              </a:rPr>
              <a:t>).</a:t>
            </a:r>
            <a:endParaRPr sz="1450">
              <a:latin typeface="Trebuchet MS"/>
              <a:cs typeface="Trebuchet MS"/>
            </a:endParaRPr>
          </a:p>
          <a:p>
            <a:pPr marL="405765" marR="17780" indent="-194945">
              <a:lnSpc>
                <a:spcPts val="1730"/>
              </a:lnSpc>
              <a:spcBef>
                <a:spcPts val="1455"/>
              </a:spcBef>
              <a:buAutoNum type="arabicPeriod"/>
              <a:tabLst>
                <a:tab pos="405765" algn="l"/>
              </a:tabLst>
            </a:pPr>
            <a:r>
              <a:rPr dirty="0" sz="1450" spc="-20">
                <a:latin typeface="Trebuchet MS"/>
                <a:cs typeface="Trebuchet MS"/>
              </a:rPr>
              <a:t>Collect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compute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probable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observed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(or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more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extreme)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under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null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hypothesis</a:t>
            </a:r>
            <a:endParaRPr sz="1450">
              <a:latin typeface="Trebuchet MS"/>
              <a:cs typeface="Trebuchet MS"/>
            </a:endParaRPr>
          </a:p>
          <a:p>
            <a:pPr marL="405765" indent="-194310">
              <a:lnSpc>
                <a:spcPct val="100000"/>
              </a:lnSpc>
              <a:spcBef>
                <a:spcPts val="1250"/>
              </a:spcBef>
              <a:buAutoNum type="arabicPeriod"/>
              <a:tabLst>
                <a:tab pos="405765" algn="l"/>
              </a:tabLst>
            </a:pP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observed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“too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unlikely”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Arial"/>
                <a:cs typeface="Arial"/>
              </a:rPr>
              <a:t>→</a:t>
            </a:r>
            <a:r>
              <a:rPr dirty="0" sz="1450" spc="-5">
                <a:latin typeface="Arial"/>
                <a:cs typeface="Arial"/>
              </a:rPr>
              <a:t> </a:t>
            </a:r>
            <a:r>
              <a:rPr dirty="0" sz="1450" spc="-55">
                <a:latin typeface="Trebuchet MS"/>
                <a:cs typeface="Trebuchet MS"/>
              </a:rPr>
              <a:t>reject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H</a:t>
            </a:r>
            <a:r>
              <a:rPr dirty="0" baseline="-13227" sz="1575" spc="-37">
                <a:latin typeface="Tahoma"/>
                <a:cs typeface="Tahoma"/>
              </a:rPr>
              <a:t>0</a:t>
            </a:r>
            <a:r>
              <a:rPr dirty="0" sz="1450" spc="-25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25400">
              <a:lnSpc>
                <a:spcPct val="100000"/>
              </a:lnSpc>
              <a:spcBef>
                <a:spcPts val="1290"/>
              </a:spcBef>
            </a:pPr>
            <a:r>
              <a:rPr dirty="0" sz="1450" spc="-75" b="1">
                <a:latin typeface="Trebuchet MS"/>
                <a:cs typeface="Trebuchet MS"/>
              </a:rPr>
              <a:t>We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don’t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prove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550" spc="-60" i="1">
                <a:latin typeface="Verdana"/>
                <a:cs typeface="Verdana"/>
              </a:rPr>
              <a:t>H</a:t>
            </a:r>
            <a:r>
              <a:rPr dirty="0" baseline="-10582" sz="1575" spc="-89">
                <a:latin typeface="Tahoma"/>
                <a:cs typeface="Tahoma"/>
              </a:rPr>
              <a:t>1</a:t>
            </a:r>
            <a:r>
              <a:rPr dirty="0" sz="1450" spc="-60" b="1">
                <a:latin typeface="Trebuchet MS"/>
                <a:cs typeface="Trebuchet MS"/>
              </a:rPr>
              <a:t>;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60" b="1">
                <a:latin typeface="Trebuchet MS"/>
                <a:cs typeface="Trebuchet MS"/>
              </a:rPr>
              <a:t>we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75" b="1">
                <a:latin typeface="Trebuchet MS"/>
                <a:cs typeface="Trebuchet MS"/>
              </a:rPr>
              <a:t>reject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H</a:t>
            </a:r>
            <a:r>
              <a:rPr dirty="0" baseline="-10582" sz="1575" spc="-37">
                <a:latin typeface="Tahoma"/>
                <a:cs typeface="Tahoma"/>
              </a:rPr>
              <a:t>0</a:t>
            </a:r>
            <a:endParaRPr baseline="-10582" sz="1575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8800" y="206375"/>
            <a:ext cx="2817495" cy="4254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60"/>
              <a:t>Biased</a:t>
            </a:r>
            <a:r>
              <a:rPr dirty="0" spc="-155"/>
              <a:t> </a:t>
            </a:r>
            <a:r>
              <a:rPr dirty="0" spc="-95"/>
              <a:t>coin</a:t>
            </a:r>
            <a:r>
              <a:rPr dirty="0" spc="-150"/>
              <a:t> </a:t>
            </a:r>
            <a:r>
              <a:rPr dirty="0" spc="-105"/>
              <a:t>example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3919537"/>
            <a:ext cx="66675" cy="666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4319587"/>
            <a:ext cx="66675" cy="6667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95300" y="795019"/>
            <a:ext cx="7364095" cy="466725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76200" marR="544830">
              <a:lnSpc>
                <a:spcPts val="1730"/>
              </a:lnSpc>
              <a:spcBef>
                <a:spcPts val="155"/>
              </a:spcBef>
            </a:pPr>
            <a:r>
              <a:rPr dirty="0" sz="1450" spc="50">
                <a:latin typeface="Trebuchet MS"/>
                <a:cs typeface="Trebuchet MS"/>
              </a:rPr>
              <a:t>Suppose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coin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suspect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coin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0">
                <a:latin typeface="Trebuchet MS"/>
                <a:cs typeface="Trebuchet MS"/>
              </a:rPr>
              <a:t> fair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coin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(Research hypothesis).</a:t>
            </a:r>
            <a:endParaRPr sz="1450">
              <a:latin typeface="Trebuchet MS"/>
              <a:cs typeface="Trebuchet MS"/>
            </a:endParaRPr>
          </a:p>
          <a:p>
            <a:pPr marL="456565" indent="-194310">
              <a:lnSpc>
                <a:spcPct val="100000"/>
              </a:lnSpc>
              <a:spcBef>
                <a:spcPts val="1350"/>
              </a:spcBef>
              <a:buAutoNum type="arabicPeriod"/>
              <a:tabLst>
                <a:tab pos="456565" algn="l"/>
              </a:tabLst>
            </a:pPr>
            <a:r>
              <a:rPr dirty="0" sz="1450">
                <a:latin typeface="Trebuchet MS"/>
                <a:cs typeface="Trebuchet MS"/>
              </a:rPr>
              <a:t>Research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hypothesis: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coin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fair.</a:t>
            </a:r>
            <a:endParaRPr sz="1450">
              <a:latin typeface="Trebuchet MS"/>
              <a:cs typeface="Trebuchet MS"/>
            </a:endParaRPr>
          </a:p>
          <a:p>
            <a:pPr marL="456565" indent="-194310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56565" algn="l"/>
              </a:tabLst>
            </a:pPr>
            <a:r>
              <a:rPr dirty="0" sz="1450">
                <a:latin typeface="Trebuchet MS"/>
                <a:cs typeface="Trebuchet MS"/>
              </a:rPr>
              <a:t>Null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hypothesis: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coin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fair.</a:t>
            </a:r>
            <a:endParaRPr sz="1450">
              <a:latin typeface="Trebuchet MS"/>
              <a:cs typeface="Trebuchet MS"/>
            </a:endParaRPr>
          </a:p>
          <a:p>
            <a:pPr marL="456565" indent="-194310">
              <a:lnSpc>
                <a:spcPct val="100000"/>
              </a:lnSpc>
              <a:spcBef>
                <a:spcPts val="1410"/>
              </a:spcBef>
              <a:buAutoNum type="arabicPeriod"/>
              <a:tabLst>
                <a:tab pos="456565" algn="l"/>
              </a:tabLst>
            </a:pPr>
            <a:r>
              <a:rPr dirty="0" sz="1450" spc="-20">
                <a:latin typeface="Trebuchet MS"/>
                <a:cs typeface="Trebuchet MS"/>
              </a:rPr>
              <a:t>Translate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them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into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statistical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hypotheses.</a:t>
            </a:r>
            <a:endParaRPr sz="1450">
              <a:latin typeface="Trebuchet MS"/>
              <a:cs typeface="Trebuchet MS"/>
            </a:endParaRPr>
          </a:p>
          <a:p>
            <a:pPr algn="ctr" marL="294005">
              <a:lnSpc>
                <a:spcPct val="100000"/>
              </a:lnSpc>
              <a:spcBef>
                <a:spcPts val="1160"/>
              </a:spcBef>
            </a:pP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3227" sz="1575">
                <a:latin typeface="Tahoma"/>
                <a:cs typeface="Tahoma"/>
              </a:rPr>
              <a:t>0</a:t>
            </a:r>
            <a:r>
              <a:rPr dirty="0" baseline="-13227" sz="1575" spc="240">
                <a:latin typeface="Tahoma"/>
                <a:cs typeface="Tahoma"/>
              </a:rPr>
              <a:t> </a:t>
            </a:r>
            <a:r>
              <a:rPr dirty="0" sz="1500" spc="-140">
                <a:latin typeface="Tahoma"/>
                <a:cs typeface="Tahoma"/>
              </a:rPr>
              <a:t>: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P</a:t>
            </a:r>
            <a:r>
              <a:rPr dirty="0" sz="1550" spc="-380" i="1">
                <a:latin typeface="Verdana"/>
                <a:cs typeface="Verdana"/>
              </a:rPr>
              <a:t> </a:t>
            </a:r>
            <a:r>
              <a:rPr dirty="0" sz="1500">
                <a:latin typeface="Tahoma"/>
                <a:cs typeface="Tahoma"/>
              </a:rPr>
              <a:t>(</a:t>
            </a:r>
            <a:r>
              <a:rPr dirty="0" sz="1550" i="1">
                <a:latin typeface="Verdana"/>
                <a:cs typeface="Verdana"/>
              </a:rPr>
              <a:t>H</a:t>
            </a:r>
            <a:r>
              <a:rPr dirty="0" sz="1500">
                <a:latin typeface="Tahoma"/>
                <a:cs typeface="Tahoma"/>
              </a:rPr>
              <a:t>)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5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0.5</a:t>
            </a:r>
            <a:endParaRPr sz="1500">
              <a:latin typeface="Tahoma"/>
              <a:cs typeface="Tahoma"/>
            </a:endParaRPr>
          </a:p>
          <a:p>
            <a:pPr algn="ctr" marL="294005">
              <a:lnSpc>
                <a:spcPct val="100000"/>
              </a:lnSpc>
              <a:spcBef>
                <a:spcPts val="1290"/>
              </a:spcBef>
            </a:pP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2626" sz="1650" i="1">
                <a:latin typeface="Verdana"/>
                <a:cs typeface="Verdana"/>
              </a:rPr>
              <a:t>A</a:t>
            </a:r>
            <a:r>
              <a:rPr dirty="0" baseline="-12626" sz="1650" spc="179" i="1">
                <a:latin typeface="Verdana"/>
                <a:cs typeface="Verdana"/>
              </a:rPr>
              <a:t> </a:t>
            </a:r>
            <a:r>
              <a:rPr dirty="0" sz="1500" spc="-140">
                <a:latin typeface="Tahoma"/>
                <a:cs typeface="Tahoma"/>
              </a:rPr>
              <a:t>:</a:t>
            </a:r>
            <a:r>
              <a:rPr dirty="0" sz="1500" spc="-35">
                <a:latin typeface="Tahoma"/>
                <a:cs typeface="Tahoma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P</a:t>
            </a:r>
            <a:r>
              <a:rPr dirty="0" sz="1550" spc="-380" i="1">
                <a:latin typeface="Verdana"/>
                <a:cs typeface="Verdana"/>
              </a:rPr>
              <a:t> </a:t>
            </a:r>
            <a:r>
              <a:rPr dirty="0" sz="1500">
                <a:latin typeface="Tahoma"/>
                <a:cs typeface="Tahoma"/>
              </a:rPr>
              <a:t>(</a:t>
            </a:r>
            <a:r>
              <a:rPr dirty="0" sz="1550" i="1">
                <a:latin typeface="Verdana"/>
                <a:cs typeface="Verdana"/>
              </a:rPr>
              <a:t>H</a:t>
            </a:r>
            <a:r>
              <a:rPr dirty="0" sz="1500">
                <a:latin typeface="Tahoma"/>
                <a:cs typeface="Tahoma"/>
              </a:rPr>
              <a:t>)</a:t>
            </a:r>
            <a:r>
              <a:rPr dirty="0" sz="1500" spc="-3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≠</a:t>
            </a:r>
            <a:r>
              <a:rPr dirty="0" sz="1500" spc="-35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0.5</a:t>
            </a:r>
            <a:endParaRPr sz="1500">
              <a:latin typeface="Tahoma"/>
              <a:cs typeface="Tahoma"/>
            </a:endParaRPr>
          </a:p>
          <a:p>
            <a:pPr marL="456565" indent="-194310">
              <a:lnSpc>
                <a:spcPct val="100000"/>
              </a:lnSpc>
              <a:spcBef>
                <a:spcPts val="1465"/>
              </a:spcBef>
              <a:buAutoNum type="arabicPeriod"/>
              <a:tabLst>
                <a:tab pos="456565" algn="l"/>
              </a:tabLst>
            </a:pPr>
            <a:r>
              <a:rPr dirty="0" sz="1450">
                <a:latin typeface="Trebuchet MS"/>
                <a:cs typeface="Trebuchet MS"/>
              </a:rPr>
              <a:t>Run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small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experiment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gather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data.</a:t>
            </a:r>
            <a:endParaRPr sz="1450">
              <a:latin typeface="Trebuchet MS"/>
              <a:cs typeface="Trebuchet MS"/>
            </a:endParaRPr>
          </a:p>
          <a:p>
            <a:pPr marL="837565">
              <a:lnSpc>
                <a:spcPct val="100000"/>
              </a:lnSpc>
              <a:spcBef>
                <a:spcPts val="1410"/>
              </a:spcBef>
            </a:pPr>
            <a:r>
              <a:rPr dirty="0" sz="1450" spc="-35">
                <a:latin typeface="Trebuchet MS"/>
                <a:cs typeface="Trebuchet MS"/>
              </a:rPr>
              <a:t>After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30 </a:t>
            </a:r>
            <a:r>
              <a:rPr dirty="0" sz="1450" spc="-35">
                <a:latin typeface="Trebuchet MS"/>
                <a:cs typeface="Trebuchet MS"/>
              </a:rPr>
              <a:t>flips,</a:t>
            </a:r>
            <a:r>
              <a:rPr dirty="0" sz="1450">
                <a:latin typeface="Trebuchet MS"/>
                <a:cs typeface="Trebuchet MS"/>
              </a:rPr>
              <a:t> assume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>
                <a:latin typeface="Trebuchet MS"/>
                <a:cs typeface="Trebuchet MS"/>
              </a:rPr>
              <a:t> observe </a:t>
            </a:r>
            <a:r>
              <a:rPr dirty="0" sz="1450" spc="-60">
                <a:latin typeface="Trebuchet MS"/>
                <a:cs typeface="Trebuchet MS"/>
              </a:rPr>
              <a:t>22</a:t>
            </a:r>
            <a:r>
              <a:rPr dirty="0" sz="1450">
                <a:latin typeface="Trebuchet MS"/>
                <a:cs typeface="Trebuchet MS"/>
              </a:rPr>
              <a:t> Heads and 8 </a:t>
            </a:r>
            <a:r>
              <a:rPr dirty="0" sz="1450" spc="-10">
                <a:latin typeface="Trebuchet MS"/>
                <a:cs typeface="Trebuchet MS"/>
              </a:rPr>
              <a:t>Tails</a:t>
            </a:r>
            <a:endParaRPr sz="1450">
              <a:latin typeface="Trebuchet MS"/>
              <a:cs typeface="Trebuchet MS"/>
            </a:endParaRPr>
          </a:p>
          <a:p>
            <a:pPr marL="837565" marR="43180">
              <a:lnSpc>
                <a:spcPts val="1730"/>
              </a:lnSpc>
              <a:spcBef>
                <a:spcPts val="1475"/>
              </a:spcBef>
            </a:pPr>
            <a:r>
              <a:rPr dirty="0" sz="1450">
                <a:latin typeface="Trebuchet MS"/>
                <a:cs typeface="Trebuchet MS"/>
              </a:rPr>
              <a:t>What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probability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observing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60">
                <a:latin typeface="Trebuchet MS"/>
                <a:cs typeface="Trebuchet MS"/>
              </a:rPr>
              <a:t>22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more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heads</a:t>
            </a:r>
            <a:r>
              <a:rPr dirty="0" sz="1450" spc="-25">
                <a:latin typeface="Trebuchet MS"/>
                <a:cs typeface="Trebuchet MS"/>
              </a:rPr>
              <a:t> after </a:t>
            </a:r>
            <a:r>
              <a:rPr dirty="0" sz="1450">
                <a:latin typeface="Trebuchet MS"/>
                <a:cs typeface="Trebuchet MS"/>
              </a:rPr>
              <a:t>30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flips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if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assume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coin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fair?</a:t>
            </a:r>
            <a:endParaRPr sz="1450">
              <a:latin typeface="Trebuchet MS"/>
              <a:cs typeface="Trebuchet MS"/>
            </a:endParaRPr>
          </a:p>
          <a:p>
            <a:pPr algn="ctr" marL="294005">
              <a:lnSpc>
                <a:spcPct val="100000"/>
              </a:lnSpc>
              <a:spcBef>
                <a:spcPts val="1175"/>
              </a:spcBef>
            </a:pPr>
            <a:r>
              <a:rPr dirty="0" sz="1550" spc="-25" i="1">
                <a:latin typeface="Verdana"/>
                <a:cs typeface="Verdana"/>
              </a:rPr>
              <a:t>P</a:t>
            </a:r>
            <a:r>
              <a:rPr dirty="0" sz="1550" spc="-390" i="1">
                <a:latin typeface="Verdana"/>
                <a:cs typeface="Verdana"/>
              </a:rPr>
              <a:t> </a:t>
            </a:r>
            <a:r>
              <a:rPr dirty="0" sz="1500" spc="-70">
                <a:latin typeface="Tahoma"/>
                <a:cs typeface="Tahoma"/>
              </a:rPr>
              <a:t>(</a:t>
            </a:r>
            <a:r>
              <a:rPr dirty="0" sz="1550" spc="-70" i="1">
                <a:latin typeface="Verdana"/>
                <a:cs typeface="Verdana"/>
              </a:rPr>
              <a:t>Data</a:t>
            </a:r>
            <a:r>
              <a:rPr dirty="0" sz="1500" spc="-70">
                <a:latin typeface="Tahoma"/>
                <a:cs typeface="Tahoma"/>
              </a:rPr>
              <a:t>|</a:t>
            </a:r>
            <a:r>
              <a:rPr dirty="0" sz="1550" spc="-70" i="1">
                <a:latin typeface="Verdana"/>
                <a:cs typeface="Verdana"/>
              </a:rPr>
              <a:t>H</a:t>
            </a:r>
            <a:r>
              <a:rPr dirty="0" baseline="-13227" sz="1575" spc="-104">
                <a:latin typeface="Tahoma"/>
                <a:cs typeface="Tahoma"/>
              </a:rPr>
              <a:t>0</a:t>
            </a:r>
            <a:r>
              <a:rPr dirty="0" sz="1500" spc="-70">
                <a:latin typeface="Tahoma"/>
                <a:cs typeface="Tahoma"/>
              </a:rPr>
              <a:t>)</a:t>
            </a:r>
            <a:r>
              <a:rPr dirty="0" sz="1500" spc="-65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=?</a:t>
            </a:r>
            <a:endParaRPr sz="1500">
              <a:latin typeface="Tahoma"/>
              <a:cs typeface="Tahoma"/>
            </a:endParaRPr>
          </a:p>
          <a:p>
            <a:pPr algn="ctr" marL="294005">
              <a:lnSpc>
                <a:spcPct val="100000"/>
              </a:lnSpc>
              <a:spcBef>
                <a:spcPts val="1215"/>
              </a:spcBef>
            </a:pPr>
            <a:r>
              <a:rPr dirty="0" sz="1550" spc="-25" i="1">
                <a:latin typeface="Verdana"/>
                <a:cs typeface="Verdana"/>
              </a:rPr>
              <a:t>P</a:t>
            </a:r>
            <a:r>
              <a:rPr dirty="0" sz="1550" spc="-385" i="1">
                <a:latin typeface="Verdana"/>
                <a:cs typeface="Verdana"/>
              </a:rPr>
              <a:t> </a:t>
            </a:r>
            <a:r>
              <a:rPr dirty="0" sz="1500" spc="-75">
                <a:latin typeface="Tahoma"/>
                <a:cs typeface="Tahoma"/>
              </a:rPr>
              <a:t>(22</a:t>
            </a:r>
            <a:r>
              <a:rPr dirty="0" sz="1500" spc="-95">
                <a:latin typeface="Tahoma"/>
                <a:cs typeface="Tahoma"/>
              </a:rPr>
              <a:t> </a:t>
            </a:r>
            <a:r>
              <a:rPr dirty="0" sz="1500" spc="-45">
                <a:latin typeface="Tahoma"/>
                <a:cs typeface="Tahoma"/>
              </a:rPr>
              <a:t>or</a:t>
            </a:r>
            <a:r>
              <a:rPr dirty="0" sz="1500" spc="-90">
                <a:latin typeface="Tahoma"/>
                <a:cs typeface="Tahoma"/>
              </a:rPr>
              <a:t> </a:t>
            </a:r>
            <a:r>
              <a:rPr dirty="0" sz="1500" spc="-80">
                <a:latin typeface="Tahoma"/>
                <a:cs typeface="Tahoma"/>
              </a:rPr>
              <a:t>more</a:t>
            </a:r>
            <a:r>
              <a:rPr dirty="0" sz="1500" spc="-95">
                <a:latin typeface="Tahoma"/>
                <a:cs typeface="Tahoma"/>
              </a:rPr>
              <a:t> </a:t>
            </a:r>
            <a:r>
              <a:rPr dirty="0" sz="1500" spc="-65">
                <a:latin typeface="Tahoma"/>
                <a:cs typeface="Tahoma"/>
              </a:rPr>
              <a:t>heads|</a:t>
            </a:r>
            <a:r>
              <a:rPr dirty="0" sz="1550" spc="-65" i="1">
                <a:latin typeface="Verdana"/>
                <a:cs typeface="Verdana"/>
              </a:rPr>
              <a:t>H</a:t>
            </a:r>
            <a:r>
              <a:rPr dirty="0" baseline="-13227" sz="1575" spc="-97">
                <a:latin typeface="Tahoma"/>
                <a:cs typeface="Tahoma"/>
              </a:rPr>
              <a:t>0</a:t>
            </a:r>
            <a:r>
              <a:rPr dirty="0" sz="1500" spc="-65">
                <a:latin typeface="Tahoma"/>
                <a:cs typeface="Tahoma"/>
              </a:rPr>
              <a:t>)</a:t>
            </a:r>
            <a:r>
              <a:rPr dirty="0" sz="1500" spc="-5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=?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58800" y="394970"/>
            <a:ext cx="545909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would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50">
                <a:latin typeface="Trebuchet MS"/>
                <a:cs typeface="Trebuchet MS"/>
              </a:rPr>
              <a:t>do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95">
                <a:latin typeface="Trebuchet MS"/>
                <a:cs typeface="Trebuchet MS"/>
              </a:rPr>
              <a:t>R,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following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code.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71499" y="819150"/>
            <a:ext cx="7505700" cy="295275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55244" rIns="0" bIns="0" rtlCol="0" vert="horz">
            <a:spAutoFit/>
          </a:bodyPr>
          <a:lstStyle/>
          <a:p>
            <a:pPr marL="50800" marR="3268979">
              <a:lnSpc>
                <a:spcPts val="1050"/>
              </a:lnSpc>
              <a:spcBef>
                <a:spcPts val="434"/>
              </a:spcBef>
            </a:pP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950" spc="-6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0" i="1">
                <a:solidFill>
                  <a:srgbClr val="999987"/>
                </a:solidFill>
                <a:latin typeface="Courier New"/>
                <a:cs typeface="Courier New"/>
              </a:rPr>
              <a:t>Probability</a:t>
            </a:r>
            <a:r>
              <a:rPr dirty="0" sz="950" spc="-5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of</a:t>
            </a:r>
            <a:r>
              <a:rPr dirty="0" sz="950" spc="-5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0" i="1">
                <a:solidFill>
                  <a:srgbClr val="999987"/>
                </a:solidFill>
                <a:latin typeface="Courier New"/>
                <a:cs typeface="Courier New"/>
              </a:rPr>
              <a:t>observing</a:t>
            </a:r>
            <a:r>
              <a:rPr dirty="0" sz="950" spc="-5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22</a:t>
            </a:r>
            <a:r>
              <a:rPr dirty="0" sz="950" spc="-6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heads</a:t>
            </a:r>
            <a:r>
              <a:rPr dirty="0" sz="950" spc="-5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after</a:t>
            </a:r>
            <a:r>
              <a:rPr dirty="0" sz="950" spc="-5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30</a:t>
            </a:r>
            <a:r>
              <a:rPr dirty="0" sz="950" spc="-5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flips</a:t>
            </a:r>
            <a:r>
              <a:rPr dirty="0" sz="950" spc="-6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assuming</a:t>
            </a:r>
            <a:r>
              <a:rPr dirty="0" sz="950" spc="-5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that</a:t>
            </a:r>
            <a:r>
              <a:rPr dirty="0" sz="950" spc="-5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310" i="1">
                <a:solidFill>
                  <a:srgbClr val="999987"/>
                </a:solidFill>
                <a:latin typeface="Courier New"/>
                <a:cs typeface="Courier New"/>
              </a:rPr>
              <a:t>the</a:t>
            </a:r>
            <a:r>
              <a:rPr dirty="0" sz="950" spc="-31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950" spc="-6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0" i="1">
                <a:solidFill>
                  <a:srgbClr val="999987"/>
                </a:solidFill>
                <a:latin typeface="Courier New"/>
                <a:cs typeface="Courier New"/>
              </a:rPr>
              <a:t>probability</a:t>
            </a:r>
            <a:r>
              <a:rPr dirty="0" sz="950" spc="-6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of</a:t>
            </a:r>
            <a:r>
              <a:rPr dirty="0" sz="950" spc="-6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0" i="1">
                <a:solidFill>
                  <a:srgbClr val="999987"/>
                </a:solidFill>
                <a:latin typeface="Courier New"/>
                <a:cs typeface="Courier New"/>
              </a:rPr>
              <a:t>observing</a:t>
            </a:r>
            <a:r>
              <a:rPr dirty="0" sz="950" spc="-6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a</a:t>
            </a:r>
            <a:r>
              <a:rPr dirty="0" sz="950" spc="-6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head</a:t>
            </a:r>
            <a:r>
              <a:rPr dirty="0" sz="950" spc="-6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is</a:t>
            </a:r>
            <a:r>
              <a:rPr dirty="0" sz="950" spc="-6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0.5</a:t>
            </a:r>
            <a:r>
              <a:rPr dirty="0" sz="950" spc="-6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for</a:t>
            </a:r>
            <a:r>
              <a:rPr dirty="0" sz="950" spc="-6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each</a:t>
            </a:r>
            <a:r>
              <a:rPr dirty="0" sz="950" spc="-6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20" i="1">
                <a:solidFill>
                  <a:srgbClr val="999987"/>
                </a:solidFill>
                <a:latin typeface="Courier New"/>
                <a:cs typeface="Courier New"/>
              </a:rPr>
              <a:t>flip</a:t>
            </a:r>
            <a:endParaRPr sz="950">
              <a:latin typeface="Courier New"/>
              <a:cs typeface="Courier New"/>
            </a:endParaRPr>
          </a:p>
          <a:p>
            <a:pPr algn="r" marR="6402070">
              <a:lnSpc>
                <a:spcPts val="1065"/>
              </a:lnSpc>
              <a:spcBef>
                <a:spcPts val="765"/>
              </a:spcBef>
              <a:tabLst>
                <a:tab pos="736600" algn="l"/>
              </a:tabLst>
            </a:pPr>
            <a:r>
              <a:rPr dirty="0" sz="900" spc="-10">
                <a:solidFill>
                  <a:srgbClr val="333333"/>
                </a:solidFill>
                <a:latin typeface="Lucida Console"/>
                <a:cs typeface="Lucida Console"/>
              </a:rPr>
              <a:t>dbinom(x</a:t>
            </a:r>
            <a:r>
              <a:rPr dirty="0" sz="900">
                <a:solidFill>
                  <a:srgbClr val="333333"/>
                </a:solidFill>
                <a:latin typeface="Lucida Console"/>
                <a:cs typeface="Lucida Console"/>
              </a:rPr>
              <a:t>	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 </a:t>
            </a:r>
            <a:r>
              <a:rPr dirty="0" sz="850" spc="-25">
                <a:solidFill>
                  <a:srgbClr val="008080"/>
                </a:solidFill>
                <a:latin typeface="Courier New"/>
                <a:cs typeface="Courier New"/>
              </a:rPr>
              <a:t>22</a:t>
            </a:r>
            <a:r>
              <a:rPr dirty="0" sz="900" spc="-2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900">
              <a:latin typeface="Lucida Console"/>
              <a:cs typeface="Lucida Console"/>
            </a:endParaRPr>
          </a:p>
          <a:p>
            <a:pPr algn="r" marR="6402070">
              <a:lnSpc>
                <a:spcPts val="1050"/>
              </a:lnSpc>
            </a:pP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size</a:t>
            </a:r>
            <a:r>
              <a:rPr dirty="0" sz="900" spc="-6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80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850" spc="-25">
                <a:solidFill>
                  <a:srgbClr val="008080"/>
                </a:solidFill>
                <a:latin typeface="Courier New"/>
                <a:cs typeface="Courier New"/>
              </a:rPr>
              <a:t>30</a:t>
            </a:r>
            <a:r>
              <a:rPr dirty="0" sz="900" spc="-2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900">
              <a:latin typeface="Lucida Console"/>
              <a:cs typeface="Lucida Console"/>
            </a:endParaRPr>
          </a:p>
          <a:p>
            <a:pPr algn="r" marR="6340475">
              <a:lnSpc>
                <a:spcPts val="1065"/>
              </a:lnSpc>
            </a:pP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prob</a:t>
            </a:r>
            <a:r>
              <a:rPr dirty="0" sz="900" spc="-6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80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850" spc="-20">
                <a:solidFill>
                  <a:srgbClr val="008080"/>
                </a:solidFill>
                <a:latin typeface="Courier New"/>
                <a:cs typeface="Courier New"/>
              </a:rPr>
              <a:t>0.5</a:t>
            </a:r>
            <a:r>
              <a:rPr dirty="0" sz="900" spc="-2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900">
              <a:latin typeface="Lucida Console"/>
              <a:cs typeface="Lucida Console"/>
            </a:endParaRPr>
          </a:p>
          <a:p>
            <a:pPr marL="50800">
              <a:lnSpc>
                <a:spcPct val="100000"/>
              </a:lnSpc>
              <a:spcBef>
                <a:spcPts val="670"/>
              </a:spcBef>
            </a:pP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950" spc="-90" i="1">
                <a:solidFill>
                  <a:srgbClr val="999987"/>
                </a:solidFill>
                <a:latin typeface="Courier New"/>
                <a:cs typeface="Courier New"/>
              </a:rPr>
              <a:t> Probability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of</a:t>
            </a:r>
            <a:r>
              <a:rPr dirty="0" sz="950" spc="-90" i="1">
                <a:solidFill>
                  <a:srgbClr val="999987"/>
                </a:solidFill>
                <a:latin typeface="Courier New"/>
                <a:cs typeface="Courier New"/>
              </a:rPr>
              <a:t> observing </a:t>
            </a:r>
            <a:r>
              <a:rPr dirty="0" sz="950" spc="-65" i="1">
                <a:solidFill>
                  <a:srgbClr val="999987"/>
                </a:solidFill>
                <a:latin typeface="Courier New"/>
                <a:cs typeface="Courier New"/>
              </a:rPr>
              <a:t>22,23,24,25,</a:t>
            </a:r>
            <a:r>
              <a:rPr dirty="0" sz="950" spc="2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.,30</a:t>
            </a:r>
            <a:r>
              <a:rPr dirty="0" sz="950" spc="-9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10" i="1">
                <a:solidFill>
                  <a:srgbClr val="999987"/>
                </a:solidFill>
                <a:latin typeface="Courier New"/>
                <a:cs typeface="Courier New"/>
              </a:rPr>
              <a:t>heads</a:t>
            </a:r>
            <a:endParaRPr sz="950">
              <a:latin typeface="Courier New"/>
              <a:cs typeface="Courier New"/>
            </a:endParaRPr>
          </a:p>
          <a:p>
            <a:pPr marL="50800">
              <a:lnSpc>
                <a:spcPts val="1065"/>
              </a:lnSpc>
              <a:spcBef>
                <a:spcPts val="785"/>
              </a:spcBef>
              <a:tabLst>
                <a:tab pos="788035" algn="l"/>
              </a:tabLst>
            </a:pPr>
            <a:r>
              <a:rPr dirty="0" sz="900" spc="-10">
                <a:solidFill>
                  <a:srgbClr val="333333"/>
                </a:solidFill>
                <a:latin typeface="Lucida Console"/>
                <a:cs typeface="Lucida Console"/>
              </a:rPr>
              <a:t>dbinom(x</a:t>
            </a:r>
            <a:r>
              <a:rPr dirty="0" sz="900">
                <a:solidFill>
                  <a:srgbClr val="333333"/>
                </a:solidFill>
                <a:latin typeface="Lucida Console"/>
                <a:cs typeface="Lucida Console"/>
              </a:rPr>
              <a:t>	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 </a:t>
            </a:r>
            <a:r>
              <a:rPr dirty="0" sz="850" spc="-10">
                <a:solidFill>
                  <a:srgbClr val="008080"/>
                </a:solidFill>
                <a:latin typeface="Courier New"/>
                <a:cs typeface="Courier New"/>
              </a:rPr>
              <a:t>22</a:t>
            </a:r>
            <a:r>
              <a:rPr dirty="0" sz="900" spc="-10">
                <a:solidFill>
                  <a:srgbClr val="333333"/>
                </a:solidFill>
                <a:latin typeface="Lucida Console"/>
                <a:cs typeface="Lucida Console"/>
              </a:rPr>
              <a:t>:</a:t>
            </a:r>
            <a:r>
              <a:rPr dirty="0" sz="850" spc="-10">
                <a:solidFill>
                  <a:srgbClr val="008080"/>
                </a:solidFill>
                <a:latin typeface="Courier New"/>
                <a:cs typeface="Courier New"/>
              </a:rPr>
              <a:t>30</a:t>
            </a:r>
            <a:r>
              <a:rPr dirty="0" sz="900" spc="-1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900">
              <a:latin typeface="Lucida Console"/>
              <a:cs typeface="Lucida Console"/>
            </a:endParaRPr>
          </a:p>
          <a:p>
            <a:pPr marL="480695">
              <a:lnSpc>
                <a:spcPts val="1050"/>
              </a:lnSpc>
            </a:pP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size</a:t>
            </a:r>
            <a:r>
              <a:rPr dirty="0" sz="900" spc="-6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80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850" spc="-25">
                <a:solidFill>
                  <a:srgbClr val="008080"/>
                </a:solidFill>
                <a:latin typeface="Courier New"/>
                <a:cs typeface="Courier New"/>
              </a:rPr>
              <a:t>30</a:t>
            </a:r>
            <a:r>
              <a:rPr dirty="0" sz="900" spc="-2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900">
              <a:latin typeface="Lucida Console"/>
              <a:cs typeface="Lucida Console"/>
            </a:endParaRPr>
          </a:p>
          <a:p>
            <a:pPr marL="480695">
              <a:lnSpc>
                <a:spcPts val="1065"/>
              </a:lnSpc>
            </a:pP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prob</a:t>
            </a:r>
            <a:r>
              <a:rPr dirty="0" sz="900" spc="-6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80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850" spc="-20">
                <a:solidFill>
                  <a:srgbClr val="008080"/>
                </a:solidFill>
                <a:latin typeface="Courier New"/>
                <a:cs typeface="Courier New"/>
              </a:rPr>
              <a:t>0.5</a:t>
            </a:r>
            <a:r>
              <a:rPr dirty="0" sz="900" spc="-2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9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Lucida Console"/>
              <a:cs typeface="Lucida Console"/>
            </a:endParaRPr>
          </a:p>
          <a:p>
            <a:pPr marL="50800" marR="3637279">
              <a:lnSpc>
                <a:spcPts val="1050"/>
              </a:lnSpc>
            </a:pP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950" spc="-6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Sum</a:t>
            </a:r>
            <a:r>
              <a:rPr dirty="0" sz="950" spc="-6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all</a:t>
            </a:r>
            <a:r>
              <a:rPr dirty="0" sz="950" spc="-5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of</a:t>
            </a:r>
            <a:r>
              <a:rPr dirty="0" sz="950" spc="-6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these</a:t>
            </a:r>
            <a:r>
              <a:rPr dirty="0" sz="950" spc="-6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0" i="1">
                <a:solidFill>
                  <a:srgbClr val="999987"/>
                </a:solidFill>
                <a:latin typeface="Courier New"/>
                <a:cs typeface="Courier New"/>
              </a:rPr>
              <a:t>probabilities</a:t>
            </a:r>
            <a:r>
              <a:rPr dirty="0" sz="950" spc="-5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to</a:t>
            </a:r>
            <a:r>
              <a:rPr dirty="0" sz="950" spc="-6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compute</a:t>
            </a:r>
            <a:r>
              <a:rPr dirty="0" sz="950" spc="-6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the</a:t>
            </a:r>
            <a:r>
              <a:rPr dirty="0" sz="950" spc="-5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0" i="1">
                <a:solidFill>
                  <a:srgbClr val="999987"/>
                </a:solidFill>
                <a:latin typeface="Courier New"/>
                <a:cs typeface="Courier New"/>
              </a:rPr>
              <a:t>probability</a:t>
            </a:r>
            <a:r>
              <a:rPr dirty="0" sz="950" spc="-6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385" i="1">
                <a:solidFill>
                  <a:srgbClr val="999987"/>
                </a:solidFill>
                <a:latin typeface="Courier New"/>
                <a:cs typeface="Courier New"/>
              </a:rPr>
              <a:t>of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 #</a:t>
            </a:r>
            <a:r>
              <a:rPr dirty="0" sz="950" spc="-7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0" i="1">
                <a:solidFill>
                  <a:srgbClr val="999987"/>
                </a:solidFill>
                <a:latin typeface="Courier New"/>
                <a:cs typeface="Courier New"/>
              </a:rPr>
              <a:t>observing</a:t>
            </a:r>
            <a:r>
              <a:rPr dirty="0" sz="950" spc="-6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22</a:t>
            </a:r>
            <a:r>
              <a:rPr dirty="0" sz="950" spc="-7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or</a:t>
            </a:r>
            <a:r>
              <a:rPr dirty="0" sz="950" spc="-6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more</a:t>
            </a:r>
            <a:r>
              <a:rPr dirty="0" sz="950" spc="-7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10" i="1">
                <a:solidFill>
                  <a:srgbClr val="999987"/>
                </a:solidFill>
                <a:latin typeface="Courier New"/>
                <a:cs typeface="Courier New"/>
              </a:rPr>
              <a:t>heads</a:t>
            </a:r>
            <a:endParaRPr sz="950">
              <a:latin typeface="Courier New"/>
              <a:cs typeface="Courier New"/>
            </a:endParaRPr>
          </a:p>
          <a:p>
            <a:pPr marL="50800">
              <a:lnSpc>
                <a:spcPts val="1065"/>
              </a:lnSpc>
              <a:spcBef>
                <a:spcPts val="765"/>
              </a:spcBef>
              <a:tabLst>
                <a:tab pos="1341120" algn="l"/>
              </a:tabLst>
            </a:pP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probs</a:t>
            </a:r>
            <a:r>
              <a:rPr dirty="0" sz="900" spc="-5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&lt;-</a:t>
            </a:r>
            <a:r>
              <a:rPr dirty="0" sz="80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333333"/>
                </a:solidFill>
                <a:latin typeface="Lucida Console"/>
                <a:cs typeface="Lucida Console"/>
              </a:rPr>
              <a:t>dbinom(x</a:t>
            </a:r>
            <a:r>
              <a:rPr dirty="0" sz="900">
                <a:solidFill>
                  <a:srgbClr val="333333"/>
                </a:solidFill>
                <a:latin typeface="Lucida Console"/>
                <a:cs typeface="Lucida Console"/>
              </a:rPr>
              <a:t>	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 </a:t>
            </a:r>
            <a:r>
              <a:rPr dirty="0" sz="850" spc="-10">
                <a:solidFill>
                  <a:srgbClr val="008080"/>
                </a:solidFill>
                <a:latin typeface="Courier New"/>
                <a:cs typeface="Courier New"/>
              </a:rPr>
              <a:t>22</a:t>
            </a:r>
            <a:r>
              <a:rPr dirty="0" sz="900" spc="-10">
                <a:solidFill>
                  <a:srgbClr val="333333"/>
                </a:solidFill>
                <a:latin typeface="Lucida Console"/>
                <a:cs typeface="Lucida Console"/>
              </a:rPr>
              <a:t>:</a:t>
            </a:r>
            <a:r>
              <a:rPr dirty="0" sz="850" spc="-10">
                <a:solidFill>
                  <a:srgbClr val="008080"/>
                </a:solidFill>
                <a:latin typeface="Courier New"/>
                <a:cs typeface="Courier New"/>
              </a:rPr>
              <a:t>30</a:t>
            </a:r>
            <a:r>
              <a:rPr dirty="0" sz="900" spc="-1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900">
              <a:latin typeface="Lucida Console"/>
              <a:cs typeface="Lucida Console"/>
            </a:endParaRPr>
          </a:p>
          <a:p>
            <a:pPr marL="1033780">
              <a:lnSpc>
                <a:spcPts val="1050"/>
              </a:lnSpc>
            </a:pP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size</a:t>
            </a:r>
            <a:r>
              <a:rPr dirty="0" sz="900" spc="-6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80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850" spc="-25">
                <a:solidFill>
                  <a:srgbClr val="008080"/>
                </a:solidFill>
                <a:latin typeface="Courier New"/>
                <a:cs typeface="Courier New"/>
              </a:rPr>
              <a:t>30</a:t>
            </a:r>
            <a:r>
              <a:rPr dirty="0" sz="900" spc="-2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900">
              <a:latin typeface="Lucida Console"/>
              <a:cs typeface="Lucida Console"/>
            </a:endParaRPr>
          </a:p>
          <a:p>
            <a:pPr marL="1033780">
              <a:lnSpc>
                <a:spcPts val="1065"/>
              </a:lnSpc>
            </a:pP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prob</a:t>
            </a:r>
            <a:r>
              <a:rPr dirty="0" sz="900" spc="-6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80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850" spc="-20">
                <a:solidFill>
                  <a:srgbClr val="008080"/>
                </a:solidFill>
                <a:latin typeface="Courier New"/>
                <a:cs typeface="Courier New"/>
              </a:rPr>
              <a:t>0.5</a:t>
            </a:r>
            <a:r>
              <a:rPr dirty="0" sz="900" spc="-2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900">
              <a:latin typeface="Lucida Console"/>
              <a:cs typeface="Lucida Console"/>
            </a:endParaRPr>
          </a:p>
          <a:p>
            <a:pPr marL="50800" marR="6831965">
              <a:lnSpc>
                <a:spcPts val="1880"/>
              </a:lnSpc>
              <a:spcBef>
                <a:spcPts val="114"/>
              </a:spcBef>
            </a:pPr>
            <a:r>
              <a:rPr dirty="0" sz="900" spc="-10">
                <a:solidFill>
                  <a:srgbClr val="333333"/>
                </a:solidFill>
                <a:latin typeface="Lucida Console"/>
                <a:cs typeface="Lucida Console"/>
              </a:rPr>
              <a:t>probs </a:t>
            </a: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sum(probs)</a:t>
            </a:r>
            <a:endParaRPr sz="900">
              <a:latin typeface="Lucida Console"/>
              <a:cs typeface="Lucida Consol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3400" y="3924846"/>
            <a:ext cx="5160645" cy="6610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surprising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under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assumption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7936" sz="1575">
                <a:latin typeface="Tahoma"/>
                <a:cs typeface="Tahoma"/>
              </a:rPr>
              <a:t>0</a:t>
            </a:r>
            <a:r>
              <a:rPr dirty="0" baseline="-7936" sz="1575" spc="337">
                <a:latin typeface="Tahoma"/>
                <a:cs typeface="Tahoma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true?</a:t>
            </a:r>
            <a:endParaRPr sz="145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1290"/>
              </a:spcBef>
            </a:pPr>
            <a:r>
              <a:rPr dirty="0" sz="1450">
                <a:latin typeface="Trebuchet MS"/>
                <a:cs typeface="Trebuchet MS"/>
              </a:rPr>
              <a:t>Would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55">
                <a:latin typeface="Trebuchet MS"/>
                <a:cs typeface="Trebuchet MS"/>
              </a:rPr>
              <a:t>reject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H</a:t>
            </a:r>
            <a:r>
              <a:rPr dirty="0" baseline="-13227" sz="1575" spc="-37">
                <a:latin typeface="Tahoma"/>
                <a:cs typeface="Tahoma"/>
              </a:rPr>
              <a:t>0</a:t>
            </a:r>
            <a:r>
              <a:rPr dirty="0" sz="1450" spc="-25">
                <a:latin typeface="Trebuchet MS"/>
                <a:cs typeface="Trebuchet MS"/>
              </a:rPr>
              <a:t>?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71524" y="5048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39800" y="394970"/>
            <a:ext cx="4662805" cy="145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Trebuchet MS"/>
                <a:cs typeface="Trebuchet MS"/>
              </a:rPr>
              <a:t>p-value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=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P(Data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90">
                <a:latin typeface="Trebuchet MS"/>
                <a:cs typeface="Trebuchet MS"/>
              </a:rPr>
              <a:t>|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</a:t>
            </a:r>
            <a:r>
              <a:rPr dirty="0" sz="1450">
                <a:latin typeface="Times New Roman"/>
                <a:cs typeface="Times New Roman"/>
              </a:rPr>
              <a:t>₀</a:t>
            </a:r>
            <a:r>
              <a:rPr dirty="0" sz="1450" spc="20">
                <a:latin typeface="Times New Roman"/>
                <a:cs typeface="Times New Roman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true),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P(H</a:t>
            </a:r>
            <a:r>
              <a:rPr dirty="0" sz="1450">
                <a:latin typeface="Times New Roman"/>
                <a:cs typeface="Times New Roman"/>
              </a:rPr>
              <a:t>₀</a:t>
            </a:r>
            <a:r>
              <a:rPr dirty="0" sz="1450" spc="20">
                <a:latin typeface="Times New Roman"/>
                <a:cs typeface="Times New Roman"/>
              </a:rPr>
              <a:t> </a:t>
            </a:r>
            <a:r>
              <a:rPr dirty="0" sz="1450" spc="-190">
                <a:latin typeface="Trebuchet MS"/>
                <a:cs typeface="Trebuchet MS"/>
              </a:rPr>
              <a:t>|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Data).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50">
                <a:latin typeface="Trebuchet MS"/>
                <a:cs typeface="Trebuchet MS"/>
              </a:rPr>
              <a:t>Small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Arial"/>
                <a:cs typeface="Arial"/>
              </a:rPr>
              <a:t>→</a:t>
            </a:r>
            <a:r>
              <a:rPr dirty="0" sz="1450" spc="20">
                <a:latin typeface="Arial"/>
                <a:cs typeface="Arial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inconsistent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H</a:t>
            </a:r>
            <a:r>
              <a:rPr dirty="0" sz="1450" spc="-25">
                <a:latin typeface="Times New Roman"/>
                <a:cs typeface="Times New Roman"/>
              </a:rPr>
              <a:t>₀</a:t>
            </a:r>
            <a:r>
              <a:rPr dirty="0" sz="1450" spc="-25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1450">
                <a:latin typeface="Trebuchet MS"/>
                <a:cs typeface="Trebuchet MS"/>
              </a:rPr>
              <a:t>Thresholds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20">
                <a:latin typeface="Trebuchet MS"/>
                <a:cs typeface="Trebuchet MS"/>
              </a:rPr>
              <a:t>(e.g.,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α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=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60">
                <a:latin typeface="Trebuchet MS"/>
                <a:cs typeface="Trebuchet MS"/>
              </a:rPr>
              <a:t>0.05)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conventions,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10">
                <a:latin typeface="Trebuchet MS"/>
                <a:cs typeface="Trebuchet MS"/>
              </a:rPr>
              <a:t> laws.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50" spc="-50" b="1">
                <a:latin typeface="Trebuchet MS"/>
                <a:cs typeface="Trebuchet MS"/>
              </a:rPr>
              <a:t>Reminder: </a:t>
            </a:r>
            <a:r>
              <a:rPr dirty="0" sz="1450" spc="-10">
                <a:latin typeface="Trebuchet MS"/>
                <a:cs typeface="Trebuchet MS"/>
              </a:rPr>
              <a:t>statistical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significance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Arial"/>
                <a:cs typeface="Arial"/>
              </a:rPr>
              <a:t>≠</a:t>
            </a:r>
            <a:r>
              <a:rPr dirty="0" sz="1450" spc="-15">
                <a:latin typeface="Arial"/>
                <a:cs typeface="Arial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practical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importance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1524" y="13144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17144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71524" y="5048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71524" y="19240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20700" y="394970"/>
            <a:ext cx="7567295" cy="43027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31165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Trebuchet MS"/>
                <a:cs typeface="Trebuchet MS"/>
              </a:rPr>
              <a:t>Why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does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employing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NHST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make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sense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scenario?</a:t>
            </a:r>
            <a:endParaRPr sz="1450">
              <a:latin typeface="Trebuchet MS"/>
              <a:cs typeface="Trebuchet MS"/>
            </a:endParaRPr>
          </a:p>
          <a:p>
            <a:pPr marL="431165" marR="68580">
              <a:lnSpc>
                <a:spcPts val="1730"/>
              </a:lnSpc>
              <a:spcBef>
                <a:spcPts val="1475"/>
              </a:spcBef>
            </a:pPr>
            <a:r>
              <a:rPr dirty="0" sz="1450" spc="-30">
                <a:latin typeface="Trebuchet MS"/>
                <a:cs typeface="Trebuchet MS"/>
              </a:rPr>
              <a:t>We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know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probability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observing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head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tail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70">
                <a:latin typeface="Trebuchet MS"/>
                <a:cs typeface="Trebuchet MS"/>
              </a:rPr>
              <a:t>0.5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fair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coin,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is </a:t>
            </a:r>
            <a:r>
              <a:rPr dirty="0" sz="1450">
                <a:latin typeface="Trebuchet MS"/>
                <a:cs typeface="Trebuchet MS"/>
              </a:rPr>
              <a:t>easier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disprove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given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probability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observed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under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assumption.</a:t>
            </a:r>
            <a:endParaRPr sz="1450">
              <a:latin typeface="Trebuchet MS"/>
              <a:cs typeface="Trebuchet MS"/>
            </a:endParaRPr>
          </a:p>
          <a:p>
            <a:pPr algn="ctr" marL="40005">
              <a:lnSpc>
                <a:spcPct val="100000"/>
              </a:lnSpc>
              <a:spcBef>
                <a:spcPts val="1175"/>
              </a:spcBef>
            </a:pP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3227" sz="1575">
                <a:latin typeface="Tahoma"/>
                <a:cs typeface="Tahoma"/>
              </a:rPr>
              <a:t>0</a:t>
            </a:r>
            <a:r>
              <a:rPr dirty="0" baseline="-13227" sz="1575" spc="240">
                <a:latin typeface="Tahoma"/>
                <a:cs typeface="Tahoma"/>
              </a:rPr>
              <a:t> </a:t>
            </a:r>
            <a:r>
              <a:rPr dirty="0" sz="1500" spc="-140">
                <a:latin typeface="Tahoma"/>
                <a:cs typeface="Tahoma"/>
              </a:rPr>
              <a:t>: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P</a:t>
            </a:r>
            <a:r>
              <a:rPr dirty="0" sz="1550" spc="-380" i="1">
                <a:latin typeface="Verdana"/>
                <a:cs typeface="Verdana"/>
              </a:rPr>
              <a:t> </a:t>
            </a:r>
            <a:r>
              <a:rPr dirty="0" sz="1500">
                <a:latin typeface="Tahoma"/>
                <a:cs typeface="Tahoma"/>
              </a:rPr>
              <a:t>(</a:t>
            </a:r>
            <a:r>
              <a:rPr dirty="0" sz="1550" i="1">
                <a:latin typeface="Verdana"/>
                <a:cs typeface="Verdana"/>
              </a:rPr>
              <a:t>H</a:t>
            </a:r>
            <a:r>
              <a:rPr dirty="0" sz="1500">
                <a:latin typeface="Tahoma"/>
                <a:cs typeface="Tahoma"/>
              </a:rPr>
              <a:t>)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5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0.5</a:t>
            </a:r>
            <a:endParaRPr sz="1500">
              <a:latin typeface="Tahoma"/>
              <a:cs typeface="Tahoma"/>
            </a:endParaRPr>
          </a:p>
          <a:p>
            <a:pPr marL="431165" marR="199390">
              <a:lnSpc>
                <a:spcPts val="1730"/>
              </a:lnSpc>
              <a:spcBef>
                <a:spcPts val="1530"/>
              </a:spcBef>
            </a:pP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start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work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research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hypothesis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(the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coin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70">
                <a:latin typeface="Trebuchet MS"/>
                <a:cs typeface="Trebuchet MS"/>
              </a:rPr>
              <a:t>fair),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not </a:t>
            </a:r>
            <a:r>
              <a:rPr dirty="0" sz="1450">
                <a:latin typeface="Trebuchet MS"/>
                <a:cs typeface="Trebuchet MS"/>
              </a:rPr>
              <a:t>sure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translate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into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mathematical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statement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there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endless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ways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a </a:t>
            </a:r>
            <a:r>
              <a:rPr dirty="0" sz="1450">
                <a:latin typeface="Trebuchet MS"/>
                <a:cs typeface="Trebuchet MS"/>
              </a:rPr>
              <a:t>coin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may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fair.</a:t>
            </a:r>
            <a:endParaRPr sz="1450">
              <a:latin typeface="Trebuchet MS"/>
              <a:cs typeface="Trebuchet MS"/>
            </a:endParaRPr>
          </a:p>
          <a:p>
            <a:pPr algn="ctr" marL="40005">
              <a:lnSpc>
                <a:spcPct val="100000"/>
              </a:lnSpc>
              <a:spcBef>
                <a:spcPts val="1095"/>
              </a:spcBef>
            </a:pP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3227" sz="1575">
                <a:latin typeface="Tahoma"/>
                <a:cs typeface="Tahoma"/>
              </a:rPr>
              <a:t>0</a:t>
            </a:r>
            <a:r>
              <a:rPr dirty="0" baseline="-13227" sz="1575" spc="240">
                <a:latin typeface="Tahoma"/>
                <a:cs typeface="Tahoma"/>
              </a:rPr>
              <a:t> </a:t>
            </a:r>
            <a:r>
              <a:rPr dirty="0" sz="1500" spc="-140">
                <a:latin typeface="Tahoma"/>
                <a:cs typeface="Tahoma"/>
              </a:rPr>
              <a:t>: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P</a:t>
            </a:r>
            <a:r>
              <a:rPr dirty="0" sz="1550" spc="-380" i="1">
                <a:latin typeface="Verdana"/>
                <a:cs typeface="Verdana"/>
              </a:rPr>
              <a:t> </a:t>
            </a:r>
            <a:r>
              <a:rPr dirty="0" sz="1500">
                <a:latin typeface="Tahoma"/>
                <a:cs typeface="Tahoma"/>
              </a:rPr>
              <a:t>(</a:t>
            </a:r>
            <a:r>
              <a:rPr dirty="0" sz="1550" i="1">
                <a:latin typeface="Verdana"/>
                <a:cs typeface="Verdana"/>
              </a:rPr>
              <a:t>H</a:t>
            </a:r>
            <a:r>
              <a:rPr dirty="0" sz="1500">
                <a:latin typeface="Tahoma"/>
                <a:cs typeface="Tahoma"/>
              </a:rPr>
              <a:t>)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5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0.3</a:t>
            </a:r>
            <a:endParaRPr sz="1500">
              <a:latin typeface="Tahoma"/>
              <a:cs typeface="Tahoma"/>
            </a:endParaRPr>
          </a:p>
          <a:p>
            <a:pPr algn="ctr" marL="40005">
              <a:lnSpc>
                <a:spcPct val="100000"/>
              </a:lnSpc>
              <a:spcBef>
                <a:spcPts val="1290"/>
              </a:spcBef>
            </a:pP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0582" sz="1575">
                <a:latin typeface="Tahoma"/>
                <a:cs typeface="Tahoma"/>
              </a:rPr>
              <a:t>0</a:t>
            </a:r>
            <a:r>
              <a:rPr dirty="0" baseline="-10582" sz="1575" spc="240">
                <a:latin typeface="Tahoma"/>
                <a:cs typeface="Tahoma"/>
              </a:rPr>
              <a:t> </a:t>
            </a:r>
            <a:r>
              <a:rPr dirty="0" sz="1500" spc="-140">
                <a:latin typeface="Tahoma"/>
                <a:cs typeface="Tahoma"/>
              </a:rPr>
              <a:t>: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P</a:t>
            </a:r>
            <a:r>
              <a:rPr dirty="0" sz="1550" spc="-380" i="1">
                <a:latin typeface="Verdana"/>
                <a:cs typeface="Verdana"/>
              </a:rPr>
              <a:t> </a:t>
            </a:r>
            <a:r>
              <a:rPr dirty="0" sz="1500">
                <a:latin typeface="Tahoma"/>
                <a:cs typeface="Tahoma"/>
              </a:rPr>
              <a:t>(</a:t>
            </a:r>
            <a:r>
              <a:rPr dirty="0" sz="1550" i="1">
                <a:latin typeface="Verdana"/>
                <a:cs typeface="Verdana"/>
              </a:rPr>
              <a:t>H</a:t>
            </a:r>
            <a:r>
              <a:rPr dirty="0" sz="1500">
                <a:latin typeface="Tahoma"/>
                <a:cs typeface="Tahoma"/>
              </a:rPr>
              <a:t>)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5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0.4</a:t>
            </a:r>
            <a:endParaRPr sz="1500">
              <a:latin typeface="Tahoma"/>
              <a:cs typeface="Tahoma"/>
            </a:endParaRPr>
          </a:p>
          <a:p>
            <a:pPr algn="ctr" marL="40005">
              <a:lnSpc>
                <a:spcPct val="100000"/>
              </a:lnSpc>
              <a:spcBef>
                <a:spcPts val="1215"/>
              </a:spcBef>
            </a:pP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3227" sz="1575">
                <a:latin typeface="Tahoma"/>
                <a:cs typeface="Tahoma"/>
              </a:rPr>
              <a:t>0</a:t>
            </a:r>
            <a:r>
              <a:rPr dirty="0" baseline="-13227" sz="1575" spc="240">
                <a:latin typeface="Tahoma"/>
                <a:cs typeface="Tahoma"/>
              </a:rPr>
              <a:t> </a:t>
            </a:r>
            <a:r>
              <a:rPr dirty="0" sz="1500" spc="-140">
                <a:latin typeface="Tahoma"/>
                <a:cs typeface="Tahoma"/>
              </a:rPr>
              <a:t>: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P</a:t>
            </a:r>
            <a:r>
              <a:rPr dirty="0" sz="1550" spc="-380" i="1">
                <a:latin typeface="Verdana"/>
                <a:cs typeface="Verdana"/>
              </a:rPr>
              <a:t> </a:t>
            </a:r>
            <a:r>
              <a:rPr dirty="0" sz="1500">
                <a:latin typeface="Tahoma"/>
                <a:cs typeface="Tahoma"/>
              </a:rPr>
              <a:t>(</a:t>
            </a:r>
            <a:r>
              <a:rPr dirty="0" sz="1550" i="1">
                <a:latin typeface="Verdana"/>
                <a:cs typeface="Verdana"/>
              </a:rPr>
              <a:t>H</a:t>
            </a:r>
            <a:r>
              <a:rPr dirty="0" sz="1500">
                <a:latin typeface="Tahoma"/>
                <a:cs typeface="Tahoma"/>
              </a:rPr>
              <a:t>)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5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0.6</a:t>
            </a:r>
            <a:endParaRPr sz="1500">
              <a:latin typeface="Tahoma"/>
              <a:cs typeface="Tahoma"/>
            </a:endParaRPr>
          </a:p>
          <a:p>
            <a:pPr algn="ctr" marL="40005">
              <a:lnSpc>
                <a:spcPct val="100000"/>
              </a:lnSpc>
              <a:spcBef>
                <a:spcPts val="1290"/>
              </a:spcBef>
            </a:pP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3227" sz="1575">
                <a:latin typeface="Tahoma"/>
                <a:cs typeface="Tahoma"/>
              </a:rPr>
              <a:t>0</a:t>
            </a:r>
            <a:r>
              <a:rPr dirty="0" baseline="-13227" sz="1575" spc="240">
                <a:latin typeface="Tahoma"/>
                <a:cs typeface="Tahoma"/>
              </a:rPr>
              <a:t> </a:t>
            </a:r>
            <a:r>
              <a:rPr dirty="0" sz="1500" spc="-140">
                <a:latin typeface="Tahoma"/>
                <a:cs typeface="Tahoma"/>
              </a:rPr>
              <a:t>: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P</a:t>
            </a:r>
            <a:r>
              <a:rPr dirty="0" sz="1550" spc="-380" i="1">
                <a:latin typeface="Verdana"/>
                <a:cs typeface="Verdana"/>
              </a:rPr>
              <a:t> </a:t>
            </a:r>
            <a:r>
              <a:rPr dirty="0" sz="1500">
                <a:latin typeface="Tahoma"/>
                <a:cs typeface="Tahoma"/>
              </a:rPr>
              <a:t>(</a:t>
            </a:r>
            <a:r>
              <a:rPr dirty="0" sz="1550" i="1">
                <a:latin typeface="Verdana"/>
                <a:cs typeface="Verdana"/>
              </a:rPr>
              <a:t>H</a:t>
            </a:r>
            <a:r>
              <a:rPr dirty="0" sz="1500">
                <a:latin typeface="Tahoma"/>
                <a:cs typeface="Tahoma"/>
              </a:rPr>
              <a:t>)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5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0.7</a:t>
            </a:r>
            <a:endParaRPr sz="1500">
              <a:latin typeface="Tahoma"/>
              <a:cs typeface="Tahoma"/>
            </a:endParaRPr>
          </a:p>
          <a:p>
            <a:pPr marL="50800" marR="83820">
              <a:lnSpc>
                <a:spcPts val="1730"/>
              </a:lnSpc>
              <a:spcBef>
                <a:spcPts val="1530"/>
              </a:spcBef>
            </a:pPr>
            <a:r>
              <a:rPr dirty="0" sz="1450" spc="-30">
                <a:latin typeface="Trebuchet MS"/>
                <a:cs typeface="Trebuchet MS"/>
              </a:rPr>
              <a:t>We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compute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probability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observed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under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these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different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assumptions,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>
                <a:latin typeface="Trebuchet MS"/>
                <a:cs typeface="Trebuchet MS"/>
              </a:rPr>
              <a:t>make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decision.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which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will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pick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show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coin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fair?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2978149"/>
            <a:ext cx="3926204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160">
                <a:solidFill>
                  <a:srgbClr val="FFFFFF"/>
                </a:solidFill>
              </a:rPr>
              <a:t>One</a:t>
            </a:r>
            <a:r>
              <a:rPr dirty="0" sz="4100" spc="-250">
                <a:solidFill>
                  <a:srgbClr val="FFFFFF"/>
                </a:solidFill>
              </a:rPr>
              <a:t> </a:t>
            </a:r>
            <a:r>
              <a:rPr dirty="0" sz="4100" spc="-130">
                <a:solidFill>
                  <a:srgbClr val="FFFFFF"/>
                </a:solidFill>
              </a:rPr>
              <a:t>Sample</a:t>
            </a:r>
            <a:r>
              <a:rPr dirty="0" sz="4100" spc="-250">
                <a:solidFill>
                  <a:srgbClr val="FFFFFF"/>
                </a:solidFill>
              </a:rPr>
              <a:t> </a:t>
            </a:r>
            <a:r>
              <a:rPr dirty="0" sz="4100" spc="-245">
                <a:solidFill>
                  <a:srgbClr val="FFFFFF"/>
                </a:solidFill>
              </a:rPr>
              <a:t>z-</a:t>
            </a:r>
            <a:r>
              <a:rPr dirty="0" sz="4100" spc="-150">
                <a:solidFill>
                  <a:srgbClr val="FFFFFF"/>
                </a:solidFill>
              </a:rPr>
              <a:t>test</a:t>
            </a:r>
            <a:endParaRPr sz="4100"/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8800" y="206375"/>
            <a:ext cx="1569085" cy="4254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60"/>
              <a:t>Why</a:t>
            </a:r>
            <a:r>
              <a:rPr dirty="0" spc="-130"/>
              <a:t> </a:t>
            </a:r>
            <a:r>
              <a:rPr dirty="0" spc="-160"/>
              <a:t>z-</a:t>
            </a:r>
            <a:r>
              <a:rPr dirty="0" spc="-55"/>
              <a:t>test?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1524" y="13049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1709737"/>
            <a:ext cx="66675" cy="666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1928812"/>
            <a:ext cx="66675" cy="66674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771524" y="23336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771524" y="3314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771524" y="37147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771524" y="41243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7762" y="4519612"/>
            <a:ext cx="66675" cy="6667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7762" y="4919662"/>
            <a:ext cx="66675" cy="6667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546100" y="795019"/>
            <a:ext cx="7223125" cy="42646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05765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pedagogical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tool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introduce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mechanics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NHST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action</a:t>
            </a:r>
            <a:endParaRPr sz="1450">
              <a:latin typeface="Trebuchet MS"/>
              <a:cs typeface="Trebuchet MS"/>
            </a:endParaRPr>
          </a:p>
          <a:p>
            <a:pPr marL="405765">
              <a:lnSpc>
                <a:spcPct val="100000"/>
              </a:lnSpc>
              <a:spcBef>
                <a:spcPts val="1310"/>
              </a:spcBef>
            </a:pPr>
            <a:r>
              <a:rPr dirty="0" sz="1450" spc="-70" i="1">
                <a:latin typeface="Lucida Sans"/>
                <a:cs typeface="Lucida Sans"/>
              </a:rPr>
              <a:t>z</a:t>
            </a:r>
            <a:r>
              <a:rPr dirty="0" sz="1450" spc="-70">
                <a:latin typeface="Trebuchet MS"/>
                <a:cs typeface="Trebuchet MS"/>
              </a:rPr>
              <a:t>-</a:t>
            </a:r>
            <a:r>
              <a:rPr dirty="0" sz="1450" spc="-10">
                <a:latin typeface="Trebuchet MS"/>
                <a:cs typeface="Trebuchet MS"/>
              </a:rPr>
              <a:t>test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assumes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550" spc="-165" i="1">
                <a:latin typeface="Verdana"/>
                <a:cs typeface="Verdana"/>
              </a:rPr>
              <a:t>σ</a:t>
            </a:r>
            <a:r>
              <a:rPr dirty="0" sz="1550" spc="-105" i="1">
                <a:latin typeface="Verdana"/>
                <a:cs typeface="Verdana"/>
              </a:rPr>
              <a:t> </a:t>
            </a:r>
            <a:r>
              <a:rPr dirty="0" sz="1450">
                <a:latin typeface="Trebuchet MS"/>
                <a:cs typeface="Trebuchet MS"/>
              </a:rPr>
              <a:t>is known </a:t>
            </a:r>
            <a:r>
              <a:rPr dirty="0" sz="1450" spc="-45">
                <a:latin typeface="Trebuchet MS"/>
                <a:cs typeface="Trebuchet MS"/>
              </a:rPr>
              <a:t>(rare</a:t>
            </a:r>
            <a:r>
              <a:rPr dirty="0" sz="1450">
                <a:latin typeface="Trebuchet MS"/>
                <a:cs typeface="Trebuchet MS"/>
              </a:rPr>
              <a:t> in </a:t>
            </a:r>
            <a:r>
              <a:rPr dirty="0" sz="1450" spc="-45">
                <a:latin typeface="Trebuchet MS"/>
                <a:cs typeface="Trebuchet MS"/>
              </a:rPr>
              <a:t>practice),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but </a:t>
            </a:r>
            <a:r>
              <a:rPr dirty="0" sz="1450" spc="-20">
                <a:latin typeface="Trebuchet MS"/>
                <a:cs typeface="Trebuchet MS"/>
              </a:rPr>
              <a:t>great</a:t>
            </a:r>
            <a:r>
              <a:rPr dirty="0" sz="145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for:</a:t>
            </a:r>
            <a:endParaRPr sz="1450">
              <a:latin typeface="Trebuchet MS"/>
              <a:cs typeface="Trebuchet MS"/>
            </a:endParaRPr>
          </a:p>
          <a:p>
            <a:pPr marL="786765">
              <a:lnSpc>
                <a:spcPts val="1730"/>
              </a:lnSpc>
              <a:spcBef>
                <a:spcPts val="1465"/>
              </a:spcBef>
            </a:pPr>
            <a:r>
              <a:rPr dirty="0" sz="1450">
                <a:latin typeface="Trebuchet MS"/>
                <a:cs typeface="Trebuchet MS"/>
              </a:rPr>
              <a:t>Connecting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-110">
                <a:latin typeface="Trebuchet MS"/>
                <a:cs typeface="Trebuchet MS"/>
              </a:rPr>
              <a:t>CLT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--&gt;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Sampling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distribution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--&gt;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p-</a:t>
            </a:r>
            <a:r>
              <a:rPr dirty="0" sz="1450" spc="-10">
                <a:latin typeface="Trebuchet MS"/>
                <a:cs typeface="Trebuchet MS"/>
              </a:rPr>
              <a:t>values</a:t>
            </a:r>
            <a:endParaRPr sz="1450">
              <a:latin typeface="Trebuchet MS"/>
              <a:cs typeface="Trebuchet MS"/>
            </a:endParaRPr>
          </a:p>
          <a:p>
            <a:pPr marL="786765">
              <a:lnSpc>
                <a:spcPts val="1730"/>
              </a:lnSpc>
            </a:pPr>
            <a:r>
              <a:rPr dirty="0" sz="1450" spc="-10">
                <a:latin typeface="Trebuchet MS"/>
                <a:cs typeface="Trebuchet MS"/>
              </a:rPr>
              <a:t>Practicing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setip,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65">
                <a:latin typeface="Trebuchet MS"/>
                <a:cs typeface="Trebuchet MS"/>
              </a:rPr>
              <a:t>error,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decision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rules,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10">
                <a:latin typeface="Trebuchet MS"/>
                <a:cs typeface="Trebuchet MS"/>
              </a:rPr>
              <a:t> interpretation</a:t>
            </a:r>
            <a:endParaRPr sz="1450">
              <a:latin typeface="Trebuchet MS"/>
              <a:cs typeface="Trebuchet MS"/>
            </a:endParaRPr>
          </a:p>
          <a:p>
            <a:pPr marL="405765">
              <a:lnSpc>
                <a:spcPct val="100000"/>
              </a:lnSpc>
              <a:spcBef>
                <a:spcPts val="1310"/>
              </a:spcBef>
            </a:pPr>
            <a:r>
              <a:rPr dirty="0" sz="1450" spc="-55">
                <a:latin typeface="Trebuchet MS"/>
                <a:cs typeface="Trebuchet MS"/>
              </a:rPr>
              <a:t>Next: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-test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logic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replace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550" spc="-165" i="1">
                <a:latin typeface="Verdana"/>
                <a:cs typeface="Verdana"/>
              </a:rPr>
              <a:t>σ</a:t>
            </a:r>
            <a:r>
              <a:rPr dirty="0" sz="1550" spc="-140" i="1">
                <a:latin typeface="Verdana"/>
                <a:cs typeface="Verdana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estimate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(more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realistic)</a:t>
            </a:r>
            <a:endParaRPr sz="1450">
              <a:latin typeface="Trebuchet MS"/>
              <a:cs typeface="Trebuchet MS"/>
            </a:endParaRPr>
          </a:p>
          <a:p>
            <a:pPr marL="25400">
              <a:lnSpc>
                <a:spcPct val="100000"/>
              </a:lnSpc>
              <a:spcBef>
                <a:spcPts val="1365"/>
              </a:spcBef>
            </a:pPr>
            <a:r>
              <a:rPr dirty="0" sz="2600" spc="-10">
                <a:solidFill>
                  <a:srgbClr val="46484D"/>
                </a:solidFill>
                <a:latin typeface="Trebuchet MS"/>
                <a:cs typeface="Trebuchet MS"/>
              </a:rPr>
              <a:t>Assumptions</a:t>
            </a:r>
            <a:endParaRPr sz="2600">
              <a:latin typeface="Trebuchet MS"/>
              <a:cs typeface="Trebuchet MS"/>
            </a:endParaRPr>
          </a:p>
          <a:p>
            <a:pPr marL="405765" marR="2872740">
              <a:lnSpc>
                <a:spcPct val="175300"/>
              </a:lnSpc>
              <a:spcBef>
                <a:spcPts val="170"/>
              </a:spcBef>
            </a:pPr>
            <a:r>
              <a:rPr dirty="0" sz="1450">
                <a:latin typeface="Trebuchet MS"/>
                <a:cs typeface="Trebuchet MS"/>
              </a:rPr>
              <a:t>One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random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target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population </a:t>
            </a:r>
            <a:r>
              <a:rPr dirty="0" sz="1450">
                <a:latin typeface="Trebuchet MS"/>
                <a:cs typeface="Trebuchet MS"/>
              </a:rPr>
              <a:t>Known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deviation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(</a:t>
            </a:r>
            <a:r>
              <a:rPr dirty="0" sz="1550" spc="-25" i="1">
                <a:latin typeface="Verdana"/>
                <a:cs typeface="Verdana"/>
              </a:rPr>
              <a:t>σ</a:t>
            </a:r>
            <a:r>
              <a:rPr dirty="0" sz="1450" spc="-25"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  <a:p>
            <a:pPr marL="405765">
              <a:lnSpc>
                <a:spcPct val="100000"/>
              </a:lnSpc>
              <a:spcBef>
                <a:spcPts val="1365"/>
              </a:spcBef>
            </a:pPr>
            <a:r>
              <a:rPr dirty="0" sz="1450">
                <a:latin typeface="Trebuchet MS"/>
                <a:cs typeface="Trebuchet MS"/>
              </a:rPr>
              <a:t>Sampling distribution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550" spc="-720" i="1">
                <a:latin typeface="Verdana"/>
                <a:cs typeface="Verdana"/>
              </a:rPr>
              <a:t>X</a:t>
            </a:r>
            <a:r>
              <a:rPr dirty="0" baseline="12962" sz="2250" spc="-52">
                <a:latin typeface="Tahoma"/>
                <a:cs typeface="Tahoma"/>
              </a:rPr>
              <a:t>¯</a:t>
            </a:r>
            <a:r>
              <a:rPr dirty="0" baseline="12962" sz="2250" spc="112">
                <a:latin typeface="Tahoma"/>
                <a:cs typeface="Tahoma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approximately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normal</a:t>
            </a:r>
            <a:endParaRPr sz="1450">
              <a:latin typeface="Trebuchet MS"/>
              <a:cs typeface="Trebuchet MS"/>
            </a:endParaRPr>
          </a:p>
          <a:p>
            <a:pPr marL="786765">
              <a:lnSpc>
                <a:spcPct val="100000"/>
              </a:lnSpc>
              <a:spcBef>
                <a:spcPts val="1390"/>
              </a:spcBef>
            </a:pPr>
            <a:r>
              <a:rPr dirty="0" sz="1450" spc="-65">
                <a:latin typeface="Trebuchet MS"/>
                <a:cs typeface="Trebuchet MS"/>
              </a:rPr>
              <a:t>NOTE: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doesn't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require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distribution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normal</a:t>
            </a:r>
            <a:endParaRPr sz="1450">
              <a:latin typeface="Trebuchet MS"/>
              <a:cs typeface="Trebuchet MS"/>
            </a:endParaRPr>
          </a:p>
          <a:p>
            <a:pPr marL="786765">
              <a:lnSpc>
                <a:spcPct val="100000"/>
              </a:lnSpc>
              <a:spcBef>
                <a:spcPts val="1410"/>
              </a:spcBef>
            </a:pPr>
            <a:r>
              <a:rPr dirty="0" sz="1450">
                <a:latin typeface="Trebuchet MS"/>
                <a:cs typeface="Trebuchet MS"/>
              </a:rPr>
              <a:t>Either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distribution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normal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size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large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enough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(CLT)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238374" y="638174"/>
            <a:ext cx="4171950" cy="9525"/>
          </a:xfrm>
          <a:custGeom>
            <a:avLst/>
            <a:gdLst/>
            <a:ahLst/>
            <a:cxnLst/>
            <a:rect l="l" t="t" r="r" b="b"/>
            <a:pathLst>
              <a:path w="4171950" h="9525">
                <a:moveTo>
                  <a:pt x="4171949" y="9524"/>
                </a:moveTo>
                <a:lnTo>
                  <a:pt x="0" y="9524"/>
                </a:lnTo>
                <a:lnTo>
                  <a:pt x="0" y="0"/>
                </a:lnTo>
                <a:lnTo>
                  <a:pt x="4171949" y="0"/>
                </a:lnTo>
                <a:lnTo>
                  <a:pt x="4171949" y="95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2247602" y="661987"/>
          <a:ext cx="4229735" cy="1355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/>
                <a:gridCol w="3314700"/>
              </a:tblGrid>
              <a:tr h="318770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10" b="1">
                          <a:latin typeface="Trebuchet MS"/>
                          <a:cs typeface="Trebuchet MS"/>
                        </a:rPr>
                        <a:t>Notation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baseline="-10752" sz="2325" spc="-1102" i="1">
                          <a:latin typeface="Verdana"/>
                          <a:cs typeface="Verdana"/>
                        </a:rPr>
                        <a:t>X</a:t>
                      </a:r>
                      <a:r>
                        <a:rPr dirty="0" sz="1500" spc="-50">
                          <a:latin typeface="Tahoma"/>
                          <a:cs typeface="Tahoma"/>
                        </a:rPr>
                        <a:t>¯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7620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latin typeface="Trebuchet MS"/>
                          <a:cs typeface="Trebuchet MS"/>
                        </a:rPr>
                        <a:t>Sample</a:t>
                      </a:r>
                      <a:r>
                        <a:rPr dirty="0" sz="1450" spc="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mean</a:t>
                      </a:r>
                      <a:r>
                        <a:rPr dirty="0" sz="1450" spc="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(calculated)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550" spc="-50" i="1">
                          <a:latin typeface="Verdana"/>
                          <a:cs typeface="Verdana"/>
                        </a:rPr>
                        <a:t>μ</a:t>
                      </a:r>
                      <a:endParaRPr sz="1550">
                        <a:latin typeface="Verdana"/>
                        <a:cs typeface="Verdana"/>
                      </a:endParaRPr>
                    </a:p>
                  </a:txBody>
                  <a:tcPr marL="0" marR="0" marB="0" marT="2222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>
                          <a:latin typeface="Trebuchet MS"/>
                          <a:cs typeface="Trebuchet MS"/>
                        </a:rPr>
                        <a:t>Population</a:t>
                      </a:r>
                      <a:r>
                        <a:rPr dirty="0" sz="14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mean</a:t>
                      </a:r>
                      <a:r>
                        <a:rPr dirty="0" sz="14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5">
                          <a:latin typeface="Trebuchet MS"/>
                          <a:cs typeface="Trebuchet MS"/>
                        </a:rPr>
                        <a:t>(typically</a:t>
                      </a:r>
                      <a:r>
                        <a:rPr dirty="0" sz="145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dirty="0" sz="145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known)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solidFill>
                      <a:srgbClr val="EDEDED"/>
                    </a:solidFill>
                  </a:tcPr>
                </a:tc>
              </a:tr>
              <a:tr h="366395">
                <a:tc gridSpan="2"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325"/>
                        </a:spcBef>
                        <a:tabLst>
                          <a:tab pos="899160" algn="l"/>
                        </a:tabLst>
                      </a:pPr>
                      <a:r>
                        <a:rPr dirty="0" sz="1550" spc="-1120" i="1">
                          <a:latin typeface="Verdana"/>
                          <a:cs typeface="Verdana"/>
                        </a:rPr>
                        <a:t>μ</a:t>
                      </a:r>
                      <a:r>
                        <a:rPr dirty="0" baseline="1851" sz="2250" spc="-375">
                          <a:latin typeface="Tahoma"/>
                          <a:cs typeface="Tahoma"/>
                        </a:rPr>
                        <a:t>^</a:t>
                      </a:r>
                      <a:r>
                        <a:rPr dirty="0" baseline="1851" sz="225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Estimate</a:t>
                      </a:r>
                      <a:r>
                        <a:rPr dirty="0" sz="145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sz="145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135" i="1">
                          <a:latin typeface="Verdana"/>
                          <a:cs typeface="Verdana"/>
                        </a:rPr>
                        <a:t>μ</a:t>
                      </a:r>
                      <a:r>
                        <a:rPr dirty="0" sz="1550" spc="-150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(estimated)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1275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2124074" y="2867024"/>
          <a:ext cx="4476750" cy="1379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7725"/>
                <a:gridCol w="3552825"/>
              </a:tblGrid>
              <a:tr h="342265"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10" b="1">
                          <a:latin typeface="Trebuchet MS"/>
                          <a:cs typeface="Trebuchet MS"/>
                        </a:rPr>
                        <a:t>Notation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48895">
                        <a:lnSpc>
                          <a:spcPts val="1700"/>
                        </a:lnSpc>
                      </a:pPr>
                      <a:r>
                        <a:rPr dirty="0" baseline="-19713" sz="2325" spc="-37" i="1">
                          <a:latin typeface="Verdana"/>
                          <a:cs typeface="Verdana"/>
                        </a:rPr>
                        <a:t>s</a:t>
                      </a:r>
                      <a:r>
                        <a:rPr dirty="0" sz="1050" spc="-25">
                          <a:latin typeface="Tahoma"/>
                          <a:cs typeface="Tahoma"/>
                        </a:rPr>
                        <a:t>2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latin typeface="Trebuchet MS"/>
                          <a:cs typeface="Trebuchet MS"/>
                        </a:rPr>
                        <a:t>Sample</a:t>
                      </a:r>
                      <a:r>
                        <a:rPr dirty="0" sz="145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variance</a:t>
                      </a:r>
                      <a:r>
                        <a:rPr dirty="0" sz="1450" spc="-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(calculated)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48895">
                        <a:lnSpc>
                          <a:spcPts val="1510"/>
                        </a:lnSpc>
                      </a:pPr>
                      <a:r>
                        <a:rPr dirty="0" baseline="-19713" sz="2325" spc="-37" i="1">
                          <a:latin typeface="Verdana"/>
                          <a:cs typeface="Verdana"/>
                        </a:rPr>
                        <a:t>σ</a:t>
                      </a:r>
                      <a:r>
                        <a:rPr dirty="0" sz="1050" spc="-25">
                          <a:latin typeface="Tahoma"/>
                          <a:cs typeface="Tahoma"/>
                        </a:rPr>
                        <a:t>2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>
                          <a:latin typeface="Trebuchet MS"/>
                          <a:cs typeface="Trebuchet MS"/>
                        </a:rPr>
                        <a:t>Population variance </a:t>
                      </a:r>
                      <a:r>
                        <a:rPr dirty="0" sz="1450" spc="-25">
                          <a:latin typeface="Trebuchet MS"/>
                          <a:cs typeface="Trebuchet MS"/>
                        </a:rPr>
                        <a:t>(typically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 not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known)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solidFill>
                      <a:srgbClr val="EDEDED"/>
                    </a:solidFill>
                  </a:tcPr>
                </a:tc>
              </a:tr>
              <a:tr h="366395">
                <a:tc gridSpan="2"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400"/>
                        </a:spcBef>
                        <a:tabLst>
                          <a:tab pos="903605" algn="l"/>
                        </a:tabLst>
                      </a:pPr>
                      <a:r>
                        <a:rPr dirty="0" sz="1550" spc="-1050" i="1">
                          <a:latin typeface="Verdana"/>
                          <a:cs typeface="Verdana"/>
                        </a:rPr>
                        <a:t>σ</a:t>
                      </a:r>
                      <a:r>
                        <a:rPr dirty="0" baseline="1851" sz="2250" spc="-247">
                          <a:latin typeface="Tahoma"/>
                          <a:cs typeface="Tahoma"/>
                        </a:rPr>
                        <a:t>^</a:t>
                      </a:r>
                      <a:r>
                        <a:rPr dirty="0" baseline="34391" sz="1575" spc="-262">
                          <a:latin typeface="Tahoma"/>
                          <a:cs typeface="Tahoma"/>
                        </a:rPr>
                        <a:t>2</a:t>
                      </a:r>
                      <a:r>
                        <a:rPr dirty="0" baseline="34391" sz="1575">
                          <a:latin typeface="Tahoma"/>
                          <a:cs typeface="Tahoma"/>
                        </a:rPr>
                        <a:t>	</a:t>
                      </a:r>
                      <a:r>
                        <a:rPr dirty="0" baseline="1915" sz="2175" spc="-15">
                          <a:latin typeface="Trebuchet MS"/>
                          <a:cs typeface="Trebuchet MS"/>
                        </a:rPr>
                        <a:t>Estimate</a:t>
                      </a:r>
                      <a:r>
                        <a:rPr dirty="0" baseline="1915" sz="2175" spc="-1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baseline="1915" sz="2175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dirty="0" baseline="1915" sz="2175" spc="-142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baseline="1792" sz="2325" i="1">
                          <a:latin typeface="Verdana"/>
                          <a:cs typeface="Verdana"/>
                        </a:rPr>
                        <a:t>σ</a:t>
                      </a:r>
                      <a:r>
                        <a:rPr dirty="0" baseline="26455" sz="1575">
                          <a:latin typeface="Tahoma"/>
                          <a:cs typeface="Tahoma"/>
                        </a:rPr>
                        <a:t>2</a:t>
                      </a:r>
                      <a:r>
                        <a:rPr dirty="0" baseline="26455" sz="1575" spc="112">
                          <a:latin typeface="Tahoma"/>
                          <a:cs typeface="Tahoma"/>
                        </a:rPr>
                        <a:t> </a:t>
                      </a:r>
                      <a:r>
                        <a:rPr dirty="0" baseline="1915" sz="2175" spc="-15">
                          <a:latin typeface="Trebuchet MS"/>
                          <a:cs typeface="Trebuchet MS"/>
                        </a:rPr>
                        <a:t>(estimated)</a:t>
                      </a:r>
                      <a:endParaRPr baseline="1915" sz="2175">
                        <a:latin typeface="Trebuchet MS"/>
                        <a:cs typeface="Trebuchet MS"/>
                      </a:endParaRPr>
                    </a:p>
                  </a:txBody>
                  <a:tcPr marL="0" marR="0" marB="0" marT="50800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8800" y="206375"/>
            <a:ext cx="2651760" cy="4254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5" b="1">
                <a:latin typeface="Gill Sans MT"/>
                <a:cs typeface="Gill Sans MT"/>
              </a:rPr>
              <a:t>Revisiting</a:t>
            </a:r>
            <a:r>
              <a:rPr dirty="0" spc="-125" b="1">
                <a:latin typeface="Gill Sans MT"/>
                <a:cs typeface="Gill Sans MT"/>
              </a:rPr>
              <a:t> </a:t>
            </a:r>
            <a:r>
              <a:rPr dirty="0" spc="-110" b="1">
                <a:latin typeface="Gill Sans MT"/>
                <a:cs typeface="Gill Sans MT"/>
              </a:rPr>
              <a:t>notation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4362598" y="2109470"/>
            <a:ext cx="37338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8735" sz="2175" spc="307">
                <a:latin typeface="Arial"/>
                <a:cs typeface="Arial"/>
              </a:rPr>
              <a:t>∑</a:t>
            </a:r>
            <a:r>
              <a:rPr dirty="0" sz="1100" spc="204" i="1">
                <a:latin typeface="Verdana"/>
                <a:cs typeface="Verdana"/>
              </a:rPr>
              <a:t>N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830762" y="2191296"/>
            <a:ext cx="13017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50" i="1">
                <a:latin typeface="Verdana"/>
                <a:cs typeface="Verdana"/>
              </a:rPr>
              <a:t>x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571279" y="2334171"/>
            <a:ext cx="1459865" cy="3943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1455"/>
              </a:lnSpc>
              <a:spcBef>
                <a:spcPts val="95"/>
              </a:spcBef>
              <a:tabLst>
                <a:tab pos="1022350" algn="l"/>
                <a:tab pos="1376680" algn="l"/>
              </a:tabLst>
            </a:pPr>
            <a:r>
              <a:rPr dirty="0" sz="1550" spc="-1145" i="1">
                <a:latin typeface="Verdana"/>
                <a:cs typeface="Verdana"/>
              </a:rPr>
              <a:t>μ</a:t>
            </a:r>
            <a:r>
              <a:rPr dirty="0" baseline="1851" sz="2250" spc="-412">
                <a:latin typeface="Tahoma"/>
                <a:cs typeface="Tahoma"/>
              </a:rPr>
              <a:t>^</a:t>
            </a:r>
            <a:r>
              <a:rPr dirty="0" baseline="1851" sz="2250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 </a:t>
            </a:r>
            <a:r>
              <a:rPr dirty="0" sz="1550" spc="-720" i="1">
                <a:latin typeface="Verdana"/>
                <a:cs typeface="Verdana"/>
              </a:rPr>
              <a:t>X</a:t>
            </a:r>
            <a:r>
              <a:rPr dirty="0" baseline="11111" sz="2250" spc="-52">
                <a:latin typeface="Tahoma"/>
                <a:cs typeface="Tahoma"/>
              </a:rPr>
              <a:t>¯</a:t>
            </a:r>
            <a:r>
              <a:rPr dirty="0" baseline="11111" sz="2250" spc="157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75">
                <a:latin typeface="Tahoma"/>
                <a:cs typeface="Tahoma"/>
              </a:rPr>
              <a:t> </a:t>
            </a:r>
            <a:r>
              <a:rPr dirty="0" u="sng" baseline="36111" sz="15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baseline="32828" sz="1650" spc="-37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i</a:t>
            </a:r>
            <a:r>
              <a:rPr dirty="0" u="sng" baseline="34391" sz="1575" spc="-37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=1</a:t>
            </a:r>
            <a:r>
              <a:rPr dirty="0" u="sng" baseline="34391" sz="157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dirty="0" u="sng" baseline="45454" sz="1650" spc="-75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i</a:t>
            </a:r>
            <a:endParaRPr baseline="45454" sz="1650">
              <a:latin typeface="Verdana"/>
              <a:cs typeface="Verdana"/>
            </a:endParaRPr>
          </a:p>
          <a:p>
            <a:pPr algn="r" marR="255904">
              <a:lnSpc>
                <a:spcPts val="1455"/>
              </a:lnSpc>
            </a:pPr>
            <a:r>
              <a:rPr dirty="0" sz="1550" spc="-50" i="1">
                <a:latin typeface="Verdana"/>
                <a:cs typeface="Verdana"/>
              </a:rPr>
              <a:t>N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930550" y="4338319"/>
            <a:ext cx="37338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8735" sz="2175" spc="307">
                <a:latin typeface="Arial"/>
                <a:cs typeface="Arial"/>
              </a:rPr>
              <a:t>∑</a:t>
            </a:r>
            <a:r>
              <a:rPr dirty="0" sz="1100" spc="204" i="1">
                <a:latin typeface="Verdana"/>
                <a:cs typeface="Verdana"/>
              </a:rPr>
              <a:t>N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490912" y="4477296"/>
            <a:ext cx="164338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670560" algn="l"/>
                <a:tab pos="1065530" algn="l"/>
                <a:tab pos="1604645" algn="l"/>
              </a:tabLst>
            </a:pPr>
            <a:r>
              <a:rPr dirty="0" baseline="-26881" sz="2325" spc="-37" i="1">
                <a:latin typeface="Verdana"/>
                <a:cs typeface="Verdana"/>
              </a:rPr>
              <a:t>s</a:t>
            </a:r>
            <a:r>
              <a:rPr dirty="0" baseline="-7936" sz="1575" spc="-37">
                <a:latin typeface="Tahoma"/>
                <a:cs typeface="Tahoma"/>
              </a:rPr>
              <a:t>2</a:t>
            </a:r>
            <a:r>
              <a:rPr dirty="0" baseline="-7936" sz="1575">
                <a:latin typeface="Tahoma"/>
                <a:cs typeface="Tahoma"/>
              </a:rPr>
              <a:t> </a:t>
            </a:r>
            <a:r>
              <a:rPr dirty="0" baseline="-27777" sz="2250">
                <a:latin typeface="Tahoma"/>
                <a:cs typeface="Tahoma"/>
              </a:rPr>
              <a:t>=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-25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i</a:t>
            </a:r>
            <a:r>
              <a:rPr dirty="0" u="sng" sz="1050" spc="-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=1</a:t>
            </a:r>
            <a:r>
              <a:rPr dirty="0" u="sng" sz="10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dirty="0" u="sng" baseline="10101" sz="1650" spc="-75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i</a:t>
            </a:r>
            <a:r>
              <a:rPr dirty="0" u="sng" baseline="10101" sz="1650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	</a:t>
            </a:r>
            <a:endParaRPr baseline="10101" sz="1650">
              <a:latin typeface="Verdana"/>
              <a:cs typeface="Verdan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342804" y="4420146"/>
            <a:ext cx="77914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latin typeface="Tahoma"/>
                <a:cs typeface="Tahoma"/>
              </a:rPr>
              <a:t>(</a:t>
            </a:r>
            <a:r>
              <a:rPr dirty="0" sz="1550" i="1">
                <a:latin typeface="Verdana"/>
                <a:cs typeface="Verdana"/>
              </a:rPr>
              <a:t>x</a:t>
            </a:r>
            <a:r>
              <a:rPr dirty="0" sz="1550" spc="114" i="1">
                <a:latin typeface="Verdana"/>
                <a:cs typeface="Verdana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50">
                <a:latin typeface="Tahoma"/>
                <a:cs typeface="Tahoma"/>
              </a:rPr>
              <a:t> </a:t>
            </a:r>
            <a:r>
              <a:rPr dirty="0" sz="1550" spc="-815" i="1">
                <a:latin typeface="Verdana"/>
                <a:cs typeface="Verdana"/>
              </a:rPr>
              <a:t>x</a:t>
            </a:r>
            <a:r>
              <a:rPr dirty="0" sz="1500" spc="25">
                <a:latin typeface="Tahoma"/>
                <a:cs typeface="Tahoma"/>
              </a:rPr>
              <a:t>¯</a:t>
            </a:r>
            <a:r>
              <a:rPr dirty="0" baseline="26455" sz="1575" spc="127">
                <a:latin typeface="Tahoma"/>
                <a:cs typeface="Tahoma"/>
              </a:rPr>
              <a:t>2</a:t>
            </a:r>
            <a:r>
              <a:rPr dirty="0" sz="1500" spc="15">
                <a:latin typeface="Tahoma"/>
                <a:cs typeface="Tahoma"/>
              </a:rPr>
              <a:t>)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432200" y="4696371"/>
            <a:ext cx="17272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50" i="1">
                <a:latin typeface="Verdana"/>
                <a:cs typeface="Verdana"/>
              </a:rPr>
              <a:t>N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939926" y="4995544"/>
            <a:ext cx="37338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28735" sz="2175" spc="307">
                <a:latin typeface="Arial"/>
                <a:cs typeface="Arial"/>
              </a:rPr>
              <a:t>∑</a:t>
            </a:r>
            <a:r>
              <a:rPr dirty="0" sz="1100" spc="204" i="1">
                <a:latin typeface="Verdana"/>
                <a:cs typeface="Verdana"/>
              </a:rPr>
              <a:t>N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481536" y="5144046"/>
            <a:ext cx="166243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689610" algn="l"/>
                <a:tab pos="1084580" algn="l"/>
                <a:tab pos="1623695" algn="l"/>
              </a:tabLst>
            </a:pPr>
            <a:r>
              <a:rPr dirty="0" baseline="-25089" sz="2325" spc="-1589" i="1">
                <a:latin typeface="Verdana"/>
                <a:cs typeface="Verdana"/>
              </a:rPr>
              <a:t>σ</a:t>
            </a:r>
            <a:r>
              <a:rPr dirty="0" baseline="-22222" sz="2250" spc="-262">
                <a:latin typeface="Tahoma"/>
                <a:cs typeface="Tahoma"/>
              </a:rPr>
              <a:t>^</a:t>
            </a:r>
            <a:r>
              <a:rPr dirty="0" sz="1050" spc="-185">
                <a:latin typeface="Tahoma"/>
                <a:cs typeface="Tahoma"/>
              </a:rPr>
              <a:t>2</a:t>
            </a:r>
            <a:r>
              <a:rPr dirty="0" sz="1050" spc="310">
                <a:latin typeface="Tahoma"/>
                <a:cs typeface="Tahoma"/>
              </a:rPr>
              <a:t> </a:t>
            </a:r>
            <a:r>
              <a:rPr dirty="0" baseline="-25925" sz="2250">
                <a:latin typeface="Tahoma"/>
                <a:cs typeface="Tahoma"/>
              </a:rPr>
              <a:t>= </a:t>
            </a:r>
            <a:r>
              <a:rPr dirty="0" u="sng" baseline="2777" sz="15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baseline="2525" sz="1650" spc="-37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i</a:t>
            </a:r>
            <a:r>
              <a:rPr dirty="0" u="sng" baseline="2645" sz="1575" spc="-37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=1</a:t>
            </a:r>
            <a:r>
              <a:rPr dirty="0" u="sng" baseline="2645" sz="157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dirty="0" u="sng" baseline="15151" sz="1650" spc="-75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i</a:t>
            </a:r>
            <a:r>
              <a:rPr dirty="0" u="sng" baseline="15151" sz="1650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	</a:t>
            </a:r>
            <a:endParaRPr baseline="15151" sz="1650">
              <a:latin typeface="Verdana"/>
              <a:cs typeface="Verdan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352180" y="5077371"/>
            <a:ext cx="77914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latin typeface="Tahoma"/>
                <a:cs typeface="Tahoma"/>
              </a:rPr>
              <a:t>(</a:t>
            </a:r>
            <a:r>
              <a:rPr dirty="0" sz="1550" i="1">
                <a:latin typeface="Verdana"/>
                <a:cs typeface="Verdana"/>
              </a:rPr>
              <a:t>x</a:t>
            </a:r>
            <a:r>
              <a:rPr dirty="0" sz="1550" spc="114" i="1">
                <a:latin typeface="Verdana"/>
                <a:cs typeface="Verdana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50">
                <a:latin typeface="Tahoma"/>
                <a:cs typeface="Tahoma"/>
              </a:rPr>
              <a:t> </a:t>
            </a:r>
            <a:r>
              <a:rPr dirty="0" sz="1550" spc="-815" i="1">
                <a:latin typeface="Verdana"/>
                <a:cs typeface="Verdana"/>
              </a:rPr>
              <a:t>x</a:t>
            </a:r>
            <a:r>
              <a:rPr dirty="0" sz="1500" spc="25">
                <a:latin typeface="Tahoma"/>
                <a:cs typeface="Tahoma"/>
              </a:rPr>
              <a:t>¯</a:t>
            </a:r>
            <a:r>
              <a:rPr dirty="0" baseline="26455" sz="1575" spc="127">
                <a:latin typeface="Tahoma"/>
                <a:cs typeface="Tahoma"/>
              </a:rPr>
              <a:t>2</a:t>
            </a:r>
            <a:r>
              <a:rPr dirty="0" sz="1500" spc="15">
                <a:latin typeface="Tahoma"/>
                <a:cs typeface="Tahoma"/>
              </a:rPr>
              <a:t>)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284116" y="5344071"/>
            <a:ext cx="50292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i="1">
                <a:latin typeface="Verdana"/>
                <a:cs typeface="Verdana"/>
              </a:rPr>
              <a:t>N</a:t>
            </a:r>
            <a:r>
              <a:rPr dirty="0" sz="1550" spc="-95" i="1">
                <a:latin typeface="Verdana"/>
                <a:cs typeface="Verdana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40">
                <a:latin typeface="Tahoma"/>
                <a:cs typeface="Tahoma"/>
              </a:rPr>
              <a:t> </a:t>
            </a:r>
            <a:r>
              <a:rPr dirty="0" sz="1500" spc="-65">
                <a:latin typeface="Tahoma"/>
                <a:cs typeface="Tahoma"/>
              </a:rPr>
              <a:t>1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71524" y="1123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1528762"/>
            <a:ext cx="66675" cy="6667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1928812"/>
            <a:ext cx="66675" cy="666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2767012"/>
            <a:ext cx="66675" cy="66674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771524" y="31718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3567112"/>
            <a:ext cx="66675" cy="6667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58800" y="394970"/>
            <a:ext cx="7491095" cy="455993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164465">
              <a:lnSpc>
                <a:spcPts val="1730"/>
              </a:lnSpc>
              <a:spcBef>
                <a:spcPts val="155"/>
              </a:spcBef>
            </a:pPr>
            <a:r>
              <a:rPr dirty="0" sz="1450" spc="-35" b="1">
                <a:latin typeface="Trebuchet MS"/>
                <a:cs typeface="Trebuchet MS"/>
              </a:rPr>
              <a:t>Research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hypothesis:</a:t>
            </a:r>
            <a:r>
              <a:rPr dirty="0" sz="1450" spc="-15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children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least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depressed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parent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show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higher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level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 </a:t>
            </a:r>
            <a:r>
              <a:rPr dirty="0" sz="1450">
                <a:latin typeface="Trebuchet MS"/>
                <a:cs typeface="Trebuchet MS"/>
              </a:rPr>
              <a:t>behavior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problems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compared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typical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children.</a:t>
            </a:r>
            <a:endParaRPr sz="1450">
              <a:latin typeface="Trebuchet MS"/>
              <a:cs typeface="Trebuchet MS"/>
            </a:endParaRPr>
          </a:p>
          <a:p>
            <a:pPr marL="774065" marR="2436495" indent="-381000">
              <a:lnSpc>
                <a:spcPts val="3229"/>
              </a:lnSpc>
              <a:spcBef>
                <a:spcPts val="215"/>
              </a:spcBef>
            </a:pPr>
            <a:r>
              <a:rPr dirty="0" sz="1450">
                <a:latin typeface="Trebuchet MS"/>
                <a:cs typeface="Trebuchet MS"/>
              </a:rPr>
              <a:t>Dependent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variable: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level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behavior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problems </a:t>
            </a:r>
            <a:r>
              <a:rPr dirty="0" sz="1450">
                <a:latin typeface="Trebuchet MS"/>
                <a:cs typeface="Trebuchet MS"/>
              </a:rPr>
              <a:t>Measured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using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Youth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Self-Report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Inventory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(YSR)</a:t>
            </a:r>
            <a:endParaRPr sz="1450">
              <a:latin typeface="Trebuchet MS"/>
              <a:cs typeface="Trebuchet MS"/>
            </a:endParaRPr>
          </a:p>
          <a:p>
            <a:pPr marL="774065" marR="5080">
              <a:lnSpc>
                <a:spcPts val="1730"/>
              </a:lnSpc>
              <a:spcBef>
                <a:spcPts val="1115"/>
              </a:spcBef>
            </a:pPr>
            <a:r>
              <a:rPr dirty="0" sz="1450" spc="-10">
                <a:latin typeface="Trebuchet MS"/>
                <a:cs typeface="Trebuchet MS"/>
              </a:rPr>
              <a:t>For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kids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living</a:t>
            </a:r>
            <a:r>
              <a:rPr dirty="0" sz="1450" spc="-10">
                <a:latin typeface="Trebuchet MS"/>
                <a:cs typeface="Trebuchet MS"/>
              </a:rPr>
              <a:t> with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parents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having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no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history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depression,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normative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scores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YSR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scaled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such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it </a:t>
            </a:r>
            <a:r>
              <a:rPr dirty="0" sz="1450">
                <a:latin typeface="Trebuchet MS"/>
                <a:cs typeface="Trebuchet MS"/>
              </a:rPr>
              <a:t>has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50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standard </a:t>
            </a:r>
            <a:r>
              <a:rPr dirty="0" sz="1450">
                <a:latin typeface="Trebuchet MS"/>
                <a:cs typeface="Trebuchet MS"/>
              </a:rPr>
              <a:t>deviation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10.</a:t>
            </a:r>
            <a:endParaRPr sz="1450">
              <a:latin typeface="Trebuchet MS"/>
              <a:cs typeface="Trebuchet MS"/>
            </a:endParaRPr>
          </a:p>
          <a:p>
            <a:pPr algn="ctr" marR="135255">
              <a:lnSpc>
                <a:spcPct val="100000"/>
              </a:lnSpc>
              <a:spcBef>
                <a:spcPts val="1345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higher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YSR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score,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more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behavior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problems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child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reports.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410"/>
              </a:spcBef>
            </a:pPr>
            <a:r>
              <a:rPr dirty="0" sz="1450">
                <a:latin typeface="Trebuchet MS"/>
                <a:cs typeface="Trebuchet MS"/>
              </a:rPr>
              <a:t>Independent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variable: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35">
                <a:latin typeface="Trebuchet MS"/>
                <a:cs typeface="Trebuchet MS"/>
              </a:rPr>
              <a:t>Parent’s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depression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status</a:t>
            </a:r>
            <a:endParaRPr sz="1450">
              <a:latin typeface="Trebuchet MS"/>
              <a:cs typeface="Trebuchet MS"/>
            </a:endParaRPr>
          </a:p>
          <a:p>
            <a:pPr marL="774065" marR="841375">
              <a:lnSpc>
                <a:spcPts val="1730"/>
              </a:lnSpc>
              <a:spcBef>
                <a:spcPts val="1475"/>
              </a:spcBef>
            </a:pPr>
            <a:r>
              <a:rPr dirty="0" sz="1450">
                <a:latin typeface="Trebuchet MS"/>
                <a:cs typeface="Trebuchet MS"/>
              </a:rPr>
              <a:t>Measured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based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whether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least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parent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had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history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 </a:t>
            </a:r>
            <a:r>
              <a:rPr dirty="0" sz="1450" spc="-10">
                <a:latin typeface="Trebuchet MS"/>
                <a:cs typeface="Trebuchet MS"/>
              </a:rPr>
              <a:t>depression</a:t>
            </a:r>
            <a:endParaRPr sz="1450">
              <a:latin typeface="Trebuchet MS"/>
              <a:cs typeface="Trebuchet MS"/>
            </a:endParaRPr>
          </a:p>
          <a:p>
            <a:pPr marL="12700" marR="328295">
              <a:lnSpc>
                <a:spcPts val="1730"/>
              </a:lnSpc>
              <a:spcBef>
                <a:spcPts val="1490"/>
              </a:spcBef>
            </a:pPr>
            <a:r>
              <a:rPr dirty="0" sz="1450" spc="50">
                <a:latin typeface="Trebuchet MS"/>
                <a:cs typeface="Trebuchet MS"/>
              </a:rPr>
              <a:t>Suppose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researcher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collected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using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YSR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inventory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166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children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homes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which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least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parent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history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depression.</a:t>
            </a:r>
            <a:endParaRPr sz="1450">
              <a:latin typeface="Trebuchet MS"/>
              <a:cs typeface="Trebuchet MS"/>
            </a:endParaRPr>
          </a:p>
          <a:p>
            <a:pPr algn="ctr" marR="114300">
              <a:lnSpc>
                <a:spcPct val="100000"/>
              </a:lnSpc>
              <a:spcBef>
                <a:spcPts val="1350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average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YSR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scores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these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166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children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20">
                <a:latin typeface="Trebuchet MS"/>
                <a:cs typeface="Trebuchet MS"/>
              </a:rPr>
              <a:t>55.71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deviation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7.35.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71524" y="17525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1524" y="21526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71524" y="2552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58800" y="394970"/>
            <a:ext cx="7481570" cy="313118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 spc="-35" b="1">
                <a:latin typeface="Trebuchet MS"/>
                <a:cs typeface="Trebuchet MS"/>
              </a:rPr>
              <a:t>What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60" b="1">
                <a:latin typeface="Trebuchet MS"/>
                <a:cs typeface="Trebuchet MS"/>
              </a:rPr>
              <a:t>we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know</a:t>
            </a:r>
            <a:r>
              <a:rPr dirty="0" sz="1450" spc="-75" b="1">
                <a:latin typeface="Trebuchet MS"/>
                <a:cs typeface="Trebuchet MS"/>
              </a:rPr>
              <a:t> (reference):</a:t>
            </a:r>
            <a:r>
              <a:rPr dirty="0" sz="1450" spc="-3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typical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children,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YSR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scaled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μ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=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50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(SD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= </a:t>
            </a:r>
            <a:r>
              <a:rPr dirty="0" sz="1450" spc="-20">
                <a:latin typeface="Trebuchet MS"/>
                <a:cs typeface="Trebuchet MS"/>
              </a:rPr>
              <a:t>10).</a:t>
            </a:r>
            <a:endParaRPr sz="1450">
              <a:latin typeface="Trebuchet MS"/>
              <a:cs typeface="Trebuchet MS"/>
            </a:endParaRPr>
          </a:p>
          <a:p>
            <a:pPr marL="12700" marR="114935">
              <a:lnSpc>
                <a:spcPts val="1730"/>
              </a:lnSpc>
              <a:spcBef>
                <a:spcPts val="1415"/>
              </a:spcBef>
            </a:pPr>
            <a:r>
              <a:rPr dirty="0" sz="1450" spc="-35" b="1">
                <a:latin typeface="Trebuchet MS"/>
                <a:cs typeface="Trebuchet MS"/>
              </a:rPr>
              <a:t>What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60" b="1">
                <a:latin typeface="Trebuchet MS"/>
                <a:cs typeface="Trebuchet MS"/>
              </a:rPr>
              <a:t>we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observed:</a:t>
            </a:r>
            <a:r>
              <a:rPr dirty="0" sz="1450" spc="-2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our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=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166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children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90">
                <a:latin typeface="Arial"/>
                <a:cs typeface="Arial"/>
              </a:rPr>
              <a:t>≥</a:t>
            </a:r>
            <a:r>
              <a:rPr dirty="0" sz="1450" spc="-90">
                <a:latin typeface="Trebuchet MS"/>
                <a:cs typeface="Trebuchet MS"/>
              </a:rPr>
              <a:t>1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depressed</a:t>
            </a:r>
            <a:r>
              <a:rPr dirty="0" sz="1450" spc="-30">
                <a:latin typeface="Trebuchet MS"/>
                <a:cs typeface="Trebuchet MS"/>
              </a:rPr>
              <a:t> parent,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mean </a:t>
            </a:r>
            <a:r>
              <a:rPr dirty="0" sz="1450">
                <a:latin typeface="Trebuchet MS"/>
                <a:cs typeface="Trebuchet MS"/>
              </a:rPr>
              <a:t>YSR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=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55.71.</a:t>
            </a:r>
            <a:endParaRPr sz="1450">
              <a:latin typeface="Trebuchet MS"/>
              <a:cs typeface="Trebuchet MS"/>
            </a:endParaRPr>
          </a:p>
          <a:p>
            <a:pPr marL="393065" marR="467359">
              <a:lnSpc>
                <a:spcPct val="181000"/>
              </a:lnSpc>
              <a:spcBef>
                <a:spcPts val="15"/>
              </a:spcBef>
            </a:pPr>
            <a:r>
              <a:rPr dirty="0" sz="1450">
                <a:latin typeface="Trebuchet MS"/>
                <a:cs typeface="Trebuchet MS"/>
              </a:rPr>
              <a:t>Does </a:t>
            </a:r>
            <a:r>
              <a:rPr dirty="0" sz="1450" spc="-120">
                <a:latin typeface="Trebuchet MS"/>
                <a:cs typeface="Trebuchet MS"/>
              </a:rPr>
              <a:t>55.71</a:t>
            </a:r>
            <a:r>
              <a:rPr dirty="0" sz="1450">
                <a:latin typeface="Trebuchet MS"/>
                <a:cs typeface="Trebuchet MS"/>
              </a:rPr>
              <a:t> provide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credible evidence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 higher behavior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problems in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 </a:t>
            </a:r>
            <a:r>
              <a:rPr dirty="0" sz="1450" spc="-10">
                <a:latin typeface="Trebuchet MS"/>
                <a:cs typeface="Trebuchet MS"/>
              </a:rPr>
              <a:t>group? </a:t>
            </a:r>
            <a:r>
              <a:rPr dirty="0" sz="1450">
                <a:latin typeface="Trebuchet MS"/>
                <a:cs typeface="Trebuchet MS"/>
              </a:rPr>
              <a:t>Could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large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20">
                <a:latin typeface="Trebuchet MS"/>
                <a:cs typeface="Trebuchet MS"/>
              </a:rPr>
              <a:t>55.71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arise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just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chance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if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true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were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50?</a:t>
            </a:r>
            <a:endParaRPr sz="1450">
              <a:latin typeface="Trebuchet MS"/>
              <a:cs typeface="Trebuchet MS"/>
            </a:endParaRPr>
          </a:p>
          <a:p>
            <a:pPr marL="393065" marR="148590">
              <a:lnSpc>
                <a:spcPts val="1730"/>
              </a:lnSpc>
              <a:spcBef>
                <a:spcPts val="1475"/>
              </a:spcBef>
            </a:pP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repeated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study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another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166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children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group,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much </a:t>
            </a:r>
            <a:r>
              <a:rPr dirty="0" sz="1450">
                <a:latin typeface="Trebuchet MS"/>
                <a:cs typeface="Trebuchet MS"/>
              </a:rPr>
              <a:t>might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vary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(could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below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50)?</a:t>
            </a:r>
            <a:endParaRPr sz="1450">
              <a:latin typeface="Trebuchet MS"/>
              <a:cs typeface="Trebuchet MS"/>
            </a:endParaRPr>
          </a:p>
          <a:p>
            <a:pPr marL="12700" marR="198755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should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formalize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problem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70">
                <a:latin typeface="Trebuchet MS"/>
                <a:cs typeface="Trebuchet MS"/>
              </a:rPr>
              <a:t>so</a:t>
            </a:r>
            <a:r>
              <a:rPr dirty="0" sz="1450" spc="-10">
                <a:latin typeface="Trebuchet MS"/>
                <a:cs typeface="Trebuchet MS"/>
              </a:rPr>
              <a:t> we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answer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systematically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using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what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we </a:t>
            </a:r>
            <a:r>
              <a:rPr dirty="0" sz="1450">
                <a:latin typeface="Trebuchet MS"/>
                <a:cs typeface="Trebuchet MS"/>
              </a:rPr>
              <a:t>learned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about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sampling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distributions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central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limit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theorem?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20700" y="394970"/>
            <a:ext cx="7539990" cy="515048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50800" marR="43180">
              <a:lnSpc>
                <a:spcPts val="1730"/>
              </a:lnSpc>
              <a:spcBef>
                <a:spcPts val="155"/>
              </a:spcBef>
            </a:pPr>
            <a:r>
              <a:rPr dirty="0" sz="1450" spc="-20" b="1">
                <a:latin typeface="Trebuchet MS"/>
                <a:cs typeface="Trebuchet MS"/>
              </a:rPr>
              <a:t>Null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hypothesis: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YSR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score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children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least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parent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who </a:t>
            </a:r>
            <a:r>
              <a:rPr dirty="0" sz="1450">
                <a:latin typeface="Trebuchet MS"/>
                <a:cs typeface="Trebuchet MS"/>
              </a:rPr>
              <a:t>has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history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depression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50.</a:t>
            </a:r>
            <a:endParaRPr sz="1450">
              <a:latin typeface="Trebuchet MS"/>
              <a:cs typeface="Trebuchet MS"/>
            </a:endParaRPr>
          </a:p>
          <a:p>
            <a:pPr marL="50800" marR="104775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other</a:t>
            </a:r>
            <a:r>
              <a:rPr dirty="0" sz="1450" spc="-20">
                <a:latin typeface="Trebuchet MS"/>
                <a:cs typeface="Trebuchet MS"/>
              </a:rPr>
              <a:t> words, </a:t>
            </a:r>
            <a:r>
              <a:rPr dirty="0" sz="1450">
                <a:latin typeface="Trebuchet MS"/>
                <a:cs typeface="Trebuchet MS"/>
              </a:rPr>
              <a:t>these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children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50">
                <a:latin typeface="Trebuchet MS"/>
                <a:cs typeface="Trebuchet MS"/>
              </a:rPr>
              <a:t>do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differ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level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behavior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problems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compared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children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whose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parents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no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history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depression.</a:t>
            </a:r>
            <a:endParaRPr sz="1450">
              <a:latin typeface="Trebuchet MS"/>
              <a:cs typeface="Trebuchet MS"/>
            </a:endParaRPr>
          </a:p>
          <a:p>
            <a:pPr algn="ctr" marL="67310">
              <a:lnSpc>
                <a:spcPct val="100000"/>
              </a:lnSpc>
              <a:spcBef>
                <a:spcPts val="1025"/>
              </a:spcBef>
            </a:pP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3227" sz="1575">
                <a:latin typeface="Tahoma"/>
                <a:cs typeface="Tahoma"/>
              </a:rPr>
              <a:t>0</a:t>
            </a:r>
            <a:r>
              <a:rPr dirty="0" baseline="-13227" sz="1575" spc="209">
                <a:latin typeface="Tahoma"/>
                <a:cs typeface="Tahoma"/>
              </a:rPr>
              <a:t> </a:t>
            </a:r>
            <a:r>
              <a:rPr dirty="0" sz="1500" spc="-140">
                <a:latin typeface="Tahoma"/>
                <a:cs typeface="Tahoma"/>
              </a:rPr>
              <a:t>:</a:t>
            </a:r>
            <a:r>
              <a:rPr dirty="0" sz="1500" spc="-70">
                <a:latin typeface="Tahoma"/>
                <a:cs typeface="Tahoma"/>
              </a:rPr>
              <a:t> </a:t>
            </a:r>
            <a:r>
              <a:rPr dirty="0" sz="1550" spc="-135" i="1">
                <a:latin typeface="Verdana"/>
                <a:cs typeface="Verdana"/>
              </a:rPr>
              <a:t>μ</a:t>
            </a:r>
            <a:r>
              <a:rPr dirty="0" sz="1550" spc="-150" i="1">
                <a:latin typeface="Verdana"/>
                <a:cs typeface="Verdan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7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50</a:t>
            </a:r>
            <a:endParaRPr sz="1500">
              <a:latin typeface="Tahoma"/>
              <a:cs typeface="Tahoma"/>
            </a:endParaRPr>
          </a:p>
          <a:p>
            <a:pPr marL="50800" marR="438784">
              <a:lnSpc>
                <a:spcPts val="1730"/>
              </a:lnSpc>
              <a:spcBef>
                <a:spcPts val="1530"/>
              </a:spcBef>
            </a:pPr>
            <a:r>
              <a:rPr dirty="0" sz="1450" spc="-40" b="1">
                <a:latin typeface="Trebuchet MS"/>
                <a:cs typeface="Trebuchet MS"/>
              </a:rPr>
              <a:t>Alternative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hypothesis:</a:t>
            </a:r>
            <a:r>
              <a:rPr dirty="0" sz="1450" spc="-30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YSR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score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children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least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one </a:t>
            </a:r>
            <a:r>
              <a:rPr dirty="0" sz="1450">
                <a:latin typeface="Trebuchet MS"/>
                <a:cs typeface="Trebuchet MS"/>
              </a:rPr>
              <a:t>parent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who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history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depression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greater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than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50.</a:t>
            </a:r>
            <a:endParaRPr sz="1450">
              <a:latin typeface="Trebuchet MS"/>
              <a:cs typeface="Trebuchet MS"/>
            </a:endParaRPr>
          </a:p>
          <a:p>
            <a:pPr marL="50800" marR="486409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other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words,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these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children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show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higher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levels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behavior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problems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compared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to </a:t>
            </a:r>
            <a:r>
              <a:rPr dirty="0" sz="1450">
                <a:latin typeface="Trebuchet MS"/>
                <a:cs typeface="Trebuchet MS"/>
              </a:rPr>
              <a:t>children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whose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parents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no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history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0">
                <a:latin typeface="Trebuchet MS"/>
                <a:cs typeface="Trebuchet MS"/>
              </a:rPr>
              <a:t> depression.</a:t>
            </a:r>
            <a:endParaRPr sz="1450">
              <a:latin typeface="Trebuchet MS"/>
              <a:cs typeface="Trebuchet MS"/>
            </a:endParaRPr>
          </a:p>
          <a:p>
            <a:pPr algn="ctr" marL="67310">
              <a:lnSpc>
                <a:spcPct val="100000"/>
              </a:lnSpc>
              <a:spcBef>
                <a:spcPts val="1025"/>
              </a:spcBef>
            </a:pP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2626" sz="1650" i="1">
                <a:latin typeface="Verdana"/>
                <a:cs typeface="Verdana"/>
              </a:rPr>
              <a:t>A</a:t>
            </a:r>
            <a:r>
              <a:rPr dirty="0" baseline="-12626" sz="1650" spc="-22" i="1">
                <a:latin typeface="Verdana"/>
                <a:cs typeface="Verdana"/>
              </a:rPr>
              <a:t> </a:t>
            </a:r>
            <a:r>
              <a:rPr dirty="0" sz="1500" spc="-140">
                <a:latin typeface="Tahoma"/>
                <a:cs typeface="Tahoma"/>
              </a:rPr>
              <a:t>:</a:t>
            </a:r>
            <a:r>
              <a:rPr dirty="0" sz="1500" spc="-70">
                <a:latin typeface="Tahoma"/>
                <a:cs typeface="Tahoma"/>
              </a:rPr>
              <a:t> </a:t>
            </a:r>
            <a:r>
              <a:rPr dirty="0" sz="1550" spc="-135" i="1">
                <a:latin typeface="Verdana"/>
                <a:cs typeface="Verdana"/>
              </a:rPr>
              <a:t>μ</a:t>
            </a:r>
            <a:r>
              <a:rPr dirty="0" sz="1550" spc="-150" i="1">
                <a:latin typeface="Verdana"/>
                <a:cs typeface="Verdana"/>
              </a:rPr>
              <a:t> </a:t>
            </a:r>
            <a:r>
              <a:rPr dirty="0" sz="1500">
                <a:latin typeface="Tahoma"/>
                <a:cs typeface="Tahoma"/>
              </a:rPr>
              <a:t>&gt;</a:t>
            </a:r>
            <a:r>
              <a:rPr dirty="0" sz="1500" spc="9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50</a:t>
            </a:r>
            <a:endParaRPr sz="15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1390"/>
              </a:spcBef>
            </a:pPr>
            <a:r>
              <a:rPr dirty="0" sz="1450" spc="-35" b="1">
                <a:latin typeface="Trebuchet MS"/>
                <a:cs typeface="Trebuchet MS"/>
              </a:rPr>
              <a:t>Interpreting</a:t>
            </a:r>
            <a:r>
              <a:rPr dirty="0" sz="1450" spc="-45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the </a:t>
            </a:r>
            <a:r>
              <a:rPr dirty="0" sz="1450" spc="-10" b="1">
                <a:latin typeface="Trebuchet MS"/>
                <a:cs typeface="Trebuchet MS"/>
              </a:rPr>
              <a:t>Evidence</a:t>
            </a:r>
            <a:endParaRPr sz="1450">
              <a:latin typeface="Trebuchet MS"/>
              <a:cs typeface="Trebuchet MS"/>
            </a:endParaRPr>
          </a:p>
          <a:p>
            <a:pPr algn="just" marL="50800" marR="622935">
              <a:lnSpc>
                <a:spcPts val="1730"/>
              </a:lnSpc>
              <a:spcBef>
                <a:spcPts val="1475"/>
              </a:spcBef>
            </a:pP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10">
                <a:latin typeface="Trebuchet MS"/>
                <a:cs typeface="Trebuchet MS"/>
              </a:rPr>
              <a:t> we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observed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would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very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unlikely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occur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assuming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null </a:t>
            </a:r>
            <a:r>
              <a:rPr dirty="0" sz="1450">
                <a:latin typeface="Trebuchet MS"/>
                <a:cs typeface="Trebuchet MS"/>
              </a:rPr>
              <a:t>hypothesis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 </a:t>
            </a:r>
            <a:r>
              <a:rPr dirty="0" sz="1450" spc="-55">
                <a:latin typeface="Trebuchet MS"/>
                <a:cs typeface="Trebuchet MS"/>
              </a:rPr>
              <a:t>true,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then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>
                <a:latin typeface="Trebuchet MS"/>
                <a:cs typeface="Trebuchet MS"/>
              </a:rPr>
              <a:t> </a:t>
            </a:r>
            <a:r>
              <a:rPr dirty="0" sz="1450" spc="-55">
                <a:latin typeface="Trebuchet MS"/>
                <a:cs typeface="Trebuchet MS"/>
              </a:rPr>
              <a:t>reject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3227" sz="1575">
                <a:latin typeface="Tahoma"/>
                <a:cs typeface="Tahoma"/>
              </a:rPr>
              <a:t>0</a:t>
            </a:r>
            <a:r>
              <a:rPr dirty="0" baseline="-13227" sz="1575" spc="284">
                <a:latin typeface="Tahoma"/>
                <a:cs typeface="Tahoma"/>
              </a:rPr>
              <a:t> </a:t>
            </a:r>
            <a:r>
              <a:rPr dirty="0" sz="1450">
                <a:latin typeface="Trebuchet MS"/>
                <a:cs typeface="Trebuchet MS"/>
              </a:rPr>
              <a:t>because the data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provide enough evidence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to </a:t>
            </a:r>
            <a:r>
              <a:rPr dirty="0" sz="1450">
                <a:latin typeface="Trebuchet MS"/>
                <a:cs typeface="Trebuchet MS"/>
              </a:rPr>
              <a:t>suggest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null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hypothesis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plausible.</a:t>
            </a:r>
            <a:endParaRPr sz="1450">
              <a:latin typeface="Trebuchet MS"/>
              <a:cs typeface="Trebuchet MS"/>
            </a:endParaRPr>
          </a:p>
          <a:p>
            <a:pPr marL="50800" marR="207645">
              <a:lnSpc>
                <a:spcPts val="1730"/>
              </a:lnSpc>
              <a:spcBef>
                <a:spcPts val="1410"/>
              </a:spcBef>
            </a:pP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 sample mean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>
                <a:latin typeface="Trebuchet MS"/>
                <a:cs typeface="Trebuchet MS"/>
              </a:rPr>
              <a:t> observed would be reasonably </a:t>
            </a:r>
            <a:r>
              <a:rPr dirty="0" sz="1450" spc="-10">
                <a:latin typeface="Trebuchet MS"/>
                <a:cs typeface="Trebuchet MS"/>
              </a:rPr>
              <a:t>likely</a:t>
            </a:r>
            <a:r>
              <a:rPr dirty="0" sz="1450">
                <a:latin typeface="Trebuchet MS"/>
                <a:cs typeface="Trebuchet MS"/>
              </a:rPr>
              <a:t> under the null </a:t>
            </a:r>
            <a:r>
              <a:rPr dirty="0" sz="1450" spc="-10">
                <a:latin typeface="Trebuchet MS"/>
                <a:cs typeface="Trebuchet MS"/>
              </a:rPr>
              <a:t>hypothesis, </a:t>
            </a:r>
            <a:r>
              <a:rPr dirty="0" sz="1450">
                <a:latin typeface="Trebuchet MS"/>
                <a:cs typeface="Trebuchet MS"/>
              </a:rPr>
              <a:t>then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50">
                <a:latin typeface="Trebuchet MS"/>
                <a:cs typeface="Trebuchet MS"/>
              </a:rPr>
              <a:t>do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reject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3227" sz="1575">
                <a:latin typeface="Tahoma"/>
                <a:cs typeface="Tahoma"/>
              </a:rPr>
              <a:t>0</a:t>
            </a:r>
            <a:r>
              <a:rPr dirty="0" baseline="-13227" sz="1575" spc="240">
                <a:latin typeface="Tahoma"/>
                <a:cs typeface="Tahoma"/>
              </a:rPr>
              <a:t> </a:t>
            </a:r>
            <a:r>
              <a:rPr dirty="0" sz="1450">
                <a:latin typeface="Trebuchet MS"/>
                <a:cs typeface="Trebuchet MS"/>
              </a:rPr>
              <a:t>because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50">
                <a:latin typeface="Trebuchet MS"/>
                <a:cs typeface="Trebuchet MS"/>
              </a:rPr>
              <a:t>do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provide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enough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evidence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conclude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null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hypothesis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false.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44983" y="394970"/>
            <a:ext cx="7303770" cy="338836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207010" marR="356235" indent="-194945">
              <a:lnSpc>
                <a:spcPts val="1730"/>
              </a:lnSpc>
              <a:spcBef>
                <a:spcPts val="155"/>
              </a:spcBef>
              <a:buAutoNum type="arabicPeriod"/>
              <a:tabLst>
                <a:tab pos="207010" algn="l"/>
              </a:tabLst>
            </a:pPr>
            <a:r>
              <a:rPr dirty="0" sz="1450">
                <a:latin typeface="Trebuchet MS"/>
                <a:cs typeface="Trebuchet MS"/>
              </a:rPr>
              <a:t>Assume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students</a:t>
            </a:r>
            <a:r>
              <a:rPr dirty="0" sz="1450" spc="-10">
                <a:latin typeface="Trebuchet MS"/>
                <a:cs typeface="Trebuchet MS"/>
              </a:rPr>
              <a:t> with </a:t>
            </a:r>
            <a:r>
              <a:rPr dirty="0" sz="1450">
                <a:latin typeface="Trebuchet MS"/>
                <a:cs typeface="Trebuchet MS"/>
              </a:rPr>
              <a:t>at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least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parent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had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a </a:t>
            </a:r>
            <a:r>
              <a:rPr dirty="0" sz="1450">
                <a:latin typeface="Trebuchet MS"/>
                <a:cs typeface="Trebuchet MS"/>
              </a:rPr>
              <a:t>history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depression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50</a:t>
            </a:r>
            <a:endParaRPr sz="1450">
              <a:latin typeface="Trebuchet MS"/>
              <a:cs typeface="Trebuchet MS"/>
            </a:endParaRPr>
          </a:p>
          <a:p>
            <a:pPr marL="207010" marR="5080" indent="-194945">
              <a:lnSpc>
                <a:spcPts val="1730"/>
              </a:lnSpc>
              <a:spcBef>
                <a:spcPts val="1415"/>
              </a:spcBef>
              <a:buAutoNum type="arabicPeriod"/>
              <a:tabLst>
                <a:tab pos="207010" algn="l"/>
              </a:tabLst>
            </a:pPr>
            <a:r>
              <a:rPr dirty="0" sz="1450">
                <a:latin typeface="Trebuchet MS"/>
                <a:cs typeface="Trebuchet MS"/>
              </a:rPr>
              <a:t>Assume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also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know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deviation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students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at </a:t>
            </a:r>
            <a:r>
              <a:rPr dirty="0" sz="1450">
                <a:latin typeface="Trebuchet MS"/>
                <a:cs typeface="Trebuchet MS"/>
              </a:rPr>
              <a:t>least one parent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had a history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 depression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 equal to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10.</a:t>
            </a:r>
            <a:endParaRPr sz="1450">
              <a:latin typeface="Trebuchet MS"/>
              <a:cs typeface="Trebuchet MS"/>
            </a:endParaRPr>
          </a:p>
          <a:p>
            <a:pPr marL="207010" marR="105410" indent="-194945">
              <a:lnSpc>
                <a:spcPts val="1730"/>
              </a:lnSpc>
              <a:spcBef>
                <a:spcPts val="1490"/>
              </a:spcBef>
              <a:buAutoNum type="arabicPeriod"/>
              <a:tabLst>
                <a:tab pos="207010" algn="l"/>
              </a:tabLst>
            </a:pP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repeatedly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size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166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(as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our study),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would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sampling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distribution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look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like?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What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would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deviation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sampling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distribution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means?</a:t>
            </a:r>
            <a:endParaRPr sz="1450">
              <a:latin typeface="Trebuchet MS"/>
              <a:cs typeface="Trebuchet MS"/>
            </a:endParaRPr>
          </a:p>
          <a:p>
            <a:pPr marL="207010" marR="722630" indent="-194945">
              <a:lnSpc>
                <a:spcPts val="1730"/>
              </a:lnSpc>
              <a:spcBef>
                <a:spcPts val="1410"/>
              </a:spcBef>
              <a:buAutoNum type="arabicPeriod"/>
              <a:tabLst>
                <a:tab pos="207010" algn="l"/>
              </a:tabLst>
            </a:pP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probable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20">
                <a:latin typeface="Trebuchet MS"/>
                <a:cs typeface="Trebuchet MS"/>
              </a:rPr>
              <a:t>55.71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based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10">
                <a:latin typeface="Trebuchet MS"/>
                <a:cs typeface="Trebuchet MS"/>
              </a:rPr>
              <a:t> sampling distribution?</a:t>
            </a:r>
            <a:endParaRPr sz="1450">
              <a:latin typeface="Trebuchet MS"/>
              <a:cs typeface="Trebuchet MS"/>
            </a:endParaRPr>
          </a:p>
          <a:p>
            <a:pPr algn="just" marL="207010" marR="116839" indent="-194945">
              <a:lnSpc>
                <a:spcPts val="1730"/>
              </a:lnSpc>
              <a:spcBef>
                <a:spcPts val="1415"/>
              </a:spcBef>
              <a:buAutoNum type="arabicPeriod"/>
              <a:tabLst>
                <a:tab pos="207010" algn="l"/>
              </a:tabLst>
            </a:pPr>
            <a:r>
              <a:rPr dirty="0" sz="1450">
                <a:latin typeface="Trebuchet MS"/>
                <a:cs typeface="Trebuchet MS"/>
              </a:rPr>
              <a:t>Does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probability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observing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140">
                <a:latin typeface="Trebuchet MS"/>
                <a:cs typeface="Trebuchet MS"/>
              </a:rPr>
              <a:t>55.71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higher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give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enough </a:t>
            </a:r>
            <a:r>
              <a:rPr dirty="0" sz="1450">
                <a:latin typeface="Trebuchet MS"/>
                <a:cs typeface="Trebuchet MS"/>
              </a:rPr>
              <a:t>confidence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argue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may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mean different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than</a:t>
            </a:r>
            <a:r>
              <a:rPr dirty="0" sz="1450" spc="-25">
                <a:latin typeface="Trebuchet MS"/>
                <a:cs typeface="Trebuchet MS"/>
              </a:rPr>
              <a:t> 50?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1524" y="19145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33400" y="394970"/>
            <a:ext cx="7573009" cy="18738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Trebuchet MS"/>
                <a:cs typeface="Trebuchet MS"/>
              </a:rPr>
              <a:t>Based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central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limit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theorem,</a:t>
            </a:r>
            <a:endParaRPr sz="1450">
              <a:latin typeface="Trebuchet MS"/>
              <a:cs typeface="Trebuchet MS"/>
            </a:endParaRPr>
          </a:p>
          <a:p>
            <a:pPr marL="418465" marR="30480">
              <a:lnSpc>
                <a:spcPts val="1730"/>
              </a:lnSpc>
              <a:spcBef>
                <a:spcPts val="1475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if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 repeatedly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draw </a:t>
            </a:r>
            <a:r>
              <a:rPr dirty="0" sz="1450">
                <a:latin typeface="Trebuchet MS"/>
                <a:cs typeface="Trebuchet MS"/>
              </a:rPr>
              <a:t>samples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 </a:t>
            </a:r>
            <a:r>
              <a:rPr dirty="0" sz="1450" spc="-50">
                <a:latin typeface="Trebuchet MS"/>
                <a:cs typeface="Trebuchet MS"/>
              </a:rPr>
              <a:t>a </a:t>
            </a:r>
            <a:r>
              <a:rPr dirty="0" sz="1450">
                <a:latin typeface="Trebuchet MS"/>
                <a:cs typeface="Trebuchet MS"/>
              </a:rPr>
              <a:t>size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166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would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50.</a:t>
            </a:r>
            <a:endParaRPr sz="1450">
              <a:latin typeface="Trebuchet MS"/>
              <a:cs typeface="Trebuchet MS"/>
            </a:endParaRPr>
          </a:p>
          <a:p>
            <a:pPr algn="ctr" marL="389890">
              <a:lnSpc>
                <a:spcPct val="100000"/>
              </a:lnSpc>
              <a:spcBef>
                <a:spcPts val="1025"/>
              </a:spcBef>
            </a:pPr>
            <a:r>
              <a:rPr dirty="0" sz="1550" spc="-195" i="1">
                <a:latin typeface="Verdana"/>
                <a:cs typeface="Verdana"/>
              </a:rPr>
              <a:t>μ</a:t>
            </a:r>
            <a:r>
              <a:rPr dirty="0" baseline="-20202" sz="1650" spc="-292" i="1">
                <a:latin typeface="Verdana"/>
                <a:cs typeface="Verdana"/>
              </a:rPr>
              <a:t>X</a:t>
            </a:r>
            <a:r>
              <a:rPr dirty="0" baseline="-7936" sz="1575" spc="-292">
                <a:latin typeface="Tahoma"/>
                <a:cs typeface="Tahoma"/>
              </a:rPr>
              <a:t>¯</a:t>
            </a:r>
            <a:r>
              <a:rPr dirty="0" baseline="-7936" sz="1575" spc="284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70">
                <a:latin typeface="Tahoma"/>
                <a:cs typeface="Tahoma"/>
              </a:rPr>
              <a:t> </a:t>
            </a:r>
            <a:r>
              <a:rPr dirty="0" sz="1550" spc="-135" i="1">
                <a:latin typeface="Verdana"/>
                <a:cs typeface="Verdana"/>
              </a:rPr>
              <a:t>μ</a:t>
            </a:r>
            <a:r>
              <a:rPr dirty="0" sz="1550" spc="-150" i="1">
                <a:latin typeface="Verdana"/>
                <a:cs typeface="Verdan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7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50</a:t>
            </a:r>
            <a:endParaRPr sz="1500">
              <a:latin typeface="Tahoma"/>
              <a:cs typeface="Tahoma"/>
            </a:endParaRPr>
          </a:p>
          <a:p>
            <a:pPr marL="418465" marR="208915">
              <a:lnSpc>
                <a:spcPts val="1730"/>
              </a:lnSpc>
              <a:spcBef>
                <a:spcPts val="1605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deviation of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means from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 population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if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repeatedly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draw </a:t>
            </a:r>
            <a:r>
              <a:rPr dirty="0" sz="1450">
                <a:latin typeface="Trebuchet MS"/>
                <a:cs typeface="Trebuchet MS"/>
              </a:rPr>
              <a:t>samples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size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166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would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0.776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658218" y="3142744"/>
            <a:ext cx="3333750" cy="1593850"/>
            <a:chOff x="2658218" y="3142744"/>
            <a:chExt cx="3333750" cy="1593850"/>
          </a:xfrm>
        </p:grpSpPr>
        <p:sp>
          <p:nvSpPr>
            <p:cNvPr id="6" name="object 6" descr=""/>
            <p:cNvSpPr/>
            <p:nvPr/>
          </p:nvSpPr>
          <p:spPr>
            <a:xfrm>
              <a:off x="2945457" y="4286175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945457" y="3978510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945457" y="3670845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945457" y="3363180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997286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170076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342902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515692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688481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861270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034060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206849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379676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552465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725255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898044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070834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243623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416450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589239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762029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934818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945457" y="4440026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945457" y="4132361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945457" y="3824696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945457" y="3517031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945457" y="3209366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083681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256507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429297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602086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774876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947665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120455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293244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466071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638860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4811650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4984439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157229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5330018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502845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5675634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5848424" y="3147826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083681" y="3214129"/>
              <a:ext cx="2592070" cy="1226185"/>
            </a:xfrm>
            <a:custGeom>
              <a:avLst/>
              <a:gdLst/>
              <a:ahLst/>
              <a:cxnLst/>
              <a:rect l="l" t="t" r="r" b="b"/>
              <a:pathLst>
                <a:path w="2592070" h="1226185">
                  <a:moveTo>
                    <a:pt x="2591953" y="1225897"/>
                  </a:moveTo>
                  <a:lnTo>
                    <a:pt x="0" y="1225897"/>
                  </a:lnTo>
                  <a:lnTo>
                    <a:pt x="647997" y="1225748"/>
                  </a:lnTo>
                  <a:lnTo>
                    <a:pt x="699826" y="1225376"/>
                  </a:lnTo>
                  <a:lnTo>
                    <a:pt x="751656" y="1224334"/>
                  </a:lnTo>
                  <a:lnTo>
                    <a:pt x="803522" y="1221395"/>
                  </a:lnTo>
                  <a:lnTo>
                    <a:pt x="855352" y="1214176"/>
                  </a:lnTo>
                  <a:lnTo>
                    <a:pt x="907181" y="1197917"/>
                  </a:lnTo>
                  <a:lnTo>
                    <a:pt x="959011" y="1164877"/>
                  </a:lnTo>
                  <a:lnTo>
                    <a:pt x="1010877" y="1104230"/>
                  </a:lnTo>
                  <a:lnTo>
                    <a:pt x="1036773" y="1059767"/>
                  </a:lnTo>
                  <a:lnTo>
                    <a:pt x="1062707" y="1004180"/>
                  </a:lnTo>
                  <a:lnTo>
                    <a:pt x="1088640" y="936538"/>
                  </a:lnTo>
                  <a:lnTo>
                    <a:pt x="1114536" y="856654"/>
                  </a:lnTo>
                  <a:lnTo>
                    <a:pt x="1140469" y="765236"/>
                  </a:lnTo>
                  <a:lnTo>
                    <a:pt x="1166365" y="663959"/>
                  </a:lnTo>
                  <a:lnTo>
                    <a:pt x="1192299" y="555649"/>
                  </a:lnTo>
                  <a:lnTo>
                    <a:pt x="1218232" y="444251"/>
                  </a:lnTo>
                  <a:lnTo>
                    <a:pt x="1244128" y="334602"/>
                  </a:lnTo>
                  <a:lnTo>
                    <a:pt x="1270061" y="232209"/>
                  </a:lnTo>
                  <a:lnTo>
                    <a:pt x="1295995" y="142688"/>
                  </a:lnTo>
                  <a:lnTo>
                    <a:pt x="1321891" y="71400"/>
                  </a:lnTo>
                  <a:lnTo>
                    <a:pt x="1347824" y="22770"/>
                  </a:lnTo>
                  <a:lnTo>
                    <a:pt x="1373720" y="0"/>
                  </a:lnTo>
                  <a:lnTo>
                    <a:pt x="1399654" y="4613"/>
                  </a:lnTo>
                  <a:lnTo>
                    <a:pt x="1425587" y="36239"/>
                  </a:lnTo>
                  <a:lnTo>
                    <a:pt x="1451483" y="92831"/>
                  </a:lnTo>
                  <a:lnTo>
                    <a:pt x="1477416" y="170780"/>
                  </a:lnTo>
                  <a:lnTo>
                    <a:pt x="1503350" y="265174"/>
                  </a:lnTo>
                  <a:lnTo>
                    <a:pt x="1529246" y="370619"/>
                  </a:lnTo>
                  <a:lnTo>
                    <a:pt x="1581075" y="592298"/>
                  </a:lnTo>
                  <a:lnTo>
                    <a:pt x="1607008" y="698636"/>
                  </a:lnTo>
                  <a:lnTo>
                    <a:pt x="1632942" y="796900"/>
                  </a:lnTo>
                  <a:lnTo>
                    <a:pt x="1658838" y="884634"/>
                  </a:lnTo>
                  <a:lnTo>
                    <a:pt x="1684771" y="960462"/>
                  </a:lnTo>
                  <a:lnTo>
                    <a:pt x="1710704" y="1024011"/>
                  </a:lnTo>
                  <a:lnTo>
                    <a:pt x="1736600" y="1075766"/>
                  </a:lnTo>
                  <a:lnTo>
                    <a:pt x="1762534" y="1116768"/>
                  </a:lnTo>
                  <a:lnTo>
                    <a:pt x="1788430" y="1148320"/>
                  </a:lnTo>
                  <a:lnTo>
                    <a:pt x="1840296" y="1189248"/>
                  </a:lnTo>
                  <a:lnTo>
                    <a:pt x="1892126" y="1210084"/>
                  </a:lnTo>
                  <a:lnTo>
                    <a:pt x="1943955" y="1219646"/>
                  </a:lnTo>
                  <a:lnTo>
                    <a:pt x="1995784" y="1223627"/>
                  </a:lnTo>
                  <a:lnTo>
                    <a:pt x="2047651" y="1225153"/>
                  </a:lnTo>
                  <a:lnTo>
                    <a:pt x="2099480" y="1225673"/>
                  </a:lnTo>
                  <a:lnTo>
                    <a:pt x="2203139" y="1225897"/>
                  </a:lnTo>
                  <a:lnTo>
                    <a:pt x="2591953" y="122589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5779293" y="3209366"/>
              <a:ext cx="0" cy="1231265"/>
            </a:xfrm>
            <a:custGeom>
              <a:avLst/>
              <a:gdLst/>
              <a:ahLst/>
              <a:cxnLst/>
              <a:rect l="l" t="t" r="r" b="b"/>
              <a:pathLst>
                <a:path w="0" h="1231264">
                  <a:moveTo>
                    <a:pt x="0" y="123065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945457" y="3147826"/>
              <a:ext cx="3041650" cy="1353820"/>
            </a:xfrm>
            <a:custGeom>
              <a:avLst/>
              <a:gdLst/>
              <a:ahLst/>
              <a:cxnLst/>
              <a:rect l="l" t="t" r="r" b="b"/>
              <a:pathLst>
                <a:path w="3041650" h="1353820">
                  <a:moveTo>
                    <a:pt x="0" y="1353740"/>
                  </a:moveTo>
                  <a:lnTo>
                    <a:pt x="3041190" y="1353740"/>
                  </a:lnTo>
                  <a:lnTo>
                    <a:pt x="3041190" y="0"/>
                  </a:lnTo>
                  <a:lnTo>
                    <a:pt x="0" y="0"/>
                  </a:lnTo>
                  <a:lnTo>
                    <a:pt x="0" y="1353740"/>
                  </a:lnTo>
                  <a:close/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85686" y="4410446"/>
              <a:ext cx="108958" cy="59233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2785681" y="4102785"/>
              <a:ext cx="109220" cy="59055"/>
            </a:xfrm>
            <a:custGeom>
              <a:avLst/>
              <a:gdLst/>
              <a:ahLst/>
              <a:cxnLst/>
              <a:rect l="l" t="t" r="r" b="b"/>
              <a:pathLst>
                <a:path w="109219" h="59054">
                  <a:moveTo>
                    <a:pt x="39141" y="37807"/>
                  </a:moveTo>
                  <a:lnTo>
                    <a:pt x="31737" y="3848"/>
                  </a:lnTo>
                  <a:lnTo>
                    <a:pt x="31737" y="21056"/>
                  </a:lnTo>
                  <a:lnTo>
                    <a:pt x="31699" y="37807"/>
                  </a:lnTo>
                  <a:lnTo>
                    <a:pt x="20688" y="53174"/>
                  </a:lnTo>
                  <a:lnTo>
                    <a:pt x="18376" y="53174"/>
                  </a:lnTo>
                  <a:lnTo>
                    <a:pt x="7518" y="38849"/>
                  </a:lnTo>
                  <a:lnTo>
                    <a:pt x="7518" y="20053"/>
                  </a:lnTo>
                  <a:lnTo>
                    <a:pt x="7835" y="18122"/>
                  </a:lnTo>
                  <a:lnTo>
                    <a:pt x="7937" y="17564"/>
                  </a:lnTo>
                  <a:lnTo>
                    <a:pt x="8013" y="17233"/>
                  </a:lnTo>
                  <a:lnTo>
                    <a:pt x="8382" y="15557"/>
                  </a:lnTo>
                  <a:lnTo>
                    <a:pt x="8509" y="15151"/>
                  </a:lnTo>
                  <a:lnTo>
                    <a:pt x="8610" y="14770"/>
                  </a:lnTo>
                  <a:lnTo>
                    <a:pt x="8839" y="14033"/>
                  </a:lnTo>
                  <a:lnTo>
                    <a:pt x="17221" y="6032"/>
                  </a:lnTo>
                  <a:lnTo>
                    <a:pt x="22136" y="6032"/>
                  </a:lnTo>
                  <a:lnTo>
                    <a:pt x="30632" y="15151"/>
                  </a:lnTo>
                  <a:lnTo>
                    <a:pt x="30734" y="15557"/>
                  </a:lnTo>
                  <a:lnTo>
                    <a:pt x="30949" y="16332"/>
                  </a:lnTo>
                  <a:lnTo>
                    <a:pt x="31203" y="17564"/>
                  </a:lnTo>
                  <a:lnTo>
                    <a:pt x="31292" y="18122"/>
                  </a:lnTo>
                  <a:lnTo>
                    <a:pt x="31483" y="19050"/>
                  </a:lnTo>
                  <a:lnTo>
                    <a:pt x="31584" y="20053"/>
                  </a:lnTo>
                  <a:lnTo>
                    <a:pt x="31737" y="21056"/>
                  </a:lnTo>
                  <a:lnTo>
                    <a:pt x="31737" y="3848"/>
                  </a:lnTo>
                  <a:lnTo>
                    <a:pt x="22174" y="0"/>
                  </a:lnTo>
                  <a:lnTo>
                    <a:pt x="17195" y="0"/>
                  </a:lnTo>
                  <a:lnTo>
                    <a:pt x="304" y="18834"/>
                  </a:lnTo>
                  <a:lnTo>
                    <a:pt x="266" y="19050"/>
                  </a:lnTo>
                  <a:lnTo>
                    <a:pt x="0" y="21056"/>
                  </a:lnTo>
                  <a:lnTo>
                    <a:pt x="0" y="37807"/>
                  </a:lnTo>
                  <a:lnTo>
                    <a:pt x="15405" y="58864"/>
                  </a:lnTo>
                  <a:lnTo>
                    <a:pt x="23520" y="58864"/>
                  </a:lnTo>
                  <a:lnTo>
                    <a:pt x="33477" y="53022"/>
                  </a:lnTo>
                  <a:lnTo>
                    <a:pt x="34264" y="51981"/>
                  </a:lnTo>
                  <a:lnTo>
                    <a:pt x="38862" y="39814"/>
                  </a:lnTo>
                  <a:lnTo>
                    <a:pt x="39141" y="37807"/>
                  </a:lnTo>
                  <a:close/>
                </a:path>
                <a:path w="109219" h="59054">
                  <a:moveTo>
                    <a:pt x="58534" y="49453"/>
                  </a:moveTo>
                  <a:lnTo>
                    <a:pt x="50533" y="49453"/>
                  </a:lnTo>
                  <a:lnTo>
                    <a:pt x="50533" y="58420"/>
                  </a:lnTo>
                  <a:lnTo>
                    <a:pt x="58534" y="58420"/>
                  </a:lnTo>
                  <a:lnTo>
                    <a:pt x="58534" y="49453"/>
                  </a:lnTo>
                  <a:close/>
                </a:path>
                <a:path w="109219" h="59054">
                  <a:moveTo>
                    <a:pt x="108724" y="52171"/>
                  </a:moveTo>
                  <a:lnTo>
                    <a:pt x="94653" y="52171"/>
                  </a:lnTo>
                  <a:lnTo>
                    <a:pt x="94653" y="749"/>
                  </a:lnTo>
                  <a:lnTo>
                    <a:pt x="87884" y="749"/>
                  </a:lnTo>
                  <a:lnTo>
                    <a:pt x="74231" y="10121"/>
                  </a:lnTo>
                  <a:lnTo>
                    <a:pt x="74231" y="17081"/>
                  </a:lnTo>
                  <a:lnTo>
                    <a:pt x="87249" y="7785"/>
                  </a:lnTo>
                  <a:lnTo>
                    <a:pt x="87249" y="52171"/>
                  </a:lnTo>
                  <a:lnTo>
                    <a:pt x="72555" y="52171"/>
                  </a:lnTo>
                  <a:lnTo>
                    <a:pt x="72555" y="58420"/>
                  </a:lnTo>
                  <a:lnTo>
                    <a:pt x="108724" y="58420"/>
                  </a:lnTo>
                  <a:lnTo>
                    <a:pt x="108724" y="52171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85686" y="3487377"/>
              <a:ext cx="109132" cy="59308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2785681" y="3179863"/>
              <a:ext cx="110489" cy="59055"/>
            </a:xfrm>
            <a:custGeom>
              <a:avLst/>
              <a:gdLst/>
              <a:ahLst/>
              <a:cxnLst/>
              <a:rect l="l" t="t" r="r" b="b"/>
              <a:pathLst>
                <a:path w="110489" h="59055">
                  <a:moveTo>
                    <a:pt x="39141" y="37731"/>
                  </a:moveTo>
                  <a:lnTo>
                    <a:pt x="37947" y="14706"/>
                  </a:lnTo>
                  <a:lnTo>
                    <a:pt x="37299" y="12611"/>
                  </a:lnTo>
                  <a:lnTo>
                    <a:pt x="37020" y="11836"/>
                  </a:lnTo>
                  <a:lnTo>
                    <a:pt x="36601" y="10756"/>
                  </a:lnTo>
                  <a:lnTo>
                    <a:pt x="35801" y="9042"/>
                  </a:lnTo>
                  <a:lnTo>
                    <a:pt x="35674" y="8826"/>
                  </a:lnTo>
                  <a:lnTo>
                    <a:pt x="35458" y="8445"/>
                  </a:lnTo>
                  <a:lnTo>
                    <a:pt x="34251" y="6515"/>
                  </a:lnTo>
                  <a:lnTo>
                    <a:pt x="33693" y="5803"/>
                  </a:lnTo>
                  <a:lnTo>
                    <a:pt x="32702" y="4660"/>
                  </a:lnTo>
                  <a:lnTo>
                    <a:pt x="31737" y="3784"/>
                  </a:lnTo>
                  <a:lnTo>
                    <a:pt x="31737" y="20993"/>
                  </a:lnTo>
                  <a:lnTo>
                    <a:pt x="31699" y="37731"/>
                  </a:lnTo>
                  <a:lnTo>
                    <a:pt x="31407" y="39700"/>
                  </a:lnTo>
                  <a:lnTo>
                    <a:pt x="30657" y="43205"/>
                  </a:lnTo>
                  <a:lnTo>
                    <a:pt x="30568" y="43459"/>
                  </a:lnTo>
                  <a:lnTo>
                    <a:pt x="30403" y="43980"/>
                  </a:lnTo>
                  <a:lnTo>
                    <a:pt x="22326" y="52832"/>
                  </a:lnTo>
                  <a:lnTo>
                    <a:pt x="22644" y="52832"/>
                  </a:lnTo>
                  <a:lnTo>
                    <a:pt x="20688" y="53098"/>
                  </a:lnTo>
                  <a:lnTo>
                    <a:pt x="18376" y="53098"/>
                  </a:lnTo>
                  <a:lnTo>
                    <a:pt x="16433" y="52832"/>
                  </a:lnTo>
                  <a:lnTo>
                    <a:pt x="16751" y="52832"/>
                  </a:lnTo>
                  <a:lnTo>
                    <a:pt x="15709" y="52539"/>
                  </a:lnTo>
                  <a:lnTo>
                    <a:pt x="7518" y="38735"/>
                  </a:lnTo>
                  <a:lnTo>
                    <a:pt x="7531" y="19951"/>
                  </a:lnTo>
                  <a:lnTo>
                    <a:pt x="7823" y="18046"/>
                  </a:lnTo>
                  <a:lnTo>
                    <a:pt x="8382" y="15481"/>
                  </a:lnTo>
                  <a:lnTo>
                    <a:pt x="8509" y="15074"/>
                  </a:lnTo>
                  <a:lnTo>
                    <a:pt x="8610" y="14706"/>
                  </a:lnTo>
                  <a:lnTo>
                    <a:pt x="15735" y="6324"/>
                  </a:lnTo>
                  <a:lnTo>
                    <a:pt x="15519" y="6324"/>
                  </a:lnTo>
                  <a:lnTo>
                    <a:pt x="17335" y="5956"/>
                  </a:lnTo>
                  <a:lnTo>
                    <a:pt x="18529" y="5803"/>
                  </a:lnTo>
                  <a:lnTo>
                    <a:pt x="20878" y="5803"/>
                  </a:lnTo>
                  <a:lnTo>
                    <a:pt x="21996" y="5956"/>
                  </a:lnTo>
                  <a:lnTo>
                    <a:pt x="23723" y="6324"/>
                  </a:lnTo>
                  <a:lnTo>
                    <a:pt x="23482" y="6324"/>
                  </a:lnTo>
                  <a:lnTo>
                    <a:pt x="24041" y="6515"/>
                  </a:lnTo>
                  <a:lnTo>
                    <a:pt x="30289" y="13957"/>
                  </a:lnTo>
                  <a:lnTo>
                    <a:pt x="30543" y="14706"/>
                  </a:lnTo>
                  <a:lnTo>
                    <a:pt x="30632" y="15074"/>
                  </a:lnTo>
                  <a:lnTo>
                    <a:pt x="30734" y="15481"/>
                  </a:lnTo>
                  <a:lnTo>
                    <a:pt x="30937" y="16230"/>
                  </a:lnTo>
                  <a:lnTo>
                    <a:pt x="31191" y="17449"/>
                  </a:lnTo>
                  <a:lnTo>
                    <a:pt x="31292" y="18046"/>
                  </a:lnTo>
                  <a:lnTo>
                    <a:pt x="31483" y="18973"/>
                  </a:lnTo>
                  <a:lnTo>
                    <a:pt x="31584" y="19951"/>
                  </a:lnTo>
                  <a:lnTo>
                    <a:pt x="31737" y="20993"/>
                  </a:lnTo>
                  <a:lnTo>
                    <a:pt x="31737" y="3784"/>
                  </a:lnTo>
                  <a:lnTo>
                    <a:pt x="22961" y="0"/>
                  </a:lnTo>
                  <a:lnTo>
                    <a:pt x="16370" y="0"/>
                  </a:lnTo>
                  <a:lnTo>
                    <a:pt x="304" y="18757"/>
                  </a:lnTo>
                  <a:lnTo>
                    <a:pt x="266" y="18973"/>
                  </a:lnTo>
                  <a:lnTo>
                    <a:pt x="0" y="20993"/>
                  </a:lnTo>
                  <a:lnTo>
                    <a:pt x="0" y="37731"/>
                  </a:lnTo>
                  <a:lnTo>
                    <a:pt x="13093" y="58153"/>
                  </a:lnTo>
                  <a:lnTo>
                    <a:pt x="13843" y="58420"/>
                  </a:lnTo>
                  <a:lnTo>
                    <a:pt x="14630" y="58610"/>
                  </a:lnTo>
                  <a:lnTo>
                    <a:pt x="16192" y="58902"/>
                  </a:lnTo>
                  <a:lnTo>
                    <a:pt x="22733" y="58902"/>
                  </a:lnTo>
                  <a:lnTo>
                    <a:pt x="38862" y="39700"/>
                  </a:lnTo>
                  <a:lnTo>
                    <a:pt x="39141" y="37731"/>
                  </a:lnTo>
                  <a:close/>
                </a:path>
                <a:path w="110489" h="59055">
                  <a:moveTo>
                    <a:pt x="58534" y="49377"/>
                  </a:moveTo>
                  <a:lnTo>
                    <a:pt x="50533" y="49377"/>
                  </a:lnTo>
                  <a:lnTo>
                    <a:pt x="50533" y="58343"/>
                  </a:lnTo>
                  <a:lnTo>
                    <a:pt x="58534" y="58343"/>
                  </a:lnTo>
                  <a:lnTo>
                    <a:pt x="58534" y="49377"/>
                  </a:lnTo>
                  <a:close/>
                </a:path>
                <a:path w="110489" h="59055">
                  <a:moveTo>
                    <a:pt x="110363" y="39446"/>
                  </a:moveTo>
                  <a:lnTo>
                    <a:pt x="102247" y="39446"/>
                  </a:lnTo>
                  <a:lnTo>
                    <a:pt x="102247" y="8966"/>
                  </a:lnTo>
                  <a:lnTo>
                    <a:pt x="102247" y="673"/>
                  </a:lnTo>
                  <a:lnTo>
                    <a:pt x="95288" y="673"/>
                  </a:lnTo>
                  <a:lnTo>
                    <a:pt x="95288" y="9118"/>
                  </a:lnTo>
                  <a:lnTo>
                    <a:pt x="95288" y="39446"/>
                  </a:lnTo>
                  <a:lnTo>
                    <a:pt x="74904" y="39446"/>
                  </a:lnTo>
                  <a:lnTo>
                    <a:pt x="75196" y="39103"/>
                  </a:lnTo>
                  <a:lnTo>
                    <a:pt x="75311" y="38925"/>
                  </a:lnTo>
                  <a:lnTo>
                    <a:pt x="75463" y="38735"/>
                  </a:lnTo>
                  <a:lnTo>
                    <a:pt x="75641" y="38544"/>
                  </a:lnTo>
                  <a:lnTo>
                    <a:pt x="76390" y="37579"/>
                  </a:lnTo>
                  <a:lnTo>
                    <a:pt x="77127" y="36461"/>
                  </a:lnTo>
                  <a:lnTo>
                    <a:pt x="77317" y="36283"/>
                  </a:lnTo>
                  <a:lnTo>
                    <a:pt x="77431" y="36093"/>
                  </a:lnTo>
                  <a:lnTo>
                    <a:pt x="77685" y="35763"/>
                  </a:lnTo>
                  <a:lnTo>
                    <a:pt x="77762" y="35610"/>
                  </a:lnTo>
                  <a:lnTo>
                    <a:pt x="92532" y="13843"/>
                  </a:lnTo>
                  <a:lnTo>
                    <a:pt x="93014" y="13030"/>
                  </a:lnTo>
                  <a:lnTo>
                    <a:pt x="93205" y="12763"/>
                  </a:lnTo>
                  <a:lnTo>
                    <a:pt x="93611" y="11988"/>
                  </a:lnTo>
                  <a:lnTo>
                    <a:pt x="93726" y="11836"/>
                  </a:lnTo>
                  <a:lnTo>
                    <a:pt x="93878" y="11544"/>
                  </a:lnTo>
                  <a:lnTo>
                    <a:pt x="93992" y="11391"/>
                  </a:lnTo>
                  <a:lnTo>
                    <a:pt x="94513" y="10388"/>
                  </a:lnTo>
                  <a:lnTo>
                    <a:pt x="94653" y="10160"/>
                  </a:lnTo>
                  <a:lnTo>
                    <a:pt x="94729" y="10007"/>
                  </a:lnTo>
                  <a:lnTo>
                    <a:pt x="94881" y="9791"/>
                  </a:lnTo>
                  <a:lnTo>
                    <a:pt x="94996" y="9563"/>
                  </a:lnTo>
                  <a:lnTo>
                    <a:pt x="95097" y="9347"/>
                  </a:lnTo>
                  <a:lnTo>
                    <a:pt x="95288" y="9118"/>
                  </a:lnTo>
                  <a:lnTo>
                    <a:pt x="95288" y="673"/>
                  </a:lnTo>
                  <a:lnTo>
                    <a:pt x="94513" y="673"/>
                  </a:lnTo>
                  <a:lnTo>
                    <a:pt x="68160" y="39446"/>
                  </a:lnTo>
                  <a:lnTo>
                    <a:pt x="68097" y="45288"/>
                  </a:lnTo>
                  <a:lnTo>
                    <a:pt x="95288" y="45288"/>
                  </a:lnTo>
                  <a:lnTo>
                    <a:pt x="95288" y="58343"/>
                  </a:lnTo>
                  <a:lnTo>
                    <a:pt x="102247" y="58343"/>
                  </a:lnTo>
                  <a:lnTo>
                    <a:pt x="102247" y="45288"/>
                  </a:lnTo>
                  <a:lnTo>
                    <a:pt x="110363" y="45288"/>
                  </a:lnTo>
                  <a:lnTo>
                    <a:pt x="110363" y="3944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919375" y="3209366"/>
              <a:ext cx="2756535" cy="1318895"/>
            </a:xfrm>
            <a:custGeom>
              <a:avLst/>
              <a:gdLst/>
              <a:ahLst/>
              <a:cxnLst/>
              <a:rect l="l" t="t" r="r" b="b"/>
              <a:pathLst>
                <a:path w="2756535" h="1318895">
                  <a:moveTo>
                    <a:pt x="0" y="1230659"/>
                  </a:moveTo>
                  <a:lnTo>
                    <a:pt x="26082" y="1230659"/>
                  </a:lnTo>
                </a:path>
                <a:path w="2756535" h="1318895">
                  <a:moveTo>
                    <a:pt x="0" y="922994"/>
                  </a:moveTo>
                  <a:lnTo>
                    <a:pt x="26082" y="922994"/>
                  </a:lnTo>
                </a:path>
                <a:path w="2756535" h="1318895">
                  <a:moveTo>
                    <a:pt x="0" y="615329"/>
                  </a:moveTo>
                  <a:lnTo>
                    <a:pt x="26082" y="615329"/>
                  </a:lnTo>
                </a:path>
                <a:path w="2756535" h="1318895">
                  <a:moveTo>
                    <a:pt x="0" y="307664"/>
                  </a:moveTo>
                  <a:lnTo>
                    <a:pt x="26082" y="307664"/>
                  </a:lnTo>
                </a:path>
                <a:path w="2756535" h="1318895">
                  <a:moveTo>
                    <a:pt x="0" y="0"/>
                  </a:moveTo>
                  <a:lnTo>
                    <a:pt x="26082" y="0"/>
                  </a:lnTo>
                </a:path>
                <a:path w="2756535" h="1318895">
                  <a:moveTo>
                    <a:pt x="164306" y="1318282"/>
                  </a:moveTo>
                  <a:lnTo>
                    <a:pt x="164306" y="1292200"/>
                  </a:lnTo>
                </a:path>
                <a:path w="2756535" h="1318895">
                  <a:moveTo>
                    <a:pt x="337132" y="1318282"/>
                  </a:moveTo>
                  <a:lnTo>
                    <a:pt x="337132" y="1292200"/>
                  </a:lnTo>
                </a:path>
                <a:path w="2756535" h="1318895">
                  <a:moveTo>
                    <a:pt x="509922" y="1318282"/>
                  </a:moveTo>
                  <a:lnTo>
                    <a:pt x="509922" y="1292200"/>
                  </a:lnTo>
                </a:path>
                <a:path w="2756535" h="1318895">
                  <a:moveTo>
                    <a:pt x="682711" y="1318282"/>
                  </a:moveTo>
                  <a:lnTo>
                    <a:pt x="682711" y="1292200"/>
                  </a:lnTo>
                </a:path>
                <a:path w="2756535" h="1318895">
                  <a:moveTo>
                    <a:pt x="855501" y="1318282"/>
                  </a:moveTo>
                  <a:lnTo>
                    <a:pt x="855501" y="1292200"/>
                  </a:lnTo>
                </a:path>
                <a:path w="2756535" h="1318895">
                  <a:moveTo>
                    <a:pt x="1373869" y="1318282"/>
                  </a:moveTo>
                  <a:lnTo>
                    <a:pt x="1373869" y="1292200"/>
                  </a:lnTo>
                </a:path>
                <a:path w="2756535" h="1318895">
                  <a:moveTo>
                    <a:pt x="1546696" y="1318282"/>
                  </a:moveTo>
                  <a:lnTo>
                    <a:pt x="1546696" y="1292200"/>
                  </a:lnTo>
                </a:path>
                <a:path w="2756535" h="1318895">
                  <a:moveTo>
                    <a:pt x="1719485" y="1318282"/>
                  </a:moveTo>
                  <a:lnTo>
                    <a:pt x="1719485" y="1292200"/>
                  </a:lnTo>
                </a:path>
                <a:path w="2756535" h="1318895">
                  <a:moveTo>
                    <a:pt x="1892275" y="1318282"/>
                  </a:moveTo>
                  <a:lnTo>
                    <a:pt x="1892275" y="1292200"/>
                  </a:lnTo>
                </a:path>
                <a:path w="2756535" h="1318895">
                  <a:moveTo>
                    <a:pt x="2065064" y="1318282"/>
                  </a:moveTo>
                  <a:lnTo>
                    <a:pt x="2065064" y="1292200"/>
                  </a:lnTo>
                </a:path>
                <a:path w="2756535" h="1318895">
                  <a:moveTo>
                    <a:pt x="2237853" y="1318282"/>
                  </a:moveTo>
                  <a:lnTo>
                    <a:pt x="2237853" y="1292200"/>
                  </a:lnTo>
                </a:path>
                <a:path w="2756535" h="1318895">
                  <a:moveTo>
                    <a:pt x="2410643" y="1318282"/>
                  </a:moveTo>
                  <a:lnTo>
                    <a:pt x="2410643" y="1292200"/>
                  </a:lnTo>
                </a:path>
                <a:path w="2756535" h="1318895">
                  <a:moveTo>
                    <a:pt x="2583469" y="1318282"/>
                  </a:moveTo>
                  <a:lnTo>
                    <a:pt x="2583469" y="1292200"/>
                  </a:lnTo>
                </a:path>
                <a:path w="2756535" h="1318895">
                  <a:moveTo>
                    <a:pt x="2756259" y="1318282"/>
                  </a:moveTo>
                  <a:lnTo>
                    <a:pt x="2756259" y="1292200"/>
                  </a:lnTo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038995" y="4547818"/>
              <a:ext cx="778510" cy="59690"/>
            </a:xfrm>
            <a:custGeom>
              <a:avLst/>
              <a:gdLst/>
              <a:ahLst/>
              <a:cxnLst/>
              <a:rect l="l" t="t" r="r" b="b"/>
              <a:pathLst>
                <a:path w="778510" h="59689">
                  <a:moveTo>
                    <a:pt x="42227" y="39408"/>
                  </a:moveTo>
                  <a:lnTo>
                    <a:pt x="34150" y="39408"/>
                  </a:lnTo>
                  <a:lnTo>
                    <a:pt x="34150" y="9042"/>
                  </a:lnTo>
                  <a:lnTo>
                    <a:pt x="34150" y="711"/>
                  </a:lnTo>
                  <a:lnTo>
                    <a:pt x="27190" y="711"/>
                  </a:lnTo>
                  <a:lnTo>
                    <a:pt x="27190" y="9194"/>
                  </a:lnTo>
                  <a:lnTo>
                    <a:pt x="27190" y="39408"/>
                  </a:lnTo>
                  <a:lnTo>
                    <a:pt x="6908" y="39408"/>
                  </a:lnTo>
                  <a:lnTo>
                    <a:pt x="7023" y="39255"/>
                  </a:lnTo>
                  <a:lnTo>
                    <a:pt x="7137" y="39065"/>
                  </a:lnTo>
                  <a:lnTo>
                    <a:pt x="7289" y="38925"/>
                  </a:lnTo>
                  <a:lnTo>
                    <a:pt x="7950" y="38061"/>
                  </a:lnTo>
                  <a:lnTo>
                    <a:pt x="9410" y="36055"/>
                  </a:lnTo>
                  <a:lnTo>
                    <a:pt x="9525" y="35864"/>
                  </a:lnTo>
                  <a:lnTo>
                    <a:pt x="9664" y="35687"/>
                  </a:lnTo>
                  <a:lnTo>
                    <a:pt x="24777" y="13360"/>
                  </a:lnTo>
                  <a:lnTo>
                    <a:pt x="25069" y="12801"/>
                  </a:lnTo>
                  <a:lnTo>
                    <a:pt x="25184" y="12649"/>
                  </a:lnTo>
                  <a:lnTo>
                    <a:pt x="25336" y="12357"/>
                  </a:lnTo>
                  <a:lnTo>
                    <a:pt x="25438" y="12204"/>
                  </a:lnTo>
                  <a:lnTo>
                    <a:pt x="25590" y="11912"/>
                  </a:lnTo>
                  <a:lnTo>
                    <a:pt x="25704" y="11760"/>
                  </a:lnTo>
                  <a:lnTo>
                    <a:pt x="25857" y="11468"/>
                  </a:lnTo>
                  <a:lnTo>
                    <a:pt x="25958" y="11315"/>
                  </a:lnTo>
                  <a:lnTo>
                    <a:pt x="26555" y="10198"/>
                  </a:lnTo>
                  <a:lnTo>
                    <a:pt x="26784" y="9867"/>
                  </a:lnTo>
                  <a:lnTo>
                    <a:pt x="26898" y="9601"/>
                  </a:lnTo>
                  <a:lnTo>
                    <a:pt x="27000" y="9410"/>
                  </a:lnTo>
                  <a:lnTo>
                    <a:pt x="27190" y="9194"/>
                  </a:lnTo>
                  <a:lnTo>
                    <a:pt x="27190" y="711"/>
                  </a:lnTo>
                  <a:lnTo>
                    <a:pt x="26416" y="711"/>
                  </a:lnTo>
                  <a:lnTo>
                    <a:pt x="114" y="39408"/>
                  </a:lnTo>
                  <a:lnTo>
                    <a:pt x="0" y="45326"/>
                  </a:lnTo>
                  <a:lnTo>
                    <a:pt x="27190" y="45326"/>
                  </a:lnTo>
                  <a:lnTo>
                    <a:pt x="27190" y="58381"/>
                  </a:lnTo>
                  <a:lnTo>
                    <a:pt x="34150" y="58381"/>
                  </a:lnTo>
                  <a:lnTo>
                    <a:pt x="34150" y="45326"/>
                  </a:lnTo>
                  <a:lnTo>
                    <a:pt x="42227" y="45326"/>
                  </a:lnTo>
                  <a:lnTo>
                    <a:pt x="42227" y="39408"/>
                  </a:lnTo>
                  <a:close/>
                </a:path>
                <a:path w="778510" h="59689">
                  <a:moveTo>
                    <a:pt x="88849" y="39446"/>
                  </a:moveTo>
                  <a:lnTo>
                    <a:pt x="80733" y="39446"/>
                  </a:lnTo>
                  <a:lnTo>
                    <a:pt x="80733" y="9042"/>
                  </a:lnTo>
                  <a:lnTo>
                    <a:pt x="80733" y="711"/>
                  </a:lnTo>
                  <a:lnTo>
                    <a:pt x="73825" y="711"/>
                  </a:lnTo>
                  <a:lnTo>
                    <a:pt x="73825" y="9042"/>
                  </a:lnTo>
                  <a:lnTo>
                    <a:pt x="73774" y="39446"/>
                  </a:lnTo>
                  <a:lnTo>
                    <a:pt x="53454" y="39446"/>
                  </a:lnTo>
                  <a:lnTo>
                    <a:pt x="53644" y="39255"/>
                  </a:lnTo>
                  <a:lnTo>
                    <a:pt x="53759" y="39065"/>
                  </a:lnTo>
                  <a:lnTo>
                    <a:pt x="53911" y="38925"/>
                  </a:lnTo>
                  <a:lnTo>
                    <a:pt x="56032" y="36055"/>
                  </a:lnTo>
                  <a:lnTo>
                    <a:pt x="56134" y="35864"/>
                  </a:lnTo>
                  <a:lnTo>
                    <a:pt x="56286" y="35687"/>
                  </a:lnTo>
                  <a:lnTo>
                    <a:pt x="71399" y="13360"/>
                  </a:lnTo>
                  <a:lnTo>
                    <a:pt x="71691" y="12801"/>
                  </a:lnTo>
                  <a:lnTo>
                    <a:pt x="71805" y="12649"/>
                  </a:lnTo>
                  <a:lnTo>
                    <a:pt x="71958" y="12357"/>
                  </a:lnTo>
                  <a:lnTo>
                    <a:pt x="72059" y="12204"/>
                  </a:lnTo>
                  <a:lnTo>
                    <a:pt x="72212" y="11912"/>
                  </a:lnTo>
                  <a:lnTo>
                    <a:pt x="72326" y="11760"/>
                  </a:lnTo>
                  <a:lnTo>
                    <a:pt x="72542" y="11315"/>
                  </a:lnTo>
                  <a:lnTo>
                    <a:pt x="72656" y="11163"/>
                  </a:lnTo>
                  <a:lnTo>
                    <a:pt x="73660" y="9537"/>
                  </a:lnTo>
                  <a:lnTo>
                    <a:pt x="73774" y="39446"/>
                  </a:lnTo>
                  <a:lnTo>
                    <a:pt x="73774" y="9144"/>
                  </a:lnTo>
                  <a:lnTo>
                    <a:pt x="73825" y="711"/>
                  </a:lnTo>
                  <a:lnTo>
                    <a:pt x="73025" y="711"/>
                  </a:lnTo>
                  <a:lnTo>
                    <a:pt x="46710" y="39446"/>
                  </a:lnTo>
                  <a:lnTo>
                    <a:pt x="46609" y="45326"/>
                  </a:lnTo>
                  <a:lnTo>
                    <a:pt x="73774" y="45326"/>
                  </a:lnTo>
                  <a:lnTo>
                    <a:pt x="73774" y="58381"/>
                  </a:lnTo>
                  <a:lnTo>
                    <a:pt x="80733" y="58381"/>
                  </a:lnTo>
                  <a:lnTo>
                    <a:pt x="80733" y="45326"/>
                  </a:lnTo>
                  <a:lnTo>
                    <a:pt x="88849" y="45326"/>
                  </a:lnTo>
                  <a:lnTo>
                    <a:pt x="88849" y="39446"/>
                  </a:lnTo>
                  <a:close/>
                </a:path>
                <a:path w="778510" h="59689">
                  <a:moveTo>
                    <a:pt x="215049" y="39522"/>
                  </a:moveTo>
                  <a:lnTo>
                    <a:pt x="206933" y="39522"/>
                  </a:lnTo>
                  <a:lnTo>
                    <a:pt x="206933" y="9042"/>
                  </a:lnTo>
                  <a:lnTo>
                    <a:pt x="206933" y="711"/>
                  </a:lnTo>
                  <a:lnTo>
                    <a:pt x="199986" y="711"/>
                  </a:lnTo>
                  <a:lnTo>
                    <a:pt x="199986" y="9042"/>
                  </a:lnTo>
                  <a:lnTo>
                    <a:pt x="199986" y="39522"/>
                  </a:lnTo>
                  <a:lnTo>
                    <a:pt x="179590" y="39522"/>
                  </a:lnTo>
                  <a:lnTo>
                    <a:pt x="179920" y="39065"/>
                  </a:lnTo>
                  <a:lnTo>
                    <a:pt x="180263" y="38696"/>
                  </a:lnTo>
                  <a:lnTo>
                    <a:pt x="180479" y="38366"/>
                  </a:lnTo>
                  <a:lnTo>
                    <a:pt x="180670" y="38176"/>
                  </a:lnTo>
                  <a:lnTo>
                    <a:pt x="181076" y="37617"/>
                  </a:lnTo>
                  <a:lnTo>
                    <a:pt x="181825" y="36537"/>
                  </a:lnTo>
                  <a:lnTo>
                    <a:pt x="182016" y="36322"/>
                  </a:lnTo>
                  <a:lnTo>
                    <a:pt x="182118" y="36131"/>
                  </a:lnTo>
                  <a:lnTo>
                    <a:pt x="182460" y="35687"/>
                  </a:lnTo>
                  <a:lnTo>
                    <a:pt x="197307" y="13804"/>
                  </a:lnTo>
                  <a:lnTo>
                    <a:pt x="197408" y="13589"/>
                  </a:lnTo>
                  <a:lnTo>
                    <a:pt x="197713" y="13093"/>
                  </a:lnTo>
                  <a:lnTo>
                    <a:pt x="197827" y="12954"/>
                  </a:lnTo>
                  <a:lnTo>
                    <a:pt x="198043" y="12509"/>
                  </a:lnTo>
                  <a:lnTo>
                    <a:pt x="198158" y="12357"/>
                  </a:lnTo>
                  <a:lnTo>
                    <a:pt x="198310" y="12052"/>
                  </a:lnTo>
                  <a:lnTo>
                    <a:pt x="198424" y="11912"/>
                  </a:lnTo>
                  <a:lnTo>
                    <a:pt x="198640" y="11468"/>
                  </a:lnTo>
                  <a:lnTo>
                    <a:pt x="198755" y="11315"/>
                  </a:lnTo>
                  <a:lnTo>
                    <a:pt x="199351" y="10198"/>
                  </a:lnTo>
                  <a:lnTo>
                    <a:pt x="199567" y="9867"/>
                  </a:lnTo>
                  <a:lnTo>
                    <a:pt x="199682" y="9601"/>
                  </a:lnTo>
                  <a:lnTo>
                    <a:pt x="199796" y="9410"/>
                  </a:lnTo>
                  <a:lnTo>
                    <a:pt x="199986" y="9042"/>
                  </a:lnTo>
                  <a:lnTo>
                    <a:pt x="199986" y="711"/>
                  </a:lnTo>
                  <a:lnTo>
                    <a:pt x="199199" y="711"/>
                  </a:lnTo>
                  <a:lnTo>
                    <a:pt x="172834" y="39522"/>
                  </a:lnTo>
                  <a:lnTo>
                    <a:pt x="172783" y="45326"/>
                  </a:lnTo>
                  <a:lnTo>
                    <a:pt x="199986" y="45326"/>
                  </a:lnTo>
                  <a:lnTo>
                    <a:pt x="199986" y="58381"/>
                  </a:lnTo>
                  <a:lnTo>
                    <a:pt x="206933" y="58381"/>
                  </a:lnTo>
                  <a:lnTo>
                    <a:pt x="206933" y="45326"/>
                  </a:lnTo>
                  <a:lnTo>
                    <a:pt x="215049" y="45326"/>
                  </a:lnTo>
                  <a:lnTo>
                    <a:pt x="215049" y="39522"/>
                  </a:lnTo>
                  <a:close/>
                </a:path>
                <a:path w="778510" h="59689">
                  <a:moveTo>
                    <a:pt x="260591" y="39585"/>
                  </a:moveTo>
                  <a:lnTo>
                    <a:pt x="241947" y="21577"/>
                  </a:lnTo>
                  <a:lnTo>
                    <a:pt x="238899" y="21767"/>
                  </a:lnTo>
                  <a:lnTo>
                    <a:pt x="236181" y="22288"/>
                  </a:lnTo>
                  <a:lnTo>
                    <a:pt x="233286" y="23368"/>
                  </a:lnTo>
                  <a:lnTo>
                    <a:pt x="231305" y="24409"/>
                  </a:lnTo>
                  <a:lnTo>
                    <a:pt x="230047" y="25260"/>
                  </a:lnTo>
                  <a:lnTo>
                    <a:pt x="231165" y="6997"/>
                  </a:lnTo>
                  <a:lnTo>
                    <a:pt x="257238" y="6997"/>
                  </a:lnTo>
                  <a:lnTo>
                    <a:pt x="257238" y="711"/>
                  </a:lnTo>
                  <a:lnTo>
                    <a:pt x="224459" y="711"/>
                  </a:lnTo>
                  <a:lnTo>
                    <a:pt x="222529" y="31737"/>
                  </a:lnTo>
                  <a:lnTo>
                    <a:pt x="229704" y="31737"/>
                  </a:lnTo>
                  <a:lnTo>
                    <a:pt x="232168" y="29883"/>
                  </a:lnTo>
                  <a:lnTo>
                    <a:pt x="234950" y="28498"/>
                  </a:lnTo>
                  <a:lnTo>
                    <a:pt x="237045" y="27940"/>
                  </a:lnTo>
                  <a:lnTo>
                    <a:pt x="239014" y="27647"/>
                  </a:lnTo>
                  <a:lnTo>
                    <a:pt x="241020" y="27609"/>
                  </a:lnTo>
                  <a:lnTo>
                    <a:pt x="244259" y="28054"/>
                  </a:lnTo>
                  <a:lnTo>
                    <a:pt x="252933" y="40411"/>
                  </a:lnTo>
                  <a:lnTo>
                    <a:pt x="252704" y="42824"/>
                  </a:lnTo>
                  <a:lnTo>
                    <a:pt x="241388" y="53174"/>
                  </a:lnTo>
                  <a:lnTo>
                    <a:pt x="239128" y="53174"/>
                  </a:lnTo>
                  <a:lnTo>
                    <a:pt x="228295" y="44653"/>
                  </a:lnTo>
                  <a:lnTo>
                    <a:pt x="220853" y="45504"/>
                  </a:lnTo>
                  <a:lnTo>
                    <a:pt x="241134" y="59194"/>
                  </a:lnTo>
                  <a:lnTo>
                    <a:pt x="244856" y="58864"/>
                  </a:lnTo>
                  <a:lnTo>
                    <a:pt x="260477" y="42125"/>
                  </a:lnTo>
                  <a:lnTo>
                    <a:pt x="260591" y="39585"/>
                  </a:lnTo>
                  <a:close/>
                </a:path>
                <a:path w="778510" h="59689">
                  <a:moveTo>
                    <a:pt x="387845" y="39522"/>
                  </a:moveTo>
                  <a:lnTo>
                    <a:pt x="379730" y="39522"/>
                  </a:lnTo>
                  <a:lnTo>
                    <a:pt x="379730" y="9042"/>
                  </a:lnTo>
                  <a:lnTo>
                    <a:pt x="379730" y="711"/>
                  </a:lnTo>
                  <a:lnTo>
                    <a:pt x="372770" y="711"/>
                  </a:lnTo>
                  <a:lnTo>
                    <a:pt x="372770" y="9042"/>
                  </a:lnTo>
                  <a:lnTo>
                    <a:pt x="372770" y="39522"/>
                  </a:lnTo>
                  <a:lnTo>
                    <a:pt x="352386" y="39522"/>
                  </a:lnTo>
                  <a:lnTo>
                    <a:pt x="352679" y="39179"/>
                  </a:lnTo>
                  <a:lnTo>
                    <a:pt x="352793" y="39001"/>
                  </a:lnTo>
                  <a:lnTo>
                    <a:pt x="352971" y="38811"/>
                  </a:lnTo>
                  <a:lnTo>
                    <a:pt x="353275" y="38366"/>
                  </a:lnTo>
                  <a:lnTo>
                    <a:pt x="353466" y="38176"/>
                  </a:lnTo>
                  <a:lnTo>
                    <a:pt x="353872" y="37617"/>
                  </a:lnTo>
                  <a:lnTo>
                    <a:pt x="354317" y="36944"/>
                  </a:lnTo>
                  <a:lnTo>
                    <a:pt x="354507" y="36766"/>
                  </a:lnTo>
                  <a:lnTo>
                    <a:pt x="354914" y="36131"/>
                  </a:lnTo>
                  <a:lnTo>
                    <a:pt x="355244" y="35687"/>
                  </a:lnTo>
                  <a:lnTo>
                    <a:pt x="370395" y="13360"/>
                  </a:lnTo>
                  <a:lnTo>
                    <a:pt x="370840" y="12509"/>
                  </a:lnTo>
                  <a:lnTo>
                    <a:pt x="370941" y="12357"/>
                  </a:lnTo>
                  <a:lnTo>
                    <a:pt x="371094" y="12052"/>
                  </a:lnTo>
                  <a:lnTo>
                    <a:pt x="371208" y="11912"/>
                  </a:lnTo>
                  <a:lnTo>
                    <a:pt x="371360" y="11607"/>
                  </a:lnTo>
                  <a:lnTo>
                    <a:pt x="371475" y="11468"/>
                  </a:lnTo>
                  <a:lnTo>
                    <a:pt x="371957" y="10604"/>
                  </a:lnTo>
                  <a:lnTo>
                    <a:pt x="372059" y="10350"/>
                  </a:lnTo>
                  <a:lnTo>
                    <a:pt x="372135" y="10198"/>
                  </a:lnTo>
                  <a:lnTo>
                    <a:pt x="372364" y="9867"/>
                  </a:lnTo>
                  <a:lnTo>
                    <a:pt x="372478" y="9601"/>
                  </a:lnTo>
                  <a:lnTo>
                    <a:pt x="372579" y="9410"/>
                  </a:lnTo>
                  <a:lnTo>
                    <a:pt x="372770" y="9042"/>
                  </a:lnTo>
                  <a:lnTo>
                    <a:pt x="372770" y="711"/>
                  </a:lnTo>
                  <a:lnTo>
                    <a:pt x="371995" y="711"/>
                  </a:lnTo>
                  <a:lnTo>
                    <a:pt x="345617" y="39522"/>
                  </a:lnTo>
                  <a:lnTo>
                    <a:pt x="345567" y="45326"/>
                  </a:lnTo>
                  <a:lnTo>
                    <a:pt x="372770" y="45326"/>
                  </a:lnTo>
                  <a:lnTo>
                    <a:pt x="372770" y="58381"/>
                  </a:lnTo>
                  <a:lnTo>
                    <a:pt x="379730" y="58381"/>
                  </a:lnTo>
                  <a:lnTo>
                    <a:pt x="379730" y="45326"/>
                  </a:lnTo>
                  <a:lnTo>
                    <a:pt x="387845" y="45326"/>
                  </a:lnTo>
                  <a:lnTo>
                    <a:pt x="387845" y="39522"/>
                  </a:lnTo>
                  <a:close/>
                </a:path>
                <a:path w="778510" h="59689">
                  <a:moveTo>
                    <a:pt x="433387" y="39585"/>
                  </a:moveTo>
                  <a:lnTo>
                    <a:pt x="414743" y="21577"/>
                  </a:lnTo>
                  <a:lnTo>
                    <a:pt x="411683" y="21767"/>
                  </a:lnTo>
                  <a:lnTo>
                    <a:pt x="408978" y="22288"/>
                  </a:lnTo>
                  <a:lnTo>
                    <a:pt x="406069" y="23368"/>
                  </a:lnTo>
                  <a:lnTo>
                    <a:pt x="404101" y="24409"/>
                  </a:lnTo>
                  <a:lnTo>
                    <a:pt x="402831" y="25260"/>
                  </a:lnTo>
                  <a:lnTo>
                    <a:pt x="403948" y="6997"/>
                  </a:lnTo>
                  <a:lnTo>
                    <a:pt x="430034" y="6997"/>
                  </a:lnTo>
                  <a:lnTo>
                    <a:pt x="430034" y="711"/>
                  </a:lnTo>
                  <a:lnTo>
                    <a:pt x="397256" y="711"/>
                  </a:lnTo>
                  <a:lnTo>
                    <a:pt x="395312" y="31737"/>
                  </a:lnTo>
                  <a:lnTo>
                    <a:pt x="402539" y="31737"/>
                  </a:lnTo>
                  <a:lnTo>
                    <a:pt x="405917" y="29324"/>
                  </a:lnTo>
                  <a:lnTo>
                    <a:pt x="409829" y="27940"/>
                  </a:lnTo>
                  <a:lnTo>
                    <a:pt x="411797" y="27647"/>
                  </a:lnTo>
                  <a:lnTo>
                    <a:pt x="413804" y="27609"/>
                  </a:lnTo>
                  <a:lnTo>
                    <a:pt x="416039" y="27838"/>
                  </a:lnTo>
                  <a:lnTo>
                    <a:pt x="425716" y="40411"/>
                  </a:lnTo>
                  <a:lnTo>
                    <a:pt x="425424" y="43383"/>
                  </a:lnTo>
                  <a:lnTo>
                    <a:pt x="414223" y="53174"/>
                  </a:lnTo>
                  <a:lnTo>
                    <a:pt x="411949" y="53174"/>
                  </a:lnTo>
                  <a:lnTo>
                    <a:pt x="401091" y="44653"/>
                  </a:lnTo>
                  <a:lnTo>
                    <a:pt x="393649" y="45504"/>
                  </a:lnTo>
                  <a:lnTo>
                    <a:pt x="413918" y="59194"/>
                  </a:lnTo>
                  <a:lnTo>
                    <a:pt x="417639" y="58864"/>
                  </a:lnTo>
                  <a:lnTo>
                    <a:pt x="433273" y="42125"/>
                  </a:lnTo>
                  <a:lnTo>
                    <a:pt x="433387" y="39585"/>
                  </a:lnTo>
                  <a:close/>
                </a:path>
                <a:path w="778510" h="59689">
                  <a:moveTo>
                    <a:pt x="560628" y="39522"/>
                  </a:moveTo>
                  <a:lnTo>
                    <a:pt x="552513" y="39522"/>
                  </a:lnTo>
                  <a:lnTo>
                    <a:pt x="552513" y="9042"/>
                  </a:lnTo>
                  <a:lnTo>
                    <a:pt x="552513" y="711"/>
                  </a:lnTo>
                  <a:lnTo>
                    <a:pt x="545566" y="711"/>
                  </a:lnTo>
                  <a:lnTo>
                    <a:pt x="545566" y="9042"/>
                  </a:lnTo>
                  <a:lnTo>
                    <a:pt x="545566" y="39522"/>
                  </a:lnTo>
                  <a:lnTo>
                    <a:pt x="525170" y="39522"/>
                  </a:lnTo>
                  <a:lnTo>
                    <a:pt x="525691" y="38925"/>
                  </a:lnTo>
                  <a:lnTo>
                    <a:pt x="526173" y="38290"/>
                  </a:lnTo>
                  <a:lnTo>
                    <a:pt x="527659" y="36245"/>
                  </a:lnTo>
                  <a:lnTo>
                    <a:pt x="527773" y="36055"/>
                  </a:lnTo>
                  <a:lnTo>
                    <a:pt x="527888" y="35864"/>
                  </a:lnTo>
                  <a:lnTo>
                    <a:pt x="528040" y="35687"/>
                  </a:lnTo>
                  <a:lnTo>
                    <a:pt x="543179" y="13360"/>
                  </a:lnTo>
                  <a:lnTo>
                    <a:pt x="543547" y="12649"/>
                  </a:lnTo>
                  <a:lnTo>
                    <a:pt x="543661" y="12509"/>
                  </a:lnTo>
                  <a:lnTo>
                    <a:pt x="543814" y="12204"/>
                  </a:lnTo>
                  <a:lnTo>
                    <a:pt x="543928" y="12052"/>
                  </a:lnTo>
                  <a:lnTo>
                    <a:pt x="544068" y="11760"/>
                  </a:lnTo>
                  <a:lnTo>
                    <a:pt x="544182" y="11607"/>
                  </a:lnTo>
                  <a:lnTo>
                    <a:pt x="544487" y="11010"/>
                  </a:lnTo>
                  <a:lnTo>
                    <a:pt x="544588" y="10871"/>
                  </a:lnTo>
                  <a:lnTo>
                    <a:pt x="544893" y="10350"/>
                  </a:lnTo>
                  <a:lnTo>
                    <a:pt x="545007" y="10083"/>
                  </a:lnTo>
                  <a:lnTo>
                    <a:pt x="545147" y="9867"/>
                  </a:lnTo>
                  <a:lnTo>
                    <a:pt x="545261" y="9601"/>
                  </a:lnTo>
                  <a:lnTo>
                    <a:pt x="545376" y="9410"/>
                  </a:lnTo>
                  <a:lnTo>
                    <a:pt x="545566" y="9042"/>
                  </a:lnTo>
                  <a:lnTo>
                    <a:pt x="545566" y="711"/>
                  </a:lnTo>
                  <a:lnTo>
                    <a:pt x="544779" y="711"/>
                  </a:lnTo>
                  <a:lnTo>
                    <a:pt x="518452" y="39522"/>
                  </a:lnTo>
                  <a:lnTo>
                    <a:pt x="518401" y="45326"/>
                  </a:lnTo>
                  <a:lnTo>
                    <a:pt x="545566" y="45326"/>
                  </a:lnTo>
                  <a:lnTo>
                    <a:pt x="545566" y="58381"/>
                  </a:lnTo>
                  <a:lnTo>
                    <a:pt x="552513" y="58381"/>
                  </a:lnTo>
                  <a:lnTo>
                    <a:pt x="552513" y="45326"/>
                  </a:lnTo>
                  <a:lnTo>
                    <a:pt x="560628" y="45326"/>
                  </a:lnTo>
                  <a:lnTo>
                    <a:pt x="560628" y="39522"/>
                  </a:lnTo>
                  <a:close/>
                </a:path>
                <a:path w="778510" h="59689">
                  <a:moveTo>
                    <a:pt x="605383" y="33972"/>
                  </a:moveTo>
                  <a:lnTo>
                    <a:pt x="602462" y="27533"/>
                  </a:lnTo>
                  <a:lnTo>
                    <a:pt x="602030" y="26936"/>
                  </a:lnTo>
                  <a:lnTo>
                    <a:pt x="601662" y="26530"/>
                  </a:lnTo>
                  <a:lnTo>
                    <a:pt x="600608" y="25412"/>
                  </a:lnTo>
                  <a:lnTo>
                    <a:pt x="600202" y="25044"/>
                  </a:lnTo>
                  <a:lnTo>
                    <a:pt x="599287" y="24295"/>
                  </a:lnTo>
                  <a:lnTo>
                    <a:pt x="598170" y="23558"/>
                  </a:lnTo>
                  <a:lnTo>
                    <a:pt x="598055" y="35420"/>
                  </a:lnTo>
                  <a:lnTo>
                    <a:pt x="598017" y="44462"/>
                  </a:lnTo>
                  <a:lnTo>
                    <a:pt x="597916" y="44907"/>
                  </a:lnTo>
                  <a:lnTo>
                    <a:pt x="597852" y="45135"/>
                  </a:lnTo>
                  <a:lnTo>
                    <a:pt x="597763" y="45466"/>
                  </a:lnTo>
                  <a:lnTo>
                    <a:pt x="595845" y="49263"/>
                  </a:lnTo>
                  <a:lnTo>
                    <a:pt x="595591" y="49263"/>
                  </a:lnTo>
                  <a:lnTo>
                    <a:pt x="595591" y="49568"/>
                  </a:lnTo>
                  <a:lnTo>
                    <a:pt x="590575" y="52832"/>
                  </a:lnTo>
                  <a:lnTo>
                    <a:pt x="583984" y="52832"/>
                  </a:lnTo>
                  <a:lnTo>
                    <a:pt x="579132" y="49568"/>
                  </a:lnTo>
                  <a:lnTo>
                    <a:pt x="595591" y="49568"/>
                  </a:lnTo>
                  <a:lnTo>
                    <a:pt x="595591" y="49263"/>
                  </a:lnTo>
                  <a:lnTo>
                    <a:pt x="578866" y="49263"/>
                  </a:lnTo>
                  <a:lnTo>
                    <a:pt x="578269" y="48450"/>
                  </a:lnTo>
                  <a:lnTo>
                    <a:pt x="575970" y="33972"/>
                  </a:lnTo>
                  <a:lnTo>
                    <a:pt x="576224" y="33261"/>
                  </a:lnTo>
                  <a:lnTo>
                    <a:pt x="579882" y="28727"/>
                  </a:lnTo>
                  <a:lnTo>
                    <a:pt x="580529" y="28359"/>
                  </a:lnTo>
                  <a:lnTo>
                    <a:pt x="580986" y="28130"/>
                  </a:lnTo>
                  <a:lnTo>
                    <a:pt x="582320" y="27533"/>
                  </a:lnTo>
                  <a:lnTo>
                    <a:pt x="581825" y="27533"/>
                  </a:lnTo>
                  <a:lnTo>
                    <a:pt x="585089" y="26936"/>
                  </a:lnTo>
                  <a:lnTo>
                    <a:pt x="589292" y="26936"/>
                  </a:lnTo>
                  <a:lnTo>
                    <a:pt x="589686" y="26936"/>
                  </a:lnTo>
                  <a:lnTo>
                    <a:pt x="590575" y="27241"/>
                  </a:lnTo>
                  <a:lnTo>
                    <a:pt x="591477" y="27533"/>
                  </a:lnTo>
                  <a:lnTo>
                    <a:pt x="592366" y="27901"/>
                  </a:lnTo>
                  <a:lnTo>
                    <a:pt x="597166" y="32816"/>
                  </a:lnTo>
                  <a:lnTo>
                    <a:pt x="597458" y="33489"/>
                  </a:lnTo>
                  <a:lnTo>
                    <a:pt x="597801" y="34455"/>
                  </a:lnTo>
                  <a:lnTo>
                    <a:pt x="597916" y="34937"/>
                  </a:lnTo>
                  <a:lnTo>
                    <a:pt x="598055" y="35420"/>
                  </a:lnTo>
                  <a:lnTo>
                    <a:pt x="598055" y="23495"/>
                  </a:lnTo>
                  <a:lnTo>
                    <a:pt x="597611" y="23215"/>
                  </a:lnTo>
                  <a:lnTo>
                    <a:pt x="591464" y="21285"/>
                  </a:lnTo>
                  <a:lnTo>
                    <a:pt x="585927" y="21285"/>
                  </a:lnTo>
                  <a:lnTo>
                    <a:pt x="574662" y="28727"/>
                  </a:lnTo>
                  <a:lnTo>
                    <a:pt x="574763" y="24892"/>
                  </a:lnTo>
                  <a:lnTo>
                    <a:pt x="585635" y="5956"/>
                  </a:lnTo>
                  <a:lnTo>
                    <a:pt x="589800" y="5956"/>
                  </a:lnTo>
                  <a:lnTo>
                    <a:pt x="591731" y="6438"/>
                  </a:lnTo>
                  <a:lnTo>
                    <a:pt x="591553" y="6438"/>
                  </a:lnTo>
                  <a:lnTo>
                    <a:pt x="592112" y="6667"/>
                  </a:lnTo>
                  <a:lnTo>
                    <a:pt x="597344" y="12763"/>
                  </a:lnTo>
                  <a:lnTo>
                    <a:pt x="598004" y="12763"/>
                  </a:lnTo>
                  <a:lnTo>
                    <a:pt x="604418" y="11607"/>
                  </a:lnTo>
                  <a:lnTo>
                    <a:pt x="604380" y="11468"/>
                  </a:lnTo>
                  <a:lnTo>
                    <a:pt x="604177" y="10833"/>
                  </a:lnTo>
                  <a:lnTo>
                    <a:pt x="603516" y="9042"/>
                  </a:lnTo>
                  <a:lnTo>
                    <a:pt x="602780" y="7518"/>
                  </a:lnTo>
                  <a:lnTo>
                    <a:pt x="601827" y="5956"/>
                  </a:lnTo>
                  <a:lnTo>
                    <a:pt x="600887" y="4800"/>
                  </a:lnTo>
                  <a:lnTo>
                    <a:pt x="591223" y="0"/>
                  </a:lnTo>
                  <a:lnTo>
                    <a:pt x="585368" y="0"/>
                  </a:lnTo>
                  <a:lnTo>
                    <a:pt x="567728" y="38100"/>
                  </a:lnTo>
                  <a:lnTo>
                    <a:pt x="567969" y="39852"/>
                  </a:lnTo>
                  <a:lnTo>
                    <a:pt x="568109" y="40703"/>
                  </a:lnTo>
                  <a:lnTo>
                    <a:pt x="568553" y="42862"/>
                  </a:lnTo>
                  <a:lnTo>
                    <a:pt x="568680" y="43345"/>
                  </a:lnTo>
                  <a:lnTo>
                    <a:pt x="568756" y="43688"/>
                  </a:lnTo>
                  <a:lnTo>
                    <a:pt x="569912" y="47104"/>
                  </a:lnTo>
                  <a:lnTo>
                    <a:pt x="570001" y="47332"/>
                  </a:lnTo>
                  <a:lnTo>
                    <a:pt x="570077" y="47510"/>
                  </a:lnTo>
                  <a:lnTo>
                    <a:pt x="570522" y="48590"/>
                  </a:lnTo>
                  <a:lnTo>
                    <a:pt x="571004" y="49568"/>
                  </a:lnTo>
                  <a:lnTo>
                    <a:pt x="584479" y="59055"/>
                  </a:lnTo>
                  <a:lnTo>
                    <a:pt x="590296" y="59055"/>
                  </a:lnTo>
                  <a:lnTo>
                    <a:pt x="591654" y="58864"/>
                  </a:lnTo>
                  <a:lnTo>
                    <a:pt x="594067" y="58267"/>
                  </a:lnTo>
                  <a:lnTo>
                    <a:pt x="595414" y="57785"/>
                  </a:lnTo>
                  <a:lnTo>
                    <a:pt x="596087" y="57454"/>
                  </a:lnTo>
                  <a:lnTo>
                    <a:pt x="596760" y="57150"/>
                  </a:lnTo>
                  <a:lnTo>
                    <a:pt x="604913" y="47104"/>
                  </a:lnTo>
                  <a:lnTo>
                    <a:pt x="605002" y="46812"/>
                  </a:lnTo>
                  <a:lnTo>
                    <a:pt x="605116" y="46431"/>
                  </a:lnTo>
                  <a:lnTo>
                    <a:pt x="605243" y="46024"/>
                  </a:lnTo>
                  <a:lnTo>
                    <a:pt x="605370" y="45466"/>
                  </a:lnTo>
                  <a:lnTo>
                    <a:pt x="605383" y="33972"/>
                  </a:lnTo>
                  <a:close/>
                </a:path>
                <a:path w="778510" h="59689">
                  <a:moveTo>
                    <a:pt x="733425" y="39522"/>
                  </a:moveTo>
                  <a:lnTo>
                    <a:pt x="725309" y="39522"/>
                  </a:lnTo>
                  <a:lnTo>
                    <a:pt x="725309" y="9042"/>
                  </a:lnTo>
                  <a:lnTo>
                    <a:pt x="725309" y="711"/>
                  </a:lnTo>
                  <a:lnTo>
                    <a:pt x="718350" y="711"/>
                  </a:lnTo>
                  <a:lnTo>
                    <a:pt x="718350" y="9042"/>
                  </a:lnTo>
                  <a:lnTo>
                    <a:pt x="718350" y="39522"/>
                  </a:lnTo>
                  <a:lnTo>
                    <a:pt x="697966" y="39522"/>
                  </a:lnTo>
                  <a:lnTo>
                    <a:pt x="698487" y="38925"/>
                  </a:lnTo>
                  <a:lnTo>
                    <a:pt x="698779" y="38468"/>
                  </a:lnTo>
                  <a:lnTo>
                    <a:pt x="698969" y="38290"/>
                  </a:lnTo>
                  <a:lnTo>
                    <a:pt x="700608" y="36055"/>
                  </a:lnTo>
                  <a:lnTo>
                    <a:pt x="700709" y="35864"/>
                  </a:lnTo>
                  <a:lnTo>
                    <a:pt x="700824" y="35687"/>
                  </a:lnTo>
                  <a:lnTo>
                    <a:pt x="715962" y="13360"/>
                  </a:lnTo>
                  <a:lnTo>
                    <a:pt x="716343" y="12649"/>
                  </a:lnTo>
                  <a:lnTo>
                    <a:pt x="716457" y="12509"/>
                  </a:lnTo>
                  <a:lnTo>
                    <a:pt x="716597" y="12204"/>
                  </a:lnTo>
                  <a:lnTo>
                    <a:pt x="716711" y="12052"/>
                  </a:lnTo>
                  <a:lnTo>
                    <a:pt x="716864" y="11760"/>
                  </a:lnTo>
                  <a:lnTo>
                    <a:pt x="716978" y="11607"/>
                  </a:lnTo>
                  <a:lnTo>
                    <a:pt x="717194" y="11163"/>
                  </a:lnTo>
                  <a:lnTo>
                    <a:pt x="717308" y="11010"/>
                  </a:lnTo>
                  <a:lnTo>
                    <a:pt x="717943" y="9867"/>
                  </a:lnTo>
                  <a:lnTo>
                    <a:pt x="718058" y="9601"/>
                  </a:lnTo>
                  <a:lnTo>
                    <a:pt x="718159" y="9410"/>
                  </a:lnTo>
                  <a:lnTo>
                    <a:pt x="718350" y="9042"/>
                  </a:lnTo>
                  <a:lnTo>
                    <a:pt x="718350" y="711"/>
                  </a:lnTo>
                  <a:lnTo>
                    <a:pt x="717562" y="711"/>
                  </a:lnTo>
                  <a:lnTo>
                    <a:pt x="691235" y="39522"/>
                  </a:lnTo>
                  <a:lnTo>
                    <a:pt x="691184" y="45326"/>
                  </a:lnTo>
                  <a:lnTo>
                    <a:pt x="718350" y="45326"/>
                  </a:lnTo>
                  <a:lnTo>
                    <a:pt x="718350" y="58381"/>
                  </a:lnTo>
                  <a:lnTo>
                    <a:pt x="725309" y="58381"/>
                  </a:lnTo>
                  <a:lnTo>
                    <a:pt x="725309" y="45326"/>
                  </a:lnTo>
                  <a:lnTo>
                    <a:pt x="733425" y="45326"/>
                  </a:lnTo>
                  <a:lnTo>
                    <a:pt x="733425" y="39522"/>
                  </a:lnTo>
                  <a:close/>
                </a:path>
                <a:path w="778510" h="59689">
                  <a:moveTo>
                    <a:pt x="778294" y="711"/>
                  </a:moveTo>
                  <a:lnTo>
                    <a:pt x="740156" y="711"/>
                  </a:lnTo>
                  <a:lnTo>
                    <a:pt x="740156" y="6997"/>
                  </a:lnTo>
                  <a:lnTo>
                    <a:pt x="771144" y="6997"/>
                  </a:lnTo>
                  <a:lnTo>
                    <a:pt x="769505" y="9372"/>
                  </a:lnTo>
                  <a:lnTo>
                    <a:pt x="752436" y="44831"/>
                  </a:lnTo>
                  <a:lnTo>
                    <a:pt x="750798" y="58381"/>
                  </a:lnTo>
                  <a:lnTo>
                    <a:pt x="758494" y="58381"/>
                  </a:lnTo>
                  <a:lnTo>
                    <a:pt x="758571" y="55473"/>
                  </a:lnTo>
                  <a:lnTo>
                    <a:pt x="759015" y="49860"/>
                  </a:lnTo>
                  <a:lnTo>
                    <a:pt x="778294" y="6705"/>
                  </a:lnTo>
                  <a:lnTo>
                    <a:pt x="778294" y="711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02980" y="4501566"/>
              <a:ext cx="87392" cy="105325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75769" y="4501566"/>
              <a:ext cx="87392" cy="105325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4248556" y="4547666"/>
              <a:ext cx="951865" cy="59690"/>
            </a:xfrm>
            <a:custGeom>
              <a:avLst/>
              <a:gdLst/>
              <a:ahLst/>
              <a:cxnLst/>
              <a:rect l="l" t="t" r="r" b="b"/>
              <a:pathLst>
                <a:path w="951864" h="59689">
                  <a:moveTo>
                    <a:pt x="42227" y="39674"/>
                  </a:moveTo>
                  <a:lnTo>
                    <a:pt x="34150" y="39674"/>
                  </a:lnTo>
                  <a:lnTo>
                    <a:pt x="34150" y="38925"/>
                  </a:lnTo>
                  <a:lnTo>
                    <a:pt x="34150" y="9194"/>
                  </a:lnTo>
                  <a:lnTo>
                    <a:pt x="34150" y="863"/>
                  </a:lnTo>
                  <a:lnTo>
                    <a:pt x="27190" y="863"/>
                  </a:lnTo>
                  <a:lnTo>
                    <a:pt x="27190" y="9194"/>
                  </a:lnTo>
                  <a:lnTo>
                    <a:pt x="27190" y="39674"/>
                  </a:lnTo>
                  <a:lnTo>
                    <a:pt x="6807" y="39674"/>
                  </a:lnTo>
                  <a:lnTo>
                    <a:pt x="7137" y="39217"/>
                  </a:lnTo>
                  <a:lnTo>
                    <a:pt x="7289" y="39077"/>
                  </a:lnTo>
                  <a:lnTo>
                    <a:pt x="7962" y="38214"/>
                  </a:lnTo>
                  <a:lnTo>
                    <a:pt x="9042" y="36690"/>
                  </a:lnTo>
                  <a:lnTo>
                    <a:pt x="9220" y="36474"/>
                  </a:lnTo>
                  <a:lnTo>
                    <a:pt x="9334" y="36283"/>
                  </a:lnTo>
                  <a:lnTo>
                    <a:pt x="9664" y="35839"/>
                  </a:lnTo>
                  <a:lnTo>
                    <a:pt x="24511" y="13957"/>
                  </a:lnTo>
                  <a:lnTo>
                    <a:pt x="24625" y="13741"/>
                  </a:lnTo>
                  <a:lnTo>
                    <a:pt x="24777" y="13512"/>
                  </a:lnTo>
                  <a:lnTo>
                    <a:pt x="24993" y="13106"/>
                  </a:lnTo>
                  <a:lnTo>
                    <a:pt x="25107" y="12954"/>
                  </a:lnTo>
                  <a:lnTo>
                    <a:pt x="25260" y="12661"/>
                  </a:lnTo>
                  <a:lnTo>
                    <a:pt x="25374" y="12509"/>
                  </a:lnTo>
                  <a:lnTo>
                    <a:pt x="25514" y="12204"/>
                  </a:lnTo>
                  <a:lnTo>
                    <a:pt x="25628" y="12065"/>
                  </a:lnTo>
                  <a:lnTo>
                    <a:pt x="25857" y="11620"/>
                  </a:lnTo>
                  <a:lnTo>
                    <a:pt x="25971" y="11468"/>
                  </a:lnTo>
                  <a:lnTo>
                    <a:pt x="26568" y="10350"/>
                  </a:lnTo>
                  <a:lnTo>
                    <a:pt x="26784" y="10020"/>
                  </a:lnTo>
                  <a:lnTo>
                    <a:pt x="26898" y="9753"/>
                  </a:lnTo>
                  <a:lnTo>
                    <a:pt x="27012" y="9563"/>
                  </a:lnTo>
                  <a:lnTo>
                    <a:pt x="27190" y="9194"/>
                  </a:lnTo>
                  <a:lnTo>
                    <a:pt x="27190" y="863"/>
                  </a:lnTo>
                  <a:lnTo>
                    <a:pt x="26416" y="863"/>
                  </a:lnTo>
                  <a:lnTo>
                    <a:pt x="50" y="39674"/>
                  </a:lnTo>
                  <a:lnTo>
                    <a:pt x="0" y="45478"/>
                  </a:lnTo>
                  <a:lnTo>
                    <a:pt x="27190" y="45478"/>
                  </a:lnTo>
                  <a:lnTo>
                    <a:pt x="27190" y="58534"/>
                  </a:lnTo>
                  <a:lnTo>
                    <a:pt x="34150" y="58534"/>
                  </a:lnTo>
                  <a:lnTo>
                    <a:pt x="34150" y="45478"/>
                  </a:lnTo>
                  <a:lnTo>
                    <a:pt x="42227" y="45478"/>
                  </a:lnTo>
                  <a:lnTo>
                    <a:pt x="42227" y="39674"/>
                  </a:lnTo>
                  <a:close/>
                </a:path>
                <a:path w="951864" h="59689">
                  <a:moveTo>
                    <a:pt x="93091" y="38074"/>
                  </a:moveTo>
                  <a:lnTo>
                    <a:pt x="86639" y="38074"/>
                  </a:lnTo>
                  <a:lnTo>
                    <a:pt x="86982" y="35763"/>
                  </a:lnTo>
                  <a:lnTo>
                    <a:pt x="87096" y="34391"/>
                  </a:lnTo>
                  <a:lnTo>
                    <a:pt x="87210" y="32854"/>
                  </a:lnTo>
                  <a:lnTo>
                    <a:pt x="87299" y="30695"/>
                  </a:lnTo>
                  <a:lnTo>
                    <a:pt x="87249" y="25234"/>
                  </a:lnTo>
                  <a:lnTo>
                    <a:pt x="87134" y="23114"/>
                  </a:lnTo>
                  <a:lnTo>
                    <a:pt x="86906" y="20624"/>
                  </a:lnTo>
                  <a:lnTo>
                    <a:pt x="86537" y="18275"/>
                  </a:lnTo>
                  <a:lnTo>
                    <a:pt x="86423" y="17716"/>
                  </a:lnTo>
                  <a:lnTo>
                    <a:pt x="86309" y="17119"/>
                  </a:lnTo>
                  <a:lnTo>
                    <a:pt x="86194" y="16560"/>
                  </a:lnTo>
                  <a:lnTo>
                    <a:pt x="86093" y="16040"/>
                  </a:lnTo>
                  <a:lnTo>
                    <a:pt x="85534" y="13843"/>
                  </a:lnTo>
                  <a:lnTo>
                    <a:pt x="81991" y="6591"/>
                  </a:lnTo>
                  <a:lnTo>
                    <a:pt x="80060" y="6591"/>
                  </a:lnTo>
                  <a:lnTo>
                    <a:pt x="80060" y="30695"/>
                  </a:lnTo>
                  <a:lnTo>
                    <a:pt x="79946" y="33489"/>
                  </a:lnTo>
                  <a:lnTo>
                    <a:pt x="79819" y="35356"/>
                  </a:lnTo>
                  <a:lnTo>
                    <a:pt x="79692" y="36728"/>
                  </a:lnTo>
                  <a:lnTo>
                    <a:pt x="79565" y="37617"/>
                  </a:lnTo>
                  <a:lnTo>
                    <a:pt x="79502" y="38074"/>
                  </a:lnTo>
                  <a:lnTo>
                    <a:pt x="71056" y="38074"/>
                  </a:lnTo>
                  <a:lnTo>
                    <a:pt x="72529" y="37617"/>
                  </a:lnTo>
                  <a:lnTo>
                    <a:pt x="72326" y="37617"/>
                  </a:lnTo>
                  <a:lnTo>
                    <a:pt x="78930" y="32677"/>
                  </a:lnTo>
                  <a:lnTo>
                    <a:pt x="79286" y="32194"/>
                  </a:lnTo>
                  <a:lnTo>
                    <a:pt x="79362" y="32042"/>
                  </a:lnTo>
                  <a:lnTo>
                    <a:pt x="79476" y="31813"/>
                  </a:lnTo>
                  <a:lnTo>
                    <a:pt x="79781" y="31254"/>
                  </a:lnTo>
                  <a:lnTo>
                    <a:pt x="80060" y="30695"/>
                  </a:lnTo>
                  <a:lnTo>
                    <a:pt x="80060" y="6591"/>
                  </a:lnTo>
                  <a:lnTo>
                    <a:pt x="71247" y="6591"/>
                  </a:lnTo>
                  <a:lnTo>
                    <a:pt x="72174" y="6959"/>
                  </a:lnTo>
                  <a:lnTo>
                    <a:pt x="73482" y="7708"/>
                  </a:lnTo>
                  <a:lnTo>
                    <a:pt x="78473" y="15151"/>
                  </a:lnTo>
                  <a:lnTo>
                    <a:pt x="78841" y="16560"/>
                  </a:lnTo>
                  <a:lnTo>
                    <a:pt x="77152" y="28397"/>
                  </a:lnTo>
                  <a:lnTo>
                    <a:pt x="77038" y="28549"/>
                  </a:lnTo>
                  <a:lnTo>
                    <a:pt x="75082" y="30480"/>
                  </a:lnTo>
                  <a:lnTo>
                    <a:pt x="74828" y="30695"/>
                  </a:lnTo>
                  <a:lnTo>
                    <a:pt x="74371" y="31000"/>
                  </a:lnTo>
                  <a:lnTo>
                    <a:pt x="74041" y="31254"/>
                  </a:lnTo>
                  <a:lnTo>
                    <a:pt x="73698" y="31445"/>
                  </a:lnTo>
                  <a:lnTo>
                    <a:pt x="72478" y="32042"/>
                  </a:lnTo>
                  <a:lnTo>
                    <a:pt x="71310" y="32448"/>
                  </a:lnTo>
                  <a:lnTo>
                    <a:pt x="70523" y="32677"/>
                  </a:lnTo>
                  <a:lnTo>
                    <a:pt x="64363" y="32677"/>
                  </a:lnTo>
                  <a:lnTo>
                    <a:pt x="56781" y="24714"/>
                  </a:lnTo>
                  <a:lnTo>
                    <a:pt x="56883" y="13843"/>
                  </a:lnTo>
                  <a:lnTo>
                    <a:pt x="57442" y="12433"/>
                  </a:lnTo>
                  <a:lnTo>
                    <a:pt x="57518" y="12280"/>
                  </a:lnTo>
                  <a:lnTo>
                    <a:pt x="57632" y="12065"/>
                  </a:lnTo>
                  <a:lnTo>
                    <a:pt x="58115" y="11125"/>
                  </a:lnTo>
                  <a:lnTo>
                    <a:pt x="63652" y="6591"/>
                  </a:lnTo>
                  <a:lnTo>
                    <a:pt x="63461" y="6591"/>
                  </a:lnTo>
                  <a:lnTo>
                    <a:pt x="64096" y="6451"/>
                  </a:lnTo>
                  <a:lnTo>
                    <a:pt x="63652" y="6591"/>
                  </a:lnTo>
                  <a:lnTo>
                    <a:pt x="71247" y="6591"/>
                  </a:lnTo>
                  <a:lnTo>
                    <a:pt x="70281" y="6299"/>
                  </a:lnTo>
                  <a:lnTo>
                    <a:pt x="81762" y="6299"/>
                  </a:lnTo>
                  <a:lnTo>
                    <a:pt x="81368" y="5778"/>
                  </a:lnTo>
                  <a:lnTo>
                    <a:pt x="72428" y="495"/>
                  </a:lnTo>
                  <a:lnTo>
                    <a:pt x="72961" y="495"/>
                  </a:lnTo>
                  <a:lnTo>
                    <a:pt x="69684" y="76"/>
                  </a:lnTo>
                  <a:lnTo>
                    <a:pt x="65417" y="76"/>
                  </a:lnTo>
                  <a:lnTo>
                    <a:pt x="62420" y="495"/>
                  </a:lnTo>
                  <a:lnTo>
                    <a:pt x="62725" y="495"/>
                  </a:lnTo>
                  <a:lnTo>
                    <a:pt x="61163" y="863"/>
                  </a:lnTo>
                  <a:lnTo>
                    <a:pt x="60426" y="1117"/>
                  </a:lnTo>
                  <a:lnTo>
                    <a:pt x="59677" y="1346"/>
                  </a:lnTo>
                  <a:lnTo>
                    <a:pt x="58305" y="1943"/>
                  </a:lnTo>
                  <a:lnTo>
                    <a:pt x="50330" y="10274"/>
                  </a:lnTo>
                  <a:lnTo>
                    <a:pt x="49885" y="11353"/>
                  </a:lnTo>
                  <a:lnTo>
                    <a:pt x="49441" y="12839"/>
                  </a:lnTo>
                  <a:lnTo>
                    <a:pt x="49339" y="13246"/>
                  </a:lnTo>
                  <a:lnTo>
                    <a:pt x="49072" y="14363"/>
                  </a:lnTo>
                  <a:lnTo>
                    <a:pt x="49136" y="24714"/>
                  </a:lnTo>
                  <a:lnTo>
                    <a:pt x="49237" y="25234"/>
                  </a:lnTo>
                  <a:lnTo>
                    <a:pt x="49339" y="25755"/>
                  </a:lnTo>
                  <a:lnTo>
                    <a:pt x="60274" y="38074"/>
                  </a:lnTo>
                  <a:lnTo>
                    <a:pt x="59867" y="38074"/>
                  </a:lnTo>
                  <a:lnTo>
                    <a:pt x="61976" y="38519"/>
                  </a:lnTo>
                  <a:lnTo>
                    <a:pt x="79463" y="38277"/>
                  </a:lnTo>
                  <a:lnTo>
                    <a:pt x="79362" y="38925"/>
                  </a:lnTo>
                  <a:lnTo>
                    <a:pt x="71450" y="52324"/>
                  </a:lnTo>
                  <a:lnTo>
                    <a:pt x="71653" y="52324"/>
                  </a:lnTo>
                  <a:lnTo>
                    <a:pt x="70294" y="52806"/>
                  </a:lnTo>
                  <a:lnTo>
                    <a:pt x="69176" y="53136"/>
                  </a:lnTo>
                  <a:lnTo>
                    <a:pt x="63652" y="53136"/>
                  </a:lnTo>
                  <a:lnTo>
                    <a:pt x="56845" y="46215"/>
                  </a:lnTo>
                  <a:lnTo>
                    <a:pt x="49822" y="47332"/>
                  </a:lnTo>
                  <a:lnTo>
                    <a:pt x="49898" y="47625"/>
                  </a:lnTo>
                  <a:lnTo>
                    <a:pt x="49949" y="47777"/>
                  </a:lnTo>
                  <a:lnTo>
                    <a:pt x="50190" y="48602"/>
                  </a:lnTo>
                  <a:lnTo>
                    <a:pt x="59448" y="58381"/>
                  </a:lnTo>
                  <a:lnTo>
                    <a:pt x="72834" y="58381"/>
                  </a:lnTo>
                  <a:lnTo>
                    <a:pt x="86626" y="38176"/>
                  </a:lnTo>
                  <a:lnTo>
                    <a:pt x="93091" y="38074"/>
                  </a:lnTo>
                  <a:close/>
                </a:path>
                <a:path w="951864" h="59689">
                  <a:moveTo>
                    <a:pt x="213969" y="38963"/>
                  </a:moveTo>
                  <a:lnTo>
                    <a:pt x="195364" y="21729"/>
                  </a:lnTo>
                  <a:lnTo>
                    <a:pt x="192278" y="21920"/>
                  </a:lnTo>
                  <a:lnTo>
                    <a:pt x="189560" y="22440"/>
                  </a:lnTo>
                  <a:lnTo>
                    <a:pt x="186664" y="23520"/>
                  </a:lnTo>
                  <a:lnTo>
                    <a:pt x="184696" y="24561"/>
                  </a:lnTo>
                  <a:lnTo>
                    <a:pt x="183426" y="25412"/>
                  </a:lnTo>
                  <a:lnTo>
                    <a:pt x="184543" y="7150"/>
                  </a:lnTo>
                  <a:lnTo>
                    <a:pt x="210629" y="7150"/>
                  </a:lnTo>
                  <a:lnTo>
                    <a:pt x="210629" y="863"/>
                  </a:lnTo>
                  <a:lnTo>
                    <a:pt x="177850" y="863"/>
                  </a:lnTo>
                  <a:lnTo>
                    <a:pt x="175907" y="31889"/>
                  </a:lnTo>
                  <a:lnTo>
                    <a:pt x="183134" y="31889"/>
                  </a:lnTo>
                  <a:lnTo>
                    <a:pt x="186512" y="29476"/>
                  </a:lnTo>
                  <a:lnTo>
                    <a:pt x="190119" y="28168"/>
                  </a:lnTo>
                  <a:lnTo>
                    <a:pt x="192392" y="27800"/>
                  </a:lnTo>
                  <a:lnTo>
                    <a:pt x="194437" y="27762"/>
                  </a:lnTo>
                  <a:lnTo>
                    <a:pt x="196634" y="27990"/>
                  </a:lnTo>
                  <a:lnTo>
                    <a:pt x="206311" y="40563"/>
                  </a:lnTo>
                  <a:lnTo>
                    <a:pt x="206006" y="43535"/>
                  </a:lnTo>
                  <a:lnTo>
                    <a:pt x="194818" y="53327"/>
                  </a:lnTo>
                  <a:lnTo>
                    <a:pt x="192544" y="53327"/>
                  </a:lnTo>
                  <a:lnTo>
                    <a:pt x="181673" y="44805"/>
                  </a:lnTo>
                  <a:lnTo>
                    <a:pt x="174231" y="45656"/>
                  </a:lnTo>
                  <a:lnTo>
                    <a:pt x="194513" y="59347"/>
                  </a:lnTo>
                  <a:lnTo>
                    <a:pt x="198234" y="59016"/>
                  </a:lnTo>
                  <a:lnTo>
                    <a:pt x="213969" y="39738"/>
                  </a:lnTo>
                  <a:lnTo>
                    <a:pt x="213969" y="38963"/>
                  </a:lnTo>
                  <a:close/>
                </a:path>
                <a:path w="951864" h="59689">
                  <a:moveTo>
                    <a:pt x="260451" y="21729"/>
                  </a:moveTo>
                  <a:lnTo>
                    <a:pt x="258508" y="12763"/>
                  </a:lnTo>
                  <a:lnTo>
                    <a:pt x="258254" y="12065"/>
                  </a:lnTo>
                  <a:lnTo>
                    <a:pt x="255016" y="6146"/>
                  </a:lnTo>
                  <a:lnTo>
                    <a:pt x="254495" y="5473"/>
                  </a:lnTo>
                  <a:lnTo>
                    <a:pt x="253898" y="4876"/>
                  </a:lnTo>
                  <a:lnTo>
                    <a:pt x="253339" y="4279"/>
                  </a:lnTo>
                  <a:lnTo>
                    <a:pt x="252984" y="4000"/>
                  </a:lnTo>
                  <a:lnTo>
                    <a:pt x="252984" y="21729"/>
                  </a:lnTo>
                  <a:lnTo>
                    <a:pt x="252895" y="37960"/>
                  </a:lnTo>
                  <a:lnTo>
                    <a:pt x="244525" y="52768"/>
                  </a:lnTo>
                  <a:lnTo>
                    <a:pt x="244767" y="52768"/>
                  </a:lnTo>
                  <a:lnTo>
                    <a:pt x="243027" y="53136"/>
                  </a:lnTo>
                  <a:lnTo>
                    <a:pt x="238493" y="53136"/>
                  </a:lnTo>
                  <a:lnTo>
                    <a:pt x="236753" y="52768"/>
                  </a:lnTo>
                  <a:lnTo>
                    <a:pt x="236931" y="52768"/>
                  </a:lnTo>
                  <a:lnTo>
                    <a:pt x="235927" y="52387"/>
                  </a:lnTo>
                  <a:lnTo>
                    <a:pt x="235000" y="51904"/>
                  </a:lnTo>
                  <a:lnTo>
                    <a:pt x="234543" y="51612"/>
                  </a:lnTo>
                  <a:lnTo>
                    <a:pt x="233692" y="50939"/>
                  </a:lnTo>
                  <a:lnTo>
                    <a:pt x="233324" y="50533"/>
                  </a:lnTo>
                  <a:lnTo>
                    <a:pt x="232918" y="50126"/>
                  </a:lnTo>
                  <a:lnTo>
                    <a:pt x="228739" y="38963"/>
                  </a:lnTo>
                  <a:lnTo>
                    <a:pt x="228752" y="20167"/>
                  </a:lnTo>
                  <a:lnTo>
                    <a:pt x="238404" y="6146"/>
                  </a:lnTo>
                  <a:lnTo>
                    <a:pt x="243370" y="6146"/>
                  </a:lnTo>
                  <a:lnTo>
                    <a:pt x="252984" y="21729"/>
                  </a:lnTo>
                  <a:lnTo>
                    <a:pt x="252984" y="4000"/>
                  </a:lnTo>
                  <a:lnTo>
                    <a:pt x="244182" y="228"/>
                  </a:lnTo>
                  <a:lnTo>
                    <a:pt x="237566" y="228"/>
                  </a:lnTo>
                  <a:lnTo>
                    <a:pt x="222821" y="13474"/>
                  </a:lnTo>
                  <a:lnTo>
                    <a:pt x="222275" y="15265"/>
                  </a:lnTo>
                  <a:lnTo>
                    <a:pt x="222173" y="15709"/>
                  </a:lnTo>
                  <a:lnTo>
                    <a:pt x="221754" y="17678"/>
                  </a:lnTo>
                  <a:lnTo>
                    <a:pt x="221322" y="20167"/>
                  </a:lnTo>
                  <a:lnTo>
                    <a:pt x="221157" y="21729"/>
                  </a:lnTo>
                  <a:lnTo>
                    <a:pt x="221221" y="37960"/>
                  </a:lnTo>
                  <a:lnTo>
                    <a:pt x="237413" y="59131"/>
                  </a:lnTo>
                  <a:lnTo>
                    <a:pt x="243967" y="59131"/>
                  </a:lnTo>
                  <a:lnTo>
                    <a:pt x="260362" y="37960"/>
                  </a:lnTo>
                  <a:lnTo>
                    <a:pt x="260451" y="21729"/>
                  </a:lnTo>
                  <a:close/>
                </a:path>
                <a:path w="951864" h="59689">
                  <a:moveTo>
                    <a:pt x="386765" y="39738"/>
                  </a:moveTo>
                  <a:lnTo>
                    <a:pt x="368160" y="21729"/>
                  </a:lnTo>
                  <a:lnTo>
                    <a:pt x="365074" y="21920"/>
                  </a:lnTo>
                  <a:lnTo>
                    <a:pt x="362356" y="22440"/>
                  </a:lnTo>
                  <a:lnTo>
                    <a:pt x="359448" y="23520"/>
                  </a:lnTo>
                  <a:lnTo>
                    <a:pt x="357962" y="24307"/>
                  </a:lnTo>
                  <a:lnTo>
                    <a:pt x="356247" y="25412"/>
                  </a:lnTo>
                  <a:lnTo>
                    <a:pt x="357327" y="7150"/>
                  </a:lnTo>
                  <a:lnTo>
                    <a:pt x="383413" y="7150"/>
                  </a:lnTo>
                  <a:lnTo>
                    <a:pt x="383413" y="863"/>
                  </a:lnTo>
                  <a:lnTo>
                    <a:pt x="350634" y="863"/>
                  </a:lnTo>
                  <a:lnTo>
                    <a:pt x="348703" y="31889"/>
                  </a:lnTo>
                  <a:lnTo>
                    <a:pt x="355917" y="31889"/>
                  </a:lnTo>
                  <a:lnTo>
                    <a:pt x="358825" y="29730"/>
                  </a:lnTo>
                  <a:lnTo>
                    <a:pt x="360870" y="28765"/>
                  </a:lnTo>
                  <a:lnTo>
                    <a:pt x="364845" y="27838"/>
                  </a:lnTo>
                  <a:lnTo>
                    <a:pt x="368350" y="27838"/>
                  </a:lnTo>
                  <a:lnTo>
                    <a:pt x="379095" y="38887"/>
                  </a:lnTo>
                  <a:lnTo>
                    <a:pt x="379095" y="41198"/>
                  </a:lnTo>
                  <a:lnTo>
                    <a:pt x="367601" y="53327"/>
                  </a:lnTo>
                  <a:lnTo>
                    <a:pt x="365328" y="53327"/>
                  </a:lnTo>
                  <a:lnTo>
                    <a:pt x="354469" y="44805"/>
                  </a:lnTo>
                  <a:lnTo>
                    <a:pt x="347027" y="45656"/>
                  </a:lnTo>
                  <a:lnTo>
                    <a:pt x="367309" y="59347"/>
                  </a:lnTo>
                  <a:lnTo>
                    <a:pt x="371030" y="59016"/>
                  </a:lnTo>
                  <a:lnTo>
                    <a:pt x="386575" y="43091"/>
                  </a:lnTo>
                  <a:lnTo>
                    <a:pt x="386765" y="39738"/>
                  </a:lnTo>
                  <a:close/>
                </a:path>
                <a:path w="951864" h="59689">
                  <a:moveTo>
                    <a:pt x="432828" y="52285"/>
                  </a:moveTo>
                  <a:lnTo>
                    <a:pt x="418757" y="52285"/>
                  </a:lnTo>
                  <a:lnTo>
                    <a:pt x="418757" y="863"/>
                  </a:lnTo>
                  <a:lnTo>
                    <a:pt x="411988" y="863"/>
                  </a:lnTo>
                  <a:lnTo>
                    <a:pt x="398373" y="10236"/>
                  </a:lnTo>
                  <a:lnTo>
                    <a:pt x="398373" y="17195"/>
                  </a:lnTo>
                  <a:lnTo>
                    <a:pt x="411353" y="7899"/>
                  </a:lnTo>
                  <a:lnTo>
                    <a:pt x="411353" y="52285"/>
                  </a:lnTo>
                  <a:lnTo>
                    <a:pt x="396659" y="52285"/>
                  </a:lnTo>
                  <a:lnTo>
                    <a:pt x="396659" y="58534"/>
                  </a:lnTo>
                  <a:lnTo>
                    <a:pt x="432828" y="58534"/>
                  </a:lnTo>
                  <a:lnTo>
                    <a:pt x="432828" y="52285"/>
                  </a:lnTo>
                  <a:close/>
                </a:path>
                <a:path w="951864" h="59689">
                  <a:moveTo>
                    <a:pt x="559549" y="38963"/>
                  </a:moveTo>
                  <a:lnTo>
                    <a:pt x="540943" y="21729"/>
                  </a:lnTo>
                  <a:lnTo>
                    <a:pt x="537857" y="21920"/>
                  </a:lnTo>
                  <a:lnTo>
                    <a:pt x="534555" y="22631"/>
                  </a:lnTo>
                  <a:lnTo>
                    <a:pt x="531241" y="24041"/>
                  </a:lnTo>
                  <a:lnTo>
                    <a:pt x="529043" y="25412"/>
                  </a:lnTo>
                  <a:lnTo>
                    <a:pt x="530123" y="7150"/>
                  </a:lnTo>
                  <a:lnTo>
                    <a:pt x="556209" y="7150"/>
                  </a:lnTo>
                  <a:lnTo>
                    <a:pt x="556209" y="863"/>
                  </a:lnTo>
                  <a:lnTo>
                    <a:pt x="523430" y="863"/>
                  </a:lnTo>
                  <a:lnTo>
                    <a:pt x="521487" y="31889"/>
                  </a:lnTo>
                  <a:lnTo>
                    <a:pt x="528713" y="31889"/>
                  </a:lnTo>
                  <a:lnTo>
                    <a:pt x="531393" y="29883"/>
                  </a:lnTo>
                  <a:lnTo>
                    <a:pt x="533400" y="28879"/>
                  </a:lnTo>
                  <a:lnTo>
                    <a:pt x="538010" y="27800"/>
                  </a:lnTo>
                  <a:lnTo>
                    <a:pt x="541134" y="27838"/>
                  </a:lnTo>
                  <a:lnTo>
                    <a:pt x="544664" y="28651"/>
                  </a:lnTo>
                  <a:lnTo>
                    <a:pt x="551891" y="41198"/>
                  </a:lnTo>
                  <a:lnTo>
                    <a:pt x="551484" y="44094"/>
                  </a:lnTo>
                  <a:lnTo>
                    <a:pt x="540385" y="53327"/>
                  </a:lnTo>
                  <a:lnTo>
                    <a:pt x="538124" y="53327"/>
                  </a:lnTo>
                  <a:lnTo>
                    <a:pt x="527253" y="44805"/>
                  </a:lnTo>
                  <a:lnTo>
                    <a:pt x="519811" y="45656"/>
                  </a:lnTo>
                  <a:lnTo>
                    <a:pt x="540092" y="59347"/>
                  </a:lnTo>
                  <a:lnTo>
                    <a:pt x="543814" y="59016"/>
                  </a:lnTo>
                  <a:lnTo>
                    <a:pt x="559549" y="39738"/>
                  </a:lnTo>
                  <a:lnTo>
                    <a:pt x="559549" y="38963"/>
                  </a:lnTo>
                  <a:close/>
                </a:path>
                <a:path w="951864" h="59689">
                  <a:moveTo>
                    <a:pt x="605497" y="52285"/>
                  </a:moveTo>
                  <a:lnTo>
                    <a:pt x="575398" y="52285"/>
                  </a:lnTo>
                  <a:lnTo>
                    <a:pt x="576859" y="49568"/>
                  </a:lnTo>
                  <a:lnTo>
                    <a:pt x="577824" y="48221"/>
                  </a:lnTo>
                  <a:lnTo>
                    <a:pt x="580834" y="44805"/>
                  </a:lnTo>
                  <a:lnTo>
                    <a:pt x="588949" y="37769"/>
                  </a:lnTo>
                  <a:lnTo>
                    <a:pt x="598055" y="29591"/>
                  </a:lnTo>
                  <a:lnTo>
                    <a:pt x="604570" y="15036"/>
                  </a:lnTo>
                  <a:lnTo>
                    <a:pt x="604393" y="12877"/>
                  </a:lnTo>
                  <a:lnTo>
                    <a:pt x="585635" y="0"/>
                  </a:lnTo>
                  <a:lnTo>
                    <a:pt x="583145" y="190"/>
                  </a:lnTo>
                  <a:lnTo>
                    <a:pt x="567626" y="15113"/>
                  </a:lnTo>
                  <a:lnTo>
                    <a:pt x="575144" y="15824"/>
                  </a:lnTo>
                  <a:lnTo>
                    <a:pt x="575475" y="13957"/>
                  </a:lnTo>
                  <a:lnTo>
                    <a:pt x="576364" y="11582"/>
                  </a:lnTo>
                  <a:lnTo>
                    <a:pt x="585190" y="6108"/>
                  </a:lnTo>
                  <a:lnTo>
                    <a:pt x="588759" y="6223"/>
                  </a:lnTo>
                  <a:lnTo>
                    <a:pt x="597014" y="15557"/>
                  </a:lnTo>
                  <a:lnTo>
                    <a:pt x="596760" y="18757"/>
                  </a:lnTo>
                  <a:lnTo>
                    <a:pt x="578040" y="38887"/>
                  </a:lnTo>
                  <a:lnTo>
                    <a:pt x="574217" y="42760"/>
                  </a:lnTo>
                  <a:lnTo>
                    <a:pt x="571792" y="45656"/>
                  </a:lnTo>
                  <a:lnTo>
                    <a:pt x="569595" y="48818"/>
                  </a:lnTo>
                  <a:lnTo>
                    <a:pt x="567296" y="53327"/>
                  </a:lnTo>
                  <a:lnTo>
                    <a:pt x="567296" y="58534"/>
                  </a:lnTo>
                  <a:lnTo>
                    <a:pt x="605497" y="58534"/>
                  </a:lnTo>
                  <a:lnTo>
                    <a:pt x="605497" y="52285"/>
                  </a:lnTo>
                  <a:close/>
                </a:path>
                <a:path w="951864" h="59689">
                  <a:moveTo>
                    <a:pt x="732383" y="39738"/>
                  </a:moveTo>
                  <a:lnTo>
                    <a:pt x="712177" y="21767"/>
                  </a:lnTo>
                  <a:lnTo>
                    <a:pt x="709269" y="22148"/>
                  </a:lnTo>
                  <a:lnTo>
                    <a:pt x="707339" y="22631"/>
                  </a:lnTo>
                  <a:lnTo>
                    <a:pt x="704024" y="24041"/>
                  </a:lnTo>
                  <a:lnTo>
                    <a:pt x="701827" y="25412"/>
                  </a:lnTo>
                  <a:lnTo>
                    <a:pt x="702945" y="7150"/>
                  </a:lnTo>
                  <a:lnTo>
                    <a:pt x="728992" y="7150"/>
                  </a:lnTo>
                  <a:lnTo>
                    <a:pt x="728992" y="863"/>
                  </a:lnTo>
                  <a:lnTo>
                    <a:pt x="696214" y="863"/>
                  </a:lnTo>
                  <a:lnTo>
                    <a:pt x="694321" y="31889"/>
                  </a:lnTo>
                  <a:lnTo>
                    <a:pt x="701497" y="31889"/>
                  </a:lnTo>
                  <a:lnTo>
                    <a:pt x="704176" y="29883"/>
                  </a:lnTo>
                  <a:lnTo>
                    <a:pt x="706183" y="28879"/>
                  </a:lnTo>
                  <a:lnTo>
                    <a:pt x="709129" y="28028"/>
                  </a:lnTo>
                  <a:lnTo>
                    <a:pt x="710793" y="27800"/>
                  </a:lnTo>
                  <a:lnTo>
                    <a:pt x="713930" y="27838"/>
                  </a:lnTo>
                  <a:lnTo>
                    <a:pt x="724712" y="40563"/>
                  </a:lnTo>
                  <a:lnTo>
                    <a:pt x="724496" y="42976"/>
                  </a:lnTo>
                  <a:lnTo>
                    <a:pt x="713181" y="53327"/>
                  </a:lnTo>
                  <a:lnTo>
                    <a:pt x="710907" y="53327"/>
                  </a:lnTo>
                  <a:lnTo>
                    <a:pt x="700087" y="44805"/>
                  </a:lnTo>
                  <a:lnTo>
                    <a:pt x="692607" y="45656"/>
                  </a:lnTo>
                  <a:lnTo>
                    <a:pt x="710984" y="59347"/>
                  </a:lnTo>
                  <a:lnTo>
                    <a:pt x="714819" y="59245"/>
                  </a:lnTo>
                  <a:lnTo>
                    <a:pt x="732040" y="43916"/>
                  </a:lnTo>
                  <a:lnTo>
                    <a:pt x="732383" y="39738"/>
                  </a:lnTo>
                  <a:close/>
                </a:path>
                <a:path w="951864" h="59689">
                  <a:moveTo>
                    <a:pt x="778294" y="52285"/>
                  </a:moveTo>
                  <a:lnTo>
                    <a:pt x="748195" y="52285"/>
                  </a:lnTo>
                  <a:lnTo>
                    <a:pt x="749642" y="49568"/>
                  </a:lnTo>
                  <a:lnTo>
                    <a:pt x="750608" y="48221"/>
                  </a:lnTo>
                  <a:lnTo>
                    <a:pt x="753630" y="44805"/>
                  </a:lnTo>
                  <a:lnTo>
                    <a:pt x="760730" y="38595"/>
                  </a:lnTo>
                  <a:lnTo>
                    <a:pt x="770851" y="29591"/>
                  </a:lnTo>
                  <a:lnTo>
                    <a:pt x="777405" y="15824"/>
                  </a:lnTo>
                  <a:lnTo>
                    <a:pt x="776947" y="11506"/>
                  </a:lnTo>
                  <a:lnTo>
                    <a:pt x="758418" y="0"/>
                  </a:lnTo>
                  <a:lnTo>
                    <a:pt x="755967" y="190"/>
                  </a:lnTo>
                  <a:lnTo>
                    <a:pt x="740410" y="15113"/>
                  </a:lnTo>
                  <a:lnTo>
                    <a:pt x="747966" y="15824"/>
                  </a:lnTo>
                  <a:lnTo>
                    <a:pt x="748004" y="15341"/>
                  </a:lnTo>
                  <a:lnTo>
                    <a:pt x="748525" y="13144"/>
                  </a:lnTo>
                  <a:lnTo>
                    <a:pt x="759764" y="6070"/>
                  </a:lnTo>
                  <a:lnTo>
                    <a:pt x="762812" y="6477"/>
                  </a:lnTo>
                  <a:lnTo>
                    <a:pt x="769810" y="16751"/>
                  </a:lnTo>
                  <a:lnTo>
                    <a:pt x="769543" y="18757"/>
                  </a:lnTo>
                  <a:lnTo>
                    <a:pt x="751509" y="38290"/>
                  </a:lnTo>
                  <a:lnTo>
                    <a:pt x="747001" y="42760"/>
                  </a:lnTo>
                  <a:lnTo>
                    <a:pt x="744588" y="45656"/>
                  </a:lnTo>
                  <a:lnTo>
                    <a:pt x="741908" y="49682"/>
                  </a:lnTo>
                  <a:lnTo>
                    <a:pt x="740079" y="53327"/>
                  </a:lnTo>
                  <a:lnTo>
                    <a:pt x="740079" y="58534"/>
                  </a:lnTo>
                  <a:lnTo>
                    <a:pt x="778294" y="58534"/>
                  </a:lnTo>
                  <a:lnTo>
                    <a:pt x="778294" y="52285"/>
                  </a:lnTo>
                  <a:close/>
                </a:path>
                <a:path w="951864" h="59689">
                  <a:moveTo>
                    <a:pt x="905167" y="39738"/>
                  </a:moveTo>
                  <a:lnTo>
                    <a:pt x="884961" y="21767"/>
                  </a:lnTo>
                  <a:lnTo>
                    <a:pt x="882065" y="22148"/>
                  </a:lnTo>
                  <a:lnTo>
                    <a:pt x="880122" y="22631"/>
                  </a:lnTo>
                  <a:lnTo>
                    <a:pt x="876820" y="24041"/>
                  </a:lnTo>
                  <a:lnTo>
                    <a:pt x="874623" y="25412"/>
                  </a:lnTo>
                  <a:lnTo>
                    <a:pt x="875741" y="7150"/>
                  </a:lnTo>
                  <a:lnTo>
                    <a:pt x="901788" y="7150"/>
                  </a:lnTo>
                  <a:lnTo>
                    <a:pt x="901788" y="863"/>
                  </a:lnTo>
                  <a:lnTo>
                    <a:pt x="868997" y="863"/>
                  </a:lnTo>
                  <a:lnTo>
                    <a:pt x="867105" y="31889"/>
                  </a:lnTo>
                  <a:lnTo>
                    <a:pt x="874280" y="31889"/>
                  </a:lnTo>
                  <a:lnTo>
                    <a:pt x="875258" y="31115"/>
                  </a:lnTo>
                  <a:lnTo>
                    <a:pt x="878979" y="28879"/>
                  </a:lnTo>
                  <a:lnTo>
                    <a:pt x="881621" y="28092"/>
                  </a:lnTo>
                  <a:lnTo>
                    <a:pt x="883589" y="27800"/>
                  </a:lnTo>
                  <a:lnTo>
                    <a:pt x="886714" y="27838"/>
                  </a:lnTo>
                  <a:lnTo>
                    <a:pt x="897509" y="40563"/>
                  </a:lnTo>
                  <a:lnTo>
                    <a:pt x="897280" y="42976"/>
                  </a:lnTo>
                  <a:lnTo>
                    <a:pt x="885964" y="53327"/>
                  </a:lnTo>
                  <a:lnTo>
                    <a:pt x="883704" y="53327"/>
                  </a:lnTo>
                  <a:lnTo>
                    <a:pt x="872871" y="44805"/>
                  </a:lnTo>
                  <a:lnTo>
                    <a:pt x="865428" y="45656"/>
                  </a:lnTo>
                  <a:lnTo>
                    <a:pt x="882065" y="59270"/>
                  </a:lnTo>
                  <a:lnTo>
                    <a:pt x="887603" y="59245"/>
                  </a:lnTo>
                  <a:lnTo>
                    <a:pt x="905052" y="42278"/>
                  </a:lnTo>
                  <a:lnTo>
                    <a:pt x="905167" y="39738"/>
                  </a:lnTo>
                  <a:close/>
                </a:path>
                <a:path w="951864" h="59689">
                  <a:moveTo>
                    <a:pt x="951598" y="42608"/>
                  </a:moveTo>
                  <a:lnTo>
                    <a:pt x="937945" y="29095"/>
                  </a:lnTo>
                  <a:lnTo>
                    <a:pt x="937945" y="28956"/>
                  </a:lnTo>
                  <a:lnTo>
                    <a:pt x="949998" y="14668"/>
                  </a:lnTo>
                  <a:lnTo>
                    <a:pt x="949629" y="11620"/>
                  </a:lnTo>
                  <a:lnTo>
                    <a:pt x="930986" y="0"/>
                  </a:lnTo>
                  <a:lnTo>
                    <a:pt x="928166" y="228"/>
                  </a:lnTo>
                  <a:lnTo>
                    <a:pt x="912837" y="15036"/>
                  </a:lnTo>
                  <a:lnTo>
                    <a:pt x="920280" y="15595"/>
                  </a:lnTo>
                  <a:lnTo>
                    <a:pt x="920381" y="14706"/>
                  </a:lnTo>
                  <a:lnTo>
                    <a:pt x="921054" y="12280"/>
                  </a:lnTo>
                  <a:lnTo>
                    <a:pt x="931621" y="6070"/>
                  </a:lnTo>
                  <a:lnTo>
                    <a:pt x="934605" y="6299"/>
                  </a:lnTo>
                  <a:lnTo>
                    <a:pt x="942454" y="16040"/>
                  </a:lnTo>
                  <a:lnTo>
                    <a:pt x="942263" y="18275"/>
                  </a:lnTo>
                  <a:lnTo>
                    <a:pt x="925703" y="26009"/>
                  </a:lnTo>
                  <a:lnTo>
                    <a:pt x="925703" y="32372"/>
                  </a:lnTo>
                  <a:lnTo>
                    <a:pt x="930287" y="32372"/>
                  </a:lnTo>
                  <a:lnTo>
                    <a:pt x="934897" y="32816"/>
                  </a:lnTo>
                  <a:lnTo>
                    <a:pt x="943940" y="43421"/>
                  </a:lnTo>
                  <a:lnTo>
                    <a:pt x="943673" y="45364"/>
                  </a:lnTo>
                  <a:lnTo>
                    <a:pt x="933145" y="53251"/>
                  </a:lnTo>
                  <a:lnTo>
                    <a:pt x="929767" y="53136"/>
                  </a:lnTo>
                  <a:lnTo>
                    <a:pt x="919492" y="43014"/>
                  </a:lnTo>
                  <a:lnTo>
                    <a:pt x="911860" y="43726"/>
                  </a:lnTo>
                  <a:lnTo>
                    <a:pt x="932967" y="59347"/>
                  </a:lnTo>
                  <a:lnTo>
                    <a:pt x="936498" y="59093"/>
                  </a:lnTo>
                  <a:lnTo>
                    <a:pt x="951420" y="45656"/>
                  </a:lnTo>
                  <a:lnTo>
                    <a:pt x="951598" y="4260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8218" y="3650195"/>
              <a:ext cx="236041" cy="340593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5286781" y="4548530"/>
              <a:ext cx="432434" cy="59055"/>
            </a:xfrm>
            <a:custGeom>
              <a:avLst/>
              <a:gdLst/>
              <a:ahLst/>
              <a:cxnLst/>
              <a:rect l="l" t="t" r="r" b="b"/>
              <a:pathLst>
                <a:path w="432435" h="59054">
                  <a:moveTo>
                    <a:pt x="39738" y="38874"/>
                  </a:moveTo>
                  <a:lnTo>
                    <a:pt x="21094" y="20866"/>
                  </a:lnTo>
                  <a:lnTo>
                    <a:pt x="18046" y="21056"/>
                  </a:lnTo>
                  <a:lnTo>
                    <a:pt x="15328" y="21577"/>
                  </a:lnTo>
                  <a:lnTo>
                    <a:pt x="12420" y="22656"/>
                  </a:lnTo>
                  <a:lnTo>
                    <a:pt x="10452" y="23698"/>
                  </a:lnTo>
                  <a:lnTo>
                    <a:pt x="9182" y="24549"/>
                  </a:lnTo>
                  <a:lnTo>
                    <a:pt x="10299" y="6286"/>
                  </a:lnTo>
                  <a:lnTo>
                    <a:pt x="36385" y="6286"/>
                  </a:lnTo>
                  <a:lnTo>
                    <a:pt x="36385" y="0"/>
                  </a:lnTo>
                  <a:lnTo>
                    <a:pt x="3606" y="0"/>
                  </a:lnTo>
                  <a:lnTo>
                    <a:pt x="1676" y="31026"/>
                  </a:lnTo>
                  <a:lnTo>
                    <a:pt x="8851" y="31026"/>
                  </a:lnTo>
                  <a:lnTo>
                    <a:pt x="12763" y="28346"/>
                  </a:lnTo>
                  <a:lnTo>
                    <a:pt x="16179" y="27228"/>
                  </a:lnTo>
                  <a:lnTo>
                    <a:pt x="18148" y="26936"/>
                  </a:lnTo>
                  <a:lnTo>
                    <a:pt x="20167" y="26898"/>
                  </a:lnTo>
                  <a:lnTo>
                    <a:pt x="23888" y="27457"/>
                  </a:lnTo>
                  <a:lnTo>
                    <a:pt x="32067" y="39700"/>
                  </a:lnTo>
                  <a:lnTo>
                    <a:pt x="31851" y="42113"/>
                  </a:lnTo>
                  <a:lnTo>
                    <a:pt x="20535" y="52463"/>
                  </a:lnTo>
                  <a:lnTo>
                    <a:pt x="18262" y="52463"/>
                  </a:lnTo>
                  <a:lnTo>
                    <a:pt x="7442" y="43942"/>
                  </a:lnTo>
                  <a:lnTo>
                    <a:pt x="0" y="44792"/>
                  </a:lnTo>
                  <a:lnTo>
                    <a:pt x="20269" y="58483"/>
                  </a:lnTo>
                  <a:lnTo>
                    <a:pt x="23990" y="58153"/>
                  </a:lnTo>
                  <a:lnTo>
                    <a:pt x="39624" y="41414"/>
                  </a:lnTo>
                  <a:lnTo>
                    <a:pt x="39738" y="38874"/>
                  </a:lnTo>
                  <a:close/>
                </a:path>
                <a:path w="432435" h="59054">
                  <a:moveTo>
                    <a:pt x="87401" y="38696"/>
                  </a:moveTo>
                  <a:lnTo>
                    <a:pt x="79324" y="38696"/>
                  </a:lnTo>
                  <a:lnTo>
                    <a:pt x="79324" y="8331"/>
                  </a:lnTo>
                  <a:lnTo>
                    <a:pt x="79324" y="0"/>
                  </a:lnTo>
                  <a:lnTo>
                    <a:pt x="72364" y="0"/>
                  </a:lnTo>
                  <a:lnTo>
                    <a:pt x="72364" y="8483"/>
                  </a:lnTo>
                  <a:lnTo>
                    <a:pt x="72364" y="38696"/>
                  </a:lnTo>
                  <a:lnTo>
                    <a:pt x="52082" y="38696"/>
                  </a:lnTo>
                  <a:lnTo>
                    <a:pt x="52197" y="38544"/>
                  </a:lnTo>
                  <a:lnTo>
                    <a:pt x="52311" y="38354"/>
                  </a:lnTo>
                  <a:lnTo>
                    <a:pt x="52463" y="38214"/>
                  </a:lnTo>
                  <a:lnTo>
                    <a:pt x="53124" y="37350"/>
                  </a:lnTo>
                  <a:lnTo>
                    <a:pt x="54584" y="35344"/>
                  </a:lnTo>
                  <a:lnTo>
                    <a:pt x="54686" y="35153"/>
                  </a:lnTo>
                  <a:lnTo>
                    <a:pt x="54838" y="34975"/>
                  </a:lnTo>
                  <a:lnTo>
                    <a:pt x="69951" y="12649"/>
                  </a:lnTo>
                  <a:lnTo>
                    <a:pt x="70243" y="12090"/>
                  </a:lnTo>
                  <a:lnTo>
                    <a:pt x="70358" y="11938"/>
                  </a:lnTo>
                  <a:lnTo>
                    <a:pt x="70497" y="11645"/>
                  </a:lnTo>
                  <a:lnTo>
                    <a:pt x="70612" y="11493"/>
                  </a:lnTo>
                  <a:lnTo>
                    <a:pt x="70764" y="11201"/>
                  </a:lnTo>
                  <a:lnTo>
                    <a:pt x="70878" y="11049"/>
                  </a:lnTo>
                  <a:lnTo>
                    <a:pt x="71018" y="10756"/>
                  </a:lnTo>
                  <a:lnTo>
                    <a:pt x="71132" y="10604"/>
                  </a:lnTo>
                  <a:lnTo>
                    <a:pt x="71729" y="9486"/>
                  </a:lnTo>
                  <a:lnTo>
                    <a:pt x="71958" y="9156"/>
                  </a:lnTo>
                  <a:lnTo>
                    <a:pt x="72072" y="8890"/>
                  </a:lnTo>
                  <a:lnTo>
                    <a:pt x="72174" y="8699"/>
                  </a:lnTo>
                  <a:lnTo>
                    <a:pt x="72364" y="8483"/>
                  </a:lnTo>
                  <a:lnTo>
                    <a:pt x="72364" y="0"/>
                  </a:lnTo>
                  <a:lnTo>
                    <a:pt x="71577" y="0"/>
                  </a:lnTo>
                  <a:lnTo>
                    <a:pt x="45288" y="38696"/>
                  </a:lnTo>
                  <a:lnTo>
                    <a:pt x="45161" y="44615"/>
                  </a:lnTo>
                  <a:lnTo>
                    <a:pt x="72364" y="44615"/>
                  </a:lnTo>
                  <a:lnTo>
                    <a:pt x="72364" y="57670"/>
                  </a:lnTo>
                  <a:lnTo>
                    <a:pt x="79324" y="57670"/>
                  </a:lnTo>
                  <a:lnTo>
                    <a:pt x="79324" y="44615"/>
                  </a:lnTo>
                  <a:lnTo>
                    <a:pt x="87401" y="44615"/>
                  </a:lnTo>
                  <a:lnTo>
                    <a:pt x="87401" y="38696"/>
                  </a:lnTo>
                  <a:close/>
                </a:path>
                <a:path w="432435" h="59054">
                  <a:moveTo>
                    <a:pt x="212521" y="38874"/>
                  </a:moveTo>
                  <a:lnTo>
                    <a:pt x="193916" y="20866"/>
                  </a:lnTo>
                  <a:lnTo>
                    <a:pt x="190830" y="21056"/>
                  </a:lnTo>
                  <a:lnTo>
                    <a:pt x="188112" y="21577"/>
                  </a:lnTo>
                  <a:lnTo>
                    <a:pt x="185216" y="22656"/>
                  </a:lnTo>
                  <a:lnTo>
                    <a:pt x="183235" y="23698"/>
                  </a:lnTo>
                  <a:lnTo>
                    <a:pt x="181978" y="24549"/>
                  </a:lnTo>
                  <a:lnTo>
                    <a:pt x="183095" y="6286"/>
                  </a:lnTo>
                  <a:lnTo>
                    <a:pt x="209169" y="6286"/>
                  </a:lnTo>
                  <a:lnTo>
                    <a:pt x="209169" y="0"/>
                  </a:lnTo>
                  <a:lnTo>
                    <a:pt x="176390" y="0"/>
                  </a:lnTo>
                  <a:lnTo>
                    <a:pt x="174459" y="31026"/>
                  </a:lnTo>
                  <a:lnTo>
                    <a:pt x="181673" y="31026"/>
                  </a:lnTo>
                  <a:lnTo>
                    <a:pt x="185064" y="28613"/>
                  </a:lnTo>
                  <a:lnTo>
                    <a:pt x="188671" y="27305"/>
                  </a:lnTo>
                  <a:lnTo>
                    <a:pt x="190944" y="26936"/>
                  </a:lnTo>
                  <a:lnTo>
                    <a:pt x="192951" y="26898"/>
                  </a:lnTo>
                  <a:lnTo>
                    <a:pt x="195186" y="27127"/>
                  </a:lnTo>
                  <a:lnTo>
                    <a:pt x="204863" y="39700"/>
                  </a:lnTo>
                  <a:lnTo>
                    <a:pt x="204558" y="42672"/>
                  </a:lnTo>
                  <a:lnTo>
                    <a:pt x="193357" y="52463"/>
                  </a:lnTo>
                  <a:lnTo>
                    <a:pt x="191096" y="52463"/>
                  </a:lnTo>
                  <a:lnTo>
                    <a:pt x="180225" y="43942"/>
                  </a:lnTo>
                  <a:lnTo>
                    <a:pt x="172783" y="44792"/>
                  </a:lnTo>
                  <a:lnTo>
                    <a:pt x="193065" y="58483"/>
                  </a:lnTo>
                  <a:lnTo>
                    <a:pt x="196786" y="58153"/>
                  </a:lnTo>
                  <a:lnTo>
                    <a:pt x="212407" y="41414"/>
                  </a:lnTo>
                  <a:lnTo>
                    <a:pt x="212521" y="38874"/>
                  </a:lnTo>
                  <a:close/>
                </a:path>
                <a:path w="432435" h="59054">
                  <a:moveTo>
                    <a:pt x="259143" y="38874"/>
                  </a:moveTo>
                  <a:lnTo>
                    <a:pt x="240499" y="20866"/>
                  </a:lnTo>
                  <a:lnTo>
                    <a:pt x="237451" y="21056"/>
                  </a:lnTo>
                  <a:lnTo>
                    <a:pt x="234734" y="21577"/>
                  </a:lnTo>
                  <a:lnTo>
                    <a:pt x="231838" y="22656"/>
                  </a:lnTo>
                  <a:lnTo>
                    <a:pt x="229857" y="23698"/>
                  </a:lnTo>
                  <a:lnTo>
                    <a:pt x="228600" y="24549"/>
                  </a:lnTo>
                  <a:lnTo>
                    <a:pt x="229717" y="6286"/>
                  </a:lnTo>
                  <a:lnTo>
                    <a:pt x="255790" y="6286"/>
                  </a:lnTo>
                  <a:lnTo>
                    <a:pt x="255790" y="0"/>
                  </a:lnTo>
                  <a:lnTo>
                    <a:pt x="223012" y="0"/>
                  </a:lnTo>
                  <a:lnTo>
                    <a:pt x="221081" y="31026"/>
                  </a:lnTo>
                  <a:lnTo>
                    <a:pt x="228295" y="31026"/>
                  </a:lnTo>
                  <a:lnTo>
                    <a:pt x="232168" y="28346"/>
                  </a:lnTo>
                  <a:lnTo>
                    <a:pt x="235585" y="27228"/>
                  </a:lnTo>
                  <a:lnTo>
                    <a:pt x="237566" y="26936"/>
                  </a:lnTo>
                  <a:lnTo>
                    <a:pt x="239572" y="26898"/>
                  </a:lnTo>
                  <a:lnTo>
                    <a:pt x="243293" y="27457"/>
                  </a:lnTo>
                  <a:lnTo>
                    <a:pt x="251472" y="39700"/>
                  </a:lnTo>
                  <a:lnTo>
                    <a:pt x="251256" y="42113"/>
                  </a:lnTo>
                  <a:lnTo>
                    <a:pt x="239979" y="52463"/>
                  </a:lnTo>
                  <a:lnTo>
                    <a:pt x="237705" y="52463"/>
                  </a:lnTo>
                  <a:lnTo>
                    <a:pt x="226847" y="43942"/>
                  </a:lnTo>
                  <a:lnTo>
                    <a:pt x="219405" y="44792"/>
                  </a:lnTo>
                  <a:lnTo>
                    <a:pt x="239687" y="58483"/>
                  </a:lnTo>
                  <a:lnTo>
                    <a:pt x="243408" y="58153"/>
                  </a:lnTo>
                  <a:lnTo>
                    <a:pt x="259029" y="41414"/>
                  </a:lnTo>
                  <a:lnTo>
                    <a:pt x="259143" y="38874"/>
                  </a:lnTo>
                  <a:close/>
                </a:path>
                <a:path w="432435" h="59054">
                  <a:moveTo>
                    <a:pt x="385318" y="38874"/>
                  </a:moveTo>
                  <a:lnTo>
                    <a:pt x="366712" y="20866"/>
                  </a:lnTo>
                  <a:lnTo>
                    <a:pt x="363626" y="21056"/>
                  </a:lnTo>
                  <a:lnTo>
                    <a:pt x="360908" y="21577"/>
                  </a:lnTo>
                  <a:lnTo>
                    <a:pt x="358000" y="22656"/>
                  </a:lnTo>
                  <a:lnTo>
                    <a:pt x="356514" y="23444"/>
                  </a:lnTo>
                  <a:lnTo>
                    <a:pt x="354799" y="24549"/>
                  </a:lnTo>
                  <a:lnTo>
                    <a:pt x="355879" y="6286"/>
                  </a:lnTo>
                  <a:lnTo>
                    <a:pt x="381965" y="6286"/>
                  </a:lnTo>
                  <a:lnTo>
                    <a:pt x="381965" y="0"/>
                  </a:lnTo>
                  <a:lnTo>
                    <a:pt x="349186" y="0"/>
                  </a:lnTo>
                  <a:lnTo>
                    <a:pt x="347243" y="31026"/>
                  </a:lnTo>
                  <a:lnTo>
                    <a:pt x="354469" y="31026"/>
                  </a:lnTo>
                  <a:lnTo>
                    <a:pt x="357365" y="28867"/>
                  </a:lnTo>
                  <a:lnTo>
                    <a:pt x="359410" y="27901"/>
                  </a:lnTo>
                  <a:lnTo>
                    <a:pt x="363397" y="26974"/>
                  </a:lnTo>
                  <a:lnTo>
                    <a:pt x="366890" y="26974"/>
                  </a:lnTo>
                  <a:lnTo>
                    <a:pt x="377647" y="38023"/>
                  </a:lnTo>
                  <a:lnTo>
                    <a:pt x="377647" y="40335"/>
                  </a:lnTo>
                  <a:lnTo>
                    <a:pt x="366153" y="52463"/>
                  </a:lnTo>
                  <a:lnTo>
                    <a:pt x="363880" y="52463"/>
                  </a:lnTo>
                  <a:lnTo>
                    <a:pt x="353021" y="43942"/>
                  </a:lnTo>
                  <a:lnTo>
                    <a:pt x="345579" y="44792"/>
                  </a:lnTo>
                  <a:lnTo>
                    <a:pt x="365848" y="58483"/>
                  </a:lnTo>
                  <a:lnTo>
                    <a:pt x="369570" y="58153"/>
                  </a:lnTo>
                  <a:lnTo>
                    <a:pt x="385127" y="42227"/>
                  </a:lnTo>
                  <a:lnTo>
                    <a:pt x="385318" y="38874"/>
                  </a:lnTo>
                  <a:close/>
                </a:path>
                <a:path w="432435" h="59054">
                  <a:moveTo>
                    <a:pt x="431927" y="38100"/>
                  </a:moveTo>
                  <a:lnTo>
                    <a:pt x="413334" y="20866"/>
                  </a:lnTo>
                  <a:lnTo>
                    <a:pt x="410235" y="21056"/>
                  </a:lnTo>
                  <a:lnTo>
                    <a:pt x="407530" y="21577"/>
                  </a:lnTo>
                  <a:lnTo>
                    <a:pt x="404622" y="22656"/>
                  </a:lnTo>
                  <a:lnTo>
                    <a:pt x="401383" y="24549"/>
                  </a:lnTo>
                  <a:lnTo>
                    <a:pt x="402501" y="6286"/>
                  </a:lnTo>
                  <a:lnTo>
                    <a:pt x="428586" y="6286"/>
                  </a:lnTo>
                  <a:lnTo>
                    <a:pt x="428586" y="0"/>
                  </a:lnTo>
                  <a:lnTo>
                    <a:pt x="395808" y="0"/>
                  </a:lnTo>
                  <a:lnTo>
                    <a:pt x="393865" y="31026"/>
                  </a:lnTo>
                  <a:lnTo>
                    <a:pt x="401091" y="31026"/>
                  </a:lnTo>
                  <a:lnTo>
                    <a:pt x="403987" y="28867"/>
                  </a:lnTo>
                  <a:lnTo>
                    <a:pt x="404990" y="28346"/>
                  </a:lnTo>
                  <a:lnTo>
                    <a:pt x="410019" y="26974"/>
                  </a:lnTo>
                  <a:lnTo>
                    <a:pt x="413512" y="26974"/>
                  </a:lnTo>
                  <a:lnTo>
                    <a:pt x="424268" y="39700"/>
                  </a:lnTo>
                  <a:lnTo>
                    <a:pt x="423862" y="43230"/>
                  </a:lnTo>
                  <a:lnTo>
                    <a:pt x="412775" y="52463"/>
                  </a:lnTo>
                  <a:lnTo>
                    <a:pt x="410502" y="52463"/>
                  </a:lnTo>
                  <a:lnTo>
                    <a:pt x="399630" y="43942"/>
                  </a:lnTo>
                  <a:lnTo>
                    <a:pt x="392201" y="44792"/>
                  </a:lnTo>
                  <a:lnTo>
                    <a:pt x="412470" y="58483"/>
                  </a:lnTo>
                  <a:lnTo>
                    <a:pt x="416191" y="58153"/>
                  </a:lnTo>
                  <a:lnTo>
                    <a:pt x="431927" y="38874"/>
                  </a:lnTo>
                  <a:lnTo>
                    <a:pt x="431927" y="3810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05152" y="4501566"/>
              <a:ext cx="85840" cy="105444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4433477" y="4664124"/>
              <a:ext cx="65405" cy="72390"/>
            </a:xfrm>
            <a:custGeom>
              <a:avLst/>
              <a:gdLst/>
              <a:ahLst/>
              <a:cxnLst/>
              <a:rect l="l" t="t" r="r" b="b"/>
              <a:pathLst>
                <a:path w="65404" h="72389">
                  <a:moveTo>
                    <a:pt x="65335" y="72070"/>
                  </a:moveTo>
                  <a:lnTo>
                    <a:pt x="54545" y="72070"/>
                  </a:lnTo>
                  <a:lnTo>
                    <a:pt x="32891" y="40555"/>
                  </a:lnTo>
                  <a:lnTo>
                    <a:pt x="10790" y="72070"/>
                  </a:lnTo>
                  <a:lnTo>
                    <a:pt x="0" y="72070"/>
                  </a:lnTo>
                  <a:lnTo>
                    <a:pt x="27421" y="34602"/>
                  </a:lnTo>
                  <a:lnTo>
                    <a:pt x="2083" y="0"/>
                  </a:lnTo>
                  <a:lnTo>
                    <a:pt x="12873" y="0"/>
                  </a:lnTo>
                  <a:lnTo>
                    <a:pt x="32928" y="28277"/>
                  </a:lnTo>
                  <a:lnTo>
                    <a:pt x="52424" y="0"/>
                  </a:lnTo>
                  <a:lnTo>
                    <a:pt x="63214" y="0"/>
                  </a:lnTo>
                  <a:lnTo>
                    <a:pt x="38583" y="34267"/>
                  </a:lnTo>
                  <a:lnTo>
                    <a:pt x="65335" y="72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4431133" y="4649687"/>
              <a:ext cx="70485" cy="0"/>
            </a:xfrm>
            <a:custGeom>
              <a:avLst/>
              <a:gdLst/>
              <a:ahLst/>
              <a:cxnLst/>
              <a:rect l="l" t="t" r="r" b="b"/>
              <a:pathLst>
                <a:path w="70485" h="0">
                  <a:moveTo>
                    <a:pt x="0" y="0"/>
                  </a:moveTo>
                  <a:lnTo>
                    <a:pt x="69874" y="0"/>
                  </a:lnTo>
                </a:path>
              </a:pathLst>
            </a:custGeom>
            <a:ln w="7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 descr=""/>
          <p:cNvSpPr txBox="1"/>
          <p:nvPr/>
        </p:nvSpPr>
        <p:spPr>
          <a:xfrm>
            <a:off x="3149202" y="2496096"/>
            <a:ext cx="49339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550" spc="-210" i="1">
                <a:latin typeface="Verdana"/>
                <a:cs typeface="Verdana"/>
              </a:rPr>
              <a:t>σ</a:t>
            </a:r>
            <a:r>
              <a:rPr dirty="0" baseline="-20202" sz="1650" spc="-315" i="1">
                <a:latin typeface="Verdana"/>
                <a:cs typeface="Verdana"/>
              </a:rPr>
              <a:t>X</a:t>
            </a:r>
            <a:r>
              <a:rPr dirty="0" baseline="-7936" sz="1575" spc="-315">
                <a:latin typeface="Tahoma"/>
                <a:cs typeface="Tahoma"/>
              </a:rPr>
              <a:t>¯</a:t>
            </a:r>
            <a:r>
              <a:rPr dirty="0" baseline="-7936" sz="1575" spc="202">
                <a:latin typeface="Tahoma"/>
                <a:cs typeface="Tahoma"/>
              </a:rPr>
              <a:t> </a:t>
            </a:r>
            <a:r>
              <a:rPr dirty="0" sz="1500" spc="-50">
                <a:latin typeface="Tahoma"/>
                <a:cs typeface="Tahoma"/>
              </a:rPr>
              <a:t>=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3835399" y="2498410"/>
            <a:ext cx="163893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17804" algn="l"/>
                <a:tab pos="650240" algn="l"/>
                <a:tab pos="970280" algn="l"/>
              </a:tabLst>
            </a:pPr>
            <a:r>
              <a:rPr dirty="0" u="sng" sz="14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none" sz="1450">
                <a:latin typeface="Times New Roman"/>
                <a:cs typeface="Times New Roman"/>
              </a:rPr>
              <a:t> </a:t>
            </a:r>
            <a:r>
              <a:rPr dirty="0" u="none" sz="1500">
                <a:latin typeface="Tahoma"/>
                <a:cs typeface="Tahoma"/>
              </a:rPr>
              <a:t>=	</a:t>
            </a:r>
            <a:r>
              <a:rPr dirty="0" u="sng" sz="14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none" sz="1450" spc="-30">
                <a:latin typeface="Times New Roman"/>
                <a:cs typeface="Times New Roman"/>
              </a:rPr>
              <a:t> </a:t>
            </a:r>
            <a:r>
              <a:rPr dirty="0" u="none" sz="1500">
                <a:latin typeface="Tahoma"/>
                <a:cs typeface="Tahoma"/>
              </a:rPr>
              <a:t>=</a:t>
            </a:r>
            <a:r>
              <a:rPr dirty="0" u="none" sz="1500" spc="-100">
                <a:latin typeface="Tahoma"/>
                <a:cs typeface="Tahoma"/>
              </a:rPr>
              <a:t> </a:t>
            </a:r>
            <a:r>
              <a:rPr dirty="0" u="none" sz="1500" spc="-75">
                <a:latin typeface="Tahoma"/>
                <a:cs typeface="Tahoma"/>
              </a:rPr>
              <a:t>0.776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69" name="object 69" descr=""/>
          <p:cNvSpPr/>
          <p:nvPr/>
        </p:nvSpPr>
        <p:spPr>
          <a:xfrm>
            <a:off x="3676649" y="2657474"/>
            <a:ext cx="352425" cy="9525"/>
          </a:xfrm>
          <a:custGeom>
            <a:avLst/>
            <a:gdLst/>
            <a:ahLst/>
            <a:cxnLst/>
            <a:rect l="l" t="t" r="r" b="b"/>
            <a:pathLst>
              <a:path w="352425" h="9525">
                <a:moveTo>
                  <a:pt x="352424" y="9524"/>
                </a:moveTo>
                <a:lnTo>
                  <a:pt x="0" y="9524"/>
                </a:lnTo>
                <a:lnTo>
                  <a:pt x="0" y="0"/>
                </a:lnTo>
                <a:lnTo>
                  <a:pt x="352424" y="0"/>
                </a:lnTo>
                <a:lnTo>
                  <a:pt x="35242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 txBox="1"/>
          <p:nvPr/>
        </p:nvSpPr>
        <p:spPr>
          <a:xfrm>
            <a:off x="3787328" y="2381796"/>
            <a:ext cx="86423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8020" algn="l"/>
              </a:tabLst>
            </a:pPr>
            <a:r>
              <a:rPr dirty="0" sz="1550" spc="-50" i="1">
                <a:latin typeface="Verdana"/>
                <a:cs typeface="Verdana"/>
              </a:rPr>
              <a:t>σ</a:t>
            </a:r>
            <a:r>
              <a:rPr dirty="0" sz="1550" i="1">
                <a:latin typeface="Verdana"/>
                <a:cs typeface="Verdana"/>
              </a:rPr>
              <a:t>	</a:t>
            </a:r>
            <a:r>
              <a:rPr dirty="0" sz="1500" spc="-85">
                <a:latin typeface="Tahoma"/>
                <a:cs typeface="Tahoma"/>
              </a:rPr>
              <a:t>10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3682255" y="2658021"/>
            <a:ext cx="109156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51510" algn="l"/>
              </a:tabLst>
            </a:pPr>
            <a:r>
              <a:rPr dirty="0" sz="1500" spc="-25">
                <a:latin typeface="Tahoma"/>
                <a:cs typeface="Tahoma"/>
              </a:rPr>
              <a:t>√</a:t>
            </a:r>
            <a:r>
              <a:rPr dirty="0" sz="1550" spc="-25" i="1">
                <a:latin typeface="Verdana"/>
                <a:cs typeface="Verdana"/>
              </a:rPr>
              <a:t>N</a:t>
            </a:r>
            <a:r>
              <a:rPr dirty="0" sz="1550" i="1">
                <a:latin typeface="Verdana"/>
                <a:cs typeface="Verdana"/>
              </a:rPr>
              <a:t>	</a:t>
            </a:r>
            <a:r>
              <a:rPr dirty="0" sz="1500" spc="-45">
                <a:latin typeface="Tahoma"/>
                <a:cs typeface="Tahoma"/>
              </a:rPr>
              <a:t>√166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72" name="object 72" descr=""/>
          <p:cNvSpPr/>
          <p:nvPr/>
        </p:nvSpPr>
        <p:spPr>
          <a:xfrm>
            <a:off x="4314824" y="2657474"/>
            <a:ext cx="466725" cy="9525"/>
          </a:xfrm>
          <a:custGeom>
            <a:avLst/>
            <a:gdLst/>
            <a:ahLst/>
            <a:cxnLst/>
            <a:rect l="l" t="t" r="r" b="b"/>
            <a:pathLst>
              <a:path w="466725" h="9525">
                <a:moveTo>
                  <a:pt x="466724" y="9524"/>
                </a:moveTo>
                <a:lnTo>
                  <a:pt x="0" y="9524"/>
                </a:lnTo>
                <a:lnTo>
                  <a:pt x="0" y="0"/>
                </a:lnTo>
                <a:lnTo>
                  <a:pt x="466724" y="0"/>
                </a:lnTo>
                <a:lnTo>
                  <a:pt x="46672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 txBox="1"/>
          <p:nvPr/>
        </p:nvSpPr>
        <p:spPr>
          <a:xfrm>
            <a:off x="3459956" y="4944021"/>
            <a:ext cx="172910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550" spc="-25" i="1">
                <a:latin typeface="Verdana"/>
                <a:cs typeface="Verdana"/>
              </a:rPr>
              <a:t>P</a:t>
            </a:r>
            <a:r>
              <a:rPr dirty="0" sz="1550" spc="-390" i="1">
                <a:latin typeface="Verdana"/>
                <a:cs typeface="Verdana"/>
              </a:rPr>
              <a:t> </a:t>
            </a:r>
            <a:r>
              <a:rPr dirty="0" sz="1500" spc="-30">
                <a:latin typeface="Tahoma"/>
                <a:cs typeface="Tahoma"/>
              </a:rPr>
              <a:t>(</a:t>
            </a:r>
            <a:r>
              <a:rPr dirty="0" sz="1550" spc="-715" i="1">
                <a:latin typeface="Verdana"/>
                <a:cs typeface="Verdana"/>
              </a:rPr>
              <a:t>X</a:t>
            </a:r>
            <a:r>
              <a:rPr dirty="0" baseline="11111" sz="2250" spc="-44">
                <a:latin typeface="Tahoma"/>
                <a:cs typeface="Tahoma"/>
              </a:rPr>
              <a:t>¯</a:t>
            </a:r>
            <a:r>
              <a:rPr dirty="0" baseline="11111" sz="2250" spc="7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&gt;</a:t>
            </a:r>
            <a:r>
              <a:rPr dirty="0" sz="1500" spc="5">
                <a:latin typeface="Tahoma"/>
                <a:cs typeface="Tahoma"/>
              </a:rPr>
              <a:t> </a:t>
            </a:r>
            <a:r>
              <a:rPr dirty="0" sz="1500" spc="-70">
                <a:latin typeface="Tahoma"/>
                <a:cs typeface="Tahoma"/>
              </a:rPr>
              <a:t>55.71|</a:t>
            </a:r>
            <a:r>
              <a:rPr dirty="0" sz="1550" spc="-70" i="1">
                <a:latin typeface="Verdana"/>
                <a:cs typeface="Verdana"/>
              </a:rPr>
              <a:t>H</a:t>
            </a:r>
            <a:r>
              <a:rPr dirty="0" baseline="-13227" sz="1575" spc="-104">
                <a:latin typeface="Tahoma"/>
                <a:cs typeface="Tahoma"/>
              </a:rPr>
              <a:t>0</a:t>
            </a:r>
            <a:r>
              <a:rPr dirty="0" sz="1500" spc="-70">
                <a:latin typeface="Tahoma"/>
                <a:cs typeface="Tahoma"/>
              </a:rPr>
              <a:t>) </a:t>
            </a:r>
            <a:r>
              <a:rPr dirty="0" sz="1500" spc="-25">
                <a:latin typeface="Tahoma"/>
                <a:cs typeface="Tahoma"/>
              </a:rPr>
              <a:t>=?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74" name="object 7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71499" y="3771899"/>
            <a:ext cx="7505700" cy="1247775"/>
          </a:xfrm>
          <a:custGeom>
            <a:avLst/>
            <a:gdLst/>
            <a:ahLst/>
            <a:cxnLst/>
            <a:rect l="l" t="t" r="r" b="b"/>
            <a:pathLst>
              <a:path w="7505700" h="1247775">
                <a:moveTo>
                  <a:pt x="7505699" y="1247774"/>
                </a:moveTo>
                <a:lnTo>
                  <a:pt x="0" y="1247774"/>
                </a:lnTo>
                <a:lnTo>
                  <a:pt x="0" y="0"/>
                </a:lnTo>
                <a:lnTo>
                  <a:pt x="7505699" y="0"/>
                </a:lnTo>
                <a:lnTo>
                  <a:pt x="7505699" y="1247774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945457" y="1609650"/>
            <a:ext cx="3041650" cy="0"/>
          </a:xfrm>
          <a:custGeom>
            <a:avLst/>
            <a:gdLst/>
            <a:ahLst/>
            <a:cxnLst/>
            <a:rect l="l" t="t" r="r" b="b"/>
            <a:pathLst>
              <a:path w="3041650" h="0">
                <a:moveTo>
                  <a:pt x="0" y="0"/>
                </a:moveTo>
                <a:lnTo>
                  <a:pt x="3041190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945457" y="1301985"/>
            <a:ext cx="3041650" cy="0"/>
          </a:xfrm>
          <a:custGeom>
            <a:avLst/>
            <a:gdLst/>
            <a:ahLst/>
            <a:cxnLst/>
            <a:rect l="l" t="t" r="r" b="b"/>
            <a:pathLst>
              <a:path w="3041650" h="0">
                <a:moveTo>
                  <a:pt x="0" y="0"/>
                </a:moveTo>
                <a:lnTo>
                  <a:pt x="3041190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945457" y="994320"/>
            <a:ext cx="3041650" cy="0"/>
          </a:xfrm>
          <a:custGeom>
            <a:avLst/>
            <a:gdLst/>
            <a:ahLst/>
            <a:cxnLst/>
            <a:rect l="l" t="t" r="r" b="b"/>
            <a:pathLst>
              <a:path w="3041650" h="0">
                <a:moveTo>
                  <a:pt x="0" y="0"/>
                </a:moveTo>
                <a:lnTo>
                  <a:pt x="3041190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2940375" y="466219"/>
            <a:ext cx="3051810" cy="1363980"/>
            <a:chOff x="2940375" y="466219"/>
            <a:chExt cx="3051810" cy="1363980"/>
          </a:xfrm>
        </p:grpSpPr>
        <p:sp>
          <p:nvSpPr>
            <p:cNvPr id="8" name="object 8" descr=""/>
            <p:cNvSpPr/>
            <p:nvPr/>
          </p:nvSpPr>
          <p:spPr>
            <a:xfrm>
              <a:off x="2945457" y="686655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997286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170076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342902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515692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688481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61270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034060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206849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379676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552466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725255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898044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070834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243623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416450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589239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762029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934818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945457" y="1763501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945457" y="1455836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945457" y="1148171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945457" y="840506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945457" y="532841"/>
              <a:ext cx="3041650" cy="0"/>
            </a:xfrm>
            <a:custGeom>
              <a:avLst/>
              <a:gdLst/>
              <a:ahLst/>
              <a:cxnLst/>
              <a:rect l="l" t="t" r="r" b="b"/>
              <a:pathLst>
                <a:path w="3041650" h="0">
                  <a:moveTo>
                    <a:pt x="0" y="0"/>
                  </a:moveTo>
                  <a:lnTo>
                    <a:pt x="304119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083681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256507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429297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602086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774876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947665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120455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293244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466071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638860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811650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4984439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157229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330018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5502845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675634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5848424" y="471301"/>
              <a:ext cx="0" cy="1353820"/>
            </a:xfrm>
            <a:custGeom>
              <a:avLst/>
              <a:gdLst/>
              <a:ahLst/>
              <a:cxnLst/>
              <a:rect l="l" t="t" r="r" b="b"/>
              <a:pathLst>
                <a:path w="0" h="1353820">
                  <a:moveTo>
                    <a:pt x="0" y="1353740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083681" y="537604"/>
              <a:ext cx="2592070" cy="1226185"/>
            </a:xfrm>
            <a:custGeom>
              <a:avLst/>
              <a:gdLst/>
              <a:ahLst/>
              <a:cxnLst/>
              <a:rect l="l" t="t" r="r" b="b"/>
              <a:pathLst>
                <a:path w="2592070" h="1226185">
                  <a:moveTo>
                    <a:pt x="2591953" y="1225897"/>
                  </a:moveTo>
                  <a:lnTo>
                    <a:pt x="0" y="1225897"/>
                  </a:lnTo>
                  <a:lnTo>
                    <a:pt x="647997" y="1225748"/>
                  </a:lnTo>
                  <a:lnTo>
                    <a:pt x="699826" y="1225376"/>
                  </a:lnTo>
                  <a:lnTo>
                    <a:pt x="751656" y="1224334"/>
                  </a:lnTo>
                  <a:lnTo>
                    <a:pt x="803522" y="1221395"/>
                  </a:lnTo>
                  <a:lnTo>
                    <a:pt x="855352" y="1214176"/>
                  </a:lnTo>
                  <a:lnTo>
                    <a:pt x="907181" y="1197917"/>
                  </a:lnTo>
                  <a:lnTo>
                    <a:pt x="959011" y="1164877"/>
                  </a:lnTo>
                  <a:lnTo>
                    <a:pt x="1010877" y="1104230"/>
                  </a:lnTo>
                  <a:lnTo>
                    <a:pt x="1036773" y="1059767"/>
                  </a:lnTo>
                  <a:lnTo>
                    <a:pt x="1062707" y="1004180"/>
                  </a:lnTo>
                  <a:lnTo>
                    <a:pt x="1088640" y="936538"/>
                  </a:lnTo>
                  <a:lnTo>
                    <a:pt x="1114536" y="856654"/>
                  </a:lnTo>
                  <a:lnTo>
                    <a:pt x="1140469" y="765236"/>
                  </a:lnTo>
                  <a:lnTo>
                    <a:pt x="1166365" y="663959"/>
                  </a:lnTo>
                  <a:lnTo>
                    <a:pt x="1192299" y="555649"/>
                  </a:lnTo>
                  <a:lnTo>
                    <a:pt x="1218232" y="444251"/>
                  </a:lnTo>
                  <a:lnTo>
                    <a:pt x="1244128" y="334602"/>
                  </a:lnTo>
                  <a:lnTo>
                    <a:pt x="1270061" y="232209"/>
                  </a:lnTo>
                  <a:lnTo>
                    <a:pt x="1295995" y="142688"/>
                  </a:lnTo>
                  <a:lnTo>
                    <a:pt x="1321891" y="71400"/>
                  </a:lnTo>
                  <a:lnTo>
                    <a:pt x="1347824" y="22770"/>
                  </a:lnTo>
                  <a:lnTo>
                    <a:pt x="1373720" y="0"/>
                  </a:lnTo>
                  <a:lnTo>
                    <a:pt x="1399654" y="4613"/>
                  </a:lnTo>
                  <a:lnTo>
                    <a:pt x="1425587" y="36239"/>
                  </a:lnTo>
                  <a:lnTo>
                    <a:pt x="1451483" y="92831"/>
                  </a:lnTo>
                  <a:lnTo>
                    <a:pt x="1477416" y="170780"/>
                  </a:lnTo>
                  <a:lnTo>
                    <a:pt x="1503350" y="265174"/>
                  </a:lnTo>
                  <a:lnTo>
                    <a:pt x="1529246" y="370619"/>
                  </a:lnTo>
                  <a:lnTo>
                    <a:pt x="1581075" y="592298"/>
                  </a:lnTo>
                  <a:lnTo>
                    <a:pt x="1607008" y="698636"/>
                  </a:lnTo>
                  <a:lnTo>
                    <a:pt x="1632942" y="796900"/>
                  </a:lnTo>
                  <a:lnTo>
                    <a:pt x="1658838" y="884634"/>
                  </a:lnTo>
                  <a:lnTo>
                    <a:pt x="1684771" y="960462"/>
                  </a:lnTo>
                  <a:lnTo>
                    <a:pt x="1710704" y="1024011"/>
                  </a:lnTo>
                  <a:lnTo>
                    <a:pt x="1736600" y="1075766"/>
                  </a:lnTo>
                  <a:lnTo>
                    <a:pt x="1762534" y="1116768"/>
                  </a:lnTo>
                  <a:lnTo>
                    <a:pt x="1788430" y="1148320"/>
                  </a:lnTo>
                  <a:lnTo>
                    <a:pt x="1840296" y="1189248"/>
                  </a:lnTo>
                  <a:lnTo>
                    <a:pt x="1892126" y="1210084"/>
                  </a:lnTo>
                  <a:lnTo>
                    <a:pt x="1943955" y="1219646"/>
                  </a:lnTo>
                  <a:lnTo>
                    <a:pt x="1995784" y="1223627"/>
                  </a:lnTo>
                  <a:lnTo>
                    <a:pt x="2047651" y="1225153"/>
                  </a:lnTo>
                  <a:lnTo>
                    <a:pt x="2099480" y="1225673"/>
                  </a:lnTo>
                  <a:lnTo>
                    <a:pt x="2203139" y="1225897"/>
                  </a:lnTo>
                  <a:lnTo>
                    <a:pt x="2591953" y="122589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5779293" y="532841"/>
              <a:ext cx="0" cy="1231265"/>
            </a:xfrm>
            <a:custGeom>
              <a:avLst/>
              <a:gdLst/>
              <a:ahLst/>
              <a:cxnLst/>
              <a:rect l="l" t="t" r="r" b="b"/>
              <a:pathLst>
                <a:path w="0" h="1231264">
                  <a:moveTo>
                    <a:pt x="0" y="123065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945457" y="471301"/>
              <a:ext cx="3041650" cy="1353820"/>
            </a:xfrm>
            <a:custGeom>
              <a:avLst/>
              <a:gdLst/>
              <a:ahLst/>
              <a:cxnLst/>
              <a:rect l="l" t="t" r="r" b="b"/>
              <a:pathLst>
                <a:path w="3041650" h="1353820">
                  <a:moveTo>
                    <a:pt x="0" y="1353740"/>
                  </a:moveTo>
                  <a:lnTo>
                    <a:pt x="3041190" y="1353740"/>
                  </a:lnTo>
                  <a:lnTo>
                    <a:pt x="3041190" y="0"/>
                  </a:lnTo>
                  <a:lnTo>
                    <a:pt x="0" y="0"/>
                  </a:lnTo>
                  <a:lnTo>
                    <a:pt x="0" y="1353740"/>
                  </a:lnTo>
                  <a:close/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2" name="object 5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5686" y="1733922"/>
            <a:ext cx="108958" cy="59233"/>
          </a:xfrm>
          <a:prstGeom prst="rect">
            <a:avLst/>
          </a:prstGeom>
        </p:spPr>
      </p:pic>
      <p:sp>
        <p:nvSpPr>
          <p:cNvPr id="53" name="object 53" descr=""/>
          <p:cNvSpPr/>
          <p:nvPr/>
        </p:nvSpPr>
        <p:spPr>
          <a:xfrm>
            <a:off x="2785681" y="1426260"/>
            <a:ext cx="109220" cy="59055"/>
          </a:xfrm>
          <a:custGeom>
            <a:avLst/>
            <a:gdLst/>
            <a:ahLst/>
            <a:cxnLst/>
            <a:rect l="l" t="t" r="r" b="b"/>
            <a:pathLst>
              <a:path w="109219" h="59055">
                <a:moveTo>
                  <a:pt x="39141" y="37807"/>
                </a:moveTo>
                <a:lnTo>
                  <a:pt x="31737" y="3848"/>
                </a:lnTo>
                <a:lnTo>
                  <a:pt x="31737" y="21056"/>
                </a:lnTo>
                <a:lnTo>
                  <a:pt x="31699" y="37807"/>
                </a:lnTo>
                <a:lnTo>
                  <a:pt x="20688" y="53174"/>
                </a:lnTo>
                <a:lnTo>
                  <a:pt x="18376" y="53174"/>
                </a:lnTo>
                <a:lnTo>
                  <a:pt x="7518" y="38849"/>
                </a:lnTo>
                <a:lnTo>
                  <a:pt x="7518" y="20053"/>
                </a:lnTo>
                <a:lnTo>
                  <a:pt x="7835" y="18122"/>
                </a:lnTo>
                <a:lnTo>
                  <a:pt x="7937" y="17564"/>
                </a:lnTo>
                <a:lnTo>
                  <a:pt x="8013" y="17233"/>
                </a:lnTo>
                <a:lnTo>
                  <a:pt x="8382" y="15557"/>
                </a:lnTo>
                <a:lnTo>
                  <a:pt x="8509" y="15151"/>
                </a:lnTo>
                <a:lnTo>
                  <a:pt x="8610" y="14770"/>
                </a:lnTo>
                <a:lnTo>
                  <a:pt x="8839" y="14033"/>
                </a:lnTo>
                <a:lnTo>
                  <a:pt x="17221" y="6032"/>
                </a:lnTo>
                <a:lnTo>
                  <a:pt x="22136" y="6032"/>
                </a:lnTo>
                <a:lnTo>
                  <a:pt x="30632" y="15151"/>
                </a:lnTo>
                <a:lnTo>
                  <a:pt x="30734" y="15557"/>
                </a:lnTo>
                <a:lnTo>
                  <a:pt x="30949" y="16332"/>
                </a:lnTo>
                <a:lnTo>
                  <a:pt x="31203" y="17564"/>
                </a:lnTo>
                <a:lnTo>
                  <a:pt x="31292" y="18122"/>
                </a:lnTo>
                <a:lnTo>
                  <a:pt x="31483" y="19050"/>
                </a:lnTo>
                <a:lnTo>
                  <a:pt x="31584" y="20053"/>
                </a:lnTo>
                <a:lnTo>
                  <a:pt x="31737" y="21056"/>
                </a:lnTo>
                <a:lnTo>
                  <a:pt x="31737" y="3848"/>
                </a:lnTo>
                <a:lnTo>
                  <a:pt x="22174" y="0"/>
                </a:lnTo>
                <a:lnTo>
                  <a:pt x="17195" y="0"/>
                </a:lnTo>
                <a:lnTo>
                  <a:pt x="304" y="18834"/>
                </a:lnTo>
                <a:lnTo>
                  <a:pt x="266" y="19050"/>
                </a:lnTo>
                <a:lnTo>
                  <a:pt x="0" y="21056"/>
                </a:lnTo>
                <a:lnTo>
                  <a:pt x="0" y="37807"/>
                </a:lnTo>
                <a:lnTo>
                  <a:pt x="15405" y="58864"/>
                </a:lnTo>
                <a:lnTo>
                  <a:pt x="23520" y="58864"/>
                </a:lnTo>
                <a:lnTo>
                  <a:pt x="33477" y="53022"/>
                </a:lnTo>
                <a:lnTo>
                  <a:pt x="34264" y="51981"/>
                </a:lnTo>
                <a:lnTo>
                  <a:pt x="38862" y="39814"/>
                </a:lnTo>
                <a:lnTo>
                  <a:pt x="39141" y="37807"/>
                </a:lnTo>
                <a:close/>
              </a:path>
              <a:path w="109219" h="59055">
                <a:moveTo>
                  <a:pt x="58534" y="49453"/>
                </a:moveTo>
                <a:lnTo>
                  <a:pt x="50533" y="49453"/>
                </a:lnTo>
                <a:lnTo>
                  <a:pt x="50533" y="58420"/>
                </a:lnTo>
                <a:lnTo>
                  <a:pt x="58534" y="58420"/>
                </a:lnTo>
                <a:lnTo>
                  <a:pt x="58534" y="49453"/>
                </a:lnTo>
                <a:close/>
              </a:path>
              <a:path w="109219" h="59055">
                <a:moveTo>
                  <a:pt x="108724" y="52171"/>
                </a:moveTo>
                <a:lnTo>
                  <a:pt x="94653" y="52171"/>
                </a:lnTo>
                <a:lnTo>
                  <a:pt x="94653" y="749"/>
                </a:lnTo>
                <a:lnTo>
                  <a:pt x="87884" y="749"/>
                </a:lnTo>
                <a:lnTo>
                  <a:pt x="74231" y="10121"/>
                </a:lnTo>
                <a:lnTo>
                  <a:pt x="74231" y="17081"/>
                </a:lnTo>
                <a:lnTo>
                  <a:pt x="87249" y="7785"/>
                </a:lnTo>
                <a:lnTo>
                  <a:pt x="87249" y="52171"/>
                </a:lnTo>
                <a:lnTo>
                  <a:pt x="72555" y="52171"/>
                </a:lnTo>
                <a:lnTo>
                  <a:pt x="72555" y="58420"/>
                </a:lnTo>
                <a:lnTo>
                  <a:pt x="108724" y="58420"/>
                </a:lnTo>
                <a:lnTo>
                  <a:pt x="108724" y="52171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4" name="object 5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5686" y="810852"/>
            <a:ext cx="109132" cy="59308"/>
          </a:xfrm>
          <a:prstGeom prst="rect">
            <a:avLst/>
          </a:prstGeom>
        </p:spPr>
      </p:pic>
      <p:sp>
        <p:nvSpPr>
          <p:cNvPr id="55" name="object 55" descr=""/>
          <p:cNvSpPr/>
          <p:nvPr/>
        </p:nvSpPr>
        <p:spPr>
          <a:xfrm>
            <a:off x="2785681" y="503338"/>
            <a:ext cx="110489" cy="59055"/>
          </a:xfrm>
          <a:custGeom>
            <a:avLst/>
            <a:gdLst/>
            <a:ahLst/>
            <a:cxnLst/>
            <a:rect l="l" t="t" r="r" b="b"/>
            <a:pathLst>
              <a:path w="110489" h="59054">
                <a:moveTo>
                  <a:pt x="39141" y="37731"/>
                </a:moveTo>
                <a:lnTo>
                  <a:pt x="37947" y="14706"/>
                </a:lnTo>
                <a:lnTo>
                  <a:pt x="37299" y="12611"/>
                </a:lnTo>
                <a:lnTo>
                  <a:pt x="37020" y="11836"/>
                </a:lnTo>
                <a:lnTo>
                  <a:pt x="36601" y="10756"/>
                </a:lnTo>
                <a:lnTo>
                  <a:pt x="35801" y="9042"/>
                </a:lnTo>
                <a:lnTo>
                  <a:pt x="35674" y="8826"/>
                </a:lnTo>
                <a:lnTo>
                  <a:pt x="35458" y="8445"/>
                </a:lnTo>
                <a:lnTo>
                  <a:pt x="34251" y="6515"/>
                </a:lnTo>
                <a:lnTo>
                  <a:pt x="33693" y="5803"/>
                </a:lnTo>
                <a:lnTo>
                  <a:pt x="32702" y="4660"/>
                </a:lnTo>
                <a:lnTo>
                  <a:pt x="31737" y="3784"/>
                </a:lnTo>
                <a:lnTo>
                  <a:pt x="31737" y="20993"/>
                </a:lnTo>
                <a:lnTo>
                  <a:pt x="31699" y="37731"/>
                </a:lnTo>
                <a:lnTo>
                  <a:pt x="31407" y="39700"/>
                </a:lnTo>
                <a:lnTo>
                  <a:pt x="30657" y="43205"/>
                </a:lnTo>
                <a:lnTo>
                  <a:pt x="30568" y="43459"/>
                </a:lnTo>
                <a:lnTo>
                  <a:pt x="30403" y="43980"/>
                </a:lnTo>
                <a:lnTo>
                  <a:pt x="22326" y="52832"/>
                </a:lnTo>
                <a:lnTo>
                  <a:pt x="22644" y="52832"/>
                </a:lnTo>
                <a:lnTo>
                  <a:pt x="20688" y="53098"/>
                </a:lnTo>
                <a:lnTo>
                  <a:pt x="18376" y="53098"/>
                </a:lnTo>
                <a:lnTo>
                  <a:pt x="16433" y="52832"/>
                </a:lnTo>
                <a:lnTo>
                  <a:pt x="16751" y="52832"/>
                </a:lnTo>
                <a:lnTo>
                  <a:pt x="15709" y="52539"/>
                </a:lnTo>
                <a:lnTo>
                  <a:pt x="7518" y="38735"/>
                </a:lnTo>
                <a:lnTo>
                  <a:pt x="7531" y="19951"/>
                </a:lnTo>
                <a:lnTo>
                  <a:pt x="7823" y="18046"/>
                </a:lnTo>
                <a:lnTo>
                  <a:pt x="8382" y="15481"/>
                </a:lnTo>
                <a:lnTo>
                  <a:pt x="8509" y="15074"/>
                </a:lnTo>
                <a:lnTo>
                  <a:pt x="8610" y="14706"/>
                </a:lnTo>
                <a:lnTo>
                  <a:pt x="15735" y="6324"/>
                </a:lnTo>
                <a:lnTo>
                  <a:pt x="15519" y="6324"/>
                </a:lnTo>
                <a:lnTo>
                  <a:pt x="17335" y="5956"/>
                </a:lnTo>
                <a:lnTo>
                  <a:pt x="18529" y="5803"/>
                </a:lnTo>
                <a:lnTo>
                  <a:pt x="20878" y="5803"/>
                </a:lnTo>
                <a:lnTo>
                  <a:pt x="21996" y="5956"/>
                </a:lnTo>
                <a:lnTo>
                  <a:pt x="23723" y="6324"/>
                </a:lnTo>
                <a:lnTo>
                  <a:pt x="23482" y="6324"/>
                </a:lnTo>
                <a:lnTo>
                  <a:pt x="24041" y="6515"/>
                </a:lnTo>
                <a:lnTo>
                  <a:pt x="30289" y="13957"/>
                </a:lnTo>
                <a:lnTo>
                  <a:pt x="30543" y="14706"/>
                </a:lnTo>
                <a:lnTo>
                  <a:pt x="30632" y="15074"/>
                </a:lnTo>
                <a:lnTo>
                  <a:pt x="30734" y="15481"/>
                </a:lnTo>
                <a:lnTo>
                  <a:pt x="30937" y="16230"/>
                </a:lnTo>
                <a:lnTo>
                  <a:pt x="31191" y="17449"/>
                </a:lnTo>
                <a:lnTo>
                  <a:pt x="31292" y="18046"/>
                </a:lnTo>
                <a:lnTo>
                  <a:pt x="31483" y="18973"/>
                </a:lnTo>
                <a:lnTo>
                  <a:pt x="31584" y="19951"/>
                </a:lnTo>
                <a:lnTo>
                  <a:pt x="31737" y="20993"/>
                </a:lnTo>
                <a:lnTo>
                  <a:pt x="31737" y="3784"/>
                </a:lnTo>
                <a:lnTo>
                  <a:pt x="22961" y="0"/>
                </a:lnTo>
                <a:lnTo>
                  <a:pt x="16370" y="0"/>
                </a:lnTo>
                <a:lnTo>
                  <a:pt x="304" y="18757"/>
                </a:lnTo>
                <a:lnTo>
                  <a:pt x="266" y="18973"/>
                </a:lnTo>
                <a:lnTo>
                  <a:pt x="0" y="20993"/>
                </a:lnTo>
                <a:lnTo>
                  <a:pt x="0" y="37731"/>
                </a:lnTo>
                <a:lnTo>
                  <a:pt x="13093" y="58153"/>
                </a:lnTo>
                <a:lnTo>
                  <a:pt x="13843" y="58420"/>
                </a:lnTo>
                <a:lnTo>
                  <a:pt x="14630" y="58610"/>
                </a:lnTo>
                <a:lnTo>
                  <a:pt x="16192" y="58902"/>
                </a:lnTo>
                <a:lnTo>
                  <a:pt x="22733" y="58902"/>
                </a:lnTo>
                <a:lnTo>
                  <a:pt x="38862" y="39700"/>
                </a:lnTo>
                <a:lnTo>
                  <a:pt x="39141" y="37731"/>
                </a:lnTo>
                <a:close/>
              </a:path>
              <a:path w="110489" h="59054">
                <a:moveTo>
                  <a:pt x="58534" y="49377"/>
                </a:moveTo>
                <a:lnTo>
                  <a:pt x="50533" y="49377"/>
                </a:lnTo>
                <a:lnTo>
                  <a:pt x="50533" y="58343"/>
                </a:lnTo>
                <a:lnTo>
                  <a:pt x="58534" y="58343"/>
                </a:lnTo>
                <a:lnTo>
                  <a:pt x="58534" y="49377"/>
                </a:lnTo>
                <a:close/>
              </a:path>
              <a:path w="110489" h="59054">
                <a:moveTo>
                  <a:pt x="110363" y="39446"/>
                </a:moveTo>
                <a:lnTo>
                  <a:pt x="102247" y="39446"/>
                </a:lnTo>
                <a:lnTo>
                  <a:pt x="102247" y="8966"/>
                </a:lnTo>
                <a:lnTo>
                  <a:pt x="102247" y="673"/>
                </a:lnTo>
                <a:lnTo>
                  <a:pt x="95288" y="673"/>
                </a:lnTo>
                <a:lnTo>
                  <a:pt x="95288" y="9118"/>
                </a:lnTo>
                <a:lnTo>
                  <a:pt x="95288" y="39446"/>
                </a:lnTo>
                <a:lnTo>
                  <a:pt x="74904" y="39446"/>
                </a:lnTo>
                <a:lnTo>
                  <a:pt x="75196" y="39103"/>
                </a:lnTo>
                <a:lnTo>
                  <a:pt x="75311" y="38925"/>
                </a:lnTo>
                <a:lnTo>
                  <a:pt x="75463" y="38735"/>
                </a:lnTo>
                <a:lnTo>
                  <a:pt x="75641" y="38544"/>
                </a:lnTo>
                <a:lnTo>
                  <a:pt x="76390" y="37579"/>
                </a:lnTo>
                <a:lnTo>
                  <a:pt x="77127" y="36461"/>
                </a:lnTo>
                <a:lnTo>
                  <a:pt x="77317" y="36283"/>
                </a:lnTo>
                <a:lnTo>
                  <a:pt x="77431" y="36093"/>
                </a:lnTo>
                <a:lnTo>
                  <a:pt x="77685" y="35763"/>
                </a:lnTo>
                <a:lnTo>
                  <a:pt x="77762" y="35610"/>
                </a:lnTo>
                <a:lnTo>
                  <a:pt x="92532" y="13843"/>
                </a:lnTo>
                <a:lnTo>
                  <a:pt x="93014" y="13030"/>
                </a:lnTo>
                <a:lnTo>
                  <a:pt x="93205" y="12763"/>
                </a:lnTo>
                <a:lnTo>
                  <a:pt x="93611" y="11988"/>
                </a:lnTo>
                <a:lnTo>
                  <a:pt x="93726" y="11836"/>
                </a:lnTo>
                <a:lnTo>
                  <a:pt x="93878" y="11544"/>
                </a:lnTo>
                <a:lnTo>
                  <a:pt x="93992" y="11391"/>
                </a:lnTo>
                <a:lnTo>
                  <a:pt x="94513" y="10388"/>
                </a:lnTo>
                <a:lnTo>
                  <a:pt x="94653" y="10160"/>
                </a:lnTo>
                <a:lnTo>
                  <a:pt x="94729" y="10007"/>
                </a:lnTo>
                <a:lnTo>
                  <a:pt x="94881" y="9791"/>
                </a:lnTo>
                <a:lnTo>
                  <a:pt x="94996" y="9563"/>
                </a:lnTo>
                <a:lnTo>
                  <a:pt x="95097" y="9347"/>
                </a:lnTo>
                <a:lnTo>
                  <a:pt x="95288" y="9118"/>
                </a:lnTo>
                <a:lnTo>
                  <a:pt x="95288" y="673"/>
                </a:lnTo>
                <a:lnTo>
                  <a:pt x="94513" y="673"/>
                </a:lnTo>
                <a:lnTo>
                  <a:pt x="68160" y="39446"/>
                </a:lnTo>
                <a:lnTo>
                  <a:pt x="68097" y="45288"/>
                </a:lnTo>
                <a:lnTo>
                  <a:pt x="95288" y="45288"/>
                </a:lnTo>
                <a:lnTo>
                  <a:pt x="95288" y="58343"/>
                </a:lnTo>
                <a:lnTo>
                  <a:pt x="102247" y="58343"/>
                </a:lnTo>
                <a:lnTo>
                  <a:pt x="102247" y="45288"/>
                </a:lnTo>
                <a:lnTo>
                  <a:pt x="110363" y="45288"/>
                </a:lnTo>
                <a:lnTo>
                  <a:pt x="110363" y="39446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2919375" y="1763501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2919375" y="1455836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2919375" y="1148171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2919375" y="840506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2919375" y="532841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3083681" y="182504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82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3256508" y="182504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82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3429297" y="182504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82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3602087" y="182504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82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3774876" y="182504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82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4293244" y="182504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82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4466071" y="182504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82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4638860" y="182504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82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4811650" y="182504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82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4984439" y="182504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82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5157229" y="182504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82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5330018" y="182504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82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5502845" y="182504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82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5675634" y="1825041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082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3038995" y="1872005"/>
            <a:ext cx="88900" cy="57785"/>
          </a:xfrm>
          <a:custGeom>
            <a:avLst/>
            <a:gdLst/>
            <a:ahLst/>
            <a:cxnLst/>
            <a:rect l="l" t="t" r="r" b="b"/>
            <a:pathLst>
              <a:path w="88900" h="57785">
                <a:moveTo>
                  <a:pt x="42227" y="38696"/>
                </a:moveTo>
                <a:lnTo>
                  <a:pt x="34150" y="38696"/>
                </a:lnTo>
                <a:lnTo>
                  <a:pt x="34150" y="8331"/>
                </a:lnTo>
                <a:lnTo>
                  <a:pt x="34150" y="0"/>
                </a:lnTo>
                <a:lnTo>
                  <a:pt x="27190" y="0"/>
                </a:lnTo>
                <a:lnTo>
                  <a:pt x="27190" y="8483"/>
                </a:lnTo>
                <a:lnTo>
                  <a:pt x="27190" y="38696"/>
                </a:lnTo>
                <a:lnTo>
                  <a:pt x="6908" y="38696"/>
                </a:lnTo>
                <a:lnTo>
                  <a:pt x="7023" y="38544"/>
                </a:lnTo>
                <a:lnTo>
                  <a:pt x="7137" y="38354"/>
                </a:lnTo>
                <a:lnTo>
                  <a:pt x="7289" y="38214"/>
                </a:lnTo>
                <a:lnTo>
                  <a:pt x="7950" y="37350"/>
                </a:lnTo>
                <a:lnTo>
                  <a:pt x="9410" y="35344"/>
                </a:lnTo>
                <a:lnTo>
                  <a:pt x="9525" y="35153"/>
                </a:lnTo>
                <a:lnTo>
                  <a:pt x="9664" y="34975"/>
                </a:lnTo>
                <a:lnTo>
                  <a:pt x="24777" y="12649"/>
                </a:lnTo>
                <a:lnTo>
                  <a:pt x="25069" y="12090"/>
                </a:lnTo>
                <a:lnTo>
                  <a:pt x="25184" y="11938"/>
                </a:lnTo>
                <a:lnTo>
                  <a:pt x="25336" y="11645"/>
                </a:lnTo>
                <a:lnTo>
                  <a:pt x="25438" y="11493"/>
                </a:lnTo>
                <a:lnTo>
                  <a:pt x="25590" y="11201"/>
                </a:lnTo>
                <a:lnTo>
                  <a:pt x="25704" y="11049"/>
                </a:lnTo>
                <a:lnTo>
                  <a:pt x="25857" y="10756"/>
                </a:lnTo>
                <a:lnTo>
                  <a:pt x="25958" y="10604"/>
                </a:lnTo>
                <a:lnTo>
                  <a:pt x="26555" y="9486"/>
                </a:lnTo>
                <a:lnTo>
                  <a:pt x="26784" y="9156"/>
                </a:lnTo>
                <a:lnTo>
                  <a:pt x="26898" y="8890"/>
                </a:lnTo>
                <a:lnTo>
                  <a:pt x="27000" y="8699"/>
                </a:lnTo>
                <a:lnTo>
                  <a:pt x="27190" y="8483"/>
                </a:lnTo>
                <a:lnTo>
                  <a:pt x="27190" y="0"/>
                </a:lnTo>
                <a:lnTo>
                  <a:pt x="26416" y="0"/>
                </a:lnTo>
                <a:lnTo>
                  <a:pt x="114" y="38696"/>
                </a:lnTo>
                <a:lnTo>
                  <a:pt x="0" y="44615"/>
                </a:lnTo>
                <a:lnTo>
                  <a:pt x="27190" y="44615"/>
                </a:lnTo>
                <a:lnTo>
                  <a:pt x="27190" y="57670"/>
                </a:lnTo>
                <a:lnTo>
                  <a:pt x="34150" y="57670"/>
                </a:lnTo>
                <a:lnTo>
                  <a:pt x="34150" y="44615"/>
                </a:lnTo>
                <a:lnTo>
                  <a:pt x="42227" y="44615"/>
                </a:lnTo>
                <a:lnTo>
                  <a:pt x="42227" y="38696"/>
                </a:lnTo>
                <a:close/>
              </a:path>
              <a:path w="88900" h="57785">
                <a:moveTo>
                  <a:pt x="88849" y="38735"/>
                </a:moveTo>
                <a:lnTo>
                  <a:pt x="80733" y="38735"/>
                </a:lnTo>
                <a:lnTo>
                  <a:pt x="80733" y="8331"/>
                </a:lnTo>
                <a:lnTo>
                  <a:pt x="80733" y="0"/>
                </a:lnTo>
                <a:lnTo>
                  <a:pt x="73825" y="0"/>
                </a:lnTo>
                <a:lnTo>
                  <a:pt x="73825" y="8331"/>
                </a:lnTo>
                <a:lnTo>
                  <a:pt x="73774" y="38735"/>
                </a:lnTo>
                <a:lnTo>
                  <a:pt x="53454" y="38735"/>
                </a:lnTo>
                <a:lnTo>
                  <a:pt x="53644" y="38544"/>
                </a:lnTo>
                <a:lnTo>
                  <a:pt x="53759" y="38354"/>
                </a:lnTo>
                <a:lnTo>
                  <a:pt x="53911" y="38214"/>
                </a:lnTo>
                <a:lnTo>
                  <a:pt x="56032" y="35344"/>
                </a:lnTo>
                <a:lnTo>
                  <a:pt x="56134" y="35153"/>
                </a:lnTo>
                <a:lnTo>
                  <a:pt x="56286" y="34975"/>
                </a:lnTo>
                <a:lnTo>
                  <a:pt x="71399" y="12649"/>
                </a:lnTo>
                <a:lnTo>
                  <a:pt x="71691" y="12090"/>
                </a:lnTo>
                <a:lnTo>
                  <a:pt x="71805" y="11938"/>
                </a:lnTo>
                <a:lnTo>
                  <a:pt x="71958" y="11645"/>
                </a:lnTo>
                <a:lnTo>
                  <a:pt x="72059" y="11493"/>
                </a:lnTo>
                <a:lnTo>
                  <a:pt x="72212" y="11201"/>
                </a:lnTo>
                <a:lnTo>
                  <a:pt x="72326" y="11049"/>
                </a:lnTo>
                <a:lnTo>
                  <a:pt x="72542" y="10604"/>
                </a:lnTo>
                <a:lnTo>
                  <a:pt x="72656" y="10452"/>
                </a:lnTo>
                <a:lnTo>
                  <a:pt x="73660" y="8826"/>
                </a:lnTo>
                <a:lnTo>
                  <a:pt x="73774" y="38735"/>
                </a:lnTo>
                <a:lnTo>
                  <a:pt x="73774" y="8432"/>
                </a:lnTo>
                <a:lnTo>
                  <a:pt x="73825" y="0"/>
                </a:lnTo>
                <a:lnTo>
                  <a:pt x="73025" y="0"/>
                </a:lnTo>
                <a:lnTo>
                  <a:pt x="46710" y="38735"/>
                </a:lnTo>
                <a:lnTo>
                  <a:pt x="46609" y="44615"/>
                </a:lnTo>
                <a:lnTo>
                  <a:pt x="73774" y="44615"/>
                </a:lnTo>
                <a:lnTo>
                  <a:pt x="73774" y="57670"/>
                </a:lnTo>
                <a:lnTo>
                  <a:pt x="80733" y="57670"/>
                </a:lnTo>
                <a:lnTo>
                  <a:pt x="80733" y="44615"/>
                </a:lnTo>
                <a:lnTo>
                  <a:pt x="88849" y="44615"/>
                </a:lnTo>
                <a:lnTo>
                  <a:pt x="88849" y="38735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3211779" y="1872005"/>
            <a:ext cx="88265" cy="59055"/>
          </a:xfrm>
          <a:custGeom>
            <a:avLst/>
            <a:gdLst/>
            <a:ahLst/>
            <a:cxnLst/>
            <a:rect l="l" t="t" r="r" b="b"/>
            <a:pathLst>
              <a:path w="88264" h="59055">
                <a:moveTo>
                  <a:pt x="42265" y="38811"/>
                </a:moveTo>
                <a:lnTo>
                  <a:pt x="34150" y="38811"/>
                </a:lnTo>
                <a:lnTo>
                  <a:pt x="34150" y="8331"/>
                </a:lnTo>
                <a:lnTo>
                  <a:pt x="34150" y="0"/>
                </a:lnTo>
                <a:lnTo>
                  <a:pt x="27203" y="0"/>
                </a:lnTo>
                <a:lnTo>
                  <a:pt x="27203" y="8331"/>
                </a:lnTo>
                <a:lnTo>
                  <a:pt x="27203" y="38811"/>
                </a:lnTo>
                <a:lnTo>
                  <a:pt x="6807" y="38811"/>
                </a:lnTo>
                <a:lnTo>
                  <a:pt x="7137" y="38354"/>
                </a:lnTo>
                <a:lnTo>
                  <a:pt x="7480" y="37985"/>
                </a:lnTo>
                <a:lnTo>
                  <a:pt x="7696" y="37655"/>
                </a:lnTo>
                <a:lnTo>
                  <a:pt x="7886" y="37465"/>
                </a:lnTo>
                <a:lnTo>
                  <a:pt x="8293" y="36906"/>
                </a:lnTo>
                <a:lnTo>
                  <a:pt x="9042" y="35826"/>
                </a:lnTo>
                <a:lnTo>
                  <a:pt x="9232" y="35610"/>
                </a:lnTo>
                <a:lnTo>
                  <a:pt x="9334" y="35420"/>
                </a:lnTo>
                <a:lnTo>
                  <a:pt x="9677" y="34975"/>
                </a:lnTo>
                <a:lnTo>
                  <a:pt x="24523" y="13093"/>
                </a:lnTo>
                <a:lnTo>
                  <a:pt x="24625" y="12877"/>
                </a:lnTo>
                <a:lnTo>
                  <a:pt x="24930" y="12382"/>
                </a:lnTo>
                <a:lnTo>
                  <a:pt x="25044" y="12242"/>
                </a:lnTo>
                <a:lnTo>
                  <a:pt x="25260" y="11798"/>
                </a:lnTo>
                <a:lnTo>
                  <a:pt x="25374" y="11645"/>
                </a:lnTo>
                <a:lnTo>
                  <a:pt x="25527" y="11341"/>
                </a:lnTo>
                <a:lnTo>
                  <a:pt x="25641" y="11201"/>
                </a:lnTo>
                <a:lnTo>
                  <a:pt x="25857" y="10756"/>
                </a:lnTo>
                <a:lnTo>
                  <a:pt x="25971" y="10604"/>
                </a:lnTo>
                <a:lnTo>
                  <a:pt x="26568" y="9486"/>
                </a:lnTo>
                <a:lnTo>
                  <a:pt x="26784" y="9156"/>
                </a:lnTo>
                <a:lnTo>
                  <a:pt x="26898" y="8890"/>
                </a:lnTo>
                <a:lnTo>
                  <a:pt x="27012" y="8699"/>
                </a:lnTo>
                <a:lnTo>
                  <a:pt x="27203" y="8331"/>
                </a:lnTo>
                <a:lnTo>
                  <a:pt x="27203" y="0"/>
                </a:lnTo>
                <a:lnTo>
                  <a:pt x="26416" y="0"/>
                </a:lnTo>
                <a:lnTo>
                  <a:pt x="50" y="38811"/>
                </a:lnTo>
                <a:lnTo>
                  <a:pt x="0" y="44615"/>
                </a:lnTo>
                <a:lnTo>
                  <a:pt x="27203" y="44615"/>
                </a:lnTo>
                <a:lnTo>
                  <a:pt x="27203" y="57670"/>
                </a:lnTo>
                <a:lnTo>
                  <a:pt x="34150" y="57670"/>
                </a:lnTo>
                <a:lnTo>
                  <a:pt x="34150" y="44615"/>
                </a:lnTo>
                <a:lnTo>
                  <a:pt x="42265" y="44615"/>
                </a:lnTo>
                <a:lnTo>
                  <a:pt x="42265" y="38811"/>
                </a:lnTo>
                <a:close/>
              </a:path>
              <a:path w="88264" h="59055">
                <a:moveTo>
                  <a:pt x="87807" y="38874"/>
                </a:moveTo>
                <a:lnTo>
                  <a:pt x="69164" y="20866"/>
                </a:lnTo>
                <a:lnTo>
                  <a:pt x="66116" y="21056"/>
                </a:lnTo>
                <a:lnTo>
                  <a:pt x="63398" y="21577"/>
                </a:lnTo>
                <a:lnTo>
                  <a:pt x="60502" y="22656"/>
                </a:lnTo>
                <a:lnTo>
                  <a:pt x="58521" y="23698"/>
                </a:lnTo>
                <a:lnTo>
                  <a:pt x="57264" y="24549"/>
                </a:lnTo>
                <a:lnTo>
                  <a:pt x="58381" y="6286"/>
                </a:lnTo>
                <a:lnTo>
                  <a:pt x="84455" y="6286"/>
                </a:lnTo>
                <a:lnTo>
                  <a:pt x="84455" y="0"/>
                </a:lnTo>
                <a:lnTo>
                  <a:pt x="51676" y="0"/>
                </a:lnTo>
                <a:lnTo>
                  <a:pt x="49745" y="31026"/>
                </a:lnTo>
                <a:lnTo>
                  <a:pt x="56921" y="31026"/>
                </a:lnTo>
                <a:lnTo>
                  <a:pt x="59385" y="29171"/>
                </a:lnTo>
                <a:lnTo>
                  <a:pt x="62166" y="27787"/>
                </a:lnTo>
                <a:lnTo>
                  <a:pt x="64262" y="27228"/>
                </a:lnTo>
                <a:lnTo>
                  <a:pt x="66230" y="26936"/>
                </a:lnTo>
                <a:lnTo>
                  <a:pt x="68237" y="26898"/>
                </a:lnTo>
                <a:lnTo>
                  <a:pt x="71475" y="27343"/>
                </a:lnTo>
                <a:lnTo>
                  <a:pt x="80149" y="39700"/>
                </a:lnTo>
                <a:lnTo>
                  <a:pt x="79921" y="42113"/>
                </a:lnTo>
                <a:lnTo>
                  <a:pt x="68605" y="52463"/>
                </a:lnTo>
                <a:lnTo>
                  <a:pt x="66344" y="52463"/>
                </a:lnTo>
                <a:lnTo>
                  <a:pt x="55511" y="43942"/>
                </a:lnTo>
                <a:lnTo>
                  <a:pt x="48069" y="44792"/>
                </a:lnTo>
                <a:lnTo>
                  <a:pt x="68351" y="58483"/>
                </a:lnTo>
                <a:lnTo>
                  <a:pt x="72072" y="58153"/>
                </a:lnTo>
                <a:lnTo>
                  <a:pt x="87693" y="41414"/>
                </a:lnTo>
                <a:lnTo>
                  <a:pt x="87807" y="38874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3384562" y="1872005"/>
            <a:ext cx="88265" cy="59055"/>
          </a:xfrm>
          <a:custGeom>
            <a:avLst/>
            <a:gdLst/>
            <a:ahLst/>
            <a:cxnLst/>
            <a:rect l="l" t="t" r="r" b="b"/>
            <a:pathLst>
              <a:path w="88264" h="59055">
                <a:moveTo>
                  <a:pt x="42278" y="38811"/>
                </a:moveTo>
                <a:lnTo>
                  <a:pt x="34163" y="38811"/>
                </a:lnTo>
                <a:lnTo>
                  <a:pt x="34163" y="8331"/>
                </a:lnTo>
                <a:lnTo>
                  <a:pt x="34163" y="0"/>
                </a:lnTo>
                <a:lnTo>
                  <a:pt x="27203" y="0"/>
                </a:lnTo>
                <a:lnTo>
                  <a:pt x="27203" y="8331"/>
                </a:lnTo>
                <a:lnTo>
                  <a:pt x="27203" y="38811"/>
                </a:lnTo>
                <a:lnTo>
                  <a:pt x="6819" y="38811"/>
                </a:lnTo>
                <a:lnTo>
                  <a:pt x="7112" y="38468"/>
                </a:lnTo>
                <a:lnTo>
                  <a:pt x="7226" y="38290"/>
                </a:lnTo>
                <a:lnTo>
                  <a:pt x="7404" y="38100"/>
                </a:lnTo>
                <a:lnTo>
                  <a:pt x="7708" y="37655"/>
                </a:lnTo>
                <a:lnTo>
                  <a:pt x="7899" y="37465"/>
                </a:lnTo>
                <a:lnTo>
                  <a:pt x="8305" y="36906"/>
                </a:lnTo>
                <a:lnTo>
                  <a:pt x="8750" y="36233"/>
                </a:lnTo>
                <a:lnTo>
                  <a:pt x="8940" y="36055"/>
                </a:lnTo>
                <a:lnTo>
                  <a:pt x="9347" y="35420"/>
                </a:lnTo>
                <a:lnTo>
                  <a:pt x="9677" y="34975"/>
                </a:lnTo>
                <a:lnTo>
                  <a:pt x="24828" y="12649"/>
                </a:lnTo>
                <a:lnTo>
                  <a:pt x="25273" y="11798"/>
                </a:lnTo>
                <a:lnTo>
                  <a:pt x="25374" y="11645"/>
                </a:lnTo>
                <a:lnTo>
                  <a:pt x="25527" y="11341"/>
                </a:lnTo>
                <a:lnTo>
                  <a:pt x="25641" y="11201"/>
                </a:lnTo>
                <a:lnTo>
                  <a:pt x="25793" y="10896"/>
                </a:lnTo>
                <a:lnTo>
                  <a:pt x="25908" y="10756"/>
                </a:lnTo>
                <a:lnTo>
                  <a:pt x="26390" y="9893"/>
                </a:lnTo>
                <a:lnTo>
                  <a:pt x="26492" y="9639"/>
                </a:lnTo>
                <a:lnTo>
                  <a:pt x="26568" y="9486"/>
                </a:lnTo>
                <a:lnTo>
                  <a:pt x="26797" y="9156"/>
                </a:lnTo>
                <a:lnTo>
                  <a:pt x="26911" y="8890"/>
                </a:lnTo>
                <a:lnTo>
                  <a:pt x="27012" y="8699"/>
                </a:lnTo>
                <a:lnTo>
                  <a:pt x="27203" y="8331"/>
                </a:lnTo>
                <a:lnTo>
                  <a:pt x="27203" y="0"/>
                </a:lnTo>
                <a:lnTo>
                  <a:pt x="26428" y="0"/>
                </a:lnTo>
                <a:lnTo>
                  <a:pt x="50" y="38811"/>
                </a:lnTo>
                <a:lnTo>
                  <a:pt x="0" y="44615"/>
                </a:lnTo>
                <a:lnTo>
                  <a:pt x="27203" y="44615"/>
                </a:lnTo>
                <a:lnTo>
                  <a:pt x="27203" y="57670"/>
                </a:lnTo>
                <a:lnTo>
                  <a:pt x="34163" y="57670"/>
                </a:lnTo>
                <a:lnTo>
                  <a:pt x="34163" y="44615"/>
                </a:lnTo>
                <a:lnTo>
                  <a:pt x="42278" y="44615"/>
                </a:lnTo>
                <a:lnTo>
                  <a:pt x="42278" y="38811"/>
                </a:lnTo>
                <a:close/>
              </a:path>
              <a:path w="88264" h="59055">
                <a:moveTo>
                  <a:pt x="87820" y="38874"/>
                </a:moveTo>
                <a:lnTo>
                  <a:pt x="69176" y="20866"/>
                </a:lnTo>
                <a:lnTo>
                  <a:pt x="66116" y="21056"/>
                </a:lnTo>
                <a:lnTo>
                  <a:pt x="63411" y="21577"/>
                </a:lnTo>
                <a:lnTo>
                  <a:pt x="60502" y="22656"/>
                </a:lnTo>
                <a:lnTo>
                  <a:pt x="58534" y="23698"/>
                </a:lnTo>
                <a:lnTo>
                  <a:pt x="57264" y="24549"/>
                </a:lnTo>
                <a:lnTo>
                  <a:pt x="58381" y="6286"/>
                </a:lnTo>
                <a:lnTo>
                  <a:pt x="84467" y="6286"/>
                </a:lnTo>
                <a:lnTo>
                  <a:pt x="84467" y="0"/>
                </a:lnTo>
                <a:lnTo>
                  <a:pt x="51689" y="0"/>
                </a:lnTo>
                <a:lnTo>
                  <a:pt x="49745" y="31026"/>
                </a:lnTo>
                <a:lnTo>
                  <a:pt x="56972" y="31026"/>
                </a:lnTo>
                <a:lnTo>
                  <a:pt x="60350" y="28613"/>
                </a:lnTo>
                <a:lnTo>
                  <a:pt x="64262" y="27228"/>
                </a:lnTo>
                <a:lnTo>
                  <a:pt x="66230" y="26936"/>
                </a:lnTo>
                <a:lnTo>
                  <a:pt x="68237" y="26898"/>
                </a:lnTo>
                <a:lnTo>
                  <a:pt x="70472" y="27127"/>
                </a:lnTo>
                <a:lnTo>
                  <a:pt x="80149" y="39700"/>
                </a:lnTo>
                <a:lnTo>
                  <a:pt x="79857" y="42672"/>
                </a:lnTo>
                <a:lnTo>
                  <a:pt x="68656" y="52463"/>
                </a:lnTo>
                <a:lnTo>
                  <a:pt x="66382" y="52463"/>
                </a:lnTo>
                <a:lnTo>
                  <a:pt x="55524" y="43942"/>
                </a:lnTo>
                <a:lnTo>
                  <a:pt x="48082" y="44792"/>
                </a:lnTo>
                <a:lnTo>
                  <a:pt x="68351" y="58483"/>
                </a:lnTo>
                <a:lnTo>
                  <a:pt x="72072" y="58153"/>
                </a:lnTo>
                <a:lnTo>
                  <a:pt x="87706" y="41414"/>
                </a:lnTo>
                <a:lnTo>
                  <a:pt x="87820" y="38874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/>
          <p:nvPr/>
        </p:nvSpPr>
        <p:spPr>
          <a:xfrm>
            <a:off x="3557397" y="1871293"/>
            <a:ext cx="86995" cy="59055"/>
          </a:xfrm>
          <a:custGeom>
            <a:avLst/>
            <a:gdLst/>
            <a:ahLst/>
            <a:cxnLst/>
            <a:rect l="l" t="t" r="r" b="b"/>
            <a:pathLst>
              <a:path w="86995" h="59055">
                <a:moveTo>
                  <a:pt x="42227" y="39522"/>
                </a:moveTo>
                <a:lnTo>
                  <a:pt x="34112" y="39522"/>
                </a:lnTo>
                <a:lnTo>
                  <a:pt x="34112" y="9042"/>
                </a:lnTo>
                <a:lnTo>
                  <a:pt x="34112" y="711"/>
                </a:lnTo>
                <a:lnTo>
                  <a:pt x="27165" y="711"/>
                </a:lnTo>
                <a:lnTo>
                  <a:pt x="27165" y="9042"/>
                </a:lnTo>
                <a:lnTo>
                  <a:pt x="27165" y="39522"/>
                </a:lnTo>
                <a:lnTo>
                  <a:pt x="6769" y="39522"/>
                </a:lnTo>
                <a:lnTo>
                  <a:pt x="7289" y="38925"/>
                </a:lnTo>
                <a:lnTo>
                  <a:pt x="7772" y="38290"/>
                </a:lnTo>
                <a:lnTo>
                  <a:pt x="9258" y="36245"/>
                </a:lnTo>
                <a:lnTo>
                  <a:pt x="9372" y="36055"/>
                </a:lnTo>
                <a:lnTo>
                  <a:pt x="9486" y="35864"/>
                </a:lnTo>
                <a:lnTo>
                  <a:pt x="9639" y="35687"/>
                </a:lnTo>
                <a:lnTo>
                  <a:pt x="24777" y="13360"/>
                </a:lnTo>
                <a:lnTo>
                  <a:pt x="25146" y="12649"/>
                </a:lnTo>
                <a:lnTo>
                  <a:pt x="25260" y="12509"/>
                </a:lnTo>
                <a:lnTo>
                  <a:pt x="25412" y="12204"/>
                </a:lnTo>
                <a:lnTo>
                  <a:pt x="25527" y="12052"/>
                </a:lnTo>
                <a:lnTo>
                  <a:pt x="25666" y="11760"/>
                </a:lnTo>
                <a:lnTo>
                  <a:pt x="25781" y="11607"/>
                </a:lnTo>
                <a:lnTo>
                  <a:pt x="26085" y="11010"/>
                </a:lnTo>
                <a:lnTo>
                  <a:pt x="26187" y="10871"/>
                </a:lnTo>
                <a:lnTo>
                  <a:pt x="26492" y="10350"/>
                </a:lnTo>
                <a:lnTo>
                  <a:pt x="26606" y="10083"/>
                </a:lnTo>
                <a:lnTo>
                  <a:pt x="26746" y="9867"/>
                </a:lnTo>
                <a:lnTo>
                  <a:pt x="26860" y="9601"/>
                </a:lnTo>
                <a:lnTo>
                  <a:pt x="26974" y="9410"/>
                </a:lnTo>
                <a:lnTo>
                  <a:pt x="27165" y="9042"/>
                </a:lnTo>
                <a:lnTo>
                  <a:pt x="27165" y="711"/>
                </a:lnTo>
                <a:lnTo>
                  <a:pt x="26377" y="711"/>
                </a:lnTo>
                <a:lnTo>
                  <a:pt x="50" y="39522"/>
                </a:lnTo>
                <a:lnTo>
                  <a:pt x="0" y="45326"/>
                </a:lnTo>
                <a:lnTo>
                  <a:pt x="27165" y="45326"/>
                </a:lnTo>
                <a:lnTo>
                  <a:pt x="27165" y="58381"/>
                </a:lnTo>
                <a:lnTo>
                  <a:pt x="34112" y="58381"/>
                </a:lnTo>
                <a:lnTo>
                  <a:pt x="34112" y="45326"/>
                </a:lnTo>
                <a:lnTo>
                  <a:pt x="42227" y="45326"/>
                </a:lnTo>
                <a:lnTo>
                  <a:pt x="42227" y="39522"/>
                </a:lnTo>
                <a:close/>
              </a:path>
              <a:path w="86995" h="59055">
                <a:moveTo>
                  <a:pt x="86982" y="33972"/>
                </a:moveTo>
                <a:lnTo>
                  <a:pt x="84061" y="27533"/>
                </a:lnTo>
                <a:lnTo>
                  <a:pt x="83629" y="26936"/>
                </a:lnTo>
                <a:lnTo>
                  <a:pt x="83261" y="26530"/>
                </a:lnTo>
                <a:lnTo>
                  <a:pt x="82207" y="25412"/>
                </a:lnTo>
                <a:lnTo>
                  <a:pt x="81800" y="25044"/>
                </a:lnTo>
                <a:lnTo>
                  <a:pt x="80886" y="24295"/>
                </a:lnTo>
                <a:lnTo>
                  <a:pt x="79768" y="23558"/>
                </a:lnTo>
                <a:lnTo>
                  <a:pt x="79654" y="35420"/>
                </a:lnTo>
                <a:lnTo>
                  <a:pt x="79616" y="44462"/>
                </a:lnTo>
                <a:lnTo>
                  <a:pt x="79514" y="44907"/>
                </a:lnTo>
                <a:lnTo>
                  <a:pt x="79451" y="45135"/>
                </a:lnTo>
                <a:lnTo>
                  <a:pt x="79362" y="45466"/>
                </a:lnTo>
                <a:lnTo>
                  <a:pt x="77444" y="49263"/>
                </a:lnTo>
                <a:lnTo>
                  <a:pt x="77190" y="49263"/>
                </a:lnTo>
                <a:lnTo>
                  <a:pt x="77190" y="49568"/>
                </a:lnTo>
                <a:lnTo>
                  <a:pt x="72174" y="52832"/>
                </a:lnTo>
                <a:lnTo>
                  <a:pt x="65582" y="52832"/>
                </a:lnTo>
                <a:lnTo>
                  <a:pt x="60731" y="49568"/>
                </a:lnTo>
                <a:lnTo>
                  <a:pt x="77190" y="49568"/>
                </a:lnTo>
                <a:lnTo>
                  <a:pt x="77190" y="49263"/>
                </a:lnTo>
                <a:lnTo>
                  <a:pt x="60464" y="49263"/>
                </a:lnTo>
                <a:lnTo>
                  <a:pt x="59867" y="48450"/>
                </a:lnTo>
                <a:lnTo>
                  <a:pt x="57569" y="33972"/>
                </a:lnTo>
                <a:lnTo>
                  <a:pt x="57823" y="33261"/>
                </a:lnTo>
                <a:lnTo>
                  <a:pt x="61480" y="28727"/>
                </a:lnTo>
                <a:lnTo>
                  <a:pt x="62128" y="28359"/>
                </a:lnTo>
                <a:lnTo>
                  <a:pt x="62585" y="28130"/>
                </a:lnTo>
                <a:lnTo>
                  <a:pt x="63919" y="27533"/>
                </a:lnTo>
                <a:lnTo>
                  <a:pt x="63423" y="27533"/>
                </a:lnTo>
                <a:lnTo>
                  <a:pt x="66687" y="26936"/>
                </a:lnTo>
                <a:lnTo>
                  <a:pt x="70891" y="26936"/>
                </a:lnTo>
                <a:lnTo>
                  <a:pt x="71285" y="26936"/>
                </a:lnTo>
                <a:lnTo>
                  <a:pt x="72174" y="27241"/>
                </a:lnTo>
                <a:lnTo>
                  <a:pt x="73075" y="27533"/>
                </a:lnTo>
                <a:lnTo>
                  <a:pt x="73964" y="27901"/>
                </a:lnTo>
                <a:lnTo>
                  <a:pt x="78765" y="32816"/>
                </a:lnTo>
                <a:lnTo>
                  <a:pt x="79057" y="33489"/>
                </a:lnTo>
                <a:lnTo>
                  <a:pt x="79400" y="34455"/>
                </a:lnTo>
                <a:lnTo>
                  <a:pt x="79514" y="34937"/>
                </a:lnTo>
                <a:lnTo>
                  <a:pt x="79654" y="35420"/>
                </a:lnTo>
                <a:lnTo>
                  <a:pt x="79654" y="23495"/>
                </a:lnTo>
                <a:lnTo>
                  <a:pt x="79209" y="23215"/>
                </a:lnTo>
                <a:lnTo>
                  <a:pt x="73063" y="21285"/>
                </a:lnTo>
                <a:lnTo>
                  <a:pt x="67525" y="21285"/>
                </a:lnTo>
                <a:lnTo>
                  <a:pt x="56261" y="28727"/>
                </a:lnTo>
                <a:lnTo>
                  <a:pt x="56362" y="24892"/>
                </a:lnTo>
                <a:lnTo>
                  <a:pt x="67233" y="5956"/>
                </a:lnTo>
                <a:lnTo>
                  <a:pt x="71399" y="5956"/>
                </a:lnTo>
                <a:lnTo>
                  <a:pt x="73329" y="6438"/>
                </a:lnTo>
                <a:lnTo>
                  <a:pt x="73152" y="6438"/>
                </a:lnTo>
                <a:lnTo>
                  <a:pt x="73710" y="6667"/>
                </a:lnTo>
                <a:lnTo>
                  <a:pt x="78943" y="12763"/>
                </a:lnTo>
                <a:lnTo>
                  <a:pt x="79603" y="12763"/>
                </a:lnTo>
                <a:lnTo>
                  <a:pt x="86017" y="11607"/>
                </a:lnTo>
                <a:lnTo>
                  <a:pt x="85979" y="11468"/>
                </a:lnTo>
                <a:lnTo>
                  <a:pt x="85775" y="10833"/>
                </a:lnTo>
                <a:lnTo>
                  <a:pt x="85115" y="9042"/>
                </a:lnTo>
                <a:lnTo>
                  <a:pt x="84378" y="7518"/>
                </a:lnTo>
                <a:lnTo>
                  <a:pt x="83426" y="5956"/>
                </a:lnTo>
                <a:lnTo>
                  <a:pt x="82486" y="4800"/>
                </a:lnTo>
                <a:lnTo>
                  <a:pt x="72821" y="0"/>
                </a:lnTo>
                <a:lnTo>
                  <a:pt x="66967" y="0"/>
                </a:lnTo>
                <a:lnTo>
                  <a:pt x="49326" y="38100"/>
                </a:lnTo>
                <a:lnTo>
                  <a:pt x="49568" y="39852"/>
                </a:lnTo>
                <a:lnTo>
                  <a:pt x="49707" y="40703"/>
                </a:lnTo>
                <a:lnTo>
                  <a:pt x="50152" y="42862"/>
                </a:lnTo>
                <a:lnTo>
                  <a:pt x="50279" y="43345"/>
                </a:lnTo>
                <a:lnTo>
                  <a:pt x="50355" y="43688"/>
                </a:lnTo>
                <a:lnTo>
                  <a:pt x="51511" y="47104"/>
                </a:lnTo>
                <a:lnTo>
                  <a:pt x="51600" y="47332"/>
                </a:lnTo>
                <a:lnTo>
                  <a:pt x="51676" y="47510"/>
                </a:lnTo>
                <a:lnTo>
                  <a:pt x="52120" y="48590"/>
                </a:lnTo>
                <a:lnTo>
                  <a:pt x="52603" y="49568"/>
                </a:lnTo>
                <a:lnTo>
                  <a:pt x="66078" y="59055"/>
                </a:lnTo>
                <a:lnTo>
                  <a:pt x="71894" y="59055"/>
                </a:lnTo>
                <a:lnTo>
                  <a:pt x="73253" y="58864"/>
                </a:lnTo>
                <a:lnTo>
                  <a:pt x="75666" y="58267"/>
                </a:lnTo>
                <a:lnTo>
                  <a:pt x="77012" y="57785"/>
                </a:lnTo>
                <a:lnTo>
                  <a:pt x="77685" y="57454"/>
                </a:lnTo>
                <a:lnTo>
                  <a:pt x="78359" y="57150"/>
                </a:lnTo>
                <a:lnTo>
                  <a:pt x="86512" y="47104"/>
                </a:lnTo>
                <a:lnTo>
                  <a:pt x="86601" y="46812"/>
                </a:lnTo>
                <a:lnTo>
                  <a:pt x="86715" y="46431"/>
                </a:lnTo>
                <a:lnTo>
                  <a:pt x="86842" y="46024"/>
                </a:lnTo>
                <a:lnTo>
                  <a:pt x="86969" y="45466"/>
                </a:lnTo>
                <a:lnTo>
                  <a:pt x="86982" y="33972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3730180" y="1872005"/>
            <a:ext cx="87630" cy="57785"/>
          </a:xfrm>
          <a:custGeom>
            <a:avLst/>
            <a:gdLst/>
            <a:ahLst/>
            <a:cxnLst/>
            <a:rect l="l" t="t" r="r" b="b"/>
            <a:pathLst>
              <a:path w="87629" h="57785">
                <a:moveTo>
                  <a:pt x="42240" y="38811"/>
                </a:moveTo>
                <a:lnTo>
                  <a:pt x="34124" y="38811"/>
                </a:lnTo>
                <a:lnTo>
                  <a:pt x="34124" y="8331"/>
                </a:lnTo>
                <a:lnTo>
                  <a:pt x="34124" y="0"/>
                </a:lnTo>
                <a:lnTo>
                  <a:pt x="27165" y="0"/>
                </a:lnTo>
                <a:lnTo>
                  <a:pt x="27165" y="8331"/>
                </a:lnTo>
                <a:lnTo>
                  <a:pt x="27165" y="38811"/>
                </a:lnTo>
                <a:lnTo>
                  <a:pt x="6781" y="38811"/>
                </a:lnTo>
                <a:lnTo>
                  <a:pt x="7302" y="38214"/>
                </a:lnTo>
                <a:lnTo>
                  <a:pt x="7594" y="37769"/>
                </a:lnTo>
                <a:lnTo>
                  <a:pt x="7785" y="37579"/>
                </a:lnTo>
                <a:lnTo>
                  <a:pt x="9423" y="35344"/>
                </a:lnTo>
                <a:lnTo>
                  <a:pt x="9525" y="35153"/>
                </a:lnTo>
                <a:lnTo>
                  <a:pt x="9639" y="34975"/>
                </a:lnTo>
                <a:lnTo>
                  <a:pt x="24777" y="12649"/>
                </a:lnTo>
                <a:lnTo>
                  <a:pt x="25158" y="11938"/>
                </a:lnTo>
                <a:lnTo>
                  <a:pt x="25273" y="11798"/>
                </a:lnTo>
                <a:lnTo>
                  <a:pt x="25412" y="11493"/>
                </a:lnTo>
                <a:lnTo>
                  <a:pt x="25527" y="11341"/>
                </a:lnTo>
                <a:lnTo>
                  <a:pt x="25679" y="11049"/>
                </a:lnTo>
                <a:lnTo>
                  <a:pt x="25793" y="10896"/>
                </a:lnTo>
                <a:lnTo>
                  <a:pt x="26009" y="10452"/>
                </a:lnTo>
                <a:lnTo>
                  <a:pt x="26123" y="10299"/>
                </a:lnTo>
                <a:lnTo>
                  <a:pt x="26758" y="9156"/>
                </a:lnTo>
                <a:lnTo>
                  <a:pt x="26873" y="8890"/>
                </a:lnTo>
                <a:lnTo>
                  <a:pt x="26974" y="8699"/>
                </a:lnTo>
                <a:lnTo>
                  <a:pt x="27165" y="8331"/>
                </a:lnTo>
                <a:lnTo>
                  <a:pt x="27165" y="0"/>
                </a:lnTo>
                <a:lnTo>
                  <a:pt x="26377" y="0"/>
                </a:lnTo>
                <a:lnTo>
                  <a:pt x="50" y="38811"/>
                </a:lnTo>
                <a:lnTo>
                  <a:pt x="0" y="44615"/>
                </a:lnTo>
                <a:lnTo>
                  <a:pt x="27165" y="44615"/>
                </a:lnTo>
                <a:lnTo>
                  <a:pt x="27165" y="57670"/>
                </a:lnTo>
                <a:lnTo>
                  <a:pt x="34124" y="57670"/>
                </a:lnTo>
                <a:lnTo>
                  <a:pt x="34124" y="44615"/>
                </a:lnTo>
                <a:lnTo>
                  <a:pt x="42240" y="44615"/>
                </a:lnTo>
                <a:lnTo>
                  <a:pt x="42240" y="38811"/>
                </a:lnTo>
                <a:close/>
              </a:path>
              <a:path w="87629" h="57785">
                <a:moveTo>
                  <a:pt x="87109" y="0"/>
                </a:moveTo>
                <a:lnTo>
                  <a:pt x="48971" y="0"/>
                </a:lnTo>
                <a:lnTo>
                  <a:pt x="48971" y="6286"/>
                </a:lnTo>
                <a:lnTo>
                  <a:pt x="79959" y="6286"/>
                </a:lnTo>
                <a:lnTo>
                  <a:pt x="78320" y="8661"/>
                </a:lnTo>
                <a:lnTo>
                  <a:pt x="61252" y="44119"/>
                </a:lnTo>
                <a:lnTo>
                  <a:pt x="59613" y="57670"/>
                </a:lnTo>
                <a:lnTo>
                  <a:pt x="67310" y="57670"/>
                </a:lnTo>
                <a:lnTo>
                  <a:pt x="67386" y="54762"/>
                </a:lnTo>
                <a:lnTo>
                  <a:pt x="67830" y="49149"/>
                </a:lnTo>
                <a:lnTo>
                  <a:pt x="87109" y="5994"/>
                </a:lnTo>
                <a:lnTo>
                  <a:pt x="87109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0" name="object 8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02980" y="1825041"/>
            <a:ext cx="87392" cy="105325"/>
          </a:xfrm>
          <a:prstGeom prst="rect">
            <a:avLst/>
          </a:prstGeom>
        </p:spPr>
      </p:pic>
      <p:pic>
        <p:nvPicPr>
          <p:cNvPr id="81" name="object 8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75769" y="1825041"/>
            <a:ext cx="87392" cy="105325"/>
          </a:xfrm>
          <a:prstGeom prst="rect">
            <a:avLst/>
          </a:prstGeom>
        </p:spPr>
      </p:pic>
      <p:sp>
        <p:nvSpPr>
          <p:cNvPr id="82" name="object 82" descr=""/>
          <p:cNvSpPr/>
          <p:nvPr/>
        </p:nvSpPr>
        <p:spPr>
          <a:xfrm>
            <a:off x="4248556" y="1871217"/>
            <a:ext cx="93345" cy="59055"/>
          </a:xfrm>
          <a:custGeom>
            <a:avLst/>
            <a:gdLst/>
            <a:ahLst/>
            <a:cxnLst/>
            <a:rect l="l" t="t" r="r" b="b"/>
            <a:pathLst>
              <a:path w="93345" h="59055">
                <a:moveTo>
                  <a:pt x="42227" y="39598"/>
                </a:moveTo>
                <a:lnTo>
                  <a:pt x="34150" y="39598"/>
                </a:lnTo>
                <a:lnTo>
                  <a:pt x="34150" y="38849"/>
                </a:lnTo>
                <a:lnTo>
                  <a:pt x="34150" y="9118"/>
                </a:lnTo>
                <a:lnTo>
                  <a:pt x="34150" y="787"/>
                </a:lnTo>
                <a:lnTo>
                  <a:pt x="27190" y="787"/>
                </a:lnTo>
                <a:lnTo>
                  <a:pt x="27190" y="9118"/>
                </a:lnTo>
                <a:lnTo>
                  <a:pt x="27190" y="39598"/>
                </a:lnTo>
                <a:lnTo>
                  <a:pt x="6807" y="39598"/>
                </a:lnTo>
                <a:lnTo>
                  <a:pt x="7137" y="39141"/>
                </a:lnTo>
                <a:lnTo>
                  <a:pt x="7289" y="39001"/>
                </a:lnTo>
                <a:lnTo>
                  <a:pt x="7962" y="38138"/>
                </a:lnTo>
                <a:lnTo>
                  <a:pt x="9042" y="36614"/>
                </a:lnTo>
                <a:lnTo>
                  <a:pt x="9220" y="36398"/>
                </a:lnTo>
                <a:lnTo>
                  <a:pt x="9334" y="36207"/>
                </a:lnTo>
                <a:lnTo>
                  <a:pt x="9664" y="35763"/>
                </a:lnTo>
                <a:lnTo>
                  <a:pt x="24511" y="13881"/>
                </a:lnTo>
                <a:lnTo>
                  <a:pt x="24625" y="13665"/>
                </a:lnTo>
                <a:lnTo>
                  <a:pt x="24777" y="13436"/>
                </a:lnTo>
                <a:lnTo>
                  <a:pt x="24993" y="13030"/>
                </a:lnTo>
                <a:lnTo>
                  <a:pt x="25107" y="12877"/>
                </a:lnTo>
                <a:lnTo>
                  <a:pt x="25260" y="12585"/>
                </a:lnTo>
                <a:lnTo>
                  <a:pt x="25374" y="12433"/>
                </a:lnTo>
                <a:lnTo>
                  <a:pt x="25514" y="12128"/>
                </a:lnTo>
                <a:lnTo>
                  <a:pt x="25628" y="11988"/>
                </a:lnTo>
                <a:lnTo>
                  <a:pt x="25857" y="11544"/>
                </a:lnTo>
                <a:lnTo>
                  <a:pt x="25971" y="11391"/>
                </a:lnTo>
                <a:lnTo>
                  <a:pt x="26568" y="10274"/>
                </a:lnTo>
                <a:lnTo>
                  <a:pt x="26784" y="9944"/>
                </a:lnTo>
                <a:lnTo>
                  <a:pt x="26898" y="9677"/>
                </a:lnTo>
                <a:lnTo>
                  <a:pt x="27012" y="9486"/>
                </a:lnTo>
                <a:lnTo>
                  <a:pt x="27190" y="9118"/>
                </a:lnTo>
                <a:lnTo>
                  <a:pt x="27190" y="787"/>
                </a:lnTo>
                <a:lnTo>
                  <a:pt x="26416" y="787"/>
                </a:lnTo>
                <a:lnTo>
                  <a:pt x="50" y="39598"/>
                </a:lnTo>
                <a:lnTo>
                  <a:pt x="0" y="45402"/>
                </a:lnTo>
                <a:lnTo>
                  <a:pt x="27190" y="45402"/>
                </a:lnTo>
                <a:lnTo>
                  <a:pt x="27190" y="58458"/>
                </a:lnTo>
                <a:lnTo>
                  <a:pt x="34150" y="58458"/>
                </a:lnTo>
                <a:lnTo>
                  <a:pt x="34150" y="45402"/>
                </a:lnTo>
                <a:lnTo>
                  <a:pt x="42227" y="45402"/>
                </a:lnTo>
                <a:lnTo>
                  <a:pt x="42227" y="39598"/>
                </a:lnTo>
                <a:close/>
              </a:path>
              <a:path w="93345" h="59055">
                <a:moveTo>
                  <a:pt x="93091" y="37998"/>
                </a:moveTo>
                <a:lnTo>
                  <a:pt x="86639" y="37998"/>
                </a:lnTo>
                <a:lnTo>
                  <a:pt x="86982" y="35687"/>
                </a:lnTo>
                <a:lnTo>
                  <a:pt x="87096" y="34315"/>
                </a:lnTo>
                <a:lnTo>
                  <a:pt x="87210" y="32778"/>
                </a:lnTo>
                <a:lnTo>
                  <a:pt x="87299" y="30619"/>
                </a:lnTo>
                <a:lnTo>
                  <a:pt x="87249" y="25158"/>
                </a:lnTo>
                <a:lnTo>
                  <a:pt x="87134" y="23037"/>
                </a:lnTo>
                <a:lnTo>
                  <a:pt x="86906" y="20548"/>
                </a:lnTo>
                <a:lnTo>
                  <a:pt x="86537" y="18199"/>
                </a:lnTo>
                <a:lnTo>
                  <a:pt x="86423" y="17640"/>
                </a:lnTo>
                <a:lnTo>
                  <a:pt x="86309" y="17043"/>
                </a:lnTo>
                <a:lnTo>
                  <a:pt x="86194" y="16484"/>
                </a:lnTo>
                <a:lnTo>
                  <a:pt x="86093" y="15963"/>
                </a:lnTo>
                <a:lnTo>
                  <a:pt x="85534" y="13766"/>
                </a:lnTo>
                <a:lnTo>
                  <a:pt x="81991" y="6515"/>
                </a:lnTo>
                <a:lnTo>
                  <a:pt x="80060" y="6515"/>
                </a:lnTo>
                <a:lnTo>
                  <a:pt x="80060" y="30619"/>
                </a:lnTo>
                <a:lnTo>
                  <a:pt x="79946" y="33413"/>
                </a:lnTo>
                <a:lnTo>
                  <a:pt x="79819" y="35280"/>
                </a:lnTo>
                <a:lnTo>
                  <a:pt x="79692" y="36652"/>
                </a:lnTo>
                <a:lnTo>
                  <a:pt x="79565" y="37541"/>
                </a:lnTo>
                <a:lnTo>
                  <a:pt x="79502" y="37998"/>
                </a:lnTo>
                <a:lnTo>
                  <a:pt x="71056" y="37998"/>
                </a:lnTo>
                <a:lnTo>
                  <a:pt x="72529" y="37541"/>
                </a:lnTo>
                <a:lnTo>
                  <a:pt x="72326" y="37541"/>
                </a:lnTo>
                <a:lnTo>
                  <a:pt x="78930" y="32600"/>
                </a:lnTo>
                <a:lnTo>
                  <a:pt x="79286" y="32118"/>
                </a:lnTo>
                <a:lnTo>
                  <a:pt x="79362" y="31965"/>
                </a:lnTo>
                <a:lnTo>
                  <a:pt x="79476" y="31737"/>
                </a:lnTo>
                <a:lnTo>
                  <a:pt x="79781" y="31178"/>
                </a:lnTo>
                <a:lnTo>
                  <a:pt x="80060" y="30619"/>
                </a:lnTo>
                <a:lnTo>
                  <a:pt x="80060" y="6515"/>
                </a:lnTo>
                <a:lnTo>
                  <a:pt x="71247" y="6515"/>
                </a:lnTo>
                <a:lnTo>
                  <a:pt x="72174" y="6883"/>
                </a:lnTo>
                <a:lnTo>
                  <a:pt x="73482" y="7632"/>
                </a:lnTo>
                <a:lnTo>
                  <a:pt x="78473" y="15074"/>
                </a:lnTo>
                <a:lnTo>
                  <a:pt x="78841" y="16484"/>
                </a:lnTo>
                <a:lnTo>
                  <a:pt x="77152" y="28321"/>
                </a:lnTo>
                <a:lnTo>
                  <a:pt x="77038" y="28473"/>
                </a:lnTo>
                <a:lnTo>
                  <a:pt x="75082" y="30403"/>
                </a:lnTo>
                <a:lnTo>
                  <a:pt x="74828" y="30619"/>
                </a:lnTo>
                <a:lnTo>
                  <a:pt x="74371" y="30924"/>
                </a:lnTo>
                <a:lnTo>
                  <a:pt x="74041" y="31178"/>
                </a:lnTo>
                <a:lnTo>
                  <a:pt x="73698" y="31369"/>
                </a:lnTo>
                <a:lnTo>
                  <a:pt x="72478" y="31965"/>
                </a:lnTo>
                <a:lnTo>
                  <a:pt x="71310" y="32372"/>
                </a:lnTo>
                <a:lnTo>
                  <a:pt x="70523" y="32600"/>
                </a:lnTo>
                <a:lnTo>
                  <a:pt x="64363" y="32600"/>
                </a:lnTo>
                <a:lnTo>
                  <a:pt x="56781" y="24638"/>
                </a:lnTo>
                <a:lnTo>
                  <a:pt x="56883" y="13766"/>
                </a:lnTo>
                <a:lnTo>
                  <a:pt x="57442" y="12357"/>
                </a:lnTo>
                <a:lnTo>
                  <a:pt x="57518" y="12204"/>
                </a:lnTo>
                <a:lnTo>
                  <a:pt x="57632" y="11988"/>
                </a:lnTo>
                <a:lnTo>
                  <a:pt x="58115" y="11049"/>
                </a:lnTo>
                <a:lnTo>
                  <a:pt x="63652" y="6515"/>
                </a:lnTo>
                <a:lnTo>
                  <a:pt x="63461" y="6515"/>
                </a:lnTo>
                <a:lnTo>
                  <a:pt x="64096" y="6375"/>
                </a:lnTo>
                <a:lnTo>
                  <a:pt x="63652" y="6515"/>
                </a:lnTo>
                <a:lnTo>
                  <a:pt x="71247" y="6515"/>
                </a:lnTo>
                <a:lnTo>
                  <a:pt x="70281" y="6223"/>
                </a:lnTo>
                <a:lnTo>
                  <a:pt x="81762" y="6223"/>
                </a:lnTo>
                <a:lnTo>
                  <a:pt x="81368" y="5702"/>
                </a:lnTo>
                <a:lnTo>
                  <a:pt x="72428" y="419"/>
                </a:lnTo>
                <a:lnTo>
                  <a:pt x="72961" y="419"/>
                </a:lnTo>
                <a:lnTo>
                  <a:pt x="69684" y="0"/>
                </a:lnTo>
                <a:lnTo>
                  <a:pt x="65417" y="0"/>
                </a:lnTo>
                <a:lnTo>
                  <a:pt x="62420" y="419"/>
                </a:lnTo>
                <a:lnTo>
                  <a:pt x="62725" y="419"/>
                </a:lnTo>
                <a:lnTo>
                  <a:pt x="61163" y="787"/>
                </a:lnTo>
                <a:lnTo>
                  <a:pt x="60426" y="1041"/>
                </a:lnTo>
                <a:lnTo>
                  <a:pt x="59677" y="1270"/>
                </a:lnTo>
                <a:lnTo>
                  <a:pt x="58305" y="1866"/>
                </a:lnTo>
                <a:lnTo>
                  <a:pt x="50330" y="10198"/>
                </a:lnTo>
                <a:lnTo>
                  <a:pt x="49885" y="11277"/>
                </a:lnTo>
                <a:lnTo>
                  <a:pt x="49441" y="12763"/>
                </a:lnTo>
                <a:lnTo>
                  <a:pt x="49339" y="13169"/>
                </a:lnTo>
                <a:lnTo>
                  <a:pt x="49072" y="14287"/>
                </a:lnTo>
                <a:lnTo>
                  <a:pt x="49136" y="24638"/>
                </a:lnTo>
                <a:lnTo>
                  <a:pt x="49237" y="25158"/>
                </a:lnTo>
                <a:lnTo>
                  <a:pt x="49339" y="25679"/>
                </a:lnTo>
                <a:lnTo>
                  <a:pt x="60274" y="37998"/>
                </a:lnTo>
                <a:lnTo>
                  <a:pt x="59867" y="37998"/>
                </a:lnTo>
                <a:lnTo>
                  <a:pt x="61976" y="38442"/>
                </a:lnTo>
                <a:lnTo>
                  <a:pt x="79463" y="38201"/>
                </a:lnTo>
                <a:lnTo>
                  <a:pt x="79362" y="38849"/>
                </a:lnTo>
                <a:lnTo>
                  <a:pt x="71450" y="52247"/>
                </a:lnTo>
                <a:lnTo>
                  <a:pt x="71653" y="52247"/>
                </a:lnTo>
                <a:lnTo>
                  <a:pt x="70294" y="52730"/>
                </a:lnTo>
                <a:lnTo>
                  <a:pt x="69176" y="53060"/>
                </a:lnTo>
                <a:lnTo>
                  <a:pt x="63652" y="53060"/>
                </a:lnTo>
                <a:lnTo>
                  <a:pt x="56845" y="46139"/>
                </a:lnTo>
                <a:lnTo>
                  <a:pt x="49822" y="47256"/>
                </a:lnTo>
                <a:lnTo>
                  <a:pt x="49898" y="47548"/>
                </a:lnTo>
                <a:lnTo>
                  <a:pt x="49949" y="47701"/>
                </a:lnTo>
                <a:lnTo>
                  <a:pt x="50190" y="48526"/>
                </a:lnTo>
                <a:lnTo>
                  <a:pt x="59448" y="58305"/>
                </a:lnTo>
                <a:lnTo>
                  <a:pt x="72834" y="58305"/>
                </a:lnTo>
                <a:lnTo>
                  <a:pt x="86626" y="38100"/>
                </a:lnTo>
                <a:lnTo>
                  <a:pt x="93091" y="37998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/>
          <p:nvPr/>
        </p:nvSpPr>
        <p:spPr>
          <a:xfrm>
            <a:off x="4422787" y="1871370"/>
            <a:ext cx="86360" cy="59690"/>
          </a:xfrm>
          <a:custGeom>
            <a:avLst/>
            <a:gdLst/>
            <a:ahLst/>
            <a:cxnLst/>
            <a:rect l="l" t="t" r="r" b="b"/>
            <a:pathLst>
              <a:path w="86360" h="59689">
                <a:moveTo>
                  <a:pt x="39738" y="38735"/>
                </a:moveTo>
                <a:lnTo>
                  <a:pt x="21132" y="21501"/>
                </a:lnTo>
                <a:lnTo>
                  <a:pt x="18046" y="21691"/>
                </a:lnTo>
                <a:lnTo>
                  <a:pt x="15328" y="22212"/>
                </a:lnTo>
                <a:lnTo>
                  <a:pt x="12433" y="23291"/>
                </a:lnTo>
                <a:lnTo>
                  <a:pt x="10464" y="24333"/>
                </a:lnTo>
                <a:lnTo>
                  <a:pt x="9194" y="25184"/>
                </a:lnTo>
                <a:lnTo>
                  <a:pt x="10312" y="6921"/>
                </a:lnTo>
                <a:lnTo>
                  <a:pt x="36398" y="6921"/>
                </a:lnTo>
                <a:lnTo>
                  <a:pt x="36398" y="635"/>
                </a:lnTo>
                <a:lnTo>
                  <a:pt x="3619" y="635"/>
                </a:lnTo>
                <a:lnTo>
                  <a:pt x="1676" y="31661"/>
                </a:lnTo>
                <a:lnTo>
                  <a:pt x="8902" y="31661"/>
                </a:lnTo>
                <a:lnTo>
                  <a:pt x="12280" y="29248"/>
                </a:lnTo>
                <a:lnTo>
                  <a:pt x="15887" y="27940"/>
                </a:lnTo>
                <a:lnTo>
                  <a:pt x="18161" y="27571"/>
                </a:lnTo>
                <a:lnTo>
                  <a:pt x="20205" y="27533"/>
                </a:lnTo>
                <a:lnTo>
                  <a:pt x="22402" y="27762"/>
                </a:lnTo>
                <a:lnTo>
                  <a:pt x="32080" y="40335"/>
                </a:lnTo>
                <a:lnTo>
                  <a:pt x="31775" y="43307"/>
                </a:lnTo>
                <a:lnTo>
                  <a:pt x="20586" y="53098"/>
                </a:lnTo>
                <a:lnTo>
                  <a:pt x="18313" y="53098"/>
                </a:lnTo>
                <a:lnTo>
                  <a:pt x="7442" y="44577"/>
                </a:lnTo>
                <a:lnTo>
                  <a:pt x="0" y="45427"/>
                </a:lnTo>
                <a:lnTo>
                  <a:pt x="20281" y="59118"/>
                </a:lnTo>
                <a:lnTo>
                  <a:pt x="24003" y="58788"/>
                </a:lnTo>
                <a:lnTo>
                  <a:pt x="39738" y="39509"/>
                </a:lnTo>
                <a:lnTo>
                  <a:pt x="39738" y="38735"/>
                </a:lnTo>
                <a:close/>
              </a:path>
              <a:path w="86360" h="59689">
                <a:moveTo>
                  <a:pt x="86220" y="21501"/>
                </a:moveTo>
                <a:lnTo>
                  <a:pt x="84277" y="12534"/>
                </a:lnTo>
                <a:lnTo>
                  <a:pt x="84023" y="11836"/>
                </a:lnTo>
                <a:lnTo>
                  <a:pt x="80784" y="5918"/>
                </a:lnTo>
                <a:lnTo>
                  <a:pt x="80264" y="5245"/>
                </a:lnTo>
                <a:lnTo>
                  <a:pt x="79667" y="4648"/>
                </a:lnTo>
                <a:lnTo>
                  <a:pt x="79108" y="4051"/>
                </a:lnTo>
                <a:lnTo>
                  <a:pt x="78752" y="3771"/>
                </a:lnTo>
                <a:lnTo>
                  <a:pt x="78752" y="21501"/>
                </a:lnTo>
                <a:lnTo>
                  <a:pt x="78663" y="37731"/>
                </a:lnTo>
                <a:lnTo>
                  <a:pt x="70294" y="52539"/>
                </a:lnTo>
                <a:lnTo>
                  <a:pt x="70535" y="52539"/>
                </a:lnTo>
                <a:lnTo>
                  <a:pt x="68795" y="52908"/>
                </a:lnTo>
                <a:lnTo>
                  <a:pt x="64262" y="52908"/>
                </a:lnTo>
                <a:lnTo>
                  <a:pt x="62522" y="52539"/>
                </a:lnTo>
                <a:lnTo>
                  <a:pt x="62699" y="52539"/>
                </a:lnTo>
                <a:lnTo>
                  <a:pt x="61696" y="52158"/>
                </a:lnTo>
                <a:lnTo>
                  <a:pt x="60769" y="51676"/>
                </a:lnTo>
                <a:lnTo>
                  <a:pt x="60312" y="51384"/>
                </a:lnTo>
                <a:lnTo>
                  <a:pt x="59461" y="50711"/>
                </a:lnTo>
                <a:lnTo>
                  <a:pt x="59093" y="50304"/>
                </a:lnTo>
                <a:lnTo>
                  <a:pt x="58686" y="49898"/>
                </a:lnTo>
                <a:lnTo>
                  <a:pt x="54508" y="38735"/>
                </a:lnTo>
                <a:lnTo>
                  <a:pt x="54521" y="19939"/>
                </a:lnTo>
                <a:lnTo>
                  <a:pt x="64173" y="5918"/>
                </a:lnTo>
                <a:lnTo>
                  <a:pt x="69138" y="5918"/>
                </a:lnTo>
                <a:lnTo>
                  <a:pt x="78752" y="21501"/>
                </a:lnTo>
                <a:lnTo>
                  <a:pt x="78752" y="3771"/>
                </a:lnTo>
                <a:lnTo>
                  <a:pt x="69951" y="0"/>
                </a:lnTo>
                <a:lnTo>
                  <a:pt x="63334" y="0"/>
                </a:lnTo>
                <a:lnTo>
                  <a:pt x="48590" y="13246"/>
                </a:lnTo>
                <a:lnTo>
                  <a:pt x="48044" y="15036"/>
                </a:lnTo>
                <a:lnTo>
                  <a:pt x="47942" y="15481"/>
                </a:lnTo>
                <a:lnTo>
                  <a:pt x="47523" y="17449"/>
                </a:lnTo>
                <a:lnTo>
                  <a:pt x="47091" y="19939"/>
                </a:lnTo>
                <a:lnTo>
                  <a:pt x="46926" y="21501"/>
                </a:lnTo>
                <a:lnTo>
                  <a:pt x="46990" y="37731"/>
                </a:lnTo>
                <a:lnTo>
                  <a:pt x="63182" y="58902"/>
                </a:lnTo>
                <a:lnTo>
                  <a:pt x="69735" y="58902"/>
                </a:lnTo>
                <a:lnTo>
                  <a:pt x="86131" y="37731"/>
                </a:lnTo>
                <a:lnTo>
                  <a:pt x="86220" y="21501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/>
          <p:nvPr/>
        </p:nvSpPr>
        <p:spPr>
          <a:xfrm>
            <a:off x="4595584" y="1872005"/>
            <a:ext cx="86360" cy="59055"/>
          </a:xfrm>
          <a:custGeom>
            <a:avLst/>
            <a:gdLst/>
            <a:ahLst/>
            <a:cxnLst/>
            <a:rect l="l" t="t" r="r" b="b"/>
            <a:pathLst>
              <a:path w="86360" h="59055">
                <a:moveTo>
                  <a:pt x="39738" y="38874"/>
                </a:moveTo>
                <a:lnTo>
                  <a:pt x="21132" y="20866"/>
                </a:lnTo>
                <a:lnTo>
                  <a:pt x="18046" y="21056"/>
                </a:lnTo>
                <a:lnTo>
                  <a:pt x="15328" y="21577"/>
                </a:lnTo>
                <a:lnTo>
                  <a:pt x="12420" y="22656"/>
                </a:lnTo>
                <a:lnTo>
                  <a:pt x="10934" y="23444"/>
                </a:lnTo>
                <a:lnTo>
                  <a:pt x="9220" y="24549"/>
                </a:lnTo>
                <a:lnTo>
                  <a:pt x="10299" y="6286"/>
                </a:lnTo>
                <a:lnTo>
                  <a:pt x="36385" y="6286"/>
                </a:lnTo>
                <a:lnTo>
                  <a:pt x="36385" y="0"/>
                </a:lnTo>
                <a:lnTo>
                  <a:pt x="3606" y="0"/>
                </a:lnTo>
                <a:lnTo>
                  <a:pt x="1676" y="31026"/>
                </a:lnTo>
                <a:lnTo>
                  <a:pt x="8890" y="31026"/>
                </a:lnTo>
                <a:lnTo>
                  <a:pt x="11798" y="28867"/>
                </a:lnTo>
                <a:lnTo>
                  <a:pt x="13843" y="27901"/>
                </a:lnTo>
                <a:lnTo>
                  <a:pt x="17818" y="26974"/>
                </a:lnTo>
                <a:lnTo>
                  <a:pt x="21323" y="26974"/>
                </a:lnTo>
                <a:lnTo>
                  <a:pt x="32067" y="38023"/>
                </a:lnTo>
                <a:lnTo>
                  <a:pt x="32067" y="40335"/>
                </a:lnTo>
                <a:lnTo>
                  <a:pt x="20574" y="52463"/>
                </a:lnTo>
                <a:lnTo>
                  <a:pt x="18300" y="52463"/>
                </a:lnTo>
                <a:lnTo>
                  <a:pt x="7442" y="43942"/>
                </a:lnTo>
                <a:lnTo>
                  <a:pt x="0" y="44792"/>
                </a:lnTo>
                <a:lnTo>
                  <a:pt x="20281" y="58483"/>
                </a:lnTo>
                <a:lnTo>
                  <a:pt x="24003" y="58153"/>
                </a:lnTo>
                <a:lnTo>
                  <a:pt x="39547" y="42227"/>
                </a:lnTo>
                <a:lnTo>
                  <a:pt x="39738" y="38874"/>
                </a:lnTo>
                <a:close/>
              </a:path>
              <a:path w="86360" h="59055">
                <a:moveTo>
                  <a:pt x="85801" y="51422"/>
                </a:moveTo>
                <a:lnTo>
                  <a:pt x="71729" y="51422"/>
                </a:lnTo>
                <a:lnTo>
                  <a:pt x="71729" y="0"/>
                </a:lnTo>
                <a:lnTo>
                  <a:pt x="64960" y="0"/>
                </a:lnTo>
                <a:lnTo>
                  <a:pt x="51346" y="9372"/>
                </a:lnTo>
                <a:lnTo>
                  <a:pt x="51346" y="16332"/>
                </a:lnTo>
                <a:lnTo>
                  <a:pt x="64325" y="7035"/>
                </a:lnTo>
                <a:lnTo>
                  <a:pt x="64325" y="51422"/>
                </a:lnTo>
                <a:lnTo>
                  <a:pt x="49631" y="51422"/>
                </a:lnTo>
                <a:lnTo>
                  <a:pt x="49631" y="57670"/>
                </a:lnTo>
                <a:lnTo>
                  <a:pt x="85801" y="57670"/>
                </a:lnTo>
                <a:lnTo>
                  <a:pt x="85801" y="51422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/>
          <p:nvPr/>
        </p:nvSpPr>
        <p:spPr>
          <a:xfrm>
            <a:off x="4768367" y="1871141"/>
            <a:ext cx="85725" cy="59690"/>
          </a:xfrm>
          <a:custGeom>
            <a:avLst/>
            <a:gdLst/>
            <a:ahLst/>
            <a:cxnLst/>
            <a:rect l="l" t="t" r="r" b="b"/>
            <a:pathLst>
              <a:path w="85725" h="59689">
                <a:moveTo>
                  <a:pt x="39738" y="38963"/>
                </a:moveTo>
                <a:lnTo>
                  <a:pt x="21132" y="21729"/>
                </a:lnTo>
                <a:lnTo>
                  <a:pt x="18046" y="21920"/>
                </a:lnTo>
                <a:lnTo>
                  <a:pt x="14744" y="22631"/>
                </a:lnTo>
                <a:lnTo>
                  <a:pt x="11430" y="24041"/>
                </a:lnTo>
                <a:lnTo>
                  <a:pt x="9232" y="25412"/>
                </a:lnTo>
                <a:lnTo>
                  <a:pt x="10312" y="7150"/>
                </a:lnTo>
                <a:lnTo>
                  <a:pt x="36398" y="7150"/>
                </a:lnTo>
                <a:lnTo>
                  <a:pt x="36398" y="863"/>
                </a:lnTo>
                <a:lnTo>
                  <a:pt x="3619" y="863"/>
                </a:lnTo>
                <a:lnTo>
                  <a:pt x="1676" y="31889"/>
                </a:lnTo>
                <a:lnTo>
                  <a:pt x="8902" y="31889"/>
                </a:lnTo>
                <a:lnTo>
                  <a:pt x="11582" y="29883"/>
                </a:lnTo>
                <a:lnTo>
                  <a:pt x="13589" y="28879"/>
                </a:lnTo>
                <a:lnTo>
                  <a:pt x="18199" y="27800"/>
                </a:lnTo>
                <a:lnTo>
                  <a:pt x="21323" y="27838"/>
                </a:lnTo>
                <a:lnTo>
                  <a:pt x="24853" y="28651"/>
                </a:lnTo>
                <a:lnTo>
                  <a:pt x="32080" y="41198"/>
                </a:lnTo>
                <a:lnTo>
                  <a:pt x="31673" y="44094"/>
                </a:lnTo>
                <a:lnTo>
                  <a:pt x="20574" y="53327"/>
                </a:lnTo>
                <a:lnTo>
                  <a:pt x="18313" y="53327"/>
                </a:lnTo>
                <a:lnTo>
                  <a:pt x="7442" y="44805"/>
                </a:lnTo>
                <a:lnTo>
                  <a:pt x="0" y="45656"/>
                </a:lnTo>
                <a:lnTo>
                  <a:pt x="20281" y="59347"/>
                </a:lnTo>
                <a:lnTo>
                  <a:pt x="24003" y="59016"/>
                </a:lnTo>
                <a:lnTo>
                  <a:pt x="39738" y="39738"/>
                </a:lnTo>
                <a:lnTo>
                  <a:pt x="39738" y="38963"/>
                </a:lnTo>
                <a:close/>
              </a:path>
              <a:path w="85725" h="59689">
                <a:moveTo>
                  <a:pt x="85686" y="52285"/>
                </a:moveTo>
                <a:lnTo>
                  <a:pt x="55587" y="52285"/>
                </a:lnTo>
                <a:lnTo>
                  <a:pt x="57048" y="49568"/>
                </a:lnTo>
                <a:lnTo>
                  <a:pt x="58013" y="48221"/>
                </a:lnTo>
                <a:lnTo>
                  <a:pt x="61023" y="44805"/>
                </a:lnTo>
                <a:lnTo>
                  <a:pt x="69138" y="37769"/>
                </a:lnTo>
                <a:lnTo>
                  <a:pt x="78244" y="29591"/>
                </a:lnTo>
                <a:lnTo>
                  <a:pt x="84759" y="15036"/>
                </a:lnTo>
                <a:lnTo>
                  <a:pt x="84582" y="12877"/>
                </a:lnTo>
                <a:lnTo>
                  <a:pt x="65824" y="0"/>
                </a:lnTo>
                <a:lnTo>
                  <a:pt x="63334" y="190"/>
                </a:lnTo>
                <a:lnTo>
                  <a:pt x="47815" y="15113"/>
                </a:lnTo>
                <a:lnTo>
                  <a:pt x="55333" y="15824"/>
                </a:lnTo>
                <a:lnTo>
                  <a:pt x="55664" y="13957"/>
                </a:lnTo>
                <a:lnTo>
                  <a:pt x="56553" y="11582"/>
                </a:lnTo>
                <a:lnTo>
                  <a:pt x="65379" y="6108"/>
                </a:lnTo>
                <a:lnTo>
                  <a:pt x="68948" y="6223"/>
                </a:lnTo>
                <a:lnTo>
                  <a:pt x="77203" y="15557"/>
                </a:lnTo>
                <a:lnTo>
                  <a:pt x="76949" y="18757"/>
                </a:lnTo>
                <a:lnTo>
                  <a:pt x="58229" y="38887"/>
                </a:lnTo>
                <a:lnTo>
                  <a:pt x="54406" y="42760"/>
                </a:lnTo>
                <a:lnTo>
                  <a:pt x="51981" y="45656"/>
                </a:lnTo>
                <a:lnTo>
                  <a:pt x="49784" y="48818"/>
                </a:lnTo>
                <a:lnTo>
                  <a:pt x="47485" y="53327"/>
                </a:lnTo>
                <a:lnTo>
                  <a:pt x="47485" y="58534"/>
                </a:lnTo>
                <a:lnTo>
                  <a:pt x="85686" y="58534"/>
                </a:lnTo>
                <a:lnTo>
                  <a:pt x="85686" y="52285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/>
          <p:nvPr/>
        </p:nvSpPr>
        <p:spPr>
          <a:xfrm>
            <a:off x="4941163" y="1871141"/>
            <a:ext cx="85725" cy="59690"/>
          </a:xfrm>
          <a:custGeom>
            <a:avLst/>
            <a:gdLst/>
            <a:ahLst/>
            <a:cxnLst/>
            <a:rect l="l" t="t" r="r" b="b"/>
            <a:pathLst>
              <a:path w="85725" h="59689">
                <a:moveTo>
                  <a:pt x="39776" y="39738"/>
                </a:moveTo>
                <a:lnTo>
                  <a:pt x="19570" y="21767"/>
                </a:lnTo>
                <a:lnTo>
                  <a:pt x="16662" y="22148"/>
                </a:lnTo>
                <a:lnTo>
                  <a:pt x="14732" y="22631"/>
                </a:lnTo>
                <a:lnTo>
                  <a:pt x="11417" y="24041"/>
                </a:lnTo>
                <a:lnTo>
                  <a:pt x="9220" y="25412"/>
                </a:lnTo>
                <a:lnTo>
                  <a:pt x="10337" y="7150"/>
                </a:lnTo>
                <a:lnTo>
                  <a:pt x="36385" y="7150"/>
                </a:lnTo>
                <a:lnTo>
                  <a:pt x="36385" y="863"/>
                </a:lnTo>
                <a:lnTo>
                  <a:pt x="3606" y="863"/>
                </a:lnTo>
                <a:lnTo>
                  <a:pt x="1714" y="31889"/>
                </a:lnTo>
                <a:lnTo>
                  <a:pt x="8890" y="31889"/>
                </a:lnTo>
                <a:lnTo>
                  <a:pt x="11569" y="29883"/>
                </a:lnTo>
                <a:lnTo>
                  <a:pt x="13576" y="28879"/>
                </a:lnTo>
                <a:lnTo>
                  <a:pt x="16522" y="28028"/>
                </a:lnTo>
                <a:lnTo>
                  <a:pt x="18186" y="27800"/>
                </a:lnTo>
                <a:lnTo>
                  <a:pt x="21323" y="27838"/>
                </a:lnTo>
                <a:lnTo>
                  <a:pt x="32105" y="40563"/>
                </a:lnTo>
                <a:lnTo>
                  <a:pt x="31889" y="42976"/>
                </a:lnTo>
                <a:lnTo>
                  <a:pt x="20574" y="53327"/>
                </a:lnTo>
                <a:lnTo>
                  <a:pt x="18300" y="53327"/>
                </a:lnTo>
                <a:lnTo>
                  <a:pt x="7480" y="44805"/>
                </a:lnTo>
                <a:lnTo>
                  <a:pt x="0" y="45656"/>
                </a:lnTo>
                <a:lnTo>
                  <a:pt x="18376" y="59347"/>
                </a:lnTo>
                <a:lnTo>
                  <a:pt x="22212" y="59245"/>
                </a:lnTo>
                <a:lnTo>
                  <a:pt x="39433" y="43916"/>
                </a:lnTo>
                <a:lnTo>
                  <a:pt x="39776" y="39738"/>
                </a:lnTo>
                <a:close/>
              </a:path>
              <a:path w="85725" h="59689">
                <a:moveTo>
                  <a:pt x="85686" y="52285"/>
                </a:moveTo>
                <a:lnTo>
                  <a:pt x="55587" y="52285"/>
                </a:lnTo>
                <a:lnTo>
                  <a:pt x="57035" y="49568"/>
                </a:lnTo>
                <a:lnTo>
                  <a:pt x="58000" y="48221"/>
                </a:lnTo>
                <a:lnTo>
                  <a:pt x="61023" y="44805"/>
                </a:lnTo>
                <a:lnTo>
                  <a:pt x="68122" y="38595"/>
                </a:lnTo>
                <a:lnTo>
                  <a:pt x="78244" y="29591"/>
                </a:lnTo>
                <a:lnTo>
                  <a:pt x="84797" y="15824"/>
                </a:lnTo>
                <a:lnTo>
                  <a:pt x="84340" y="11506"/>
                </a:lnTo>
                <a:lnTo>
                  <a:pt x="65811" y="0"/>
                </a:lnTo>
                <a:lnTo>
                  <a:pt x="63360" y="190"/>
                </a:lnTo>
                <a:lnTo>
                  <a:pt x="47802" y="15113"/>
                </a:lnTo>
                <a:lnTo>
                  <a:pt x="55359" y="15824"/>
                </a:lnTo>
                <a:lnTo>
                  <a:pt x="55397" y="15341"/>
                </a:lnTo>
                <a:lnTo>
                  <a:pt x="55918" y="13144"/>
                </a:lnTo>
                <a:lnTo>
                  <a:pt x="67157" y="6070"/>
                </a:lnTo>
                <a:lnTo>
                  <a:pt x="70205" y="6477"/>
                </a:lnTo>
                <a:lnTo>
                  <a:pt x="77203" y="16751"/>
                </a:lnTo>
                <a:lnTo>
                  <a:pt x="76936" y="18757"/>
                </a:lnTo>
                <a:lnTo>
                  <a:pt x="58902" y="38290"/>
                </a:lnTo>
                <a:lnTo>
                  <a:pt x="54394" y="42760"/>
                </a:lnTo>
                <a:lnTo>
                  <a:pt x="51981" y="45656"/>
                </a:lnTo>
                <a:lnTo>
                  <a:pt x="49301" y="49682"/>
                </a:lnTo>
                <a:lnTo>
                  <a:pt x="47472" y="53327"/>
                </a:lnTo>
                <a:lnTo>
                  <a:pt x="47472" y="58534"/>
                </a:lnTo>
                <a:lnTo>
                  <a:pt x="85686" y="58534"/>
                </a:lnTo>
                <a:lnTo>
                  <a:pt x="85686" y="52285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/>
          <p:nvPr/>
        </p:nvSpPr>
        <p:spPr>
          <a:xfrm>
            <a:off x="5113985" y="1871141"/>
            <a:ext cx="86360" cy="59690"/>
          </a:xfrm>
          <a:custGeom>
            <a:avLst/>
            <a:gdLst/>
            <a:ahLst/>
            <a:cxnLst/>
            <a:rect l="l" t="t" r="r" b="b"/>
            <a:pathLst>
              <a:path w="86360" h="59689">
                <a:moveTo>
                  <a:pt x="39738" y="39738"/>
                </a:moveTo>
                <a:lnTo>
                  <a:pt x="19532" y="21767"/>
                </a:lnTo>
                <a:lnTo>
                  <a:pt x="16637" y="22148"/>
                </a:lnTo>
                <a:lnTo>
                  <a:pt x="14693" y="22631"/>
                </a:lnTo>
                <a:lnTo>
                  <a:pt x="11391" y="24041"/>
                </a:lnTo>
                <a:lnTo>
                  <a:pt x="9194" y="25412"/>
                </a:lnTo>
                <a:lnTo>
                  <a:pt x="10312" y="7150"/>
                </a:lnTo>
                <a:lnTo>
                  <a:pt x="36360" y="7150"/>
                </a:lnTo>
                <a:lnTo>
                  <a:pt x="36360" y="863"/>
                </a:lnTo>
                <a:lnTo>
                  <a:pt x="3568" y="863"/>
                </a:lnTo>
                <a:lnTo>
                  <a:pt x="1676" y="31889"/>
                </a:lnTo>
                <a:lnTo>
                  <a:pt x="8851" y="31889"/>
                </a:lnTo>
                <a:lnTo>
                  <a:pt x="9829" y="31115"/>
                </a:lnTo>
                <a:lnTo>
                  <a:pt x="13550" y="28879"/>
                </a:lnTo>
                <a:lnTo>
                  <a:pt x="16192" y="28092"/>
                </a:lnTo>
                <a:lnTo>
                  <a:pt x="18161" y="27800"/>
                </a:lnTo>
                <a:lnTo>
                  <a:pt x="21285" y="27838"/>
                </a:lnTo>
                <a:lnTo>
                  <a:pt x="32080" y="40563"/>
                </a:lnTo>
                <a:lnTo>
                  <a:pt x="31851" y="42976"/>
                </a:lnTo>
                <a:lnTo>
                  <a:pt x="20535" y="53327"/>
                </a:lnTo>
                <a:lnTo>
                  <a:pt x="18275" y="53327"/>
                </a:lnTo>
                <a:lnTo>
                  <a:pt x="7442" y="44805"/>
                </a:lnTo>
                <a:lnTo>
                  <a:pt x="0" y="45656"/>
                </a:lnTo>
                <a:lnTo>
                  <a:pt x="16637" y="59270"/>
                </a:lnTo>
                <a:lnTo>
                  <a:pt x="22174" y="59245"/>
                </a:lnTo>
                <a:lnTo>
                  <a:pt x="39624" y="42278"/>
                </a:lnTo>
                <a:lnTo>
                  <a:pt x="39738" y="39738"/>
                </a:lnTo>
                <a:close/>
              </a:path>
              <a:path w="86360" h="59689">
                <a:moveTo>
                  <a:pt x="86169" y="42608"/>
                </a:moveTo>
                <a:lnTo>
                  <a:pt x="72517" y="29095"/>
                </a:lnTo>
                <a:lnTo>
                  <a:pt x="72517" y="28956"/>
                </a:lnTo>
                <a:lnTo>
                  <a:pt x="84569" y="14668"/>
                </a:lnTo>
                <a:lnTo>
                  <a:pt x="84201" y="11620"/>
                </a:lnTo>
                <a:lnTo>
                  <a:pt x="65557" y="0"/>
                </a:lnTo>
                <a:lnTo>
                  <a:pt x="62738" y="228"/>
                </a:lnTo>
                <a:lnTo>
                  <a:pt x="47409" y="15036"/>
                </a:lnTo>
                <a:lnTo>
                  <a:pt x="54851" y="15595"/>
                </a:lnTo>
                <a:lnTo>
                  <a:pt x="54952" y="14706"/>
                </a:lnTo>
                <a:lnTo>
                  <a:pt x="55626" y="12280"/>
                </a:lnTo>
                <a:lnTo>
                  <a:pt x="66192" y="6070"/>
                </a:lnTo>
                <a:lnTo>
                  <a:pt x="69176" y="6299"/>
                </a:lnTo>
                <a:lnTo>
                  <a:pt x="77025" y="16040"/>
                </a:lnTo>
                <a:lnTo>
                  <a:pt x="76835" y="18275"/>
                </a:lnTo>
                <a:lnTo>
                  <a:pt x="60274" y="26009"/>
                </a:lnTo>
                <a:lnTo>
                  <a:pt x="60274" y="32372"/>
                </a:lnTo>
                <a:lnTo>
                  <a:pt x="64858" y="32372"/>
                </a:lnTo>
                <a:lnTo>
                  <a:pt x="69469" y="32816"/>
                </a:lnTo>
                <a:lnTo>
                  <a:pt x="78511" y="43421"/>
                </a:lnTo>
                <a:lnTo>
                  <a:pt x="78244" y="45364"/>
                </a:lnTo>
                <a:lnTo>
                  <a:pt x="67716" y="53251"/>
                </a:lnTo>
                <a:lnTo>
                  <a:pt x="64338" y="53136"/>
                </a:lnTo>
                <a:lnTo>
                  <a:pt x="54063" y="43014"/>
                </a:lnTo>
                <a:lnTo>
                  <a:pt x="46431" y="43726"/>
                </a:lnTo>
                <a:lnTo>
                  <a:pt x="67538" y="59347"/>
                </a:lnTo>
                <a:lnTo>
                  <a:pt x="71069" y="59093"/>
                </a:lnTo>
                <a:lnTo>
                  <a:pt x="85991" y="45656"/>
                </a:lnTo>
                <a:lnTo>
                  <a:pt x="86169" y="42608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8" name="object 8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58218" y="973670"/>
            <a:ext cx="236041" cy="340593"/>
          </a:xfrm>
          <a:prstGeom prst="rect">
            <a:avLst/>
          </a:prstGeom>
        </p:spPr>
      </p:pic>
      <p:sp>
        <p:nvSpPr>
          <p:cNvPr id="89" name="object 89" descr=""/>
          <p:cNvSpPr/>
          <p:nvPr/>
        </p:nvSpPr>
        <p:spPr>
          <a:xfrm>
            <a:off x="5286781" y="1872005"/>
            <a:ext cx="87630" cy="59055"/>
          </a:xfrm>
          <a:custGeom>
            <a:avLst/>
            <a:gdLst/>
            <a:ahLst/>
            <a:cxnLst/>
            <a:rect l="l" t="t" r="r" b="b"/>
            <a:pathLst>
              <a:path w="87629" h="59055">
                <a:moveTo>
                  <a:pt x="39738" y="38874"/>
                </a:moveTo>
                <a:lnTo>
                  <a:pt x="21094" y="20866"/>
                </a:lnTo>
                <a:lnTo>
                  <a:pt x="18046" y="21056"/>
                </a:lnTo>
                <a:lnTo>
                  <a:pt x="15328" y="21577"/>
                </a:lnTo>
                <a:lnTo>
                  <a:pt x="12420" y="22656"/>
                </a:lnTo>
                <a:lnTo>
                  <a:pt x="10452" y="23698"/>
                </a:lnTo>
                <a:lnTo>
                  <a:pt x="9182" y="24549"/>
                </a:lnTo>
                <a:lnTo>
                  <a:pt x="10299" y="6286"/>
                </a:lnTo>
                <a:lnTo>
                  <a:pt x="36385" y="6286"/>
                </a:lnTo>
                <a:lnTo>
                  <a:pt x="36385" y="0"/>
                </a:lnTo>
                <a:lnTo>
                  <a:pt x="3606" y="0"/>
                </a:lnTo>
                <a:lnTo>
                  <a:pt x="1676" y="31026"/>
                </a:lnTo>
                <a:lnTo>
                  <a:pt x="8851" y="31026"/>
                </a:lnTo>
                <a:lnTo>
                  <a:pt x="12763" y="28346"/>
                </a:lnTo>
                <a:lnTo>
                  <a:pt x="16179" y="27228"/>
                </a:lnTo>
                <a:lnTo>
                  <a:pt x="18148" y="26936"/>
                </a:lnTo>
                <a:lnTo>
                  <a:pt x="20167" y="26898"/>
                </a:lnTo>
                <a:lnTo>
                  <a:pt x="23888" y="27457"/>
                </a:lnTo>
                <a:lnTo>
                  <a:pt x="32067" y="39700"/>
                </a:lnTo>
                <a:lnTo>
                  <a:pt x="31851" y="42113"/>
                </a:lnTo>
                <a:lnTo>
                  <a:pt x="20535" y="52463"/>
                </a:lnTo>
                <a:lnTo>
                  <a:pt x="18262" y="52463"/>
                </a:lnTo>
                <a:lnTo>
                  <a:pt x="7442" y="43942"/>
                </a:lnTo>
                <a:lnTo>
                  <a:pt x="0" y="44792"/>
                </a:lnTo>
                <a:lnTo>
                  <a:pt x="20269" y="58483"/>
                </a:lnTo>
                <a:lnTo>
                  <a:pt x="23990" y="58153"/>
                </a:lnTo>
                <a:lnTo>
                  <a:pt x="39624" y="41414"/>
                </a:lnTo>
                <a:lnTo>
                  <a:pt x="39738" y="38874"/>
                </a:lnTo>
                <a:close/>
              </a:path>
              <a:path w="87629" h="59055">
                <a:moveTo>
                  <a:pt x="87401" y="38696"/>
                </a:moveTo>
                <a:lnTo>
                  <a:pt x="79324" y="38696"/>
                </a:lnTo>
                <a:lnTo>
                  <a:pt x="79324" y="8331"/>
                </a:lnTo>
                <a:lnTo>
                  <a:pt x="79324" y="0"/>
                </a:lnTo>
                <a:lnTo>
                  <a:pt x="72364" y="0"/>
                </a:lnTo>
                <a:lnTo>
                  <a:pt x="72364" y="8483"/>
                </a:lnTo>
                <a:lnTo>
                  <a:pt x="72364" y="38696"/>
                </a:lnTo>
                <a:lnTo>
                  <a:pt x="52082" y="38696"/>
                </a:lnTo>
                <a:lnTo>
                  <a:pt x="52197" y="38544"/>
                </a:lnTo>
                <a:lnTo>
                  <a:pt x="52311" y="38354"/>
                </a:lnTo>
                <a:lnTo>
                  <a:pt x="52463" y="38214"/>
                </a:lnTo>
                <a:lnTo>
                  <a:pt x="53124" y="37350"/>
                </a:lnTo>
                <a:lnTo>
                  <a:pt x="54584" y="35344"/>
                </a:lnTo>
                <a:lnTo>
                  <a:pt x="54686" y="35153"/>
                </a:lnTo>
                <a:lnTo>
                  <a:pt x="54838" y="34975"/>
                </a:lnTo>
                <a:lnTo>
                  <a:pt x="69951" y="12649"/>
                </a:lnTo>
                <a:lnTo>
                  <a:pt x="70243" y="12090"/>
                </a:lnTo>
                <a:lnTo>
                  <a:pt x="70358" y="11938"/>
                </a:lnTo>
                <a:lnTo>
                  <a:pt x="70497" y="11645"/>
                </a:lnTo>
                <a:lnTo>
                  <a:pt x="70612" y="11493"/>
                </a:lnTo>
                <a:lnTo>
                  <a:pt x="70764" y="11201"/>
                </a:lnTo>
                <a:lnTo>
                  <a:pt x="70878" y="11049"/>
                </a:lnTo>
                <a:lnTo>
                  <a:pt x="71018" y="10756"/>
                </a:lnTo>
                <a:lnTo>
                  <a:pt x="71132" y="10604"/>
                </a:lnTo>
                <a:lnTo>
                  <a:pt x="71729" y="9486"/>
                </a:lnTo>
                <a:lnTo>
                  <a:pt x="71958" y="9156"/>
                </a:lnTo>
                <a:lnTo>
                  <a:pt x="72072" y="8890"/>
                </a:lnTo>
                <a:lnTo>
                  <a:pt x="72174" y="8699"/>
                </a:lnTo>
                <a:lnTo>
                  <a:pt x="72364" y="8483"/>
                </a:lnTo>
                <a:lnTo>
                  <a:pt x="72364" y="0"/>
                </a:lnTo>
                <a:lnTo>
                  <a:pt x="71577" y="0"/>
                </a:lnTo>
                <a:lnTo>
                  <a:pt x="45288" y="38696"/>
                </a:lnTo>
                <a:lnTo>
                  <a:pt x="45161" y="44615"/>
                </a:lnTo>
                <a:lnTo>
                  <a:pt x="72364" y="44615"/>
                </a:lnTo>
                <a:lnTo>
                  <a:pt x="72364" y="57670"/>
                </a:lnTo>
                <a:lnTo>
                  <a:pt x="79324" y="57670"/>
                </a:lnTo>
                <a:lnTo>
                  <a:pt x="79324" y="44615"/>
                </a:lnTo>
                <a:lnTo>
                  <a:pt x="87401" y="44615"/>
                </a:lnTo>
                <a:lnTo>
                  <a:pt x="87401" y="38696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/>
          <p:nvPr/>
        </p:nvSpPr>
        <p:spPr>
          <a:xfrm>
            <a:off x="5459565" y="1872005"/>
            <a:ext cx="86360" cy="59055"/>
          </a:xfrm>
          <a:custGeom>
            <a:avLst/>
            <a:gdLst/>
            <a:ahLst/>
            <a:cxnLst/>
            <a:rect l="l" t="t" r="r" b="b"/>
            <a:pathLst>
              <a:path w="86360" h="59055">
                <a:moveTo>
                  <a:pt x="39738" y="38874"/>
                </a:moveTo>
                <a:lnTo>
                  <a:pt x="21132" y="20866"/>
                </a:lnTo>
                <a:lnTo>
                  <a:pt x="18046" y="21056"/>
                </a:lnTo>
                <a:lnTo>
                  <a:pt x="15328" y="21577"/>
                </a:lnTo>
                <a:lnTo>
                  <a:pt x="12433" y="22656"/>
                </a:lnTo>
                <a:lnTo>
                  <a:pt x="10452" y="23698"/>
                </a:lnTo>
                <a:lnTo>
                  <a:pt x="9194" y="24549"/>
                </a:lnTo>
                <a:lnTo>
                  <a:pt x="10312" y="6286"/>
                </a:lnTo>
                <a:lnTo>
                  <a:pt x="36385" y="6286"/>
                </a:lnTo>
                <a:lnTo>
                  <a:pt x="36385" y="0"/>
                </a:lnTo>
                <a:lnTo>
                  <a:pt x="3606" y="0"/>
                </a:lnTo>
                <a:lnTo>
                  <a:pt x="1676" y="31026"/>
                </a:lnTo>
                <a:lnTo>
                  <a:pt x="8890" y="31026"/>
                </a:lnTo>
                <a:lnTo>
                  <a:pt x="12280" y="28613"/>
                </a:lnTo>
                <a:lnTo>
                  <a:pt x="15887" y="27305"/>
                </a:lnTo>
                <a:lnTo>
                  <a:pt x="18161" y="26936"/>
                </a:lnTo>
                <a:lnTo>
                  <a:pt x="20167" y="26898"/>
                </a:lnTo>
                <a:lnTo>
                  <a:pt x="22402" y="27127"/>
                </a:lnTo>
                <a:lnTo>
                  <a:pt x="32080" y="39700"/>
                </a:lnTo>
                <a:lnTo>
                  <a:pt x="31775" y="42672"/>
                </a:lnTo>
                <a:lnTo>
                  <a:pt x="20574" y="52463"/>
                </a:lnTo>
                <a:lnTo>
                  <a:pt x="18313" y="52463"/>
                </a:lnTo>
                <a:lnTo>
                  <a:pt x="7442" y="43942"/>
                </a:lnTo>
                <a:lnTo>
                  <a:pt x="0" y="44792"/>
                </a:lnTo>
                <a:lnTo>
                  <a:pt x="20281" y="58483"/>
                </a:lnTo>
                <a:lnTo>
                  <a:pt x="24003" y="58153"/>
                </a:lnTo>
                <a:lnTo>
                  <a:pt x="39624" y="41414"/>
                </a:lnTo>
                <a:lnTo>
                  <a:pt x="39738" y="38874"/>
                </a:lnTo>
                <a:close/>
              </a:path>
              <a:path w="86360" h="59055">
                <a:moveTo>
                  <a:pt x="86360" y="38874"/>
                </a:moveTo>
                <a:lnTo>
                  <a:pt x="67716" y="20866"/>
                </a:lnTo>
                <a:lnTo>
                  <a:pt x="64668" y="21056"/>
                </a:lnTo>
                <a:lnTo>
                  <a:pt x="61950" y="21577"/>
                </a:lnTo>
                <a:lnTo>
                  <a:pt x="59055" y="22656"/>
                </a:lnTo>
                <a:lnTo>
                  <a:pt x="57073" y="23698"/>
                </a:lnTo>
                <a:lnTo>
                  <a:pt x="55816" y="24549"/>
                </a:lnTo>
                <a:lnTo>
                  <a:pt x="56934" y="6286"/>
                </a:lnTo>
                <a:lnTo>
                  <a:pt x="83007" y="6286"/>
                </a:lnTo>
                <a:lnTo>
                  <a:pt x="83007" y="0"/>
                </a:lnTo>
                <a:lnTo>
                  <a:pt x="50228" y="0"/>
                </a:lnTo>
                <a:lnTo>
                  <a:pt x="48298" y="31026"/>
                </a:lnTo>
                <a:lnTo>
                  <a:pt x="55511" y="31026"/>
                </a:lnTo>
                <a:lnTo>
                  <a:pt x="59385" y="28346"/>
                </a:lnTo>
                <a:lnTo>
                  <a:pt x="62801" y="27228"/>
                </a:lnTo>
                <a:lnTo>
                  <a:pt x="64782" y="26936"/>
                </a:lnTo>
                <a:lnTo>
                  <a:pt x="66789" y="26898"/>
                </a:lnTo>
                <a:lnTo>
                  <a:pt x="70510" y="27457"/>
                </a:lnTo>
                <a:lnTo>
                  <a:pt x="78689" y="39700"/>
                </a:lnTo>
                <a:lnTo>
                  <a:pt x="78473" y="42113"/>
                </a:lnTo>
                <a:lnTo>
                  <a:pt x="67195" y="52463"/>
                </a:lnTo>
                <a:lnTo>
                  <a:pt x="64922" y="52463"/>
                </a:lnTo>
                <a:lnTo>
                  <a:pt x="54063" y="43942"/>
                </a:lnTo>
                <a:lnTo>
                  <a:pt x="46621" y="44792"/>
                </a:lnTo>
                <a:lnTo>
                  <a:pt x="66903" y="58483"/>
                </a:lnTo>
                <a:lnTo>
                  <a:pt x="70624" y="58153"/>
                </a:lnTo>
                <a:lnTo>
                  <a:pt x="86245" y="41414"/>
                </a:lnTo>
                <a:lnTo>
                  <a:pt x="86360" y="38874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/>
          <p:nvPr/>
        </p:nvSpPr>
        <p:spPr>
          <a:xfrm>
            <a:off x="5632361" y="1872005"/>
            <a:ext cx="86360" cy="59055"/>
          </a:xfrm>
          <a:custGeom>
            <a:avLst/>
            <a:gdLst/>
            <a:ahLst/>
            <a:cxnLst/>
            <a:rect l="l" t="t" r="r" b="b"/>
            <a:pathLst>
              <a:path w="86360" h="59055">
                <a:moveTo>
                  <a:pt x="39738" y="38874"/>
                </a:moveTo>
                <a:lnTo>
                  <a:pt x="21132" y="20866"/>
                </a:lnTo>
                <a:lnTo>
                  <a:pt x="18046" y="21056"/>
                </a:lnTo>
                <a:lnTo>
                  <a:pt x="15328" y="21577"/>
                </a:lnTo>
                <a:lnTo>
                  <a:pt x="12420" y="22656"/>
                </a:lnTo>
                <a:lnTo>
                  <a:pt x="10934" y="23444"/>
                </a:lnTo>
                <a:lnTo>
                  <a:pt x="9220" y="24549"/>
                </a:lnTo>
                <a:lnTo>
                  <a:pt x="10299" y="6286"/>
                </a:lnTo>
                <a:lnTo>
                  <a:pt x="36385" y="6286"/>
                </a:lnTo>
                <a:lnTo>
                  <a:pt x="36385" y="0"/>
                </a:lnTo>
                <a:lnTo>
                  <a:pt x="3606" y="0"/>
                </a:lnTo>
                <a:lnTo>
                  <a:pt x="1663" y="31026"/>
                </a:lnTo>
                <a:lnTo>
                  <a:pt x="8890" y="31026"/>
                </a:lnTo>
                <a:lnTo>
                  <a:pt x="11785" y="28867"/>
                </a:lnTo>
                <a:lnTo>
                  <a:pt x="13830" y="27901"/>
                </a:lnTo>
                <a:lnTo>
                  <a:pt x="17818" y="26974"/>
                </a:lnTo>
                <a:lnTo>
                  <a:pt x="21310" y="26974"/>
                </a:lnTo>
                <a:lnTo>
                  <a:pt x="32067" y="38023"/>
                </a:lnTo>
                <a:lnTo>
                  <a:pt x="32067" y="40335"/>
                </a:lnTo>
                <a:lnTo>
                  <a:pt x="20574" y="52463"/>
                </a:lnTo>
                <a:lnTo>
                  <a:pt x="18300" y="52463"/>
                </a:lnTo>
                <a:lnTo>
                  <a:pt x="7442" y="43942"/>
                </a:lnTo>
                <a:lnTo>
                  <a:pt x="0" y="44792"/>
                </a:lnTo>
                <a:lnTo>
                  <a:pt x="20269" y="58483"/>
                </a:lnTo>
                <a:lnTo>
                  <a:pt x="23990" y="58153"/>
                </a:lnTo>
                <a:lnTo>
                  <a:pt x="39547" y="42227"/>
                </a:lnTo>
                <a:lnTo>
                  <a:pt x="39738" y="38874"/>
                </a:lnTo>
                <a:close/>
              </a:path>
              <a:path w="86360" h="59055">
                <a:moveTo>
                  <a:pt x="86347" y="38100"/>
                </a:moveTo>
                <a:lnTo>
                  <a:pt x="67754" y="20866"/>
                </a:lnTo>
                <a:lnTo>
                  <a:pt x="64655" y="21056"/>
                </a:lnTo>
                <a:lnTo>
                  <a:pt x="61950" y="21577"/>
                </a:lnTo>
                <a:lnTo>
                  <a:pt x="59042" y="22656"/>
                </a:lnTo>
                <a:lnTo>
                  <a:pt x="55803" y="24549"/>
                </a:lnTo>
                <a:lnTo>
                  <a:pt x="56921" y="6286"/>
                </a:lnTo>
                <a:lnTo>
                  <a:pt x="83007" y="6286"/>
                </a:lnTo>
                <a:lnTo>
                  <a:pt x="83007" y="0"/>
                </a:lnTo>
                <a:lnTo>
                  <a:pt x="50228" y="0"/>
                </a:lnTo>
                <a:lnTo>
                  <a:pt x="48285" y="31026"/>
                </a:lnTo>
                <a:lnTo>
                  <a:pt x="55511" y="31026"/>
                </a:lnTo>
                <a:lnTo>
                  <a:pt x="58407" y="28867"/>
                </a:lnTo>
                <a:lnTo>
                  <a:pt x="59410" y="28346"/>
                </a:lnTo>
                <a:lnTo>
                  <a:pt x="64439" y="26974"/>
                </a:lnTo>
                <a:lnTo>
                  <a:pt x="67932" y="26974"/>
                </a:lnTo>
                <a:lnTo>
                  <a:pt x="78689" y="39700"/>
                </a:lnTo>
                <a:lnTo>
                  <a:pt x="78282" y="43230"/>
                </a:lnTo>
                <a:lnTo>
                  <a:pt x="67195" y="52463"/>
                </a:lnTo>
                <a:lnTo>
                  <a:pt x="64922" y="52463"/>
                </a:lnTo>
                <a:lnTo>
                  <a:pt x="54051" y="43942"/>
                </a:lnTo>
                <a:lnTo>
                  <a:pt x="46621" y="44792"/>
                </a:lnTo>
                <a:lnTo>
                  <a:pt x="66890" y="58483"/>
                </a:lnTo>
                <a:lnTo>
                  <a:pt x="70612" y="58153"/>
                </a:lnTo>
                <a:lnTo>
                  <a:pt x="86347" y="38874"/>
                </a:lnTo>
                <a:lnTo>
                  <a:pt x="86347" y="3810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2" name="object 9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05152" y="1825041"/>
            <a:ext cx="85840" cy="105444"/>
          </a:xfrm>
          <a:prstGeom prst="rect">
            <a:avLst/>
          </a:prstGeom>
        </p:spPr>
      </p:pic>
      <p:grpSp>
        <p:nvGrpSpPr>
          <p:cNvPr id="93" name="object 93" descr=""/>
          <p:cNvGrpSpPr/>
          <p:nvPr/>
        </p:nvGrpSpPr>
        <p:grpSpPr>
          <a:xfrm>
            <a:off x="4431133" y="1969591"/>
            <a:ext cx="70485" cy="90170"/>
            <a:chOff x="4431133" y="1969591"/>
            <a:chExt cx="70485" cy="90170"/>
          </a:xfrm>
        </p:grpSpPr>
        <p:sp>
          <p:nvSpPr>
            <p:cNvPr id="94" name="object 94" descr=""/>
            <p:cNvSpPr/>
            <p:nvPr/>
          </p:nvSpPr>
          <p:spPr>
            <a:xfrm>
              <a:off x="4433477" y="1987599"/>
              <a:ext cx="65405" cy="72390"/>
            </a:xfrm>
            <a:custGeom>
              <a:avLst/>
              <a:gdLst/>
              <a:ahLst/>
              <a:cxnLst/>
              <a:rect l="l" t="t" r="r" b="b"/>
              <a:pathLst>
                <a:path w="65404" h="72389">
                  <a:moveTo>
                    <a:pt x="65335" y="72070"/>
                  </a:moveTo>
                  <a:lnTo>
                    <a:pt x="54545" y="72070"/>
                  </a:lnTo>
                  <a:lnTo>
                    <a:pt x="32891" y="40555"/>
                  </a:lnTo>
                  <a:lnTo>
                    <a:pt x="10790" y="72070"/>
                  </a:lnTo>
                  <a:lnTo>
                    <a:pt x="0" y="72070"/>
                  </a:lnTo>
                  <a:lnTo>
                    <a:pt x="27421" y="34602"/>
                  </a:lnTo>
                  <a:lnTo>
                    <a:pt x="2083" y="0"/>
                  </a:lnTo>
                  <a:lnTo>
                    <a:pt x="12873" y="0"/>
                  </a:lnTo>
                  <a:lnTo>
                    <a:pt x="32928" y="28277"/>
                  </a:lnTo>
                  <a:lnTo>
                    <a:pt x="52424" y="0"/>
                  </a:lnTo>
                  <a:lnTo>
                    <a:pt x="63214" y="0"/>
                  </a:lnTo>
                  <a:lnTo>
                    <a:pt x="38583" y="34267"/>
                  </a:lnTo>
                  <a:lnTo>
                    <a:pt x="65335" y="72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4431133" y="1973163"/>
              <a:ext cx="70485" cy="0"/>
            </a:xfrm>
            <a:custGeom>
              <a:avLst/>
              <a:gdLst/>
              <a:ahLst/>
              <a:cxnLst/>
              <a:rect l="l" t="t" r="r" b="b"/>
              <a:pathLst>
                <a:path w="70485" h="0">
                  <a:moveTo>
                    <a:pt x="0" y="0"/>
                  </a:moveTo>
                  <a:lnTo>
                    <a:pt x="69874" y="0"/>
                  </a:lnTo>
                </a:path>
              </a:pathLst>
            </a:custGeom>
            <a:ln w="7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 descr=""/>
          <p:cNvSpPr/>
          <p:nvPr/>
        </p:nvSpPr>
        <p:spPr>
          <a:xfrm>
            <a:off x="771524" y="32099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 descr=""/>
          <p:cNvSpPr/>
          <p:nvPr/>
        </p:nvSpPr>
        <p:spPr>
          <a:xfrm>
            <a:off x="771524" y="34480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 txBox="1"/>
          <p:nvPr/>
        </p:nvSpPr>
        <p:spPr>
          <a:xfrm>
            <a:off x="533400" y="2686596"/>
            <a:ext cx="2592070" cy="899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450">
                <a:latin typeface="Trebuchet MS"/>
                <a:cs typeface="Trebuchet MS"/>
              </a:rPr>
              <a:t>Under the null hypothesis,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H</a:t>
            </a:r>
            <a:r>
              <a:rPr dirty="0" baseline="-13227" sz="1575" spc="-37">
                <a:latin typeface="Tahoma"/>
                <a:cs typeface="Tahoma"/>
              </a:rPr>
              <a:t>0</a:t>
            </a:r>
            <a:r>
              <a:rPr dirty="0" sz="1450" spc="-25">
                <a:latin typeface="Trebuchet MS"/>
                <a:cs typeface="Trebuchet MS"/>
              </a:rPr>
              <a:t>,</a:t>
            </a:r>
            <a:endParaRPr sz="1450">
              <a:latin typeface="Trebuchet MS"/>
              <a:cs typeface="Trebuchet MS"/>
            </a:endParaRPr>
          </a:p>
          <a:p>
            <a:pPr marL="418465">
              <a:lnSpc>
                <a:spcPct val="100000"/>
              </a:lnSpc>
              <a:spcBef>
                <a:spcPts val="1290"/>
              </a:spcBef>
            </a:pPr>
            <a:r>
              <a:rPr dirty="0" sz="1550" spc="-195" i="1">
                <a:latin typeface="Verdana"/>
                <a:cs typeface="Verdana"/>
              </a:rPr>
              <a:t>μ</a:t>
            </a:r>
            <a:r>
              <a:rPr dirty="0" baseline="-20202" sz="1650" spc="-292" i="1">
                <a:latin typeface="Verdana"/>
                <a:cs typeface="Verdana"/>
              </a:rPr>
              <a:t>X</a:t>
            </a:r>
            <a:r>
              <a:rPr dirty="0" baseline="-7936" sz="1575" spc="-292">
                <a:latin typeface="Tahoma"/>
                <a:cs typeface="Tahoma"/>
              </a:rPr>
              <a:t>¯</a:t>
            </a:r>
            <a:r>
              <a:rPr dirty="0" baseline="-7936" sz="1575" spc="247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85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50</a:t>
            </a:r>
            <a:endParaRPr sz="1500">
              <a:latin typeface="Tahoma"/>
              <a:cs typeface="Tahoma"/>
            </a:endParaRPr>
          </a:p>
          <a:p>
            <a:pPr marL="418465">
              <a:lnSpc>
                <a:spcPct val="100000"/>
              </a:lnSpc>
              <a:spcBef>
                <a:spcPts val="15"/>
              </a:spcBef>
            </a:pPr>
            <a:r>
              <a:rPr dirty="0" sz="1550" spc="-210" i="1">
                <a:latin typeface="Verdana"/>
                <a:cs typeface="Verdana"/>
              </a:rPr>
              <a:t>σ</a:t>
            </a:r>
            <a:r>
              <a:rPr dirty="0" baseline="-20202" sz="1650" spc="-315" i="1">
                <a:latin typeface="Verdana"/>
                <a:cs typeface="Verdana"/>
              </a:rPr>
              <a:t>X</a:t>
            </a:r>
            <a:r>
              <a:rPr dirty="0" baseline="-7936" sz="1575" spc="-315">
                <a:latin typeface="Tahoma"/>
                <a:cs typeface="Tahoma"/>
              </a:rPr>
              <a:t>¯</a:t>
            </a:r>
            <a:r>
              <a:rPr dirty="0" baseline="-7936" sz="1575" spc="262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75">
                <a:latin typeface="Tahoma"/>
                <a:cs typeface="Tahoma"/>
              </a:rPr>
              <a:t> </a:t>
            </a:r>
            <a:r>
              <a:rPr dirty="0" sz="1500" spc="-10">
                <a:latin typeface="Tahoma"/>
                <a:cs typeface="Tahoma"/>
              </a:rPr>
              <a:t>0.776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4" name="object 10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  <p:sp>
        <p:nvSpPr>
          <p:cNvPr id="99" name="object 99" descr=""/>
          <p:cNvSpPr txBox="1"/>
          <p:nvPr/>
        </p:nvSpPr>
        <p:spPr>
          <a:xfrm>
            <a:off x="622696" y="3716566"/>
            <a:ext cx="3945254" cy="61595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60"/>
              </a:spcBef>
            </a:pP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950" spc="-6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Change</a:t>
            </a:r>
            <a:r>
              <a:rPr dirty="0" sz="950" spc="-5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some</a:t>
            </a:r>
            <a:r>
              <a:rPr dirty="0" sz="950" spc="-5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settings</a:t>
            </a:r>
            <a:r>
              <a:rPr dirty="0" sz="950" spc="-5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when</a:t>
            </a:r>
            <a:r>
              <a:rPr dirty="0" sz="950" spc="-5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printing</a:t>
            </a:r>
            <a:r>
              <a:rPr dirty="0" sz="950" spc="-5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R</a:t>
            </a:r>
            <a:r>
              <a:rPr dirty="0" sz="950" spc="-5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10" i="1">
                <a:solidFill>
                  <a:srgbClr val="999987"/>
                </a:solidFill>
                <a:latin typeface="Courier New"/>
                <a:cs typeface="Courier New"/>
              </a:rPr>
              <a:t>output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ts val="1095"/>
              </a:lnSpc>
              <a:spcBef>
                <a:spcPts val="660"/>
              </a:spcBef>
            </a:pP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options(digits</a:t>
            </a:r>
            <a:r>
              <a:rPr dirty="0" sz="900" spc="-4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800" spc="1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008080"/>
                </a:solidFill>
                <a:latin typeface="Courier New"/>
                <a:cs typeface="Courier New"/>
              </a:rPr>
              <a:t>6</a:t>
            </a:r>
            <a:r>
              <a:rPr dirty="0" sz="90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r>
              <a:rPr dirty="0" sz="900" spc="44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950" spc="-7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Print</a:t>
            </a:r>
            <a:r>
              <a:rPr dirty="0" sz="950" spc="-7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6</a:t>
            </a:r>
            <a:r>
              <a:rPr dirty="0" sz="950" spc="-7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non-zero</a:t>
            </a:r>
            <a:r>
              <a:rPr dirty="0" sz="950" spc="-7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digits</a:t>
            </a:r>
            <a:r>
              <a:rPr dirty="0" sz="950" spc="-7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after</a:t>
            </a:r>
            <a:r>
              <a:rPr dirty="0" sz="950" spc="-7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the</a:t>
            </a:r>
            <a:r>
              <a:rPr dirty="0" sz="950" spc="-7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85" i="1">
                <a:solidFill>
                  <a:srgbClr val="999987"/>
                </a:solidFill>
                <a:latin typeface="Courier New"/>
                <a:cs typeface="Courier New"/>
              </a:rPr>
              <a:t>decimal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ts val="1095"/>
              </a:lnSpc>
            </a:pP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options(scipen</a:t>
            </a:r>
            <a:r>
              <a:rPr dirty="0" sz="900" spc="-4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800" spc="2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850" spc="-30">
                <a:solidFill>
                  <a:srgbClr val="008080"/>
                </a:solidFill>
                <a:latin typeface="Courier New"/>
                <a:cs typeface="Courier New"/>
              </a:rPr>
              <a:t>99</a:t>
            </a:r>
            <a:r>
              <a:rPr dirty="0" sz="900" spc="-3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r>
              <a:rPr dirty="0" sz="900" spc="-4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950" spc="-7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Turn-off</a:t>
            </a:r>
            <a:r>
              <a:rPr dirty="0" sz="950" spc="-7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the</a:t>
            </a:r>
            <a:r>
              <a:rPr dirty="0" sz="950" spc="-7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0" i="1">
                <a:solidFill>
                  <a:srgbClr val="999987"/>
                </a:solidFill>
                <a:latin typeface="Courier New"/>
                <a:cs typeface="Courier New"/>
              </a:rPr>
              <a:t>scientific</a:t>
            </a:r>
            <a:r>
              <a:rPr dirty="0" sz="950" spc="-7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10" i="1">
                <a:solidFill>
                  <a:srgbClr val="999987"/>
                </a:solidFill>
                <a:latin typeface="Courier New"/>
                <a:cs typeface="Courier New"/>
              </a:rPr>
              <a:t>notation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0" name="object 100" descr=""/>
          <p:cNvSpPr txBox="1"/>
          <p:nvPr/>
        </p:nvSpPr>
        <p:spPr>
          <a:xfrm>
            <a:off x="622696" y="4404578"/>
            <a:ext cx="627380" cy="4324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ts val="1065"/>
              </a:lnSpc>
              <a:spcBef>
                <a:spcPts val="114"/>
              </a:spcBef>
            </a:pPr>
            <a:r>
              <a:rPr dirty="0" sz="900" spc="-10">
                <a:solidFill>
                  <a:srgbClr val="333333"/>
                </a:solidFill>
                <a:latin typeface="Lucida Console"/>
                <a:cs typeface="Lucida Console"/>
              </a:rPr>
              <a:t>pnorm(q</a:t>
            </a:r>
            <a:endParaRPr sz="900">
              <a:latin typeface="Lucida Console"/>
              <a:cs typeface="Lucida Console"/>
            </a:endParaRPr>
          </a:p>
          <a:p>
            <a:pPr marL="368300" marR="5080">
              <a:lnSpc>
                <a:spcPts val="1050"/>
              </a:lnSpc>
              <a:spcBef>
                <a:spcPts val="45"/>
              </a:spcBef>
            </a:pPr>
            <a:r>
              <a:rPr dirty="0" sz="900" spc="-70">
                <a:solidFill>
                  <a:srgbClr val="333333"/>
                </a:solidFill>
                <a:latin typeface="Lucida Console"/>
                <a:cs typeface="Lucida Console"/>
              </a:rPr>
              <a:t>mean </a:t>
            </a:r>
            <a:r>
              <a:rPr dirty="0" sz="900" spc="-25">
                <a:solidFill>
                  <a:srgbClr val="333333"/>
                </a:solidFill>
                <a:latin typeface="Lucida Console"/>
                <a:cs typeface="Lucida Console"/>
              </a:rPr>
              <a:t>sd</a:t>
            </a:r>
            <a:endParaRPr sz="900">
              <a:latin typeface="Lucida Console"/>
              <a:cs typeface="Lucida Console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1605676" y="4404578"/>
            <a:ext cx="504825" cy="4324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ts val="1065"/>
              </a:lnSpc>
              <a:spcBef>
                <a:spcPts val="114"/>
              </a:spcBef>
            </a:pP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 </a:t>
            </a:r>
            <a:r>
              <a:rPr dirty="0" sz="850" spc="-30">
                <a:solidFill>
                  <a:srgbClr val="008080"/>
                </a:solidFill>
                <a:latin typeface="Courier New"/>
                <a:cs typeface="Courier New"/>
              </a:rPr>
              <a:t>55.71</a:t>
            </a:r>
            <a:r>
              <a:rPr dirty="0" sz="900" spc="-3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900">
              <a:latin typeface="Lucida Console"/>
              <a:cs typeface="Lucida Console"/>
            </a:endParaRPr>
          </a:p>
          <a:p>
            <a:pPr>
              <a:lnSpc>
                <a:spcPts val="1050"/>
              </a:lnSpc>
            </a:pP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 </a:t>
            </a:r>
            <a:r>
              <a:rPr dirty="0" sz="850" spc="-25">
                <a:solidFill>
                  <a:srgbClr val="008080"/>
                </a:solidFill>
                <a:latin typeface="Courier New"/>
                <a:cs typeface="Courier New"/>
              </a:rPr>
              <a:t>50</a:t>
            </a:r>
            <a:r>
              <a:rPr dirty="0" sz="900" spc="-2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900">
              <a:latin typeface="Lucida Console"/>
              <a:cs typeface="Lucida Console"/>
            </a:endParaRPr>
          </a:p>
          <a:p>
            <a:pPr>
              <a:lnSpc>
                <a:spcPts val="1065"/>
              </a:lnSpc>
            </a:pP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 </a:t>
            </a:r>
            <a:r>
              <a:rPr dirty="0" sz="850" spc="-30">
                <a:solidFill>
                  <a:srgbClr val="008080"/>
                </a:solidFill>
                <a:latin typeface="Courier New"/>
                <a:cs typeface="Courier New"/>
              </a:rPr>
              <a:t>0.776</a:t>
            </a:r>
            <a:r>
              <a:rPr dirty="0" sz="900" spc="-3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900">
              <a:latin typeface="Lucida Console"/>
              <a:cs typeface="Lucida Console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558800" y="4804628"/>
            <a:ext cx="1612900" cy="4686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32434">
              <a:lnSpc>
                <a:spcPct val="100000"/>
              </a:lnSpc>
              <a:spcBef>
                <a:spcPts val="114"/>
              </a:spcBef>
            </a:pP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lower.tail</a:t>
            </a:r>
            <a:r>
              <a:rPr dirty="0" sz="900" spc="-6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80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008080"/>
                </a:solidFill>
                <a:latin typeface="Courier New"/>
                <a:cs typeface="Courier New"/>
              </a:rPr>
              <a:t>FALSE</a:t>
            </a:r>
            <a:r>
              <a:rPr dirty="0" sz="900" spc="-1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9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8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</a:pPr>
            <a:r>
              <a:rPr dirty="0" sz="850">
                <a:solidFill>
                  <a:srgbClr val="007834"/>
                </a:solidFill>
                <a:latin typeface="Courier New"/>
                <a:cs typeface="Courier New"/>
              </a:rPr>
              <a:t>[1]</a:t>
            </a:r>
            <a:r>
              <a:rPr dirty="0" sz="850" spc="-110">
                <a:solidFill>
                  <a:srgbClr val="007834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007834"/>
                </a:solidFill>
                <a:latin typeface="Courier New"/>
                <a:cs typeface="Courier New"/>
              </a:rPr>
              <a:t>0.0000000000000931702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103" name="object 103"/>
          <p:cNvSpPr txBox="1">
            <a:spLocks noGrp="1"/>
          </p:cNvSpPr>
          <p:nvPr>
            <p:ph type="title"/>
          </p:nvPr>
        </p:nvSpPr>
        <p:spPr>
          <a:xfrm>
            <a:off x="3459956" y="2277021"/>
            <a:ext cx="1729105" cy="26098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550" spc="-25" i="1">
                <a:solidFill>
                  <a:srgbClr val="000000"/>
                </a:solidFill>
                <a:latin typeface="Verdana"/>
                <a:cs typeface="Verdana"/>
              </a:rPr>
              <a:t>P</a:t>
            </a:r>
            <a:r>
              <a:rPr dirty="0" sz="1550" spc="-390" i="1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500" spc="-30">
                <a:solidFill>
                  <a:srgbClr val="000000"/>
                </a:solidFill>
                <a:latin typeface="Tahoma"/>
                <a:cs typeface="Tahoma"/>
              </a:rPr>
              <a:t>(</a:t>
            </a:r>
            <a:r>
              <a:rPr dirty="0" sz="1550" spc="-715" i="1">
                <a:solidFill>
                  <a:srgbClr val="000000"/>
                </a:solidFill>
                <a:latin typeface="Verdana"/>
                <a:cs typeface="Verdana"/>
              </a:rPr>
              <a:t>X</a:t>
            </a:r>
            <a:r>
              <a:rPr dirty="0" baseline="12962" sz="2250" spc="-44">
                <a:solidFill>
                  <a:srgbClr val="000000"/>
                </a:solidFill>
                <a:latin typeface="Tahoma"/>
                <a:cs typeface="Tahoma"/>
              </a:rPr>
              <a:t>¯</a:t>
            </a:r>
            <a:r>
              <a:rPr dirty="0" baseline="12962" sz="2250" spc="7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000000"/>
                </a:solidFill>
                <a:latin typeface="Tahoma"/>
                <a:cs typeface="Tahoma"/>
              </a:rPr>
              <a:t>&gt;</a:t>
            </a:r>
            <a:r>
              <a:rPr dirty="0" sz="1500" spc="5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1500" spc="-70">
                <a:solidFill>
                  <a:srgbClr val="000000"/>
                </a:solidFill>
                <a:latin typeface="Tahoma"/>
                <a:cs typeface="Tahoma"/>
              </a:rPr>
              <a:t>55.71|</a:t>
            </a:r>
            <a:r>
              <a:rPr dirty="0" sz="1550" spc="-70" i="1">
                <a:solidFill>
                  <a:srgbClr val="000000"/>
                </a:solidFill>
                <a:latin typeface="Verdana"/>
                <a:cs typeface="Verdana"/>
              </a:rPr>
              <a:t>H</a:t>
            </a:r>
            <a:r>
              <a:rPr dirty="0" baseline="-13227" sz="1575" spc="-104">
                <a:solidFill>
                  <a:srgbClr val="000000"/>
                </a:solidFill>
                <a:latin typeface="Tahoma"/>
                <a:cs typeface="Tahoma"/>
              </a:rPr>
              <a:t>0</a:t>
            </a:r>
            <a:r>
              <a:rPr dirty="0" sz="1500" spc="-70">
                <a:solidFill>
                  <a:srgbClr val="000000"/>
                </a:solidFill>
                <a:latin typeface="Tahoma"/>
                <a:cs typeface="Tahoma"/>
              </a:rPr>
              <a:t>) </a:t>
            </a:r>
            <a:r>
              <a:rPr dirty="0" sz="1500" spc="-25">
                <a:solidFill>
                  <a:srgbClr val="000000"/>
                </a:solidFill>
                <a:latin typeface="Tahoma"/>
                <a:cs typeface="Tahoma"/>
              </a:rPr>
              <a:t>=?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71524" y="5048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14400" y="394970"/>
            <a:ext cx="7153275" cy="454215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38100" marR="379095">
              <a:lnSpc>
                <a:spcPts val="1730"/>
              </a:lnSpc>
              <a:spcBef>
                <a:spcPts val="155"/>
              </a:spcBef>
            </a:pPr>
            <a:r>
              <a:rPr dirty="0" sz="1450" spc="-10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probability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observing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120">
                <a:latin typeface="Trebuchet MS"/>
                <a:cs typeface="Trebuchet MS"/>
              </a:rPr>
              <a:t>55.71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higher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166 </a:t>
            </a:r>
            <a:r>
              <a:rPr dirty="0" sz="1450" spc="-20">
                <a:latin typeface="Trebuchet MS"/>
                <a:cs typeface="Trebuchet MS"/>
              </a:rPr>
              <a:t>children,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assuming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true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50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SD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110">
                <a:latin typeface="Trebuchet MS"/>
                <a:cs typeface="Trebuchet MS"/>
              </a:rPr>
              <a:t>10,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is </a:t>
            </a:r>
            <a:r>
              <a:rPr dirty="0" sz="1450" spc="-10">
                <a:latin typeface="Trebuchet MS"/>
                <a:cs typeface="Trebuchet MS"/>
              </a:rPr>
              <a:t>virtually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zero</a:t>
            </a:r>
            <a:endParaRPr sz="145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1345"/>
              </a:spcBef>
            </a:pPr>
            <a:r>
              <a:rPr dirty="0" sz="1450" spc="-40" b="1">
                <a:latin typeface="Trebuchet MS"/>
                <a:cs typeface="Trebuchet MS"/>
              </a:rPr>
              <a:t>Question:</a:t>
            </a:r>
            <a:r>
              <a:rPr dirty="0" sz="1450" spc="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Does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seem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consistent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null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hypothesis?</a:t>
            </a:r>
            <a:endParaRPr sz="1450">
              <a:latin typeface="Trebuchet MS"/>
              <a:cs typeface="Trebuchet MS"/>
            </a:endParaRPr>
          </a:p>
          <a:p>
            <a:pPr marL="38100" marR="158750">
              <a:lnSpc>
                <a:spcPts val="1730"/>
              </a:lnSpc>
              <a:spcBef>
                <a:spcPts val="1550"/>
              </a:spcBef>
            </a:pP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believe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such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-25">
                <a:latin typeface="Trebuchet MS"/>
                <a:cs typeface="Trebuchet MS"/>
              </a:rPr>
              <a:t> extreme </a:t>
            </a:r>
            <a:r>
              <a:rPr dirty="0" sz="1450">
                <a:latin typeface="Trebuchet MS"/>
                <a:cs typeface="Trebuchet MS"/>
              </a:rPr>
              <a:t>result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would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very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unlikely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under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null,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then</a:t>
            </a:r>
            <a:r>
              <a:rPr dirty="0" sz="1450" spc="-25">
                <a:latin typeface="Trebuchet MS"/>
                <a:cs typeface="Trebuchet MS"/>
              </a:rPr>
              <a:t> we </a:t>
            </a:r>
            <a:r>
              <a:rPr dirty="0" sz="1450" spc="-55">
                <a:latin typeface="Trebuchet MS"/>
                <a:cs typeface="Trebuchet MS"/>
              </a:rPr>
              <a:t>reject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H</a:t>
            </a:r>
            <a:r>
              <a:rPr dirty="0" baseline="-7936" sz="1575" spc="-37">
                <a:latin typeface="Tahoma"/>
                <a:cs typeface="Tahoma"/>
              </a:rPr>
              <a:t>0</a:t>
            </a:r>
            <a:r>
              <a:rPr dirty="0" sz="1450" spc="-25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38100" marR="330835">
              <a:lnSpc>
                <a:spcPts val="1730"/>
              </a:lnSpc>
              <a:spcBef>
                <a:spcPts val="1415"/>
              </a:spcBef>
            </a:pPr>
            <a:r>
              <a:rPr dirty="0" sz="1450" spc="-30">
                <a:latin typeface="Trebuchet MS"/>
                <a:cs typeface="Trebuchet MS"/>
              </a:rPr>
              <a:t>We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argue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observed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would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extremely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improbable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if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true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mean </a:t>
            </a:r>
            <a:r>
              <a:rPr dirty="0" sz="1450" spc="-25">
                <a:latin typeface="Trebuchet MS"/>
                <a:cs typeface="Trebuchet MS"/>
              </a:rPr>
              <a:t>were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75">
                <a:latin typeface="Trebuchet MS"/>
                <a:cs typeface="Trebuchet MS"/>
              </a:rPr>
              <a:t>50,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therefore</a:t>
            </a:r>
            <a:r>
              <a:rPr dirty="0" sz="1450" spc="-10">
                <a:latin typeface="Trebuchet MS"/>
                <a:cs typeface="Trebuchet MS"/>
              </a:rPr>
              <a:t> there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strong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evidence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null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hypothesis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10">
                <a:latin typeface="Trebuchet MS"/>
                <a:cs typeface="Trebuchet MS"/>
              </a:rPr>
              <a:t> true.</a:t>
            </a:r>
            <a:endParaRPr sz="145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1350"/>
              </a:spcBef>
            </a:pPr>
            <a:r>
              <a:rPr dirty="0" sz="1450" spc="-10" b="1">
                <a:latin typeface="Trebuchet MS"/>
                <a:cs typeface="Trebuchet MS"/>
              </a:rPr>
              <a:t>Conclusion:</a:t>
            </a:r>
            <a:endParaRPr sz="1450">
              <a:latin typeface="Trebuchet MS"/>
              <a:cs typeface="Trebuchet MS"/>
            </a:endParaRPr>
          </a:p>
          <a:p>
            <a:pPr marL="38100" marR="30480">
              <a:lnSpc>
                <a:spcPts val="1730"/>
              </a:lnSpc>
              <a:spcBef>
                <a:spcPts val="1475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provide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convincing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evidence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children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least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depressed</a:t>
            </a:r>
            <a:r>
              <a:rPr dirty="0" sz="1450" spc="5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parent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show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higher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levels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behavior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problems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children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whose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parents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30">
                <a:latin typeface="Trebuchet MS"/>
                <a:cs typeface="Trebuchet MS"/>
              </a:rPr>
              <a:t>no </a:t>
            </a:r>
            <a:r>
              <a:rPr dirty="0" sz="1450">
                <a:latin typeface="Trebuchet MS"/>
                <a:cs typeface="Trebuchet MS"/>
              </a:rPr>
              <a:t>history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depression.</a:t>
            </a:r>
            <a:endParaRPr sz="1450">
              <a:latin typeface="Trebuchet MS"/>
              <a:cs typeface="Trebuchet MS"/>
            </a:endParaRPr>
          </a:p>
          <a:p>
            <a:pPr algn="ctr" marR="325120">
              <a:lnSpc>
                <a:spcPct val="100000"/>
              </a:lnSpc>
              <a:spcBef>
                <a:spcPts val="1320"/>
              </a:spcBef>
            </a:pPr>
            <a:r>
              <a:rPr dirty="0" sz="2600" spc="-50">
                <a:solidFill>
                  <a:srgbClr val="46484D"/>
                </a:solidFill>
                <a:latin typeface="Trebuchet MS"/>
                <a:cs typeface="Trebuchet MS"/>
              </a:rPr>
              <a:t>Congratulations!</a:t>
            </a:r>
            <a:endParaRPr sz="2600">
              <a:latin typeface="Trebuchet MS"/>
              <a:cs typeface="Trebuchet MS"/>
            </a:endParaRPr>
          </a:p>
          <a:p>
            <a:pPr algn="ctr" marR="325120">
              <a:lnSpc>
                <a:spcPct val="100000"/>
              </a:lnSpc>
              <a:spcBef>
                <a:spcPts val="30"/>
              </a:spcBef>
            </a:pPr>
            <a:r>
              <a:rPr dirty="0" sz="2600" spc="-145">
                <a:solidFill>
                  <a:srgbClr val="46484D"/>
                </a:solidFill>
                <a:latin typeface="Trebuchet MS"/>
                <a:cs typeface="Trebuchet MS"/>
              </a:rPr>
              <a:t>You</a:t>
            </a:r>
            <a:r>
              <a:rPr dirty="0" sz="2600" spc="-160">
                <a:solidFill>
                  <a:srgbClr val="46484D"/>
                </a:solidFill>
                <a:latin typeface="Trebuchet MS"/>
                <a:cs typeface="Trebuchet MS"/>
              </a:rPr>
              <a:t> </a:t>
            </a:r>
            <a:r>
              <a:rPr dirty="0" sz="2600" spc="-110">
                <a:solidFill>
                  <a:srgbClr val="46484D"/>
                </a:solidFill>
                <a:latin typeface="Trebuchet MS"/>
                <a:cs typeface="Trebuchet MS"/>
              </a:rPr>
              <a:t>made</a:t>
            </a:r>
            <a:r>
              <a:rPr dirty="0" sz="2600" spc="-155">
                <a:solidFill>
                  <a:srgbClr val="46484D"/>
                </a:solidFill>
                <a:latin typeface="Trebuchet MS"/>
                <a:cs typeface="Trebuchet MS"/>
              </a:rPr>
              <a:t> </a:t>
            </a:r>
            <a:r>
              <a:rPr dirty="0" sz="2600" spc="-85">
                <a:solidFill>
                  <a:srgbClr val="46484D"/>
                </a:solidFill>
                <a:latin typeface="Trebuchet MS"/>
                <a:cs typeface="Trebuchet MS"/>
              </a:rPr>
              <a:t>your</a:t>
            </a:r>
            <a:r>
              <a:rPr dirty="0" sz="2600" spc="-155">
                <a:solidFill>
                  <a:srgbClr val="46484D"/>
                </a:solidFill>
                <a:latin typeface="Trebuchet MS"/>
                <a:cs typeface="Trebuchet MS"/>
              </a:rPr>
              <a:t> </a:t>
            </a:r>
            <a:r>
              <a:rPr dirty="0" sz="2600" spc="-120">
                <a:solidFill>
                  <a:srgbClr val="46484D"/>
                </a:solidFill>
                <a:latin typeface="Trebuchet MS"/>
                <a:cs typeface="Trebuchet MS"/>
              </a:rPr>
              <a:t>first</a:t>
            </a:r>
            <a:r>
              <a:rPr dirty="0" sz="2600" spc="-155">
                <a:solidFill>
                  <a:srgbClr val="46484D"/>
                </a:solidFill>
                <a:latin typeface="Trebuchet MS"/>
                <a:cs typeface="Trebuchet MS"/>
              </a:rPr>
              <a:t> </a:t>
            </a:r>
            <a:r>
              <a:rPr dirty="0" sz="2600" spc="-50">
                <a:solidFill>
                  <a:srgbClr val="46484D"/>
                </a:solidFill>
                <a:latin typeface="Trebuchet MS"/>
                <a:cs typeface="Trebuchet MS"/>
              </a:rPr>
              <a:t>inference.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771524" y="13430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1524" y="17525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23717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1524" y="29908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71499" y="1819274"/>
            <a:ext cx="7505700" cy="1000125"/>
          </a:xfrm>
          <a:custGeom>
            <a:avLst/>
            <a:gdLst/>
            <a:ahLst/>
            <a:cxnLst/>
            <a:rect l="l" t="t" r="r" b="b"/>
            <a:pathLst>
              <a:path w="7505700" h="1000125">
                <a:moveTo>
                  <a:pt x="7505699" y="1000124"/>
                </a:moveTo>
                <a:lnTo>
                  <a:pt x="0" y="1000124"/>
                </a:lnTo>
                <a:lnTo>
                  <a:pt x="0" y="0"/>
                </a:lnTo>
                <a:lnTo>
                  <a:pt x="7505699" y="0"/>
                </a:lnTo>
                <a:lnTo>
                  <a:pt x="7505699" y="1000124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58800" y="394970"/>
            <a:ext cx="6693534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Trebuchet MS"/>
                <a:cs typeface="Trebuchet MS"/>
              </a:rPr>
              <a:t>Note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could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repeat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procedure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using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standardized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values.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22696" y="1838764"/>
            <a:ext cx="4067810" cy="30353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R="5080">
              <a:lnSpc>
                <a:spcPts val="1050"/>
              </a:lnSpc>
              <a:spcBef>
                <a:spcPts val="204"/>
              </a:spcBef>
            </a:pP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950" spc="-5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Note</a:t>
            </a:r>
            <a:r>
              <a:rPr dirty="0" sz="950" spc="-5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that</a:t>
            </a:r>
            <a:r>
              <a:rPr dirty="0" sz="950" spc="-5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the</a:t>
            </a:r>
            <a:r>
              <a:rPr dirty="0" sz="950" spc="-5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mean</a:t>
            </a:r>
            <a:r>
              <a:rPr dirty="0" sz="950" spc="-4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becomes</a:t>
            </a:r>
            <a:r>
              <a:rPr dirty="0" sz="950" spc="-5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zero</a:t>
            </a:r>
            <a:r>
              <a:rPr dirty="0" sz="950" spc="-5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and</a:t>
            </a:r>
            <a:r>
              <a:rPr dirty="0" sz="950" spc="-5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standard</a:t>
            </a:r>
            <a:r>
              <a:rPr dirty="0" sz="950" spc="-5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0" i="1">
                <a:solidFill>
                  <a:srgbClr val="999987"/>
                </a:solidFill>
                <a:latin typeface="Courier New"/>
                <a:cs typeface="Courier New"/>
              </a:rPr>
              <a:t>deviation</a:t>
            </a:r>
            <a:r>
              <a:rPr dirty="0" sz="950" spc="-4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becomes</a:t>
            </a:r>
            <a:r>
              <a:rPr dirty="0" sz="950" spc="-36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425" i="1">
                <a:solidFill>
                  <a:srgbClr val="999987"/>
                </a:solidFill>
                <a:latin typeface="Courier New"/>
                <a:cs typeface="Courier New"/>
              </a:rPr>
              <a:t>1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 #</a:t>
            </a:r>
            <a:r>
              <a:rPr dirty="0" sz="950" spc="-7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because</a:t>
            </a:r>
            <a:r>
              <a:rPr dirty="0" sz="950" spc="-6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we</a:t>
            </a:r>
            <a:r>
              <a:rPr dirty="0" sz="950" spc="-5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are</a:t>
            </a:r>
            <a:r>
              <a:rPr dirty="0" sz="950" spc="-6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now</a:t>
            </a:r>
            <a:r>
              <a:rPr dirty="0" sz="950" spc="-5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working</a:t>
            </a:r>
            <a:r>
              <a:rPr dirty="0" sz="950" spc="-6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on</a:t>
            </a:r>
            <a:r>
              <a:rPr dirty="0" sz="950" spc="-5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5" i="1">
                <a:solidFill>
                  <a:srgbClr val="999987"/>
                </a:solidFill>
                <a:latin typeface="Courier New"/>
                <a:cs typeface="Courier New"/>
              </a:rPr>
              <a:t>the</a:t>
            </a:r>
            <a:r>
              <a:rPr dirty="0" sz="950" spc="-6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90" i="1">
                <a:solidFill>
                  <a:srgbClr val="999987"/>
                </a:solidFill>
                <a:latin typeface="Courier New"/>
                <a:cs typeface="Courier New"/>
              </a:rPr>
              <a:t>standardized</a:t>
            </a:r>
            <a:r>
              <a:rPr dirty="0" sz="950" spc="-5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950" spc="-10" i="1">
                <a:solidFill>
                  <a:srgbClr val="999987"/>
                </a:solidFill>
                <a:latin typeface="Courier New"/>
                <a:cs typeface="Courier New"/>
              </a:rPr>
              <a:t>scale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22696" y="2213828"/>
            <a:ext cx="627380" cy="4324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ts val="1065"/>
              </a:lnSpc>
              <a:spcBef>
                <a:spcPts val="114"/>
              </a:spcBef>
            </a:pPr>
            <a:r>
              <a:rPr dirty="0" sz="900" spc="-10">
                <a:solidFill>
                  <a:srgbClr val="333333"/>
                </a:solidFill>
                <a:latin typeface="Lucida Console"/>
                <a:cs typeface="Lucida Console"/>
              </a:rPr>
              <a:t>pnorm(q</a:t>
            </a:r>
            <a:endParaRPr sz="900">
              <a:latin typeface="Lucida Console"/>
              <a:cs typeface="Lucida Console"/>
            </a:endParaRPr>
          </a:p>
          <a:p>
            <a:pPr marL="368300" marR="5080">
              <a:lnSpc>
                <a:spcPts val="1050"/>
              </a:lnSpc>
              <a:spcBef>
                <a:spcPts val="45"/>
              </a:spcBef>
            </a:pPr>
            <a:r>
              <a:rPr dirty="0" sz="900" spc="-70">
                <a:solidFill>
                  <a:srgbClr val="333333"/>
                </a:solidFill>
                <a:latin typeface="Lucida Console"/>
                <a:cs typeface="Lucida Console"/>
              </a:rPr>
              <a:t>mean </a:t>
            </a:r>
            <a:r>
              <a:rPr dirty="0" sz="900" spc="-25">
                <a:solidFill>
                  <a:srgbClr val="333333"/>
                </a:solidFill>
                <a:latin typeface="Lucida Console"/>
                <a:cs typeface="Lucida Console"/>
              </a:rPr>
              <a:t>sd</a:t>
            </a:r>
            <a:endParaRPr sz="900">
              <a:latin typeface="Lucida Console"/>
              <a:cs typeface="Lucida Consol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605676" y="2213828"/>
            <a:ext cx="1180465" cy="4324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ts val="1065"/>
              </a:lnSpc>
              <a:spcBef>
                <a:spcPts val="114"/>
              </a:spcBef>
            </a:pP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800" spc="6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900" spc="-45">
                <a:solidFill>
                  <a:srgbClr val="333333"/>
                </a:solidFill>
                <a:latin typeface="Lucida Console"/>
                <a:cs typeface="Lucida Console"/>
              </a:rPr>
              <a:t>(</a:t>
            </a:r>
            <a:r>
              <a:rPr dirty="0" sz="850" spc="-45">
                <a:solidFill>
                  <a:srgbClr val="008080"/>
                </a:solidFill>
                <a:latin typeface="Courier New"/>
                <a:cs typeface="Courier New"/>
              </a:rPr>
              <a:t>55.71</a:t>
            </a:r>
            <a:r>
              <a:rPr dirty="0" sz="900" spc="-45">
                <a:solidFill>
                  <a:srgbClr val="333333"/>
                </a:solidFill>
                <a:latin typeface="Lucida Console"/>
                <a:cs typeface="Lucida Console"/>
              </a:rPr>
              <a:t>-</a:t>
            </a:r>
            <a:r>
              <a:rPr dirty="0" sz="850" spc="-35">
                <a:solidFill>
                  <a:srgbClr val="008080"/>
                </a:solidFill>
                <a:latin typeface="Courier New"/>
                <a:cs typeface="Courier New"/>
              </a:rPr>
              <a:t>50</a:t>
            </a:r>
            <a:r>
              <a:rPr dirty="0" sz="900" spc="-35">
                <a:solidFill>
                  <a:srgbClr val="333333"/>
                </a:solidFill>
                <a:latin typeface="Lucida Console"/>
                <a:cs typeface="Lucida Console"/>
              </a:rPr>
              <a:t>)/</a:t>
            </a:r>
            <a:r>
              <a:rPr dirty="0" sz="850" spc="-35">
                <a:solidFill>
                  <a:srgbClr val="008080"/>
                </a:solidFill>
                <a:latin typeface="Courier New"/>
                <a:cs typeface="Courier New"/>
              </a:rPr>
              <a:t>0.776</a:t>
            </a:r>
            <a:r>
              <a:rPr dirty="0" sz="900" spc="-3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900">
              <a:latin typeface="Lucida Console"/>
              <a:cs typeface="Lucida Console"/>
            </a:endParaRPr>
          </a:p>
          <a:p>
            <a:pPr>
              <a:lnSpc>
                <a:spcPts val="1050"/>
              </a:lnSpc>
            </a:pP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 </a:t>
            </a:r>
            <a:r>
              <a:rPr dirty="0" sz="850" spc="-25">
                <a:solidFill>
                  <a:srgbClr val="008080"/>
                </a:solidFill>
                <a:latin typeface="Courier New"/>
                <a:cs typeface="Courier New"/>
              </a:rPr>
              <a:t>0</a:t>
            </a:r>
            <a:r>
              <a:rPr dirty="0" sz="900" spc="-2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900">
              <a:latin typeface="Lucida Console"/>
              <a:cs typeface="Lucida Console"/>
            </a:endParaRPr>
          </a:p>
          <a:p>
            <a:pPr>
              <a:lnSpc>
                <a:spcPts val="1065"/>
              </a:lnSpc>
            </a:pP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 </a:t>
            </a:r>
            <a:r>
              <a:rPr dirty="0" sz="850" spc="-25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900" spc="-2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900">
              <a:latin typeface="Lucida Console"/>
              <a:cs typeface="Lucida Consol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58800" y="2613878"/>
            <a:ext cx="1612900" cy="4686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32434">
              <a:lnSpc>
                <a:spcPct val="100000"/>
              </a:lnSpc>
              <a:spcBef>
                <a:spcPts val="114"/>
              </a:spcBef>
            </a:pPr>
            <a:r>
              <a:rPr dirty="0" sz="900" spc="-65">
                <a:solidFill>
                  <a:srgbClr val="333333"/>
                </a:solidFill>
                <a:latin typeface="Lucida Console"/>
                <a:cs typeface="Lucida Console"/>
              </a:rPr>
              <a:t>lower.tail</a:t>
            </a:r>
            <a:r>
              <a:rPr dirty="0" sz="900" spc="-6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80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008080"/>
                </a:solidFill>
                <a:latin typeface="Courier New"/>
                <a:cs typeface="Courier New"/>
              </a:rPr>
              <a:t>FALSE</a:t>
            </a:r>
            <a:r>
              <a:rPr dirty="0" sz="900" spc="-1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9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8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</a:pPr>
            <a:r>
              <a:rPr dirty="0" sz="850">
                <a:solidFill>
                  <a:srgbClr val="007834"/>
                </a:solidFill>
                <a:latin typeface="Courier New"/>
                <a:cs typeface="Courier New"/>
              </a:rPr>
              <a:t>[1]</a:t>
            </a:r>
            <a:r>
              <a:rPr dirty="0" sz="850" spc="-110">
                <a:solidFill>
                  <a:srgbClr val="007834"/>
                </a:solidFill>
                <a:latin typeface="Courier New"/>
                <a:cs typeface="Courier New"/>
              </a:rPr>
              <a:t> </a:t>
            </a:r>
            <a:r>
              <a:rPr dirty="0" sz="850" spc="-10">
                <a:solidFill>
                  <a:srgbClr val="007834"/>
                </a:solidFill>
                <a:latin typeface="Courier New"/>
                <a:cs typeface="Courier New"/>
              </a:rPr>
              <a:t>0.0000000000000931702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364954" y="876846"/>
            <a:ext cx="30416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55" i="1">
                <a:latin typeface="Verdana"/>
                <a:cs typeface="Verdana"/>
              </a:rPr>
              <a:t>z</a:t>
            </a:r>
            <a:r>
              <a:rPr dirty="0" sz="1550" spc="-140" i="1">
                <a:latin typeface="Verdana"/>
                <a:cs typeface="Verdana"/>
              </a:rPr>
              <a:t> </a:t>
            </a:r>
            <a:r>
              <a:rPr dirty="0" sz="1500" spc="-50">
                <a:latin typeface="Tahoma"/>
                <a:cs typeface="Tahoma"/>
              </a:rPr>
              <a:t>=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48448" y="879159"/>
            <a:ext cx="63563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40">
                <a:latin typeface="Tahoma"/>
                <a:cs typeface="Tahoma"/>
              </a:rPr>
              <a:t> </a:t>
            </a:r>
            <a:r>
              <a:rPr dirty="0" sz="1500" spc="-90">
                <a:latin typeface="Tahoma"/>
                <a:cs typeface="Tahoma"/>
              </a:rPr>
              <a:t>7.356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734494" y="755335"/>
            <a:ext cx="848994" cy="2584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90">
                <a:solidFill>
                  <a:srgbClr val="000000"/>
                </a:solidFill>
                <a:latin typeface="Tahoma"/>
                <a:cs typeface="Tahoma"/>
              </a:rPr>
              <a:t>55.71</a:t>
            </a:r>
            <a:r>
              <a:rPr dirty="0" sz="1500" spc="-135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000000"/>
                </a:solidFill>
                <a:latin typeface="Tahoma"/>
                <a:cs typeface="Tahoma"/>
              </a:rPr>
              <a:t>−</a:t>
            </a:r>
            <a:r>
              <a:rPr dirty="0" sz="1500" spc="-135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1500" spc="-100">
                <a:solidFill>
                  <a:srgbClr val="000000"/>
                </a:solidFill>
                <a:latin typeface="Tahoma"/>
                <a:cs typeface="Tahoma"/>
              </a:rPr>
              <a:t>50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3733799" y="1028699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857249" y="9524"/>
                </a:moveTo>
                <a:lnTo>
                  <a:pt x="0" y="9524"/>
                </a:lnTo>
                <a:lnTo>
                  <a:pt x="0" y="0"/>
                </a:lnTo>
                <a:lnTo>
                  <a:pt x="857249" y="0"/>
                </a:lnTo>
                <a:lnTo>
                  <a:pt x="8572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2813545" y="877631"/>
            <a:ext cx="3021330" cy="746125"/>
          </a:xfrm>
          <a:prstGeom prst="rect">
            <a:avLst/>
          </a:prstGeom>
        </p:spPr>
        <p:txBody>
          <a:bodyPr wrap="square" lIns="0" tIns="141605" rIns="0" bIns="0" rtlCol="0" vert="horz">
            <a:spAutoFit/>
          </a:bodyPr>
          <a:lstStyle/>
          <a:p>
            <a:pPr algn="ctr" marR="323215">
              <a:lnSpc>
                <a:spcPct val="100000"/>
              </a:lnSpc>
              <a:spcBef>
                <a:spcPts val="1115"/>
              </a:spcBef>
            </a:pPr>
            <a:r>
              <a:rPr dirty="0" sz="1500" spc="-10">
                <a:latin typeface="Tahoma"/>
                <a:cs typeface="Tahoma"/>
              </a:rPr>
              <a:t>0.776</a:t>
            </a:r>
            <a:endParaRPr sz="15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1000"/>
              </a:spcBef>
            </a:pPr>
            <a:r>
              <a:rPr dirty="0" sz="1550" spc="-25" i="1">
                <a:latin typeface="Verdana"/>
                <a:cs typeface="Verdana"/>
              </a:rPr>
              <a:t>P</a:t>
            </a:r>
            <a:r>
              <a:rPr dirty="0" sz="1550" spc="-390" i="1">
                <a:latin typeface="Verdana"/>
                <a:cs typeface="Verdana"/>
              </a:rPr>
              <a:t> </a:t>
            </a:r>
            <a:r>
              <a:rPr dirty="0" sz="1500" spc="-30">
                <a:latin typeface="Tahoma"/>
                <a:cs typeface="Tahoma"/>
              </a:rPr>
              <a:t>(</a:t>
            </a:r>
            <a:r>
              <a:rPr dirty="0" sz="1550" spc="-715" i="1">
                <a:latin typeface="Verdana"/>
                <a:cs typeface="Verdana"/>
              </a:rPr>
              <a:t>X</a:t>
            </a:r>
            <a:r>
              <a:rPr dirty="0" baseline="11111" sz="2250" spc="-44">
                <a:latin typeface="Tahoma"/>
                <a:cs typeface="Tahoma"/>
              </a:rPr>
              <a:t>¯</a:t>
            </a:r>
            <a:r>
              <a:rPr dirty="0" baseline="11111" sz="2250" spc="7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&gt;</a:t>
            </a:r>
            <a:r>
              <a:rPr dirty="0" sz="1500" spc="-45">
                <a:latin typeface="Tahoma"/>
                <a:cs typeface="Tahoma"/>
              </a:rPr>
              <a:t> </a:t>
            </a:r>
            <a:r>
              <a:rPr dirty="0" sz="1500" spc="-70">
                <a:latin typeface="Tahoma"/>
                <a:cs typeface="Tahoma"/>
              </a:rPr>
              <a:t>55.71|</a:t>
            </a:r>
            <a:r>
              <a:rPr dirty="0" sz="1550" spc="-70" i="1">
                <a:latin typeface="Verdana"/>
                <a:cs typeface="Verdana"/>
              </a:rPr>
              <a:t>H</a:t>
            </a:r>
            <a:r>
              <a:rPr dirty="0" baseline="-13227" sz="1575" spc="-104">
                <a:latin typeface="Tahoma"/>
                <a:cs typeface="Tahoma"/>
              </a:rPr>
              <a:t>0</a:t>
            </a:r>
            <a:r>
              <a:rPr dirty="0" sz="1500" spc="-70">
                <a:latin typeface="Tahoma"/>
                <a:cs typeface="Tahoma"/>
              </a:rPr>
              <a:t>)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100">
                <a:latin typeface="Tahoma"/>
                <a:cs typeface="Tahoma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P</a:t>
            </a:r>
            <a:r>
              <a:rPr dirty="0" sz="1550" spc="-390" i="1">
                <a:latin typeface="Verdana"/>
                <a:cs typeface="Verdana"/>
              </a:rPr>
              <a:t> </a:t>
            </a:r>
            <a:r>
              <a:rPr dirty="0" sz="1500" spc="-85">
                <a:latin typeface="Tahoma"/>
                <a:cs typeface="Tahoma"/>
              </a:rPr>
              <a:t>(</a:t>
            </a:r>
            <a:r>
              <a:rPr dirty="0" sz="1550" spc="-85" i="1">
                <a:latin typeface="Verdana"/>
                <a:cs typeface="Verdana"/>
              </a:rPr>
              <a:t>z</a:t>
            </a:r>
            <a:r>
              <a:rPr dirty="0" sz="1550" spc="-145" i="1">
                <a:latin typeface="Verdana"/>
                <a:cs typeface="Verdana"/>
              </a:rPr>
              <a:t> </a:t>
            </a:r>
            <a:r>
              <a:rPr dirty="0" sz="1500">
                <a:latin typeface="Tahoma"/>
                <a:cs typeface="Tahoma"/>
              </a:rPr>
              <a:t>&gt;</a:t>
            </a:r>
            <a:r>
              <a:rPr dirty="0" sz="1500" spc="85">
                <a:latin typeface="Tahoma"/>
                <a:cs typeface="Tahoma"/>
              </a:rPr>
              <a:t> </a:t>
            </a:r>
            <a:r>
              <a:rPr dirty="0" sz="1500" spc="-40">
                <a:latin typeface="Tahoma"/>
                <a:cs typeface="Tahoma"/>
              </a:rPr>
              <a:t>7.356|</a:t>
            </a:r>
            <a:r>
              <a:rPr dirty="0" sz="1550" spc="-40" i="1">
                <a:latin typeface="Verdana"/>
                <a:cs typeface="Verdana"/>
              </a:rPr>
              <a:t>H</a:t>
            </a:r>
            <a:r>
              <a:rPr dirty="0" baseline="-13227" sz="1575" spc="-60">
                <a:latin typeface="Tahoma"/>
                <a:cs typeface="Tahoma"/>
              </a:rPr>
              <a:t>0</a:t>
            </a:r>
            <a:r>
              <a:rPr dirty="0" sz="1500" spc="-40">
                <a:latin typeface="Tahoma"/>
                <a:cs typeface="Tahoma"/>
              </a:rPr>
              <a:t>)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71524" y="13430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1524" y="17525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58800" y="394970"/>
            <a:ext cx="7399655" cy="149288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Trebuchet MS"/>
                <a:cs typeface="Trebuchet MS"/>
              </a:rPr>
              <a:t>What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just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performed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formally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known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one-sample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65" b="1">
                <a:latin typeface="Trebuchet MS"/>
                <a:cs typeface="Trebuchet MS"/>
              </a:rPr>
              <a:t>z-</a:t>
            </a:r>
            <a:r>
              <a:rPr dirty="0" sz="1450" spc="-60" b="1">
                <a:latin typeface="Trebuchet MS"/>
                <a:cs typeface="Trebuchet MS"/>
              </a:rPr>
              <a:t>test</a:t>
            </a:r>
            <a:r>
              <a:rPr dirty="0" sz="1450" spc="-60">
                <a:latin typeface="Trebuchet MS"/>
                <a:cs typeface="Trebuchet MS"/>
              </a:rPr>
              <a:t>,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procedure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used</a:t>
            </a:r>
            <a:r>
              <a:rPr dirty="0" sz="1450" spc="-25">
                <a:latin typeface="Trebuchet MS"/>
                <a:cs typeface="Trebuchet MS"/>
              </a:rPr>
              <a:t> to </a:t>
            </a:r>
            <a:r>
              <a:rPr dirty="0" sz="1450" spc="-10">
                <a:latin typeface="Trebuchet MS"/>
                <a:cs typeface="Trebuchet MS"/>
              </a:rPr>
              <a:t>test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claim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about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deviation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45">
                <a:latin typeface="Trebuchet MS"/>
                <a:cs typeface="Trebuchet MS"/>
              </a:rPr>
              <a:t>(σ)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is </a:t>
            </a:r>
            <a:r>
              <a:rPr dirty="0" sz="1450" spc="-10">
                <a:latin typeface="Trebuchet MS"/>
                <a:cs typeface="Trebuchet MS"/>
              </a:rPr>
              <a:t>known,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using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single</a:t>
            </a:r>
            <a:r>
              <a:rPr dirty="0" sz="1450" spc="-10">
                <a:latin typeface="Trebuchet MS"/>
                <a:cs typeface="Trebuchet MS"/>
              </a:rPr>
              <a:t> sample.</a:t>
            </a:r>
            <a:endParaRPr sz="1450">
              <a:latin typeface="Trebuchet MS"/>
              <a:cs typeface="Trebuchet MS"/>
            </a:endParaRPr>
          </a:p>
          <a:p>
            <a:pPr marL="393065" marR="3570604">
              <a:lnSpc>
                <a:spcPts val="3229"/>
              </a:lnSpc>
              <a:spcBef>
                <a:spcPts val="10"/>
              </a:spcBef>
            </a:pPr>
            <a:r>
              <a:rPr dirty="0" sz="1450" spc="-10">
                <a:latin typeface="Trebuchet MS"/>
                <a:cs typeface="Trebuchet MS"/>
              </a:rPr>
              <a:t>State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null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alternative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hypothesis: </a:t>
            </a:r>
            <a:r>
              <a:rPr dirty="0" sz="1450">
                <a:latin typeface="Trebuchet MS"/>
                <a:cs typeface="Trebuchet MS"/>
              </a:rPr>
              <a:t>Compute</a:t>
            </a:r>
            <a:r>
              <a:rPr dirty="0" sz="1450" spc="-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</a:t>
            </a:r>
            <a:r>
              <a:rPr dirty="0" sz="1450" spc="-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statistic"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771524" y="28479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34766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1524" y="40957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4491037"/>
            <a:ext cx="66675" cy="6667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5110162"/>
            <a:ext cx="66675" cy="6667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914400" y="2738120"/>
            <a:ext cx="7134859" cy="251460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38100" marR="3048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Trebuchet MS"/>
                <a:cs typeface="Trebuchet MS"/>
              </a:rPr>
              <a:t>Determine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likely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55">
                <a:latin typeface="Trebuchet MS"/>
                <a:cs typeface="Trebuchet MS"/>
              </a:rPr>
              <a:t>z-</a:t>
            </a:r>
            <a:r>
              <a:rPr dirty="0" sz="1450">
                <a:latin typeface="Trebuchet MS"/>
                <a:cs typeface="Trebuchet MS"/>
              </a:rPr>
              <a:t>value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extreme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(or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more</a:t>
            </a:r>
            <a:r>
              <a:rPr dirty="0" sz="1450" spc="-30">
                <a:latin typeface="Trebuchet MS"/>
                <a:cs typeface="Trebuchet MS"/>
              </a:rPr>
              <a:t> extreme) </a:t>
            </a:r>
            <a:r>
              <a:rPr dirty="0" sz="1450">
                <a:latin typeface="Trebuchet MS"/>
                <a:cs typeface="Trebuchet MS"/>
              </a:rPr>
              <a:t>than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one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obtained,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assuming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3227" sz="1575">
                <a:latin typeface="Tahoma"/>
                <a:cs typeface="Tahoma"/>
              </a:rPr>
              <a:t>0</a:t>
            </a:r>
            <a:r>
              <a:rPr dirty="0" baseline="-13227" sz="1575" spc="345">
                <a:latin typeface="Tahoma"/>
                <a:cs typeface="Tahoma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true.</a:t>
            </a:r>
            <a:endParaRPr sz="1450">
              <a:latin typeface="Trebuchet MS"/>
              <a:cs typeface="Trebuchet MS"/>
            </a:endParaRPr>
          </a:p>
          <a:p>
            <a:pPr marL="38100" marR="770890">
              <a:lnSpc>
                <a:spcPts val="1730"/>
              </a:lnSpc>
              <a:spcBef>
                <a:spcPts val="1490"/>
              </a:spcBef>
            </a:pPr>
            <a:r>
              <a:rPr dirty="0" sz="1450">
                <a:latin typeface="Trebuchet MS"/>
                <a:cs typeface="Trebuchet MS"/>
              </a:rPr>
              <a:t>Based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some standard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20">
                <a:latin typeface="Trebuchet MS"/>
                <a:cs typeface="Trebuchet MS"/>
              </a:rPr>
              <a:t>(e.g.,</a:t>
            </a:r>
            <a:r>
              <a:rPr dirty="0" sz="1450">
                <a:latin typeface="Trebuchet MS"/>
                <a:cs typeface="Trebuchet MS"/>
              </a:rPr>
              <a:t> </a:t>
            </a:r>
            <a:r>
              <a:rPr dirty="0" sz="1450" spc="-105">
                <a:latin typeface="Trebuchet MS"/>
                <a:cs typeface="Trebuchet MS"/>
              </a:rPr>
              <a:t>.05),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decide whether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 not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 </a:t>
            </a:r>
            <a:r>
              <a:rPr dirty="0" sz="1450" spc="-50">
                <a:latin typeface="Trebuchet MS"/>
                <a:cs typeface="Trebuchet MS"/>
              </a:rPr>
              <a:t>reject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 </a:t>
            </a:r>
            <a:r>
              <a:rPr dirty="0" sz="1450" spc="-20">
                <a:latin typeface="Trebuchet MS"/>
                <a:cs typeface="Trebuchet MS"/>
              </a:rPr>
              <a:t>null </a:t>
            </a:r>
            <a:r>
              <a:rPr dirty="0" sz="1450" spc="-10">
                <a:latin typeface="Trebuchet MS"/>
                <a:cs typeface="Trebuchet MS"/>
              </a:rPr>
              <a:t>hypothesis.</a:t>
            </a:r>
            <a:endParaRPr sz="145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1350"/>
              </a:spcBef>
            </a:pPr>
            <a:r>
              <a:rPr dirty="0" sz="1450" spc="-10">
                <a:latin typeface="Trebuchet MS"/>
                <a:cs typeface="Trebuchet MS"/>
              </a:rPr>
              <a:t>Interpret</a:t>
            </a:r>
            <a:r>
              <a:rPr dirty="0" sz="1450" spc="-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result:</a:t>
            </a:r>
            <a:endParaRPr sz="1450">
              <a:latin typeface="Trebuchet MS"/>
              <a:cs typeface="Trebuchet MS"/>
            </a:endParaRPr>
          </a:p>
          <a:p>
            <a:pPr marL="418465" marR="181610">
              <a:lnSpc>
                <a:spcPts val="1730"/>
              </a:lnSpc>
              <a:spcBef>
                <a:spcPts val="1475"/>
              </a:spcBef>
            </a:pP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frequentist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framework,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rejecting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3227" sz="1575">
                <a:latin typeface="Tahoma"/>
                <a:cs typeface="Tahoma"/>
              </a:rPr>
              <a:t>0</a:t>
            </a:r>
            <a:r>
              <a:rPr dirty="0" baseline="-13227" sz="1575" spc="217">
                <a:latin typeface="Tahoma"/>
                <a:cs typeface="Tahoma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taken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evidence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against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null </a:t>
            </a:r>
            <a:r>
              <a:rPr dirty="0" sz="1450">
                <a:latin typeface="Trebuchet MS"/>
                <a:cs typeface="Trebuchet MS"/>
              </a:rPr>
              <a:t>hypothesis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support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alternative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hypothesis.</a:t>
            </a:r>
            <a:endParaRPr sz="1450">
              <a:latin typeface="Trebuchet MS"/>
              <a:cs typeface="Trebuchet MS"/>
            </a:endParaRPr>
          </a:p>
          <a:p>
            <a:pPr marL="418465">
              <a:lnSpc>
                <a:spcPct val="100000"/>
              </a:lnSpc>
              <a:spcBef>
                <a:spcPts val="1250"/>
              </a:spcBef>
            </a:pP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does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prove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550" spc="-35" i="1">
                <a:latin typeface="Verdana"/>
                <a:cs typeface="Verdana"/>
              </a:rPr>
              <a:t>H</a:t>
            </a:r>
            <a:r>
              <a:rPr dirty="0" baseline="-12626" sz="1650" spc="-52" i="1">
                <a:latin typeface="Verdana"/>
                <a:cs typeface="Verdana"/>
              </a:rPr>
              <a:t>A</a:t>
            </a:r>
            <a:r>
              <a:rPr dirty="0" sz="1450" spc="-35">
                <a:latin typeface="Trebuchet MS"/>
                <a:cs typeface="Trebuchet MS"/>
              </a:rPr>
              <a:t>; </a:t>
            </a:r>
            <a:r>
              <a:rPr dirty="0" sz="1450" spc="-20">
                <a:latin typeface="Trebuchet MS"/>
                <a:cs typeface="Trebuchet MS"/>
              </a:rPr>
              <a:t>it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indicates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unlikely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under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H</a:t>
            </a:r>
            <a:r>
              <a:rPr dirty="0" baseline="-13227" sz="1575" spc="-37">
                <a:latin typeface="Tahoma"/>
                <a:cs typeface="Tahoma"/>
              </a:rPr>
              <a:t>0</a:t>
            </a:r>
            <a:endParaRPr baseline="-13227" sz="1575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444428" y="2153196"/>
            <a:ext cx="30416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55" i="1">
                <a:latin typeface="Verdana"/>
                <a:cs typeface="Verdana"/>
              </a:rPr>
              <a:t>z</a:t>
            </a:r>
            <a:r>
              <a:rPr dirty="0" sz="1550" spc="-140" i="1">
                <a:latin typeface="Verdana"/>
                <a:cs typeface="Verdana"/>
              </a:rPr>
              <a:t> </a:t>
            </a:r>
            <a:r>
              <a:rPr dirty="0" sz="1500" spc="-50">
                <a:latin typeface="Tahoma"/>
                <a:cs typeface="Tahoma"/>
              </a:rPr>
              <a:t>=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394547" y="2155510"/>
            <a:ext cx="16827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50">
                <a:latin typeface="Tahoma"/>
                <a:cs typeface="Tahoma"/>
              </a:rPr>
              <a:t>=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921621" y="2277021"/>
            <a:ext cx="28448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550" spc="-145" i="1">
                <a:latin typeface="Verdana"/>
                <a:cs typeface="Verdana"/>
              </a:rPr>
              <a:t>σ</a:t>
            </a:r>
            <a:r>
              <a:rPr dirty="0" baseline="-15151" sz="1650" spc="-217" i="1">
                <a:latin typeface="Verdana"/>
                <a:cs typeface="Verdana"/>
              </a:rPr>
              <a:t>X</a:t>
            </a:r>
            <a:r>
              <a:rPr dirty="0" baseline="-7936" sz="1575" spc="-217">
                <a:latin typeface="Tahoma"/>
                <a:cs typeface="Tahoma"/>
              </a:rPr>
              <a:t>¯</a:t>
            </a:r>
            <a:endParaRPr baseline="-7936" sz="1575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3809999" y="2305049"/>
            <a:ext cx="523875" cy="9525"/>
          </a:xfrm>
          <a:custGeom>
            <a:avLst/>
            <a:gdLst/>
            <a:ahLst/>
            <a:cxnLst/>
            <a:rect l="l" t="t" r="r" b="b"/>
            <a:pathLst>
              <a:path w="523875" h="9525">
                <a:moveTo>
                  <a:pt x="523874" y="9524"/>
                </a:moveTo>
                <a:lnTo>
                  <a:pt x="0" y="9524"/>
                </a:lnTo>
                <a:lnTo>
                  <a:pt x="0" y="0"/>
                </a:lnTo>
                <a:lnTo>
                  <a:pt x="523874" y="0"/>
                </a:lnTo>
                <a:lnTo>
                  <a:pt x="52387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3776017" y="2019846"/>
            <a:ext cx="141605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875030" algn="l"/>
              </a:tabLst>
            </a:pPr>
            <a:r>
              <a:rPr dirty="0" sz="1550" spc="-720" i="1">
                <a:latin typeface="Verdana"/>
                <a:cs typeface="Verdana"/>
              </a:rPr>
              <a:t>X</a:t>
            </a:r>
            <a:r>
              <a:rPr dirty="0" baseline="11111" sz="2250" spc="-52">
                <a:latin typeface="Tahoma"/>
                <a:cs typeface="Tahoma"/>
              </a:rPr>
              <a:t>¯</a:t>
            </a:r>
            <a:r>
              <a:rPr dirty="0" baseline="11111" sz="2250" spc="-7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25">
                <a:latin typeface="Tahoma"/>
                <a:cs typeface="Tahoma"/>
              </a:rPr>
              <a:t> </a:t>
            </a:r>
            <a:r>
              <a:rPr dirty="0" sz="1550" spc="-50" i="1">
                <a:latin typeface="Verdana"/>
                <a:cs typeface="Verdana"/>
              </a:rPr>
              <a:t>μ</a:t>
            </a:r>
            <a:r>
              <a:rPr dirty="0" sz="1550" i="1">
                <a:latin typeface="Verdana"/>
                <a:cs typeface="Verdana"/>
              </a:rPr>
              <a:t>	</a:t>
            </a:r>
            <a:r>
              <a:rPr dirty="0" sz="1550" spc="-720" i="1">
                <a:latin typeface="Verdana"/>
                <a:cs typeface="Verdana"/>
              </a:rPr>
              <a:t>X</a:t>
            </a:r>
            <a:r>
              <a:rPr dirty="0" baseline="11111" sz="2250" spc="-52">
                <a:latin typeface="Tahoma"/>
                <a:cs typeface="Tahoma"/>
              </a:rPr>
              <a:t>¯</a:t>
            </a:r>
            <a:r>
              <a:rPr dirty="0" baseline="11111" sz="2250" spc="-7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−</a:t>
            </a:r>
            <a:r>
              <a:rPr dirty="0" sz="1500" spc="-125">
                <a:latin typeface="Tahoma"/>
                <a:cs typeface="Tahoma"/>
              </a:rPr>
              <a:t> </a:t>
            </a:r>
            <a:r>
              <a:rPr dirty="0" sz="1550" spc="-50" i="1">
                <a:latin typeface="Verdana"/>
                <a:cs typeface="Verdana"/>
              </a:rPr>
              <a:t>μ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991099" y="2362199"/>
            <a:ext cx="161925" cy="9525"/>
          </a:xfrm>
          <a:custGeom>
            <a:avLst/>
            <a:gdLst/>
            <a:ahLst/>
            <a:cxnLst/>
            <a:rect l="l" t="t" r="r" b="b"/>
            <a:pathLst>
              <a:path w="161925" h="9525">
                <a:moveTo>
                  <a:pt x="161924" y="9524"/>
                </a:moveTo>
                <a:lnTo>
                  <a:pt x="0" y="9524"/>
                </a:lnTo>
                <a:lnTo>
                  <a:pt x="0" y="0"/>
                </a:lnTo>
                <a:lnTo>
                  <a:pt x="161924" y="0"/>
                </a:lnTo>
                <a:lnTo>
                  <a:pt x="16192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627760" y="2315121"/>
            <a:ext cx="521334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20" i="1">
                <a:latin typeface="Verdana"/>
                <a:cs typeface="Verdana"/>
              </a:rPr>
              <a:t>σ</a:t>
            </a:r>
            <a:r>
              <a:rPr dirty="0" sz="1500" spc="-20">
                <a:latin typeface="Tahoma"/>
                <a:cs typeface="Tahoma"/>
              </a:rPr>
              <a:t>/√</a:t>
            </a:r>
            <a:r>
              <a:rPr dirty="0" sz="1550" spc="-20" i="1">
                <a:latin typeface="Verdana"/>
                <a:cs typeface="Verdana"/>
              </a:rPr>
              <a:t>N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4619624" y="2305049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552449" y="9524"/>
                </a:moveTo>
                <a:lnTo>
                  <a:pt x="0" y="9524"/>
                </a:lnTo>
                <a:lnTo>
                  <a:pt x="0" y="0"/>
                </a:lnTo>
                <a:lnTo>
                  <a:pt x="552449" y="0"/>
                </a:lnTo>
                <a:lnTo>
                  <a:pt x="5524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71524" y="5048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1119187"/>
            <a:ext cx="66675" cy="66674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771524" y="17525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2366962"/>
            <a:ext cx="66675" cy="666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2986087"/>
            <a:ext cx="66675" cy="6667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939800" y="394970"/>
            <a:ext cx="7105015" cy="418846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214629">
              <a:lnSpc>
                <a:spcPts val="1730"/>
              </a:lnSpc>
              <a:spcBef>
                <a:spcPts val="155"/>
              </a:spcBef>
            </a:pPr>
            <a:r>
              <a:rPr dirty="0" sz="1450" spc="-20">
                <a:latin typeface="Trebuchet MS"/>
                <a:cs typeface="Trebuchet MS"/>
              </a:rPr>
              <a:t>We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do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not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assume</a:t>
            </a:r>
            <a:r>
              <a:rPr dirty="0" sz="1450" spc="-2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distribution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35">
                <a:latin typeface="Trebuchet MS"/>
                <a:cs typeface="Trebuchet MS"/>
              </a:rPr>
              <a:t>raw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YSR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scores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our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(or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in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population)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normal.</a:t>
            </a:r>
            <a:endParaRPr sz="1450">
              <a:latin typeface="Trebuchet MS"/>
              <a:cs typeface="Trebuchet MS"/>
            </a:endParaRPr>
          </a:p>
          <a:p>
            <a:pPr marL="393065" marR="5080">
              <a:lnSpc>
                <a:spcPts val="1730"/>
              </a:lnSpc>
              <a:spcBef>
                <a:spcPts val="1415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 </a:t>
            </a:r>
            <a:r>
              <a:rPr dirty="0" sz="1450">
                <a:latin typeface="Trebuchet MS"/>
                <a:cs typeface="Trebuchet MS"/>
              </a:rPr>
              <a:t>focuses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sampling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distribution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mean,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shape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itself.</a:t>
            </a:r>
            <a:endParaRPr sz="1450">
              <a:latin typeface="Trebuchet MS"/>
              <a:cs typeface="Trebuchet MS"/>
            </a:endParaRPr>
          </a:p>
          <a:p>
            <a:pPr marL="12700" marR="467359">
              <a:lnSpc>
                <a:spcPts val="1730"/>
              </a:lnSpc>
              <a:spcBef>
                <a:spcPts val="1490"/>
              </a:spcBef>
            </a:pPr>
            <a:r>
              <a:rPr dirty="0" sz="1450" spc="-20">
                <a:latin typeface="Trebuchet MS"/>
                <a:cs typeface="Trebuchet MS"/>
              </a:rPr>
              <a:t>We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do</a:t>
            </a:r>
            <a:r>
              <a:rPr dirty="0" sz="1450" spc="-4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assume</a:t>
            </a:r>
            <a:r>
              <a:rPr dirty="0" sz="1450" spc="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 the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sampling distribution of sample means is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approximately normal.</a:t>
            </a:r>
            <a:endParaRPr sz="1450">
              <a:latin typeface="Trebuchet MS"/>
              <a:cs typeface="Trebuchet MS"/>
            </a:endParaRPr>
          </a:p>
          <a:p>
            <a:pPr marL="393065" marR="202565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0">
                <a:latin typeface="Trebuchet MS"/>
                <a:cs typeface="Trebuchet MS"/>
              </a:rPr>
              <a:t> theoretical </a:t>
            </a:r>
            <a:r>
              <a:rPr dirty="0" sz="1450">
                <a:latin typeface="Trebuchet MS"/>
                <a:cs typeface="Trebuchet MS"/>
              </a:rPr>
              <a:t>distribution</a:t>
            </a:r>
            <a:r>
              <a:rPr dirty="0" sz="1450" spc="-10">
                <a:latin typeface="Trebuchet MS"/>
                <a:cs typeface="Trebuchet MS"/>
              </a:rPr>
              <a:t> we </a:t>
            </a:r>
            <a:r>
              <a:rPr dirty="0" sz="1450">
                <a:latin typeface="Trebuchet MS"/>
                <a:cs typeface="Trebuchet MS"/>
              </a:rPr>
              <a:t>never</a:t>
            </a:r>
            <a:r>
              <a:rPr dirty="0" sz="1450" spc="-10">
                <a:latin typeface="Trebuchet MS"/>
                <a:cs typeface="Trebuchet MS"/>
              </a:rPr>
              <a:t> actually </a:t>
            </a:r>
            <a:r>
              <a:rPr dirty="0" sz="1450">
                <a:latin typeface="Trebuchet MS"/>
                <a:cs typeface="Trebuchet MS"/>
              </a:rPr>
              <a:t>observe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underlies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logic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test.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350"/>
              </a:spcBef>
            </a:pP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assumption can be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satisfied in two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ways:</a:t>
            </a:r>
            <a:endParaRPr sz="1450">
              <a:latin typeface="Trebuchet MS"/>
              <a:cs typeface="Trebuchet MS"/>
            </a:endParaRPr>
          </a:p>
          <a:p>
            <a:pPr marL="774065" marR="12065" indent="-194945">
              <a:lnSpc>
                <a:spcPts val="1730"/>
              </a:lnSpc>
              <a:spcBef>
                <a:spcPts val="1475"/>
              </a:spcBef>
              <a:buAutoNum type="arabicPeriod"/>
              <a:tabLst>
                <a:tab pos="774065" algn="l"/>
              </a:tabLst>
            </a:pPr>
            <a:r>
              <a:rPr dirty="0" sz="1450">
                <a:latin typeface="Trebuchet MS"/>
                <a:cs typeface="Trebuchet MS"/>
              </a:rPr>
              <a:t>Population is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normal: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If the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distribution is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truly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normal,</a:t>
            </a:r>
            <a:r>
              <a:rPr dirty="0" sz="1450">
                <a:latin typeface="Trebuchet MS"/>
                <a:cs typeface="Trebuchet MS"/>
              </a:rPr>
              <a:t> then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sampling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distribution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means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will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normal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any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size.</a:t>
            </a:r>
            <a:endParaRPr sz="1450">
              <a:latin typeface="Trebuchet MS"/>
              <a:cs typeface="Trebuchet MS"/>
            </a:endParaRPr>
          </a:p>
          <a:p>
            <a:pPr marL="774065" marR="256540" indent="-194945">
              <a:lnSpc>
                <a:spcPts val="1730"/>
              </a:lnSpc>
              <a:spcBef>
                <a:spcPts val="1415"/>
              </a:spcBef>
              <a:buAutoNum type="arabicPeriod"/>
              <a:tabLst>
                <a:tab pos="774065" algn="l"/>
              </a:tabLst>
            </a:pP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size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large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(Central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Limit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35">
                <a:latin typeface="Trebuchet MS"/>
                <a:cs typeface="Trebuchet MS"/>
              </a:rPr>
              <a:t>Theorem):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if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25">
                <a:latin typeface="Trebuchet MS"/>
                <a:cs typeface="Trebuchet MS"/>
              </a:rPr>
              <a:t> not </a:t>
            </a:r>
            <a:r>
              <a:rPr dirty="0" sz="1450" spc="-10">
                <a:latin typeface="Trebuchet MS"/>
                <a:cs typeface="Trebuchet MS"/>
              </a:rPr>
              <a:t>normal,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large,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sampling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distribution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becomes </a:t>
            </a:r>
            <a:r>
              <a:rPr dirty="0" sz="1450">
                <a:latin typeface="Trebuchet MS"/>
                <a:cs typeface="Trebuchet MS"/>
              </a:rPr>
              <a:t>approximately</a:t>
            </a:r>
            <a:r>
              <a:rPr dirty="0" sz="1450" spc="-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normal.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1309687"/>
            <a:ext cx="66675" cy="6667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1709737"/>
            <a:ext cx="66675" cy="66674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771524" y="21145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58800" y="394970"/>
            <a:ext cx="7473315" cy="22548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80" b="1">
                <a:latin typeface="Trebuchet MS"/>
                <a:cs typeface="Trebuchet MS"/>
              </a:rPr>
              <a:t>“How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large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is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large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enough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for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sample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size?”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410"/>
              </a:spcBef>
            </a:pPr>
            <a:r>
              <a:rPr dirty="0" sz="1450" spc="-40">
                <a:latin typeface="Trebuchet MS"/>
                <a:cs typeface="Trebuchet MS"/>
              </a:rPr>
              <a:t>There’s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no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universal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45">
                <a:latin typeface="Trebuchet MS"/>
                <a:cs typeface="Trebuchet MS"/>
              </a:rPr>
              <a:t>rule,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depends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shape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0">
                <a:latin typeface="Trebuchet MS"/>
                <a:cs typeface="Trebuchet MS"/>
              </a:rPr>
              <a:t> population.</a:t>
            </a:r>
            <a:endParaRPr sz="1450">
              <a:latin typeface="Trebuchet MS"/>
              <a:cs typeface="Trebuchet MS"/>
            </a:endParaRPr>
          </a:p>
          <a:p>
            <a:pPr marL="774065" marR="2001520">
              <a:lnSpc>
                <a:spcPct val="181000"/>
              </a:lnSpc>
              <a:spcBef>
                <a:spcPts val="75"/>
              </a:spcBef>
            </a:pPr>
            <a:r>
              <a:rPr dirty="0" sz="1450">
                <a:latin typeface="Trebuchet MS"/>
                <a:cs typeface="Trebuchet MS"/>
              </a:rPr>
              <a:t>Highly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skewed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heavy-tailed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populations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need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larger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5">
                <a:latin typeface="Trebuchet MS"/>
                <a:cs typeface="Trebuchet MS"/>
              </a:rPr>
              <a:t>n </a:t>
            </a:r>
            <a:r>
              <a:rPr dirty="0" sz="1450">
                <a:latin typeface="Trebuchet MS"/>
                <a:cs typeface="Trebuchet MS"/>
              </a:rPr>
              <a:t>Moderately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symmetric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populations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may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need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less.</a:t>
            </a:r>
            <a:endParaRPr sz="1450">
              <a:latin typeface="Trebuchet MS"/>
              <a:cs typeface="Trebuchet MS"/>
            </a:endParaRPr>
          </a:p>
          <a:p>
            <a:pPr marL="12700" marR="5080" indent="381000">
              <a:lnSpc>
                <a:spcPct val="181000"/>
              </a:lnSpc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conventional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65">
                <a:latin typeface="Trebuchet MS"/>
                <a:cs typeface="Trebuchet MS"/>
              </a:rPr>
              <a:t>“n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Arial"/>
                <a:cs typeface="Arial"/>
              </a:rPr>
              <a:t>≥</a:t>
            </a:r>
            <a:r>
              <a:rPr dirty="0" sz="1450" spc="5">
                <a:latin typeface="Arial"/>
                <a:cs typeface="Arial"/>
              </a:rPr>
              <a:t> </a:t>
            </a:r>
            <a:r>
              <a:rPr dirty="0" sz="1450" spc="-75">
                <a:latin typeface="Trebuchet MS"/>
                <a:cs typeface="Trebuchet MS"/>
              </a:rPr>
              <a:t>30”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rule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thumb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rough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guideline,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mathematical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law. (Fun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 spc="-80">
                <a:latin typeface="Trebuchet MS"/>
                <a:cs typeface="Trebuchet MS"/>
              </a:rPr>
              <a:t>fact: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45">
                <a:latin typeface="Trebuchet MS"/>
                <a:cs typeface="Trebuchet MS"/>
              </a:rPr>
              <a:t>won’t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find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formal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citation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n=30)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40"/>
              <a:t>Practice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771524" y="27717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1524" y="33908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3790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58800" y="795019"/>
            <a:ext cx="7491095" cy="31311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b="1">
                <a:latin typeface="Trebuchet MS"/>
                <a:cs typeface="Trebuchet MS"/>
              </a:rPr>
              <a:t>Do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Stressed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Children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Give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More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Socially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Desirable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Answers?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730"/>
              </a:lnSpc>
              <a:spcBef>
                <a:spcPts val="1475"/>
              </a:spcBef>
            </a:pPr>
            <a:r>
              <a:rPr dirty="0" sz="1450">
                <a:latin typeface="Trebuchet MS"/>
                <a:cs typeface="Trebuchet MS"/>
              </a:rPr>
              <a:t>Researchers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observed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young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children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under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stress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often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report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fewer</a:t>
            </a:r>
            <a:r>
              <a:rPr dirty="0" sz="1450" spc="-10">
                <a:latin typeface="Trebuchet MS"/>
                <a:cs typeface="Trebuchet MS"/>
              </a:rPr>
              <a:t> symptoms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anxiety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depression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35">
                <a:latin typeface="Trebuchet MS"/>
                <a:cs typeface="Trebuchet MS"/>
              </a:rPr>
              <a:t>expected.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40">
                <a:latin typeface="Trebuchet MS"/>
                <a:cs typeface="Trebuchet MS"/>
              </a:rPr>
              <a:t>However,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they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also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tend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score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higher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Lie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Scale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70">
                <a:latin typeface="Trebuchet MS"/>
                <a:cs typeface="Trebuchet MS"/>
              </a:rPr>
              <a:t>—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measure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tendency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give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socially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desirable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answers.</a:t>
            </a:r>
            <a:endParaRPr sz="1450">
              <a:latin typeface="Trebuchet MS"/>
              <a:cs typeface="Trebuchet MS"/>
            </a:endParaRPr>
          </a:p>
          <a:p>
            <a:pPr marL="12700" marR="144780">
              <a:lnSpc>
                <a:spcPts val="1730"/>
              </a:lnSpc>
              <a:spcBef>
                <a:spcPts val="1485"/>
              </a:spcBef>
            </a:pPr>
            <a:r>
              <a:rPr dirty="0" sz="1450" spc="50">
                <a:latin typeface="Trebuchet MS"/>
                <a:cs typeface="Trebuchet MS"/>
              </a:rPr>
              <a:t>Suppose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scores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Scale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standardized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such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is </a:t>
            </a:r>
            <a:r>
              <a:rPr dirty="0" sz="1450">
                <a:latin typeface="Trebuchet MS"/>
                <a:cs typeface="Trebuchet MS"/>
              </a:rPr>
              <a:t>known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5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deviation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known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2.</a:t>
            </a:r>
            <a:endParaRPr sz="1450">
              <a:latin typeface="Trebuchet MS"/>
              <a:cs typeface="Trebuchet MS"/>
            </a:endParaRPr>
          </a:p>
          <a:p>
            <a:pPr marL="393065" marR="355600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whether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these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stressed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children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show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greater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tendency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give </a:t>
            </a:r>
            <a:r>
              <a:rPr dirty="0" sz="1450">
                <a:latin typeface="Trebuchet MS"/>
                <a:cs typeface="Trebuchet MS"/>
              </a:rPr>
              <a:t>socially desirable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responses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compared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general </a:t>
            </a:r>
            <a:r>
              <a:rPr dirty="0" sz="1450" spc="-10">
                <a:latin typeface="Trebuchet MS"/>
                <a:cs typeface="Trebuchet MS"/>
              </a:rPr>
              <a:t>population?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350"/>
              </a:spcBef>
            </a:pPr>
            <a:r>
              <a:rPr dirty="0" sz="1450">
                <a:latin typeface="Trebuchet MS"/>
                <a:cs typeface="Trebuchet MS"/>
              </a:rPr>
              <a:t>What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should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our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null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alternative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hypotheses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be?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410"/>
              </a:spcBef>
            </a:pPr>
            <a:r>
              <a:rPr dirty="0" sz="1450">
                <a:latin typeface="Trebuchet MS"/>
                <a:cs typeface="Trebuchet MS"/>
              </a:rPr>
              <a:t>Based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expectations,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what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50">
                <a:latin typeface="Trebuchet MS"/>
                <a:cs typeface="Trebuchet MS"/>
              </a:rPr>
              <a:t>do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anticipate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concluding?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523999" y="2247899"/>
          <a:ext cx="5676900" cy="1012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2025"/>
                <a:gridCol w="2676525"/>
                <a:gridCol w="1962150"/>
              </a:tblGrid>
              <a:tr h="342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450" spc="-40" b="1">
                          <a:latin typeface="Trebuchet MS"/>
                          <a:cs typeface="Trebuchet MS"/>
                        </a:rPr>
                        <a:t>Researcher</a:t>
                      </a:r>
                      <a:r>
                        <a:rPr dirty="0" sz="1450" spc="-7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b="1">
                          <a:latin typeface="Trebuchet MS"/>
                          <a:cs typeface="Trebuchet MS"/>
                        </a:rPr>
                        <a:t>Does</a:t>
                      </a:r>
                      <a:r>
                        <a:rPr dirty="0" sz="1450" spc="-7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 b="1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dirty="0" sz="1450" spc="-7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60" b="1">
                          <a:latin typeface="Trebuchet MS"/>
                          <a:cs typeface="Trebuchet MS"/>
                        </a:rPr>
                        <a:t>Reject</a:t>
                      </a:r>
                      <a:r>
                        <a:rPr dirty="0" sz="1450" spc="-7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25" i="1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baseline="-13227" sz="1575" spc="-37">
                          <a:latin typeface="Tahoma"/>
                          <a:cs typeface="Tahoma"/>
                        </a:rPr>
                        <a:t>0</a:t>
                      </a:r>
                      <a:endParaRPr baseline="-13227" sz="1575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450" spc="-40" b="1">
                          <a:latin typeface="Trebuchet MS"/>
                          <a:cs typeface="Trebuchet MS"/>
                        </a:rPr>
                        <a:t>Researcher</a:t>
                      </a:r>
                      <a:r>
                        <a:rPr dirty="0" sz="1450" spc="-5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45" b="1">
                          <a:latin typeface="Trebuchet MS"/>
                          <a:cs typeface="Trebuchet MS"/>
                        </a:rPr>
                        <a:t>Rejects</a:t>
                      </a:r>
                      <a:r>
                        <a:rPr dirty="0" sz="1450" spc="-5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25" i="1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baseline="-13227" sz="1575" spc="-37">
                          <a:latin typeface="Tahoma"/>
                          <a:cs typeface="Tahoma"/>
                        </a:rPr>
                        <a:t>0</a:t>
                      </a:r>
                      <a:endParaRPr baseline="-13227" sz="1575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algn="ctr" marR="5778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550" i="1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baseline="-13227" sz="1575">
                          <a:latin typeface="Tahoma"/>
                          <a:cs typeface="Tahoma"/>
                        </a:rPr>
                        <a:t>0</a:t>
                      </a:r>
                      <a:r>
                        <a:rPr dirty="0" baseline="-13227" sz="1575" spc="209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dirty="0" sz="145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0">
                          <a:latin typeface="Trebuchet MS"/>
                          <a:cs typeface="Trebuchet MS"/>
                        </a:rPr>
                        <a:t>true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5720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30">
                          <a:latin typeface="Trebuchet MS"/>
                          <a:cs typeface="Trebuchet MS"/>
                        </a:rPr>
                        <a:t>Correct</a:t>
                      </a:r>
                      <a:r>
                        <a:rPr dirty="0" sz="145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Inference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30">
                          <a:latin typeface="Trebuchet MS"/>
                          <a:cs typeface="Trebuchet MS"/>
                        </a:rPr>
                        <a:t>Type</a:t>
                      </a:r>
                      <a:r>
                        <a:rPr dirty="0" sz="145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dirty="0" sz="1450" spc="-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Error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550" i="1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baseline="-13227" sz="1575">
                          <a:latin typeface="Tahoma"/>
                          <a:cs typeface="Tahoma"/>
                        </a:rPr>
                        <a:t>0</a:t>
                      </a:r>
                      <a:r>
                        <a:rPr dirty="0" baseline="-13227" sz="1575" spc="209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dirty="0" sz="145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false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222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30">
                          <a:latin typeface="Trebuchet MS"/>
                          <a:cs typeface="Trebuchet MS"/>
                        </a:rPr>
                        <a:t>Type</a:t>
                      </a:r>
                      <a:r>
                        <a:rPr dirty="0" sz="145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II</a:t>
                      </a:r>
                      <a:r>
                        <a:rPr dirty="0" sz="145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Error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30">
                          <a:latin typeface="Trebuchet MS"/>
                          <a:cs typeface="Trebuchet MS"/>
                        </a:rPr>
                        <a:t>Correct</a:t>
                      </a:r>
                      <a:r>
                        <a:rPr dirty="0" sz="145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Inference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3" name="object 3" descr=""/>
          <p:cNvSpPr/>
          <p:nvPr/>
        </p:nvSpPr>
        <p:spPr>
          <a:xfrm>
            <a:off x="1504949" y="3286124"/>
            <a:ext cx="5638800" cy="9525"/>
          </a:xfrm>
          <a:custGeom>
            <a:avLst/>
            <a:gdLst/>
            <a:ahLst/>
            <a:cxnLst/>
            <a:rect l="l" t="t" r="r" b="b"/>
            <a:pathLst>
              <a:path w="5638800" h="9525">
                <a:moveTo>
                  <a:pt x="5638799" y="9524"/>
                </a:moveTo>
                <a:lnTo>
                  <a:pt x="0" y="9524"/>
                </a:lnTo>
                <a:lnTo>
                  <a:pt x="0" y="0"/>
                </a:lnTo>
                <a:lnTo>
                  <a:pt x="5638799" y="0"/>
                </a:lnTo>
                <a:lnTo>
                  <a:pt x="5638799" y="95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90"/>
              <a:t>Type</a:t>
            </a:r>
            <a:r>
              <a:rPr dirty="0" spc="-145"/>
              <a:t> </a:t>
            </a:r>
            <a:r>
              <a:rPr dirty="0" spc="-105"/>
              <a:t>of</a:t>
            </a:r>
            <a:r>
              <a:rPr dirty="0" spc="-140"/>
              <a:t> </a:t>
            </a:r>
            <a:r>
              <a:rPr dirty="0" spc="-80"/>
              <a:t>Errors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71524" y="15239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19335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58800" y="795019"/>
            <a:ext cx="6993255" cy="127381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researcher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makes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inference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using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statistical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60">
                <a:latin typeface="Trebuchet MS"/>
                <a:cs typeface="Trebuchet MS"/>
              </a:rPr>
              <a:t>test,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there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two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types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 </a:t>
            </a:r>
            <a:r>
              <a:rPr dirty="0" sz="1450">
                <a:latin typeface="Trebuchet MS"/>
                <a:cs typeface="Trebuchet MS"/>
              </a:rPr>
              <a:t>errors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researcher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could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make:</a:t>
            </a:r>
            <a:endParaRPr sz="1450">
              <a:latin typeface="Trebuchet MS"/>
              <a:cs typeface="Trebuchet MS"/>
            </a:endParaRPr>
          </a:p>
          <a:p>
            <a:pPr marL="393065" marR="5591810">
              <a:lnSpc>
                <a:spcPts val="3229"/>
              </a:lnSpc>
              <a:spcBef>
                <a:spcPts val="15"/>
              </a:spcBef>
            </a:pPr>
            <a:r>
              <a:rPr dirty="0" sz="1450" spc="-30">
                <a:latin typeface="Trebuchet MS"/>
                <a:cs typeface="Trebuchet MS"/>
              </a:rPr>
              <a:t>Type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Error </a:t>
            </a:r>
            <a:r>
              <a:rPr dirty="0" sz="1450" spc="-30">
                <a:latin typeface="Trebuchet MS"/>
                <a:cs typeface="Trebuchet MS"/>
              </a:rPr>
              <a:t>Type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II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Error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28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08000" y="3509644"/>
            <a:ext cx="3364865" cy="27597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</a:pPr>
            <a:r>
              <a:rPr dirty="0" sz="1450" spc="-100" b="1">
                <a:latin typeface="Gill Sans MT"/>
                <a:cs typeface="Gill Sans MT"/>
              </a:rPr>
              <a:t>Scenario</a:t>
            </a:r>
            <a:r>
              <a:rPr dirty="0" sz="1450" spc="-40" b="1">
                <a:latin typeface="Gill Sans MT"/>
                <a:cs typeface="Gill Sans MT"/>
              </a:rPr>
              <a:t> </a:t>
            </a:r>
            <a:r>
              <a:rPr dirty="0" sz="1450" spc="-50" b="1">
                <a:latin typeface="Gill Sans MT"/>
                <a:cs typeface="Gill Sans MT"/>
              </a:rPr>
              <a:t>1</a:t>
            </a:r>
            <a:endParaRPr sz="14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450">
              <a:latin typeface="Gill Sans MT"/>
              <a:cs typeface="Gill Sans MT"/>
            </a:endParaRPr>
          </a:p>
          <a:p>
            <a:pPr marL="63500">
              <a:lnSpc>
                <a:spcPct val="100000"/>
              </a:lnSpc>
            </a:pPr>
            <a:r>
              <a:rPr dirty="0" sz="1450" spc="-85" b="1">
                <a:latin typeface="Trebuchet MS"/>
                <a:cs typeface="Trebuchet MS"/>
              </a:rPr>
              <a:t>Truth:</a:t>
            </a:r>
            <a:r>
              <a:rPr dirty="0" sz="1450" spc="25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has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COVID</a:t>
            </a:r>
            <a:endParaRPr sz="1450">
              <a:latin typeface="Trebuchet MS"/>
              <a:cs typeface="Trebuchet MS"/>
            </a:endParaRPr>
          </a:p>
          <a:p>
            <a:pPr marL="63500" marR="55880">
              <a:lnSpc>
                <a:spcPts val="3150"/>
              </a:lnSpc>
              <a:spcBef>
                <a:spcPts val="340"/>
              </a:spcBef>
            </a:pPr>
            <a:r>
              <a:rPr dirty="0" sz="1550" spc="-60" i="1">
                <a:latin typeface="Verdana"/>
                <a:cs typeface="Verdana"/>
              </a:rPr>
              <a:t>H</a:t>
            </a:r>
            <a:r>
              <a:rPr dirty="0" baseline="-13227" sz="1575" spc="-89">
                <a:latin typeface="Tahoma"/>
                <a:cs typeface="Tahoma"/>
              </a:rPr>
              <a:t>0</a:t>
            </a:r>
            <a:r>
              <a:rPr dirty="0" sz="1450" spc="-60">
                <a:latin typeface="Trebuchet MS"/>
                <a:cs typeface="Trebuchet MS"/>
              </a:rPr>
              <a:t>: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does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COVID </a:t>
            </a:r>
            <a:r>
              <a:rPr dirty="0" sz="1450" spc="-20" b="1">
                <a:latin typeface="Trebuchet MS"/>
                <a:cs typeface="Trebuchet MS"/>
              </a:rPr>
              <a:t>Data</a:t>
            </a:r>
            <a:r>
              <a:rPr dirty="0" sz="1450" spc="-100" b="1">
                <a:latin typeface="Trebuchet MS"/>
                <a:cs typeface="Trebuchet MS"/>
              </a:rPr>
              <a:t> </a:t>
            </a:r>
            <a:r>
              <a:rPr dirty="0" sz="1450" spc="-200" b="1">
                <a:latin typeface="Trebuchet MS"/>
                <a:cs typeface="Trebuchet MS"/>
              </a:rPr>
              <a:t>: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PRC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positive </a:t>
            </a:r>
            <a:r>
              <a:rPr dirty="0" sz="1450" spc="-60" b="1">
                <a:latin typeface="Trebuchet MS"/>
                <a:cs typeface="Trebuchet MS"/>
              </a:rPr>
              <a:t>Inference:</a:t>
            </a:r>
            <a:r>
              <a:rPr dirty="0" sz="1450" spc="15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does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COVID</a:t>
            </a:r>
            <a:endParaRPr sz="1450">
              <a:latin typeface="Trebuchet MS"/>
              <a:cs typeface="Trebuchet MS"/>
            </a:endParaRPr>
          </a:p>
          <a:p>
            <a:pPr marL="443865" indent="-194310">
              <a:lnSpc>
                <a:spcPts val="1735"/>
              </a:lnSpc>
              <a:spcBef>
                <a:spcPts val="1145"/>
              </a:spcBef>
              <a:buAutoNum type="arabicPeriod"/>
              <a:tabLst>
                <a:tab pos="443865" algn="l"/>
              </a:tabLst>
            </a:pPr>
            <a:r>
              <a:rPr dirty="0" sz="1450" spc="-30">
                <a:latin typeface="Trebuchet MS"/>
                <a:cs typeface="Trebuchet MS"/>
              </a:rPr>
              <a:t>Type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Error</a:t>
            </a:r>
            <a:endParaRPr sz="1450">
              <a:latin typeface="Trebuchet MS"/>
              <a:cs typeface="Trebuchet MS"/>
            </a:endParaRPr>
          </a:p>
          <a:p>
            <a:pPr marL="443865" indent="-194310">
              <a:lnSpc>
                <a:spcPts val="1725"/>
              </a:lnSpc>
              <a:buAutoNum type="arabicPeriod"/>
              <a:tabLst>
                <a:tab pos="443865" algn="l"/>
              </a:tabLst>
            </a:pPr>
            <a:r>
              <a:rPr dirty="0" sz="1450" spc="-30">
                <a:latin typeface="Trebuchet MS"/>
                <a:cs typeface="Trebuchet MS"/>
              </a:rPr>
              <a:t>Type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II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Error</a:t>
            </a:r>
            <a:endParaRPr sz="1450">
              <a:latin typeface="Trebuchet MS"/>
              <a:cs typeface="Trebuchet MS"/>
            </a:endParaRPr>
          </a:p>
          <a:p>
            <a:pPr marL="443865" indent="-194310">
              <a:lnSpc>
                <a:spcPts val="1730"/>
              </a:lnSpc>
              <a:buAutoNum type="arabicPeriod"/>
              <a:tabLst>
                <a:tab pos="443865" algn="l"/>
              </a:tabLst>
            </a:pPr>
            <a:r>
              <a:rPr dirty="0" sz="1450" spc="-30">
                <a:latin typeface="Trebuchet MS"/>
                <a:cs typeface="Trebuchet MS"/>
              </a:rPr>
              <a:t>Correct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Inference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523999" y="2247899"/>
          <a:ext cx="5676900" cy="1012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2025"/>
                <a:gridCol w="2676525"/>
                <a:gridCol w="1962150"/>
              </a:tblGrid>
              <a:tr h="342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450" spc="-40" b="1">
                          <a:latin typeface="Trebuchet MS"/>
                          <a:cs typeface="Trebuchet MS"/>
                        </a:rPr>
                        <a:t>Researcher</a:t>
                      </a:r>
                      <a:r>
                        <a:rPr dirty="0" sz="1450" spc="-7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b="1">
                          <a:latin typeface="Trebuchet MS"/>
                          <a:cs typeface="Trebuchet MS"/>
                        </a:rPr>
                        <a:t>Does</a:t>
                      </a:r>
                      <a:r>
                        <a:rPr dirty="0" sz="1450" spc="-7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 b="1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dirty="0" sz="1450" spc="-7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60" b="1">
                          <a:latin typeface="Trebuchet MS"/>
                          <a:cs typeface="Trebuchet MS"/>
                        </a:rPr>
                        <a:t>Reject</a:t>
                      </a:r>
                      <a:r>
                        <a:rPr dirty="0" sz="1450" spc="-7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25" i="1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baseline="-13227" sz="1575" spc="-37">
                          <a:latin typeface="Tahoma"/>
                          <a:cs typeface="Tahoma"/>
                        </a:rPr>
                        <a:t>0</a:t>
                      </a:r>
                      <a:endParaRPr baseline="-13227" sz="1575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450" spc="-40" b="1">
                          <a:latin typeface="Trebuchet MS"/>
                          <a:cs typeface="Trebuchet MS"/>
                        </a:rPr>
                        <a:t>Researcher</a:t>
                      </a:r>
                      <a:r>
                        <a:rPr dirty="0" sz="1450" spc="-5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45" b="1">
                          <a:latin typeface="Trebuchet MS"/>
                          <a:cs typeface="Trebuchet MS"/>
                        </a:rPr>
                        <a:t>Rejects</a:t>
                      </a:r>
                      <a:r>
                        <a:rPr dirty="0" sz="1450" spc="-5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25" i="1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baseline="-13227" sz="1575" spc="-37">
                          <a:latin typeface="Tahoma"/>
                          <a:cs typeface="Tahoma"/>
                        </a:rPr>
                        <a:t>0</a:t>
                      </a:r>
                      <a:endParaRPr baseline="-13227" sz="1575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algn="ctr" marR="5778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550" i="1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baseline="-13227" sz="1575">
                          <a:latin typeface="Tahoma"/>
                          <a:cs typeface="Tahoma"/>
                        </a:rPr>
                        <a:t>0</a:t>
                      </a:r>
                      <a:r>
                        <a:rPr dirty="0" baseline="-13227" sz="1575" spc="209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dirty="0" sz="145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0">
                          <a:latin typeface="Trebuchet MS"/>
                          <a:cs typeface="Trebuchet MS"/>
                        </a:rPr>
                        <a:t>true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5720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30">
                          <a:latin typeface="Trebuchet MS"/>
                          <a:cs typeface="Trebuchet MS"/>
                        </a:rPr>
                        <a:t>Correct</a:t>
                      </a:r>
                      <a:r>
                        <a:rPr dirty="0" sz="145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Inference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30">
                          <a:latin typeface="Trebuchet MS"/>
                          <a:cs typeface="Trebuchet MS"/>
                        </a:rPr>
                        <a:t>Type</a:t>
                      </a:r>
                      <a:r>
                        <a:rPr dirty="0" sz="145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dirty="0" sz="1450" spc="-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Error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550" i="1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baseline="-13227" sz="1575">
                          <a:latin typeface="Tahoma"/>
                          <a:cs typeface="Tahoma"/>
                        </a:rPr>
                        <a:t>0</a:t>
                      </a:r>
                      <a:r>
                        <a:rPr dirty="0" baseline="-13227" sz="1575" spc="209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dirty="0" sz="145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false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222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30">
                          <a:latin typeface="Trebuchet MS"/>
                          <a:cs typeface="Trebuchet MS"/>
                        </a:rPr>
                        <a:t>Type</a:t>
                      </a:r>
                      <a:r>
                        <a:rPr dirty="0" sz="145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II</a:t>
                      </a:r>
                      <a:r>
                        <a:rPr dirty="0" sz="145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Error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30">
                          <a:latin typeface="Trebuchet MS"/>
                          <a:cs typeface="Trebuchet MS"/>
                        </a:rPr>
                        <a:t>Correct</a:t>
                      </a:r>
                      <a:r>
                        <a:rPr dirty="0" sz="145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Inference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3" name="object 3" descr=""/>
          <p:cNvSpPr/>
          <p:nvPr/>
        </p:nvSpPr>
        <p:spPr>
          <a:xfrm>
            <a:off x="1504949" y="3286124"/>
            <a:ext cx="5638800" cy="9525"/>
          </a:xfrm>
          <a:custGeom>
            <a:avLst/>
            <a:gdLst/>
            <a:ahLst/>
            <a:cxnLst/>
            <a:rect l="l" t="t" r="r" b="b"/>
            <a:pathLst>
              <a:path w="5638800" h="9525">
                <a:moveTo>
                  <a:pt x="5638799" y="9524"/>
                </a:moveTo>
                <a:lnTo>
                  <a:pt x="0" y="9524"/>
                </a:lnTo>
                <a:lnTo>
                  <a:pt x="0" y="0"/>
                </a:lnTo>
                <a:lnTo>
                  <a:pt x="5638799" y="0"/>
                </a:lnTo>
                <a:lnTo>
                  <a:pt x="5638799" y="95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90"/>
              <a:t>Type</a:t>
            </a:r>
            <a:r>
              <a:rPr dirty="0" spc="-145"/>
              <a:t> </a:t>
            </a:r>
            <a:r>
              <a:rPr dirty="0" spc="-105"/>
              <a:t>of</a:t>
            </a:r>
            <a:r>
              <a:rPr dirty="0" spc="-140"/>
              <a:t> </a:t>
            </a:r>
            <a:r>
              <a:rPr dirty="0" spc="-80"/>
              <a:t>Errors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71524" y="15239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19335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58800" y="795019"/>
            <a:ext cx="6993255" cy="127381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researcher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makes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inference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using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statistical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60">
                <a:latin typeface="Trebuchet MS"/>
                <a:cs typeface="Trebuchet MS"/>
              </a:rPr>
              <a:t>test,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there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two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types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 </a:t>
            </a:r>
            <a:r>
              <a:rPr dirty="0" sz="1450">
                <a:latin typeface="Trebuchet MS"/>
                <a:cs typeface="Trebuchet MS"/>
              </a:rPr>
              <a:t>errors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researcher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could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make:</a:t>
            </a:r>
            <a:endParaRPr sz="1450">
              <a:latin typeface="Trebuchet MS"/>
              <a:cs typeface="Trebuchet MS"/>
            </a:endParaRPr>
          </a:p>
          <a:p>
            <a:pPr marL="393065" marR="5591810">
              <a:lnSpc>
                <a:spcPts val="3229"/>
              </a:lnSpc>
              <a:spcBef>
                <a:spcPts val="15"/>
              </a:spcBef>
            </a:pPr>
            <a:r>
              <a:rPr dirty="0" sz="1450" spc="-30">
                <a:latin typeface="Trebuchet MS"/>
                <a:cs typeface="Trebuchet MS"/>
              </a:rPr>
              <a:t>Type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Error </a:t>
            </a:r>
            <a:r>
              <a:rPr dirty="0" sz="1450" spc="-30">
                <a:latin typeface="Trebuchet MS"/>
                <a:cs typeface="Trebuchet MS"/>
              </a:rPr>
              <a:t>Type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II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Error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58800" y="5188406"/>
            <a:ext cx="3591560" cy="2451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 sz="1450" spc="-60" b="1">
                <a:latin typeface="Trebuchet MS"/>
                <a:cs typeface="Trebuchet MS"/>
              </a:rPr>
              <a:t>Inference:</a:t>
            </a:r>
            <a:r>
              <a:rPr dirty="0" sz="1450" spc="10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does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COVID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44983" y="5597981"/>
            <a:ext cx="1638935" cy="6832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30"/>
              </a:lnSpc>
            </a:pPr>
            <a:r>
              <a:rPr dirty="0" sz="1450" spc="-85">
                <a:latin typeface="Trebuchet MS"/>
                <a:cs typeface="Trebuchet MS"/>
              </a:rPr>
              <a:t>1.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Type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Error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25"/>
              </a:lnSpc>
            </a:pPr>
            <a:r>
              <a:rPr dirty="0" sz="1450" spc="-85">
                <a:latin typeface="Trebuchet MS"/>
                <a:cs typeface="Trebuchet MS"/>
              </a:rPr>
              <a:t>2.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Type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II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Error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30"/>
              </a:lnSpc>
            </a:pPr>
            <a:r>
              <a:rPr dirty="0" sz="1450" spc="-85">
                <a:latin typeface="Trebuchet MS"/>
                <a:cs typeface="Trebuchet MS"/>
              </a:rPr>
              <a:t>3.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Correct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Inference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75"/>
              <a:t>29</a:t>
            </a:fld>
            <a:r>
              <a:rPr dirty="0" spc="-55"/>
              <a:t> </a:t>
            </a:r>
            <a:r>
              <a:rPr dirty="0" spc="-50"/>
              <a:t>/ </a:t>
            </a:r>
            <a:r>
              <a:rPr dirty="0" spc="-35"/>
              <a:t>36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20700" y="3509644"/>
            <a:ext cx="3111500" cy="15119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 sz="1450" spc="-100" b="1">
                <a:latin typeface="Gill Sans MT"/>
                <a:cs typeface="Gill Sans MT"/>
              </a:rPr>
              <a:t>Scenario</a:t>
            </a:r>
            <a:r>
              <a:rPr dirty="0" sz="1450" spc="-40" b="1">
                <a:latin typeface="Gill Sans MT"/>
                <a:cs typeface="Gill Sans MT"/>
              </a:rPr>
              <a:t> </a:t>
            </a:r>
            <a:r>
              <a:rPr dirty="0" sz="1450" spc="-50" b="1">
                <a:latin typeface="Gill Sans MT"/>
                <a:cs typeface="Gill Sans MT"/>
              </a:rPr>
              <a:t>2</a:t>
            </a:r>
            <a:endParaRPr sz="14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450">
              <a:latin typeface="Gill Sans MT"/>
              <a:cs typeface="Gill Sans MT"/>
            </a:endParaRPr>
          </a:p>
          <a:p>
            <a:pPr marL="50800">
              <a:lnSpc>
                <a:spcPct val="100000"/>
              </a:lnSpc>
            </a:pPr>
            <a:r>
              <a:rPr dirty="0" sz="1450" spc="-85" b="1">
                <a:latin typeface="Trebuchet MS"/>
                <a:cs typeface="Trebuchet MS"/>
              </a:rPr>
              <a:t>Truth:</a:t>
            </a:r>
            <a:r>
              <a:rPr dirty="0" sz="1450" spc="25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has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COVID</a:t>
            </a:r>
            <a:endParaRPr sz="145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1310"/>
              </a:spcBef>
            </a:pPr>
            <a:r>
              <a:rPr dirty="0" sz="1550" spc="-60" i="1">
                <a:latin typeface="Verdana"/>
                <a:cs typeface="Verdana"/>
              </a:rPr>
              <a:t>H</a:t>
            </a:r>
            <a:r>
              <a:rPr dirty="0" baseline="-13227" sz="1575" spc="-89">
                <a:latin typeface="Tahoma"/>
                <a:cs typeface="Tahoma"/>
              </a:rPr>
              <a:t>0</a:t>
            </a:r>
            <a:r>
              <a:rPr dirty="0" sz="1450" spc="-60">
                <a:latin typeface="Trebuchet MS"/>
                <a:cs typeface="Trebuchet MS"/>
              </a:rPr>
              <a:t>: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does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COVID</a:t>
            </a:r>
            <a:endParaRPr sz="145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1390"/>
              </a:spcBef>
            </a:pPr>
            <a:r>
              <a:rPr dirty="0" sz="1450" spc="-20" b="1">
                <a:latin typeface="Trebuchet MS"/>
                <a:cs typeface="Trebuchet MS"/>
              </a:rPr>
              <a:t>Data</a:t>
            </a:r>
            <a:r>
              <a:rPr dirty="0" sz="1450" spc="-100" b="1">
                <a:latin typeface="Trebuchet MS"/>
                <a:cs typeface="Trebuchet MS"/>
              </a:rPr>
              <a:t> </a:t>
            </a:r>
            <a:r>
              <a:rPr dirty="0" sz="1450" spc="-200" b="1">
                <a:latin typeface="Trebuchet MS"/>
                <a:cs typeface="Trebuchet MS"/>
              </a:rPr>
              <a:t>: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PRC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negative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523999" y="2247899"/>
          <a:ext cx="5676900" cy="1012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2025"/>
                <a:gridCol w="2676525"/>
                <a:gridCol w="1962150"/>
              </a:tblGrid>
              <a:tr h="342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450" spc="-40" b="1">
                          <a:latin typeface="Trebuchet MS"/>
                          <a:cs typeface="Trebuchet MS"/>
                        </a:rPr>
                        <a:t>Researcher</a:t>
                      </a:r>
                      <a:r>
                        <a:rPr dirty="0" sz="1450" spc="-7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b="1">
                          <a:latin typeface="Trebuchet MS"/>
                          <a:cs typeface="Trebuchet MS"/>
                        </a:rPr>
                        <a:t>Does</a:t>
                      </a:r>
                      <a:r>
                        <a:rPr dirty="0" sz="1450" spc="-7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 b="1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dirty="0" sz="1450" spc="-7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60" b="1">
                          <a:latin typeface="Trebuchet MS"/>
                          <a:cs typeface="Trebuchet MS"/>
                        </a:rPr>
                        <a:t>Reject</a:t>
                      </a:r>
                      <a:r>
                        <a:rPr dirty="0" sz="1450" spc="-7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25" i="1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baseline="-13227" sz="1575" spc="-37">
                          <a:latin typeface="Tahoma"/>
                          <a:cs typeface="Tahoma"/>
                        </a:rPr>
                        <a:t>0</a:t>
                      </a:r>
                      <a:endParaRPr baseline="-13227" sz="1575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450" spc="-40" b="1">
                          <a:latin typeface="Trebuchet MS"/>
                          <a:cs typeface="Trebuchet MS"/>
                        </a:rPr>
                        <a:t>Researcher</a:t>
                      </a:r>
                      <a:r>
                        <a:rPr dirty="0" sz="1450" spc="-5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45" b="1">
                          <a:latin typeface="Trebuchet MS"/>
                          <a:cs typeface="Trebuchet MS"/>
                        </a:rPr>
                        <a:t>Rejects</a:t>
                      </a:r>
                      <a:r>
                        <a:rPr dirty="0" sz="1450" spc="-5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25" i="1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baseline="-13227" sz="1575" spc="-37">
                          <a:latin typeface="Tahoma"/>
                          <a:cs typeface="Tahoma"/>
                        </a:rPr>
                        <a:t>0</a:t>
                      </a:r>
                      <a:endParaRPr baseline="-13227" sz="1575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algn="ctr" marR="5778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550" i="1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baseline="-13227" sz="1575">
                          <a:latin typeface="Tahoma"/>
                          <a:cs typeface="Tahoma"/>
                        </a:rPr>
                        <a:t>0</a:t>
                      </a:r>
                      <a:r>
                        <a:rPr dirty="0" baseline="-13227" sz="1575" spc="209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dirty="0" sz="145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0">
                          <a:latin typeface="Trebuchet MS"/>
                          <a:cs typeface="Trebuchet MS"/>
                        </a:rPr>
                        <a:t>true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5720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30">
                          <a:latin typeface="Trebuchet MS"/>
                          <a:cs typeface="Trebuchet MS"/>
                        </a:rPr>
                        <a:t>Correct</a:t>
                      </a:r>
                      <a:r>
                        <a:rPr dirty="0" sz="145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Inference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30">
                          <a:latin typeface="Trebuchet MS"/>
                          <a:cs typeface="Trebuchet MS"/>
                        </a:rPr>
                        <a:t>Type</a:t>
                      </a:r>
                      <a:r>
                        <a:rPr dirty="0" sz="145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dirty="0" sz="1450" spc="-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Error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550" i="1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baseline="-13227" sz="1575">
                          <a:latin typeface="Tahoma"/>
                          <a:cs typeface="Tahoma"/>
                        </a:rPr>
                        <a:t>0</a:t>
                      </a:r>
                      <a:r>
                        <a:rPr dirty="0" baseline="-13227" sz="1575" spc="209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dirty="0" sz="145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false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222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30">
                          <a:latin typeface="Trebuchet MS"/>
                          <a:cs typeface="Trebuchet MS"/>
                        </a:rPr>
                        <a:t>Type</a:t>
                      </a:r>
                      <a:r>
                        <a:rPr dirty="0" sz="145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II</a:t>
                      </a:r>
                      <a:r>
                        <a:rPr dirty="0" sz="145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Error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30">
                          <a:latin typeface="Trebuchet MS"/>
                          <a:cs typeface="Trebuchet MS"/>
                        </a:rPr>
                        <a:t>Correct</a:t>
                      </a:r>
                      <a:r>
                        <a:rPr dirty="0" sz="145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Inference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3" name="object 3" descr=""/>
          <p:cNvSpPr/>
          <p:nvPr/>
        </p:nvSpPr>
        <p:spPr>
          <a:xfrm>
            <a:off x="1504949" y="3286124"/>
            <a:ext cx="5638800" cy="9525"/>
          </a:xfrm>
          <a:custGeom>
            <a:avLst/>
            <a:gdLst/>
            <a:ahLst/>
            <a:cxnLst/>
            <a:rect l="l" t="t" r="r" b="b"/>
            <a:pathLst>
              <a:path w="5638800" h="9525">
                <a:moveTo>
                  <a:pt x="5638799" y="9524"/>
                </a:moveTo>
                <a:lnTo>
                  <a:pt x="0" y="9524"/>
                </a:lnTo>
                <a:lnTo>
                  <a:pt x="0" y="0"/>
                </a:lnTo>
                <a:lnTo>
                  <a:pt x="5638799" y="0"/>
                </a:lnTo>
                <a:lnTo>
                  <a:pt x="5638799" y="95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90"/>
              <a:t>Type</a:t>
            </a:r>
            <a:r>
              <a:rPr dirty="0" spc="-145"/>
              <a:t> </a:t>
            </a:r>
            <a:r>
              <a:rPr dirty="0" spc="-105"/>
              <a:t>of</a:t>
            </a:r>
            <a:r>
              <a:rPr dirty="0" spc="-140"/>
              <a:t> </a:t>
            </a:r>
            <a:r>
              <a:rPr dirty="0" spc="-80"/>
              <a:t>Errors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71524" y="15239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19335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58800" y="795019"/>
            <a:ext cx="6993255" cy="127381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researcher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makes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inference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using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statistical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60">
                <a:latin typeface="Trebuchet MS"/>
                <a:cs typeface="Trebuchet MS"/>
              </a:rPr>
              <a:t>test,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there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two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types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 </a:t>
            </a:r>
            <a:r>
              <a:rPr dirty="0" sz="1450">
                <a:latin typeface="Trebuchet MS"/>
                <a:cs typeface="Trebuchet MS"/>
              </a:rPr>
              <a:t>errors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researcher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could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make:</a:t>
            </a:r>
            <a:endParaRPr sz="1450">
              <a:latin typeface="Trebuchet MS"/>
              <a:cs typeface="Trebuchet MS"/>
            </a:endParaRPr>
          </a:p>
          <a:p>
            <a:pPr marL="393065" marR="5591810">
              <a:lnSpc>
                <a:spcPts val="3229"/>
              </a:lnSpc>
              <a:spcBef>
                <a:spcPts val="15"/>
              </a:spcBef>
            </a:pPr>
            <a:r>
              <a:rPr dirty="0" sz="1450" spc="-30">
                <a:latin typeface="Trebuchet MS"/>
                <a:cs typeface="Trebuchet MS"/>
              </a:rPr>
              <a:t>Type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Error </a:t>
            </a:r>
            <a:r>
              <a:rPr dirty="0" sz="1450" spc="-30">
                <a:latin typeface="Trebuchet MS"/>
                <a:cs typeface="Trebuchet MS"/>
              </a:rPr>
              <a:t>Type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II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Error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131919" y="6228353"/>
            <a:ext cx="339090" cy="15748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850" spc="-35">
                <a:latin typeface="Trebuchet MS"/>
                <a:cs typeface="Trebuchet MS"/>
              </a:rPr>
              <a:t>30</a:t>
            </a:r>
            <a:r>
              <a:rPr dirty="0" sz="850" spc="-55">
                <a:latin typeface="Trebuchet MS"/>
                <a:cs typeface="Trebuchet MS"/>
              </a:rPr>
              <a:t> </a:t>
            </a:r>
            <a:r>
              <a:rPr dirty="0" sz="850" spc="-50">
                <a:latin typeface="Trebuchet MS"/>
                <a:cs typeface="Trebuchet MS"/>
              </a:rPr>
              <a:t>/ </a:t>
            </a:r>
            <a:r>
              <a:rPr dirty="0" sz="850" spc="-25">
                <a:latin typeface="Trebuchet MS"/>
                <a:cs typeface="Trebuchet MS"/>
              </a:rPr>
              <a:t>36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08000" y="3509644"/>
            <a:ext cx="3364865" cy="27597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</a:pPr>
            <a:r>
              <a:rPr dirty="0" sz="1450" spc="-100" b="1">
                <a:latin typeface="Gill Sans MT"/>
                <a:cs typeface="Gill Sans MT"/>
              </a:rPr>
              <a:t>Scenario</a:t>
            </a:r>
            <a:r>
              <a:rPr dirty="0" sz="1450" spc="-40" b="1">
                <a:latin typeface="Gill Sans MT"/>
                <a:cs typeface="Gill Sans MT"/>
              </a:rPr>
              <a:t> </a:t>
            </a:r>
            <a:r>
              <a:rPr dirty="0" sz="1450" spc="-50" b="1">
                <a:latin typeface="Gill Sans MT"/>
                <a:cs typeface="Gill Sans MT"/>
              </a:rPr>
              <a:t>3</a:t>
            </a:r>
            <a:endParaRPr sz="1450">
              <a:latin typeface="Gill Sans MT"/>
              <a:cs typeface="Gill Sans MT"/>
            </a:endParaRPr>
          </a:p>
          <a:p>
            <a:pPr marL="63500" marR="55880">
              <a:lnSpc>
                <a:spcPct val="177000"/>
              </a:lnSpc>
              <a:spcBef>
                <a:spcPts val="595"/>
              </a:spcBef>
            </a:pPr>
            <a:r>
              <a:rPr dirty="0" sz="1450" spc="-85" b="1">
                <a:latin typeface="Trebuchet MS"/>
                <a:cs typeface="Trebuchet MS"/>
              </a:rPr>
              <a:t>Truth:</a:t>
            </a:r>
            <a:r>
              <a:rPr dirty="0" sz="1450" spc="15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does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COVID </a:t>
            </a:r>
            <a:r>
              <a:rPr dirty="0" sz="1550" spc="-60" i="1">
                <a:latin typeface="Verdana"/>
                <a:cs typeface="Verdana"/>
              </a:rPr>
              <a:t>H</a:t>
            </a:r>
            <a:r>
              <a:rPr dirty="0" baseline="-13227" sz="1575" spc="-89">
                <a:latin typeface="Tahoma"/>
                <a:cs typeface="Tahoma"/>
              </a:rPr>
              <a:t>0</a:t>
            </a:r>
            <a:r>
              <a:rPr dirty="0" sz="1450" spc="-60">
                <a:latin typeface="Trebuchet MS"/>
                <a:cs typeface="Trebuchet MS"/>
              </a:rPr>
              <a:t>: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does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COVID </a:t>
            </a:r>
            <a:r>
              <a:rPr dirty="0" sz="1450" spc="-20" b="1">
                <a:latin typeface="Trebuchet MS"/>
                <a:cs typeface="Trebuchet MS"/>
              </a:rPr>
              <a:t>Data</a:t>
            </a:r>
            <a:r>
              <a:rPr dirty="0" sz="1450" spc="-100" b="1">
                <a:latin typeface="Trebuchet MS"/>
                <a:cs typeface="Trebuchet MS"/>
              </a:rPr>
              <a:t> </a:t>
            </a:r>
            <a:r>
              <a:rPr dirty="0" sz="1450" spc="-200" b="1">
                <a:latin typeface="Trebuchet MS"/>
                <a:cs typeface="Trebuchet MS"/>
              </a:rPr>
              <a:t>: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PRC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positive </a:t>
            </a:r>
            <a:r>
              <a:rPr dirty="0" sz="1450" spc="-60" b="1">
                <a:latin typeface="Trebuchet MS"/>
                <a:cs typeface="Trebuchet MS"/>
              </a:rPr>
              <a:t>Inference:</a:t>
            </a:r>
            <a:r>
              <a:rPr dirty="0" sz="1450" spc="15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does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COVID</a:t>
            </a:r>
            <a:endParaRPr sz="1450">
              <a:latin typeface="Trebuchet MS"/>
              <a:cs typeface="Trebuchet MS"/>
            </a:endParaRPr>
          </a:p>
          <a:p>
            <a:pPr marL="443865" indent="-194310">
              <a:lnSpc>
                <a:spcPts val="1735"/>
              </a:lnSpc>
              <a:spcBef>
                <a:spcPts val="1485"/>
              </a:spcBef>
              <a:buAutoNum type="arabicPeriod"/>
              <a:tabLst>
                <a:tab pos="443865" algn="l"/>
              </a:tabLst>
            </a:pPr>
            <a:r>
              <a:rPr dirty="0" sz="1450" spc="-30">
                <a:latin typeface="Trebuchet MS"/>
                <a:cs typeface="Trebuchet MS"/>
              </a:rPr>
              <a:t>Type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Error</a:t>
            </a:r>
            <a:endParaRPr sz="1450">
              <a:latin typeface="Trebuchet MS"/>
              <a:cs typeface="Trebuchet MS"/>
            </a:endParaRPr>
          </a:p>
          <a:p>
            <a:pPr marL="443865" indent="-194310">
              <a:lnSpc>
                <a:spcPts val="1725"/>
              </a:lnSpc>
              <a:buAutoNum type="arabicPeriod"/>
              <a:tabLst>
                <a:tab pos="443865" algn="l"/>
              </a:tabLst>
            </a:pPr>
            <a:r>
              <a:rPr dirty="0" sz="1450" spc="-30">
                <a:latin typeface="Trebuchet MS"/>
                <a:cs typeface="Trebuchet MS"/>
              </a:rPr>
              <a:t>Type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II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Error</a:t>
            </a:r>
            <a:endParaRPr sz="1450">
              <a:latin typeface="Trebuchet MS"/>
              <a:cs typeface="Trebuchet MS"/>
            </a:endParaRPr>
          </a:p>
          <a:p>
            <a:pPr marL="443865" indent="-194310">
              <a:lnSpc>
                <a:spcPts val="1730"/>
              </a:lnSpc>
              <a:buAutoNum type="arabicPeriod"/>
              <a:tabLst>
                <a:tab pos="443865" algn="l"/>
              </a:tabLst>
            </a:pPr>
            <a:r>
              <a:rPr dirty="0" sz="1450" spc="-30">
                <a:latin typeface="Trebuchet MS"/>
                <a:cs typeface="Trebuchet MS"/>
              </a:rPr>
              <a:t>Correct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Inference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523999" y="2247899"/>
          <a:ext cx="5676900" cy="1012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2025"/>
                <a:gridCol w="2676525"/>
                <a:gridCol w="1962150"/>
              </a:tblGrid>
              <a:tr h="342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450" spc="-40" b="1">
                          <a:latin typeface="Trebuchet MS"/>
                          <a:cs typeface="Trebuchet MS"/>
                        </a:rPr>
                        <a:t>Researcher</a:t>
                      </a:r>
                      <a:r>
                        <a:rPr dirty="0" sz="1450" spc="-7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b="1">
                          <a:latin typeface="Trebuchet MS"/>
                          <a:cs typeface="Trebuchet MS"/>
                        </a:rPr>
                        <a:t>Does</a:t>
                      </a:r>
                      <a:r>
                        <a:rPr dirty="0" sz="1450" spc="-7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 b="1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dirty="0" sz="1450" spc="-7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60" b="1">
                          <a:latin typeface="Trebuchet MS"/>
                          <a:cs typeface="Trebuchet MS"/>
                        </a:rPr>
                        <a:t>Reject</a:t>
                      </a:r>
                      <a:r>
                        <a:rPr dirty="0" sz="1450" spc="-7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25" i="1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baseline="-13227" sz="1575" spc="-37">
                          <a:latin typeface="Tahoma"/>
                          <a:cs typeface="Tahoma"/>
                        </a:rPr>
                        <a:t>0</a:t>
                      </a:r>
                      <a:endParaRPr baseline="-13227" sz="1575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450" spc="-40" b="1">
                          <a:latin typeface="Trebuchet MS"/>
                          <a:cs typeface="Trebuchet MS"/>
                        </a:rPr>
                        <a:t>Researcher</a:t>
                      </a:r>
                      <a:r>
                        <a:rPr dirty="0" sz="1450" spc="-5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45" b="1">
                          <a:latin typeface="Trebuchet MS"/>
                          <a:cs typeface="Trebuchet MS"/>
                        </a:rPr>
                        <a:t>Rejects</a:t>
                      </a:r>
                      <a:r>
                        <a:rPr dirty="0" sz="1450" spc="-5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25" i="1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baseline="-13227" sz="1575" spc="-37">
                          <a:latin typeface="Tahoma"/>
                          <a:cs typeface="Tahoma"/>
                        </a:rPr>
                        <a:t>0</a:t>
                      </a:r>
                      <a:endParaRPr baseline="-13227" sz="1575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algn="ctr" marR="5778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550" i="1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baseline="-13227" sz="1575">
                          <a:latin typeface="Tahoma"/>
                          <a:cs typeface="Tahoma"/>
                        </a:rPr>
                        <a:t>0</a:t>
                      </a:r>
                      <a:r>
                        <a:rPr dirty="0" baseline="-13227" sz="1575" spc="209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dirty="0" sz="145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0">
                          <a:latin typeface="Trebuchet MS"/>
                          <a:cs typeface="Trebuchet MS"/>
                        </a:rPr>
                        <a:t>true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5720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30">
                          <a:latin typeface="Trebuchet MS"/>
                          <a:cs typeface="Trebuchet MS"/>
                        </a:rPr>
                        <a:t>Correct</a:t>
                      </a:r>
                      <a:r>
                        <a:rPr dirty="0" sz="145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Inference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30">
                          <a:latin typeface="Trebuchet MS"/>
                          <a:cs typeface="Trebuchet MS"/>
                        </a:rPr>
                        <a:t>Type</a:t>
                      </a:r>
                      <a:r>
                        <a:rPr dirty="0" sz="145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dirty="0" sz="1450" spc="-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Error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550" i="1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baseline="-13227" sz="1575">
                          <a:latin typeface="Tahoma"/>
                          <a:cs typeface="Tahoma"/>
                        </a:rPr>
                        <a:t>0</a:t>
                      </a:r>
                      <a:r>
                        <a:rPr dirty="0" baseline="-13227" sz="1575" spc="209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dirty="0" sz="145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false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222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30">
                          <a:latin typeface="Trebuchet MS"/>
                          <a:cs typeface="Trebuchet MS"/>
                        </a:rPr>
                        <a:t>Type</a:t>
                      </a:r>
                      <a:r>
                        <a:rPr dirty="0" sz="145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II</a:t>
                      </a:r>
                      <a:r>
                        <a:rPr dirty="0" sz="145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Error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30">
                          <a:latin typeface="Trebuchet MS"/>
                          <a:cs typeface="Trebuchet MS"/>
                        </a:rPr>
                        <a:t>Correct</a:t>
                      </a:r>
                      <a:r>
                        <a:rPr dirty="0" sz="145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>
                          <a:latin typeface="Trebuchet MS"/>
                          <a:cs typeface="Trebuchet MS"/>
                        </a:rPr>
                        <a:t>Inference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3" name="object 3" descr=""/>
          <p:cNvSpPr/>
          <p:nvPr/>
        </p:nvSpPr>
        <p:spPr>
          <a:xfrm>
            <a:off x="1504949" y="3286124"/>
            <a:ext cx="5638800" cy="9525"/>
          </a:xfrm>
          <a:custGeom>
            <a:avLst/>
            <a:gdLst/>
            <a:ahLst/>
            <a:cxnLst/>
            <a:rect l="l" t="t" r="r" b="b"/>
            <a:pathLst>
              <a:path w="5638800" h="9525">
                <a:moveTo>
                  <a:pt x="5638799" y="9524"/>
                </a:moveTo>
                <a:lnTo>
                  <a:pt x="0" y="9524"/>
                </a:lnTo>
                <a:lnTo>
                  <a:pt x="0" y="0"/>
                </a:lnTo>
                <a:lnTo>
                  <a:pt x="5638799" y="0"/>
                </a:lnTo>
                <a:lnTo>
                  <a:pt x="5638799" y="95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90"/>
              <a:t>Type</a:t>
            </a:r>
            <a:r>
              <a:rPr dirty="0" spc="-145"/>
              <a:t> </a:t>
            </a:r>
            <a:r>
              <a:rPr dirty="0" spc="-105"/>
              <a:t>of</a:t>
            </a:r>
            <a:r>
              <a:rPr dirty="0" spc="-140"/>
              <a:t> </a:t>
            </a:r>
            <a:r>
              <a:rPr dirty="0" spc="-80"/>
              <a:t>Errors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771524" y="15239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19335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58800" y="795019"/>
            <a:ext cx="6993255" cy="127381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researcher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makes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inference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using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statistical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60">
                <a:latin typeface="Trebuchet MS"/>
                <a:cs typeface="Trebuchet MS"/>
              </a:rPr>
              <a:t>test,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there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two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types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 </a:t>
            </a:r>
            <a:r>
              <a:rPr dirty="0" sz="1450">
                <a:latin typeface="Trebuchet MS"/>
                <a:cs typeface="Trebuchet MS"/>
              </a:rPr>
              <a:t>errors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researcher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could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make:</a:t>
            </a:r>
            <a:endParaRPr sz="1450">
              <a:latin typeface="Trebuchet MS"/>
              <a:cs typeface="Trebuchet MS"/>
            </a:endParaRPr>
          </a:p>
          <a:p>
            <a:pPr marL="393065" marR="5591810">
              <a:lnSpc>
                <a:spcPts val="3229"/>
              </a:lnSpc>
              <a:spcBef>
                <a:spcPts val="15"/>
              </a:spcBef>
            </a:pPr>
            <a:r>
              <a:rPr dirty="0" sz="1450" spc="-30">
                <a:latin typeface="Trebuchet MS"/>
                <a:cs typeface="Trebuchet MS"/>
              </a:rPr>
              <a:t>Type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Error </a:t>
            </a:r>
            <a:r>
              <a:rPr dirty="0" sz="1450" spc="-30">
                <a:latin typeface="Trebuchet MS"/>
                <a:cs typeface="Trebuchet MS"/>
              </a:rPr>
              <a:t>Type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II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Error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36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36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08000" y="3509644"/>
            <a:ext cx="3693160" cy="27597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</a:pPr>
            <a:r>
              <a:rPr dirty="0" sz="1450" spc="-100" b="1">
                <a:latin typeface="Gill Sans MT"/>
                <a:cs typeface="Gill Sans MT"/>
              </a:rPr>
              <a:t>Scenario</a:t>
            </a:r>
            <a:r>
              <a:rPr dirty="0" sz="1450" spc="-40" b="1">
                <a:latin typeface="Gill Sans MT"/>
                <a:cs typeface="Gill Sans MT"/>
              </a:rPr>
              <a:t> </a:t>
            </a:r>
            <a:r>
              <a:rPr dirty="0" sz="1450" spc="-50" b="1">
                <a:latin typeface="Gill Sans MT"/>
                <a:cs typeface="Gill Sans MT"/>
              </a:rPr>
              <a:t>4</a:t>
            </a:r>
            <a:endParaRPr sz="1450">
              <a:latin typeface="Gill Sans MT"/>
              <a:cs typeface="Gill Sans MT"/>
            </a:endParaRPr>
          </a:p>
          <a:p>
            <a:pPr marL="63500" marR="390525">
              <a:lnSpc>
                <a:spcPct val="175000"/>
              </a:lnSpc>
              <a:spcBef>
                <a:spcPts val="630"/>
              </a:spcBef>
            </a:pPr>
            <a:r>
              <a:rPr dirty="0" sz="1450" spc="-85" b="1">
                <a:latin typeface="Trebuchet MS"/>
                <a:cs typeface="Trebuchet MS"/>
              </a:rPr>
              <a:t>Truth:</a:t>
            </a:r>
            <a:r>
              <a:rPr dirty="0" sz="1450" spc="15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does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COVID </a:t>
            </a:r>
            <a:r>
              <a:rPr dirty="0" sz="1550" spc="-60" i="1">
                <a:latin typeface="Verdana"/>
                <a:cs typeface="Verdana"/>
              </a:rPr>
              <a:t>H</a:t>
            </a:r>
            <a:r>
              <a:rPr dirty="0" baseline="-13227" sz="1575" spc="-89">
                <a:latin typeface="Tahoma"/>
                <a:cs typeface="Tahoma"/>
              </a:rPr>
              <a:t>0</a:t>
            </a:r>
            <a:r>
              <a:rPr dirty="0" sz="1450" spc="-60">
                <a:latin typeface="Trebuchet MS"/>
                <a:cs typeface="Trebuchet MS"/>
              </a:rPr>
              <a:t>: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does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COVID </a:t>
            </a:r>
            <a:r>
              <a:rPr dirty="0" sz="1450" spc="-20" b="1">
                <a:latin typeface="Trebuchet MS"/>
                <a:cs typeface="Trebuchet MS"/>
              </a:rPr>
              <a:t>Data</a:t>
            </a:r>
            <a:r>
              <a:rPr dirty="0" sz="1450" spc="-100" b="1">
                <a:latin typeface="Trebuchet MS"/>
                <a:cs typeface="Trebuchet MS"/>
              </a:rPr>
              <a:t> </a:t>
            </a:r>
            <a:r>
              <a:rPr dirty="0" sz="1450" spc="-200" b="1">
                <a:latin typeface="Trebuchet MS"/>
                <a:cs typeface="Trebuchet MS"/>
              </a:rPr>
              <a:t>: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PRC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negative</a:t>
            </a:r>
            <a:endParaRPr sz="1450">
              <a:latin typeface="Trebuchet MS"/>
              <a:cs typeface="Trebuchet MS"/>
            </a:endParaRPr>
          </a:p>
          <a:p>
            <a:pPr marL="63500">
              <a:lnSpc>
                <a:spcPct val="100000"/>
              </a:lnSpc>
              <a:spcBef>
                <a:spcPts val="1410"/>
              </a:spcBef>
            </a:pPr>
            <a:r>
              <a:rPr dirty="0" sz="1450" spc="-60" b="1">
                <a:latin typeface="Trebuchet MS"/>
                <a:cs typeface="Trebuchet MS"/>
              </a:rPr>
              <a:t>Inference:</a:t>
            </a:r>
            <a:r>
              <a:rPr dirty="0" sz="1450" spc="10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does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COVID</a:t>
            </a:r>
            <a:endParaRPr sz="1450">
              <a:latin typeface="Trebuchet MS"/>
              <a:cs typeface="Trebuchet MS"/>
            </a:endParaRPr>
          </a:p>
          <a:p>
            <a:pPr marL="443865" indent="-194310">
              <a:lnSpc>
                <a:spcPts val="1735"/>
              </a:lnSpc>
              <a:spcBef>
                <a:spcPts val="1485"/>
              </a:spcBef>
              <a:buAutoNum type="arabicPeriod"/>
              <a:tabLst>
                <a:tab pos="443865" algn="l"/>
              </a:tabLst>
            </a:pPr>
            <a:r>
              <a:rPr dirty="0" sz="1450" spc="-30">
                <a:latin typeface="Trebuchet MS"/>
                <a:cs typeface="Trebuchet MS"/>
              </a:rPr>
              <a:t>Type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Error</a:t>
            </a:r>
            <a:endParaRPr sz="1450">
              <a:latin typeface="Trebuchet MS"/>
              <a:cs typeface="Trebuchet MS"/>
            </a:endParaRPr>
          </a:p>
          <a:p>
            <a:pPr marL="443865" indent="-194310">
              <a:lnSpc>
                <a:spcPts val="1725"/>
              </a:lnSpc>
              <a:buAutoNum type="arabicPeriod"/>
              <a:tabLst>
                <a:tab pos="443865" algn="l"/>
              </a:tabLst>
            </a:pPr>
            <a:r>
              <a:rPr dirty="0" sz="1450" spc="-30">
                <a:latin typeface="Trebuchet MS"/>
                <a:cs typeface="Trebuchet MS"/>
              </a:rPr>
              <a:t>Type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II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Error</a:t>
            </a:r>
            <a:endParaRPr sz="1450">
              <a:latin typeface="Trebuchet MS"/>
              <a:cs typeface="Trebuchet MS"/>
            </a:endParaRPr>
          </a:p>
          <a:p>
            <a:pPr marL="443865" indent="-194310">
              <a:lnSpc>
                <a:spcPts val="1730"/>
              </a:lnSpc>
              <a:buAutoNum type="arabicPeriod"/>
              <a:tabLst>
                <a:tab pos="443865" algn="l"/>
              </a:tabLst>
            </a:pPr>
            <a:r>
              <a:rPr dirty="0" sz="1450" spc="-30">
                <a:latin typeface="Trebuchet MS"/>
                <a:cs typeface="Trebuchet MS"/>
              </a:rPr>
              <a:t>Correct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Inference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85"/>
              <a:t>Understanding</a:t>
            </a:r>
            <a:r>
              <a:rPr dirty="0" spc="-125"/>
              <a:t> </a:t>
            </a:r>
            <a:r>
              <a:rPr dirty="0" spc="-114"/>
              <a:t>the</a:t>
            </a:r>
            <a:r>
              <a:rPr dirty="0" spc="-125"/>
              <a:t> </a:t>
            </a:r>
            <a:r>
              <a:rPr dirty="0" spc="-110"/>
              <a:t>Significance</a:t>
            </a:r>
            <a:r>
              <a:rPr dirty="0" spc="-125"/>
              <a:t> </a:t>
            </a:r>
            <a:r>
              <a:rPr dirty="0" spc="-140"/>
              <a:t>Level</a:t>
            </a:r>
            <a:r>
              <a:rPr dirty="0" spc="-120"/>
              <a:t> </a:t>
            </a:r>
            <a:r>
              <a:rPr dirty="0" spc="-25"/>
              <a:t>(</a:t>
            </a:r>
            <a:r>
              <a:rPr dirty="0" sz="2050" spc="-25" i="1">
                <a:latin typeface="Arial"/>
                <a:cs typeface="Arial"/>
              </a:rPr>
              <a:t>α</a:t>
            </a:r>
            <a:r>
              <a:rPr dirty="0" spc="-25"/>
              <a:t>)</a:t>
            </a:r>
            <a:endParaRPr sz="205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771524" y="19335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1524" y="23336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31337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1524" y="39719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4376737"/>
            <a:ext cx="66675" cy="6667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4776787"/>
            <a:ext cx="66675" cy="6667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20700" y="781596"/>
            <a:ext cx="7556500" cy="413766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50800" marR="977900">
              <a:lnSpc>
                <a:spcPts val="1730"/>
              </a:lnSpc>
              <a:spcBef>
                <a:spcPts val="260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550" spc="-55" i="1">
                <a:latin typeface="Verdana"/>
                <a:cs typeface="Verdana"/>
              </a:rPr>
              <a:t>α</a:t>
            </a:r>
            <a:r>
              <a:rPr dirty="0" sz="1550" spc="-135" i="1">
                <a:latin typeface="Verdana"/>
                <a:cs typeface="Verdana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level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threshold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decide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whether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reject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null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hypothesis. </a:t>
            </a:r>
            <a:r>
              <a:rPr dirty="0" sz="1450" spc="-55">
                <a:latin typeface="Trebuchet MS"/>
                <a:cs typeface="Trebuchet MS"/>
              </a:rPr>
              <a:t>It’s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also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called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significance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level</a:t>
            </a:r>
            <a:r>
              <a:rPr dirty="0" sz="1450" spc="-1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1350"/>
              </a:spcBef>
            </a:pP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hypothesis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testing:</a:t>
            </a:r>
            <a:endParaRPr sz="1450">
              <a:latin typeface="Trebuchet MS"/>
              <a:cs typeface="Trebuchet MS"/>
            </a:endParaRPr>
          </a:p>
          <a:p>
            <a:pPr marL="431165">
              <a:lnSpc>
                <a:spcPct val="100000"/>
              </a:lnSpc>
              <a:spcBef>
                <a:spcPts val="1385"/>
              </a:spcBef>
            </a:pP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p-value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&lt;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550" spc="-130" i="1">
                <a:latin typeface="Verdana"/>
                <a:cs typeface="Verdana"/>
              </a:rPr>
              <a:t>α</a:t>
            </a:r>
            <a:r>
              <a:rPr dirty="0" sz="1450" spc="-130">
                <a:latin typeface="Trebuchet MS"/>
                <a:cs typeface="Trebuchet MS"/>
              </a:rPr>
              <a:t>,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75" b="1">
                <a:latin typeface="Trebuchet MS"/>
                <a:cs typeface="Trebuchet MS"/>
              </a:rPr>
              <a:t>reject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H</a:t>
            </a:r>
            <a:r>
              <a:rPr dirty="0" baseline="-7936" sz="1575" spc="-37">
                <a:latin typeface="Tahoma"/>
                <a:cs typeface="Tahoma"/>
              </a:rPr>
              <a:t>0</a:t>
            </a:r>
            <a:r>
              <a:rPr dirty="0" sz="1450" spc="-25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431165">
              <a:lnSpc>
                <a:spcPct val="100000"/>
              </a:lnSpc>
              <a:spcBef>
                <a:spcPts val="1290"/>
              </a:spcBef>
            </a:pP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p-value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Arial"/>
                <a:cs typeface="Arial"/>
              </a:rPr>
              <a:t>≥</a:t>
            </a:r>
            <a:r>
              <a:rPr dirty="0" sz="1450" spc="-15">
                <a:latin typeface="Arial"/>
                <a:cs typeface="Arial"/>
              </a:rPr>
              <a:t> </a:t>
            </a:r>
            <a:r>
              <a:rPr dirty="0" sz="1550" spc="-130" i="1">
                <a:latin typeface="Verdana"/>
                <a:cs typeface="Verdana"/>
              </a:rPr>
              <a:t>α</a:t>
            </a:r>
            <a:r>
              <a:rPr dirty="0" sz="1450" spc="-130">
                <a:latin typeface="Trebuchet MS"/>
                <a:cs typeface="Trebuchet MS"/>
              </a:rPr>
              <a:t>,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do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not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75" b="1">
                <a:latin typeface="Trebuchet MS"/>
                <a:cs typeface="Trebuchet MS"/>
              </a:rPr>
              <a:t>reject</a:t>
            </a:r>
            <a:r>
              <a:rPr dirty="0" sz="1450" spc="-45" b="1">
                <a:latin typeface="Trebuchet MS"/>
                <a:cs typeface="Trebuchet MS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H</a:t>
            </a:r>
            <a:r>
              <a:rPr dirty="0" baseline="-13227" sz="1575" spc="-37">
                <a:latin typeface="Tahoma"/>
                <a:cs typeface="Tahoma"/>
              </a:rPr>
              <a:t>0</a:t>
            </a:r>
            <a:r>
              <a:rPr dirty="0" sz="1450" spc="-25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1290"/>
              </a:spcBef>
            </a:pPr>
            <a:r>
              <a:rPr dirty="0" sz="1450" spc="-35" b="1">
                <a:latin typeface="Trebuchet MS"/>
                <a:cs typeface="Trebuchet MS"/>
              </a:rPr>
              <a:t>How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to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interpret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550" spc="-50" i="1">
                <a:latin typeface="Verdana"/>
                <a:cs typeface="Verdana"/>
              </a:rPr>
              <a:t>α</a:t>
            </a:r>
            <a:endParaRPr sz="1550">
              <a:latin typeface="Verdana"/>
              <a:cs typeface="Verdana"/>
            </a:endParaRPr>
          </a:p>
          <a:p>
            <a:pPr marL="431165" marR="43180">
              <a:lnSpc>
                <a:spcPts val="1720"/>
              </a:lnSpc>
              <a:spcBef>
                <a:spcPts val="1465"/>
              </a:spcBef>
            </a:pP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 probability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 observing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our sample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statistic</a:t>
            </a:r>
            <a:r>
              <a:rPr dirty="0" sz="1450">
                <a:latin typeface="Trebuchet MS"/>
                <a:cs typeface="Trebuchet MS"/>
              </a:rPr>
              <a:t> (or something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more </a:t>
            </a:r>
            <a:r>
              <a:rPr dirty="0" sz="1450" spc="-30">
                <a:latin typeface="Trebuchet MS"/>
                <a:cs typeface="Trebuchet MS"/>
              </a:rPr>
              <a:t>extreme)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is </a:t>
            </a:r>
            <a:r>
              <a:rPr dirty="0" sz="1450">
                <a:latin typeface="Trebuchet MS"/>
                <a:cs typeface="Trebuchet MS"/>
              </a:rPr>
              <a:t>less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0.05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10">
                <a:latin typeface="Trebuchet MS"/>
                <a:cs typeface="Trebuchet MS"/>
              </a:rPr>
              <a:t>0.01,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consider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unlikely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under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3227" sz="1575">
                <a:latin typeface="Tahoma"/>
                <a:cs typeface="Tahoma"/>
              </a:rPr>
              <a:t>0</a:t>
            </a:r>
            <a:r>
              <a:rPr dirty="0" baseline="-13227" sz="1575" spc="240">
                <a:latin typeface="Tahoma"/>
                <a:cs typeface="Tahoma"/>
              </a:rPr>
              <a:t> </a:t>
            </a:r>
            <a:r>
              <a:rPr dirty="0" sz="1450">
                <a:latin typeface="Arial"/>
                <a:cs typeface="Arial"/>
              </a:rPr>
              <a:t>→</a:t>
            </a:r>
            <a:r>
              <a:rPr dirty="0" sz="1450" spc="5">
                <a:latin typeface="Arial"/>
                <a:cs typeface="Arial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sufficient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evidence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reject </a:t>
            </a:r>
            <a:r>
              <a:rPr dirty="0" sz="1550" spc="-25" i="1">
                <a:latin typeface="Verdana"/>
                <a:cs typeface="Verdana"/>
              </a:rPr>
              <a:t>H</a:t>
            </a:r>
            <a:r>
              <a:rPr dirty="0" baseline="-13227" sz="1575" spc="-37">
                <a:latin typeface="Tahoma"/>
                <a:cs typeface="Tahoma"/>
              </a:rPr>
              <a:t>0</a:t>
            </a:r>
            <a:r>
              <a:rPr dirty="0" sz="1450" spc="-25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431165">
              <a:lnSpc>
                <a:spcPct val="100000"/>
              </a:lnSpc>
              <a:spcBef>
                <a:spcPts val="1365"/>
              </a:spcBef>
            </a:pPr>
            <a:r>
              <a:rPr dirty="0" sz="1450">
                <a:latin typeface="Trebuchet MS"/>
                <a:cs typeface="Trebuchet MS"/>
              </a:rPr>
              <a:t>Common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conventional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choices:</a:t>
            </a:r>
            <a:endParaRPr sz="1450">
              <a:latin typeface="Trebuchet MS"/>
              <a:cs typeface="Trebuchet MS"/>
            </a:endParaRPr>
          </a:p>
          <a:p>
            <a:pPr marL="812165">
              <a:lnSpc>
                <a:spcPct val="100000"/>
              </a:lnSpc>
              <a:spcBef>
                <a:spcPts val="1385"/>
              </a:spcBef>
            </a:pPr>
            <a:r>
              <a:rPr dirty="0" sz="1550" spc="-55" i="1">
                <a:latin typeface="Verdana"/>
                <a:cs typeface="Verdana"/>
              </a:rPr>
              <a:t>α</a:t>
            </a:r>
            <a:r>
              <a:rPr dirty="0" sz="1550" spc="-140" i="1">
                <a:latin typeface="Verdana"/>
                <a:cs typeface="Verdan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60">
                <a:latin typeface="Tahoma"/>
                <a:cs typeface="Tahoma"/>
              </a:rPr>
              <a:t> </a:t>
            </a:r>
            <a:r>
              <a:rPr dirty="0" sz="1500" spc="-90">
                <a:latin typeface="Tahoma"/>
                <a:cs typeface="Tahoma"/>
              </a:rPr>
              <a:t>0.05</a:t>
            </a:r>
            <a:r>
              <a:rPr dirty="0" sz="1500" spc="-80">
                <a:latin typeface="Tahoma"/>
                <a:cs typeface="Tahoma"/>
              </a:rPr>
              <a:t> </a:t>
            </a:r>
            <a:r>
              <a:rPr dirty="0" sz="1450">
                <a:latin typeface="Arial"/>
                <a:cs typeface="Arial"/>
              </a:rPr>
              <a:t>→</a:t>
            </a:r>
            <a:r>
              <a:rPr dirty="0" sz="1450" spc="-20">
                <a:latin typeface="Arial"/>
                <a:cs typeface="Arial"/>
              </a:rPr>
              <a:t> </a:t>
            </a:r>
            <a:r>
              <a:rPr dirty="0" sz="1450" spc="114">
                <a:latin typeface="Trebuchet MS"/>
                <a:cs typeface="Trebuchet MS"/>
              </a:rPr>
              <a:t>5%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chance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Type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error</a:t>
            </a:r>
            <a:endParaRPr sz="1450">
              <a:latin typeface="Trebuchet MS"/>
              <a:cs typeface="Trebuchet MS"/>
            </a:endParaRPr>
          </a:p>
          <a:p>
            <a:pPr marL="812165">
              <a:lnSpc>
                <a:spcPct val="100000"/>
              </a:lnSpc>
              <a:spcBef>
                <a:spcPts val="1290"/>
              </a:spcBef>
            </a:pPr>
            <a:r>
              <a:rPr dirty="0" sz="1550" spc="-55" i="1">
                <a:latin typeface="Verdana"/>
                <a:cs typeface="Verdana"/>
              </a:rPr>
              <a:t>α</a:t>
            </a:r>
            <a:r>
              <a:rPr dirty="0" sz="1550" spc="-140" i="1">
                <a:latin typeface="Verdana"/>
                <a:cs typeface="Verdan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60">
                <a:latin typeface="Tahoma"/>
                <a:cs typeface="Tahoma"/>
              </a:rPr>
              <a:t> </a:t>
            </a:r>
            <a:r>
              <a:rPr dirty="0" sz="1500" spc="-90">
                <a:latin typeface="Tahoma"/>
                <a:cs typeface="Tahoma"/>
              </a:rPr>
              <a:t>0.01</a:t>
            </a:r>
            <a:r>
              <a:rPr dirty="0" sz="1500" spc="-80">
                <a:latin typeface="Tahoma"/>
                <a:cs typeface="Tahoma"/>
              </a:rPr>
              <a:t> </a:t>
            </a:r>
            <a:r>
              <a:rPr dirty="0" sz="1450">
                <a:latin typeface="Arial"/>
                <a:cs typeface="Arial"/>
              </a:rPr>
              <a:t>→</a:t>
            </a:r>
            <a:r>
              <a:rPr dirty="0" sz="1450" spc="-15">
                <a:latin typeface="Arial"/>
                <a:cs typeface="Arial"/>
              </a:rPr>
              <a:t> </a:t>
            </a:r>
            <a:r>
              <a:rPr dirty="0" sz="1450" spc="80">
                <a:latin typeface="Trebuchet MS"/>
                <a:cs typeface="Trebuchet MS"/>
              </a:rPr>
              <a:t>1%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chance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Type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error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36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33499" y="2247899"/>
            <a:ext cx="47625" cy="438150"/>
          </a:xfrm>
          <a:custGeom>
            <a:avLst/>
            <a:gdLst/>
            <a:ahLst/>
            <a:cxnLst/>
            <a:rect l="l" t="t" r="r" b="b"/>
            <a:pathLst>
              <a:path w="47625" h="438150">
                <a:moveTo>
                  <a:pt x="47624" y="438149"/>
                </a:moveTo>
                <a:lnTo>
                  <a:pt x="0" y="438149"/>
                </a:lnTo>
                <a:lnTo>
                  <a:pt x="0" y="0"/>
                </a:lnTo>
                <a:lnTo>
                  <a:pt x="47624" y="0"/>
                </a:lnTo>
                <a:lnTo>
                  <a:pt x="47624" y="438149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71524" y="17144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1524" y="33527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37623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95300" y="381546"/>
            <a:ext cx="7562215" cy="45732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dirty="0" sz="1450" spc="-55" b="1">
                <a:latin typeface="Trebuchet MS"/>
                <a:cs typeface="Trebuchet MS"/>
              </a:rPr>
              <a:t>Why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550" spc="-55" i="1">
                <a:latin typeface="Verdana"/>
                <a:cs typeface="Verdana"/>
              </a:rPr>
              <a:t>α</a:t>
            </a:r>
            <a:r>
              <a:rPr dirty="0" sz="1550" spc="-195" i="1">
                <a:latin typeface="Verdana"/>
                <a:cs typeface="Verdana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matters</a:t>
            </a:r>
            <a:endParaRPr sz="1450">
              <a:latin typeface="Trebuchet MS"/>
              <a:cs typeface="Trebuchet MS"/>
            </a:endParaRPr>
          </a:p>
          <a:p>
            <a:pPr marL="456565">
              <a:lnSpc>
                <a:spcPct val="100000"/>
              </a:lnSpc>
              <a:spcBef>
                <a:spcPts val="1290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lower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550" spc="-130" i="1">
                <a:latin typeface="Verdana"/>
                <a:cs typeface="Verdana"/>
              </a:rPr>
              <a:t>α</a:t>
            </a:r>
            <a:r>
              <a:rPr dirty="0" sz="1450" spc="-130">
                <a:latin typeface="Trebuchet MS"/>
                <a:cs typeface="Trebuchet MS"/>
              </a:rPr>
              <a:t>,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stricter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rejecting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H</a:t>
            </a:r>
            <a:r>
              <a:rPr dirty="0" baseline="-13227" sz="1575" spc="-37">
                <a:latin typeface="Tahoma"/>
                <a:cs typeface="Tahoma"/>
              </a:rPr>
              <a:t>0</a:t>
            </a:r>
            <a:r>
              <a:rPr dirty="0" sz="1450" spc="-25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456565">
              <a:lnSpc>
                <a:spcPct val="100000"/>
              </a:lnSpc>
              <a:spcBef>
                <a:spcPts val="1465"/>
              </a:spcBef>
            </a:pPr>
            <a:r>
              <a:rPr dirty="0" sz="1450">
                <a:latin typeface="Arial"/>
                <a:cs typeface="Arial"/>
              </a:rPr>
              <a:t>→</a:t>
            </a:r>
            <a:r>
              <a:rPr dirty="0" sz="1450" spc="-35">
                <a:latin typeface="Arial"/>
                <a:cs typeface="Arial"/>
              </a:rPr>
              <a:t> </a:t>
            </a:r>
            <a:r>
              <a:rPr dirty="0" sz="1450" spc="-35">
                <a:latin typeface="Trebuchet MS"/>
                <a:cs typeface="Trebuchet MS"/>
              </a:rPr>
              <a:t>Fewer</a:t>
            </a:r>
            <a:r>
              <a:rPr dirty="0" sz="1450" spc="-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false</a:t>
            </a:r>
            <a:r>
              <a:rPr dirty="0" sz="1450" spc="-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positives,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but</a:t>
            </a:r>
            <a:r>
              <a:rPr dirty="0" sz="1450" spc="-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harder</a:t>
            </a:r>
            <a:r>
              <a:rPr dirty="0" sz="1450" spc="-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7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detect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true</a:t>
            </a:r>
            <a:r>
              <a:rPr dirty="0" sz="1450" spc="-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effects</a:t>
            </a:r>
            <a:endParaRPr sz="1450">
              <a:latin typeface="Trebuchet MS"/>
              <a:cs typeface="Trebuchet MS"/>
            </a:endParaRPr>
          </a:p>
          <a:p>
            <a:pPr marL="456565" marR="2321560">
              <a:lnSpc>
                <a:spcPts val="1730"/>
              </a:lnSpc>
              <a:spcBef>
                <a:spcPts val="1475"/>
              </a:spcBef>
            </a:pPr>
            <a:r>
              <a:rPr dirty="0" sz="1550" spc="-55" i="1">
                <a:latin typeface="Verdana"/>
                <a:cs typeface="Verdana"/>
              </a:rPr>
              <a:t>α</a:t>
            </a:r>
            <a:r>
              <a:rPr dirty="0" sz="1550" spc="-160" i="1">
                <a:latin typeface="Verdana"/>
                <a:cs typeface="Verdana"/>
              </a:rPr>
              <a:t> </a:t>
            </a:r>
            <a:r>
              <a:rPr dirty="0" sz="1450">
                <a:latin typeface="Trebuchet MS"/>
                <a:cs typeface="Trebuchet MS"/>
              </a:rPr>
              <a:t>represents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Type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error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40">
                <a:latin typeface="Trebuchet MS"/>
                <a:cs typeface="Trebuchet MS"/>
              </a:rPr>
              <a:t>rate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75">
                <a:latin typeface="Trebuchet MS"/>
                <a:cs typeface="Trebuchet MS"/>
              </a:rPr>
              <a:t>we’re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willing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tolerate.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other </a:t>
            </a:r>
            <a:r>
              <a:rPr dirty="0" sz="1450" spc="-10">
                <a:latin typeface="Trebuchet MS"/>
                <a:cs typeface="Trebuchet MS"/>
              </a:rPr>
              <a:t>words:</a:t>
            </a:r>
            <a:endParaRPr sz="1450">
              <a:latin typeface="Trebuchet MS"/>
              <a:cs typeface="Trebuchet MS"/>
            </a:endParaRPr>
          </a:p>
          <a:p>
            <a:pPr marL="1068070" marR="633730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comfortable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being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wrong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reject </a:t>
            </a: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3227" sz="1575">
                <a:latin typeface="Tahoma"/>
                <a:cs typeface="Tahoma"/>
              </a:rPr>
              <a:t>0</a:t>
            </a:r>
            <a:r>
              <a:rPr dirty="0" baseline="-13227" sz="1575" spc="195">
                <a:latin typeface="Tahoma"/>
                <a:cs typeface="Tahoma"/>
              </a:rPr>
              <a:t> </a:t>
            </a:r>
            <a:r>
              <a:rPr dirty="0" sz="1450" spc="-35">
                <a:latin typeface="Trebuchet MS"/>
                <a:cs typeface="Trebuchet MS"/>
              </a:rPr>
              <a:t>that’s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actually true?</a:t>
            </a:r>
            <a:endParaRPr sz="1450">
              <a:latin typeface="Trebuchet MS"/>
              <a:cs typeface="Trebuchet MS"/>
            </a:endParaRPr>
          </a:p>
          <a:p>
            <a:pPr marL="76200">
              <a:lnSpc>
                <a:spcPct val="100000"/>
              </a:lnSpc>
              <a:spcBef>
                <a:spcPts val="1350"/>
              </a:spcBef>
            </a:pPr>
            <a:r>
              <a:rPr dirty="0" sz="1450" spc="-10" b="1">
                <a:latin typeface="Trebuchet MS"/>
                <a:cs typeface="Trebuchet MS"/>
              </a:rPr>
              <a:t>Ongoing</a:t>
            </a:r>
            <a:r>
              <a:rPr dirty="0" sz="1450" spc="-4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debate</a:t>
            </a:r>
            <a:endParaRPr sz="1450">
              <a:latin typeface="Trebuchet MS"/>
              <a:cs typeface="Trebuchet MS"/>
            </a:endParaRPr>
          </a:p>
          <a:p>
            <a:pPr marL="456565">
              <a:lnSpc>
                <a:spcPct val="100000"/>
              </a:lnSpc>
              <a:spcBef>
                <a:spcPts val="1310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choice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550" spc="-55" i="1">
                <a:latin typeface="Verdana"/>
                <a:cs typeface="Verdana"/>
              </a:rPr>
              <a:t>α</a:t>
            </a:r>
            <a:r>
              <a:rPr dirty="0" sz="1550" spc="-140" i="1">
                <a:latin typeface="Verdana"/>
                <a:cs typeface="Verdana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conventional,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not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absolute.</a:t>
            </a:r>
            <a:endParaRPr sz="1450">
              <a:latin typeface="Trebuchet MS"/>
              <a:cs typeface="Trebuchet MS"/>
            </a:endParaRPr>
          </a:p>
          <a:p>
            <a:pPr marL="456565">
              <a:lnSpc>
                <a:spcPts val="1730"/>
              </a:lnSpc>
              <a:spcBef>
                <a:spcPts val="1465"/>
              </a:spcBef>
            </a:pPr>
            <a:r>
              <a:rPr dirty="0" sz="1450" spc="-40">
                <a:latin typeface="Trebuchet MS"/>
                <a:cs typeface="Trebuchet MS"/>
              </a:rPr>
              <a:t>There’s</a:t>
            </a:r>
            <a:r>
              <a:rPr dirty="0" sz="1450" spc="-20">
                <a:latin typeface="Trebuchet MS"/>
                <a:cs typeface="Trebuchet MS"/>
              </a:rPr>
              <a:t> active </a:t>
            </a:r>
            <a:r>
              <a:rPr dirty="0" sz="1450">
                <a:latin typeface="Trebuchet MS"/>
                <a:cs typeface="Trebuchet MS"/>
              </a:rPr>
              <a:t>debate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scientific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community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about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whether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rigid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thresholds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(like</a:t>
            </a:r>
            <a:endParaRPr sz="1450">
              <a:latin typeface="Trebuchet MS"/>
              <a:cs typeface="Trebuchet MS"/>
            </a:endParaRPr>
          </a:p>
          <a:p>
            <a:pPr marL="456565">
              <a:lnSpc>
                <a:spcPts val="1735"/>
              </a:lnSpc>
            </a:pPr>
            <a:r>
              <a:rPr dirty="0" sz="1450" spc="-80">
                <a:latin typeface="Trebuchet MS"/>
                <a:cs typeface="Trebuchet MS"/>
              </a:rPr>
              <a:t>.05)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should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still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used.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For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35">
                <a:latin typeface="Trebuchet MS"/>
                <a:cs typeface="Trebuchet MS"/>
              </a:rPr>
              <a:t>more,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see:</a:t>
            </a:r>
            <a:endParaRPr sz="1450">
              <a:latin typeface="Trebuchet MS"/>
              <a:cs typeface="Trebuchet MS"/>
            </a:endParaRPr>
          </a:p>
          <a:p>
            <a:pPr marL="456565" marR="248920">
              <a:lnSpc>
                <a:spcPts val="1730"/>
              </a:lnSpc>
              <a:spcBef>
                <a:spcPts val="1475"/>
              </a:spcBef>
            </a:pPr>
            <a:r>
              <a:rPr dirty="0" sz="1450" spc="-25" b="1">
                <a:latin typeface="Trebuchet MS"/>
                <a:cs typeface="Trebuchet MS"/>
              </a:rPr>
              <a:t>Wasserstein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60" b="1">
                <a:latin typeface="Trebuchet MS"/>
                <a:cs typeface="Trebuchet MS"/>
              </a:rPr>
              <a:t>&amp;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Lazar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95" b="1">
                <a:latin typeface="Trebuchet MS"/>
                <a:cs typeface="Trebuchet MS"/>
              </a:rPr>
              <a:t>(2016)</a:t>
            </a:r>
            <a:r>
              <a:rPr dirty="0" sz="1450" spc="-25" b="1">
                <a:latin typeface="Trebuchet MS"/>
                <a:cs typeface="Trebuchet MS"/>
              </a:rPr>
              <a:t> </a:t>
            </a:r>
            <a:r>
              <a:rPr dirty="0" sz="1450" spc="70">
                <a:latin typeface="Trebuchet MS"/>
                <a:cs typeface="Trebuchet MS"/>
              </a:rPr>
              <a:t>—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90" i="1">
                <a:latin typeface="Lucida Sans"/>
                <a:cs typeface="Lucida Sans"/>
              </a:rPr>
              <a:t>The</a:t>
            </a:r>
            <a:r>
              <a:rPr dirty="0" sz="1450" spc="-65" i="1">
                <a:latin typeface="Lucida Sans"/>
                <a:cs typeface="Lucida Sans"/>
              </a:rPr>
              <a:t> </a:t>
            </a:r>
            <a:r>
              <a:rPr dirty="0" sz="1450" spc="-145" i="1">
                <a:latin typeface="Lucida Sans"/>
                <a:cs typeface="Lucida Sans"/>
              </a:rPr>
              <a:t>ASA</a:t>
            </a:r>
            <a:r>
              <a:rPr dirty="0" sz="1450" spc="-65" i="1">
                <a:latin typeface="Lucida Sans"/>
                <a:cs typeface="Lucida Sans"/>
              </a:rPr>
              <a:t> Statement</a:t>
            </a:r>
            <a:r>
              <a:rPr dirty="0" sz="1450" spc="-60" i="1">
                <a:latin typeface="Lucida Sans"/>
                <a:cs typeface="Lucida Sans"/>
              </a:rPr>
              <a:t> </a:t>
            </a:r>
            <a:r>
              <a:rPr dirty="0" sz="1450" spc="-40" i="1">
                <a:latin typeface="Lucida Sans"/>
                <a:cs typeface="Lucida Sans"/>
              </a:rPr>
              <a:t>on</a:t>
            </a:r>
            <a:r>
              <a:rPr dirty="0" sz="1450" spc="-65" i="1">
                <a:latin typeface="Lucida Sans"/>
                <a:cs typeface="Lucida Sans"/>
              </a:rPr>
              <a:t> </a:t>
            </a:r>
            <a:r>
              <a:rPr dirty="0" sz="1450" i="1">
                <a:latin typeface="Lucida Sans"/>
                <a:cs typeface="Lucida Sans"/>
              </a:rPr>
              <a:t>p-</a:t>
            </a:r>
            <a:r>
              <a:rPr dirty="0" sz="1450" spc="-90" i="1">
                <a:latin typeface="Lucida Sans"/>
                <a:cs typeface="Lucida Sans"/>
              </a:rPr>
              <a:t>Values:</a:t>
            </a:r>
            <a:r>
              <a:rPr dirty="0" sz="1450" spc="-60" i="1">
                <a:latin typeface="Lucida Sans"/>
                <a:cs typeface="Lucida Sans"/>
              </a:rPr>
              <a:t> </a:t>
            </a:r>
            <a:r>
              <a:rPr dirty="0" sz="1450" spc="-85" i="1">
                <a:latin typeface="Lucida Sans"/>
                <a:cs typeface="Lucida Sans"/>
              </a:rPr>
              <a:t>Context,</a:t>
            </a:r>
            <a:r>
              <a:rPr dirty="0" sz="1450" spc="-65" i="1">
                <a:latin typeface="Lucida Sans"/>
                <a:cs typeface="Lucida Sans"/>
              </a:rPr>
              <a:t> </a:t>
            </a:r>
            <a:r>
              <a:rPr dirty="0" sz="1450" spc="-75" i="1">
                <a:latin typeface="Lucida Sans"/>
                <a:cs typeface="Lucida Sans"/>
              </a:rPr>
              <a:t>Process,</a:t>
            </a:r>
            <a:r>
              <a:rPr dirty="0" sz="1450" spc="-60" i="1">
                <a:latin typeface="Lucida Sans"/>
                <a:cs typeface="Lucida Sans"/>
              </a:rPr>
              <a:t> </a:t>
            </a:r>
            <a:r>
              <a:rPr dirty="0" sz="1450" spc="-25" i="1">
                <a:latin typeface="Lucida Sans"/>
                <a:cs typeface="Lucida Sans"/>
              </a:rPr>
              <a:t>and</a:t>
            </a:r>
            <a:r>
              <a:rPr dirty="0" sz="1450" spc="-25" i="1">
                <a:latin typeface="Lucida Sans"/>
                <a:cs typeface="Lucida San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Purpose.</a:t>
            </a:r>
            <a:endParaRPr sz="1450">
              <a:latin typeface="Lucida Sans"/>
              <a:cs typeface="Lucida Sans"/>
            </a:endParaRPr>
          </a:p>
          <a:p>
            <a:pPr marL="456565">
              <a:lnSpc>
                <a:spcPts val="1664"/>
              </a:lnSpc>
            </a:pPr>
            <a:r>
              <a:rPr dirty="0" sz="1450" spc="-90" i="1">
                <a:solidFill>
                  <a:srgbClr val="3F97B4"/>
                </a:solidFill>
                <a:latin typeface="Lucida Sans"/>
                <a:cs typeface="Lucida Sans"/>
                <a:hlinkClick r:id="rId2"/>
              </a:rPr>
              <a:t>The</a:t>
            </a:r>
            <a:r>
              <a:rPr dirty="0" sz="1450" spc="-65" i="1">
                <a:solidFill>
                  <a:srgbClr val="3F97B4"/>
                </a:solidFill>
                <a:latin typeface="Lucida Sans"/>
                <a:cs typeface="Lucida Sans"/>
                <a:hlinkClick r:id="rId2"/>
              </a:rPr>
              <a:t> </a:t>
            </a:r>
            <a:r>
              <a:rPr dirty="0" sz="1450" spc="-95" i="1">
                <a:solidFill>
                  <a:srgbClr val="3F97B4"/>
                </a:solidFill>
                <a:latin typeface="Lucida Sans"/>
                <a:cs typeface="Lucida Sans"/>
                <a:hlinkClick r:id="rId2"/>
              </a:rPr>
              <a:t>American</a:t>
            </a:r>
            <a:r>
              <a:rPr dirty="0" sz="1450" spc="-65" i="1">
                <a:solidFill>
                  <a:srgbClr val="3F97B4"/>
                </a:solidFill>
                <a:latin typeface="Lucida Sans"/>
                <a:cs typeface="Lucida Sans"/>
                <a:hlinkClick r:id="rId2"/>
              </a:rPr>
              <a:t> Statistician</a:t>
            </a:r>
            <a:r>
              <a:rPr dirty="0" sz="1450" spc="-65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,</a:t>
            </a:r>
            <a:r>
              <a:rPr dirty="0" sz="1450" spc="-30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450" spc="-85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70(2),</a:t>
            </a:r>
            <a:r>
              <a:rPr dirty="0" sz="1450" spc="-35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450" spc="-10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129–133.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36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8800" y="206375"/>
            <a:ext cx="4636135" cy="4254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80"/>
              <a:t>One-</a:t>
            </a:r>
            <a:r>
              <a:rPr dirty="0" spc="-105"/>
              <a:t>tailed</a:t>
            </a:r>
            <a:r>
              <a:rPr dirty="0" spc="-140"/>
              <a:t> </a:t>
            </a:r>
            <a:r>
              <a:rPr dirty="0" spc="-114"/>
              <a:t>test</a:t>
            </a:r>
            <a:r>
              <a:rPr dirty="0" spc="-140"/>
              <a:t> </a:t>
            </a:r>
            <a:r>
              <a:rPr dirty="0" spc="-165"/>
              <a:t>vs.</a:t>
            </a:r>
            <a:r>
              <a:rPr dirty="0" spc="-140"/>
              <a:t> </a:t>
            </a:r>
            <a:r>
              <a:rPr dirty="0" spc="-170"/>
              <a:t>Two-</a:t>
            </a:r>
            <a:r>
              <a:rPr dirty="0" spc="-105"/>
              <a:t>tailed</a:t>
            </a:r>
            <a:r>
              <a:rPr dirty="0" spc="-140"/>
              <a:t> </a:t>
            </a:r>
            <a:r>
              <a:rPr dirty="0" spc="-50"/>
              <a:t>test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771524" y="4171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1524" y="47910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46100" y="795019"/>
            <a:ext cx="7545705" cy="43503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Trebuchet MS"/>
                <a:cs typeface="Trebuchet MS"/>
              </a:rPr>
              <a:t>Let's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revisit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previous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example.</a:t>
            </a:r>
            <a:endParaRPr sz="1450">
              <a:latin typeface="Trebuchet MS"/>
              <a:cs typeface="Trebuchet MS"/>
            </a:endParaRPr>
          </a:p>
          <a:p>
            <a:pPr marL="25400" marR="17780">
              <a:lnSpc>
                <a:spcPts val="1730"/>
              </a:lnSpc>
              <a:spcBef>
                <a:spcPts val="1475"/>
              </a:spcBef>
            </a:pPr>
            <a:r>
              <a:rPr dirty="0" sz="1450" spc="-20" b="1">
                <a:latin typeface="Trebuchet MS"/>
                <a:cs typeface="Trebuchet MS"/>
              </a:rPr>
              <a:t>Null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hypothesis: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children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least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parent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history</a:t>
            </a:r>
            <a:r>
              <a:rPr dirty="0" sz="1450" spc="5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depression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75">
                <a:latin typeface="Trebuchet MS"/>
                <a:cs typeface="Trebuchet MS"/>
              </a:rPr>
              <a:t>50.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other</a:t>
            </a:r>
            <a:r>
              <a:rPr dirty="0" sz="1450" spc="-20">
                <a:latin typeface="Trebuchet MS"/>
                <a:cs typeface="Trebuchet MS"/>
              </a:rPr>
              <a:t> words, </a:t>
            </a:r>
            <a:r>
              <a:rPr dirty="0" sz="1450">
                <a:latin typeface="Trebuchet MS"/>
                <a:cs typeface="Trebuchet MS"/>
              </a:rPr>
              <a:t>these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children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20">
                <a:latin typeface="Trebuchet MS"/>
                <a:cs typeface="Trebuchet MS"/>
              </a:rPr>
              <a:t> different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level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 </a:t>
            </a:r>
            <a:r>
              <a:rPr dirty="0" sz="1450">
                <a:latin typeface="Trebuchet MS"/>
                <a:cs typeface="Trebuchet MS"/>
              </a:rPr>
              <a:t>behavior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problems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compared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children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parents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having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no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history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 </a:t>
            </a:r>
            <a:r>
              <a:rPr dirty="0" sz="1450" spc="-10">
                <a:latin typeface="Trebuchet MS"/>
                <a:cs typeface="Trebuchet MS"/>
              </a:rPr>
              <a:t>depression.</a:t>
            </a:r>
            <a:endParaRPr sz="1450">
              <a:latin typeface="Trebuchet MS"/>
              <a:cs typeface="Trebuchet MS"/>
            </a:endParaRPr>
          </a:p>
          <a:p>
            <a:pPr algn="ctr" marL="10795">
              <a:lnSpc>
                <a:spcPct val="100000"/>
              </a:lnSpc>
              <a:spcBef>
                <a:spcPts val="1015"/>
              </a:spcBef>
            </a:pP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3227" sz="1575">
                <a:latin typeface="Tahoma"/>
                <a:cs typeface="Tahoma"/>
              </a:rPr>
              <a:t>0</a:t>
            </a:r>
            <a:r>
              <a:rPr dirty="0" baseline="-13227" sz="1575" spc="209">
                <a:latin typeface="Tahoma"/>
                <a:cs typeface="Tahoma"/>
              </a:rPr>
              <a:t> </a:t>
            </a:r>
            <a:r>
              <a:rPr dirty="0" sz="1500" spc="-140">
                <a:latin typeface="Tahoma"/>
                <a:cs typeface="Tahoma"/>
              </a:rPr>
              <a:t>:</a:t>
            </a:r>
            <a:r>
              <a:rPr dirty="0" sz="1500" spc="-70">
                <a:latin typeface="Tahoma"/>
                <a:cs typeface="Tahoma"/>
              </a:rPr>
              <a:t> </a:t>
            </a:r>
            <a:r>
              <a:rPr dirty="0" sz="1550" spc="-135" i="1">
                <a:latin typeface="Verdana"/>
                <a:cs typeface="Verdana"/>
              </a:rPr>
              <a:t>μ</a:t>
            </a:r>
            <a:r>
              <a:rPr dirty="0" sz="1550" spc="-150" i="1">
                <a:latin typeface="Verdana"/>
                <a:cs typeface="Verdan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7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50</a:t>
            </a:r>
            <a:endParaRPr sz="1500">
              <a:latin typeface="Tahoma"/>
              <a:cs typeface="Tahoma"/>
            </a:endParaRPr>
          </a:p>
          <a:p>
            <a:pPr marL="25400" marR="17780">
              <a:lnSpc>
                <a:spcPts val="1720"/>
              </a:lnSpc>
              <a:spcBef>
                <a:spcPts val="1540"/>
              </a:spcBef>
            </a:pPr>
            <a:r>
              <a:rPr dirty="0" sz="1450" spc="-40" b="1">
                <a:latin typeface="Trebuchet MS"/>
                <a:cs typeface="Trebuchet MS"/>
              </a:rPr>
              <a:t>Alternative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hypothesis:</a:t>
            </a:r>
            <a:r>
              <a:rPr dirty="0" sz="1450" spc="-20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children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least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parent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a </a:t>
            </a:r>
            <a:r>
              <a:rPr dirty="0" sz="1450">
                <a:latin typeface="Trebuchet MS"/>
                <a:cs typeface="Trebuchet MS"/>
              </a:rPr>
              <a:t>history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depression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higher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75">
                <a:latin typeface="Trebuchet MS"/>
                <a:cs typeface="Trebuchet MS"/>
              </a:rPr>
              <a:t>50.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other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words,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these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children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show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higher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level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 </a:t>
            </a:r>
            <a:r>
              <a:rPr dirty="0" sz="1450">
                <a:latin typeface="Trebuchet MS"/>
                <a:cs typeface="Trebuchet MS"/>
              </a:rPr>
              <a:t>behavior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problems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compared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children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parents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having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no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history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 </a:t>
            </a:r>
            <a:r>
              <a:rPr dirty="0" sz="1450" spc="-10">
                <a:latin typeface="Trebuchet MS"/>
                <a:cs typeface="Trebuchet MS"/>
              </a:rPr>
              <a:t>depression.</a:t>
            </a:r>
            <a:endParaRPr sz="1450">
              <a:latin typeface="Trebuchet MS"/>
              <a:cs typeface="Trebuchet MS"/>
            </a:endParaRPr>
          </a:p>
          <a:p>
            <a:pPr algn="ctr" marL="10795">
              <a:lnSpc>
                <a:spcPct val="100000"/>
              </a:lnSpc>
              <a:spcBef>
                <a:spcPts val="970"/>
              </a:spcBef>
            </a:pP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5151" sz="1650" i="1">
                <a:latin typeface="Verdana"/>
                <a:cs typeface="Verdana"/>
              </a:rPr>
              <a:t>A</a:t>
            </a:r>
            <a:r>
              <a:rPr dirty="0" baseline="-15151" sz="1650" spc="-22" i="1">
                <a:latin typeface="Verdana"/>
                <a:cs typeface="Verdana"/>
              </a:rPr>
              <a:t> </a:t>
            </a:r>
            <a:r>
              <a:rPr dirty="0" sz="1500" spc="-140">
                <a:latin typeface="Tahoma"/>
                <a:cs typeface="Tahoma"/>
              </a:rPr>
              <a:t>:</a:t>
            </a:r>
            <a:r>
              <a:rPr dirty="0" sz="1500" spc="-70">
                <a:latin typeface="Tahoma"/>
                <a:cs typeface="Tahoma"/>
              </a:rPr>
              <a:t> </a:t>
            </a:r>
            <a:r>
              <a:rPr dirty="0" sz="1550" spc="-135" i="1">
                <a:latin typeface="Verdana"/>
                <a:cs typeface="Verdana"/>
              </a:rPr>
              <a:t>μ</a:t>
            </a:r>
            <a:r>
              <a:rPr dirty="0" sz="1550" spc="-150" i="1">
                <a:latin typeface="Verdana"/>
                <a:cs typeface="Verdana"/>
              </a:rPr>
              <a:t> </a:t>
            </a:r>
            <a:r>
              <a:rPr dirty="0" sz="1500">
                <a:latin typeface="Tahoma"/>
                <a:cs typeface="Tahoma"/>
              </a:rPr>
              <a:t>≥</a:t>
            </a:r>
            <a:r>
              <a:rPr dirty="0" sz="1500" spc="9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50</a:t>
            </a:r>
            <a:endParaRPr sz="1500">
              <a:latin typeface="Tahoma"/>
              <a:cs typeface="Tahoma"/>
            </a:endParaRPr>
          </a:p>
          <a:p>
            <a:pPr marL="405765" marR="888365">
              <a:lnSpc>
                <a:spcPts val="1730"/>
              </a:lnSpc>
              <a:spcBef>
                <a:spcPts val="1530"/>
              </a:spcBef>
            </a:pPr>
            <a:r>
              <a:rPr dirty="0" sz="1450">
                <a:latin typeface="Trebuchet MS"/>
                <a:cs typeface="Trebuchet MS"/>
              </a:rPr>
              <a:t>Notice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our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alternative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hypothesis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specifies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direction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45">
                <a:latin typeface="Trebuchet MS"/>
                <a:cs typeface="Trebuchet MS"/>
              </a:rPr>
              <a:t>(“greater</a:t>
            </a:r>
            <a:r>
              <a:rPr dirty="0" sz="1450" spc="-25">
                <a:latin typeface="Trebuchet MS"/>
                <a:cs typeface="Trebuchet MS"/>
              </a:rPr>
              <a:t> than”). </a:t>
            </a:r>
            <a:r>
              <a:rPr dirty="0" sz="1450" spc="-45">
                <a:latin typeface="Trebuchet MS"/>
                <a:cs typeface="Trebuchet MS"/>
              </a:rPr>
              <a:t>Therefore,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conducted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one-</a:t>
            </a:r>
            <a:r>
              <a:rPr dirty="0" sz="1450" spc="-25" b="1">
                <a:latin typeface="Trebuchet MS"/>
                <a:cs typeface="Trebuchet MS"/>
              </a:rPr>
              <a:t>tailed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test</a:t>
            </a:r>
            <a:r>
              <a:rPr dirty="0" sz="1450" spc="-1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405765" marR="250825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had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no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specific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direction,for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example,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if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simply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wanted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whether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two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groups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70">
                <a:latin typeface="Trebuchet MS"/>
                <a:cs typeface="Trebuchet MS"/>
              </a:rPr>
              <a:t>differ,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 </a:t>
            </a:r>
            <a:r>
              <a:rPr dirty="0" sz="1450">
                <a:latin typeface="Trebuchet MS"/>
                <a:cs typeface="Trebuchet MS"/>
              </a:rPr>
              <a:t>would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two-</a:t>
            </a:r>
            <a:r>
              <a:rPr dirty="0" sz="1450" spc="-25" b="1">
                <a:latin typeface="Trebuchet MS"/>
                <a:cs typeface="Trebuchet MS"/>
              </a:rPr>
              <a:t>tailed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test</a:t>
            </a:r>
            <a:r>
              <a:rPr dirty="0" sz="1450" spc="-5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instead.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36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924049" y="238125"/>
            <a:ext cx="4800600" cy="9525"/>
          </a:xfrm>
          <a:custGeom>
            <a:avLst/>
            <a:gdLst/>
            <a:ahLst/>
            <a:cxnLst/>
            <a:rect l="l" t="t" r="r" b="b"/>
            <a:pathLst>
              <a:path w="4800600" h="9525">
                <a:moveTo>
                  <a:pt x="4800599" y="9524"/>
                </a:moveTo>
                <a:lnTo>
                  <a:pt x="0" y="9524"/>
                </a:lnTo>
                <a:lnTo>
                  <a:pt x="0" y="0"/>
                </a:lnTo>
                <a:lnTo>
                  <a:pt x="4800599" y="0"/>
                </a:lnTo>
                <a:lnTo>
                  <a:pt x="4800599" y="95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933277" y="261937"/>
          <a:ext cx="4858385" cy="1365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225"/>
                <a:gridCol w="2000250"/>
                <a:gridCol w="1362075"/>
              </a:tblGrid>
              <a:tr h="318770"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0" b="1">
                          <a:latin typeface="Trebuchet MS"/>
                          <a:cs typeface="Trebuchet MS"/>
                        </a:rPr>
                        <a:t>Null</a:t>
                      </a:r>
                      <a:r>
                        <a:rPr dirty="0" sz="1450" spc="-75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 b="1">
                          <a:latin typeface="Trebuchet MS"/>
                          <a:cs typeface="Trebuchet MS"/>
                        </a:rPr>
                        <a:t>hypothesis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40" b="1">
                          <a:latin typeface="Trebuchet MS"/>
                          <a:cs typeface="Trebuchet MS"/>
                        </a:rPr>
                        <a:t>Alternative</a:t>
                      </a:r>
                      <a:r>
                        <a:rPr dirty="0" sz="1450" spc="-5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10" b="1">
                          <a:latin typeface="Trebuchet MS"/>
                          <a:cs typeface="Trebuchet MS"/>
                        </a:rPr>
                        <a:t>hypothesis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550" i="1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baseline="-13227" sz="1575">
                          <a:latin typeface="Tahoma"/>
                          <a:cs typeface="Tahoma"/>
                        </a:rPr>
                        <a:t>0</a:t>
                      </a:r>
                      <a:r>
                        <a:rPr dirty="0" baseline="-13227" sz="1575" spc="209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-140">
                          <a:latin typeface="Tahoma"/>
                          <a:cs typeface="Tahoma"/>
                        </a:rPr>
                        <a:t>:</a:t>
                      </a:r>
                      <a:r>
                        <a:rPr dirty="0" sz="1500" spc="-7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-135" i="1">
                          <a:latin typeface="Verdana"/>
                          <a:cs typeface="Verdana"/>
                        </a:rPr>
                        <a:t>μ</a:t>
                      </a:r>
                      <a:r>
                        <a:rPr dirty="0" sz="1550" spc="-150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500" spc="-7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-25">
                          <a:latin typeface="Tahoma"/>
                          <a:cs typeface="Tahoma"/>
                        </a:rPr>
                        <a:t>50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550" i="1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baseline="-12626" sz="1650" i="1">
                          <a:latin typeface="Verdana"/>
                          <a:cs typeface="Verdana"/>
                        </a:rPr>
                        <a:t>A</a:t>
                      </a:r>
                      <a:r>
                        <a:rPr dirty="0" baseline="-12626" sz="1650" spc="157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00" spc="-140">
                          <a:latin typeface="Tahoma"/>
                          <a:cs typeface="Tahoma"/>
                        </a:rPr>
                        <a:t>:</a:t>
                      </a:r>
                      <a:r>
                        <a:rPr dirty="0" sz="1500" spc="-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-135" i="1">
                          <a:latin typeface="Verdana"/>
                          <a:cs typeface="Verdana"/>
                        </a:rPr>
                        <a:t>μ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&lt;</a:t>
                      </a:r>
                      <a:r>
                        <a:rPr dirty="0" sz="1500" spc="-5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-25">
                          <a:latin typeface="Tahoma"/>
                          <a:cs typeface="Tahoma"/>
                        </a:rPr>
                        <a:t>50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45720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>
                          <a:latin typeface="Trebuchet MS"/>
                          <a:cs typeface="Trebuchet MS"/>
                        </a:rPr>
                        <a:t>One-tailed</a:t>
                      </a:r>
                      <a:r>
                        <a:rPr dirty="0" sz="145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0">
                          <a:latin typeface="Trebuchet MS"/>
                          <a:cs typeface="Trebuchet MS"/>
                        </a:rPr>
                        <a:t>test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550" i="1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baseline="-13227" sz="1575">
                          <a:latin typeface="Tahoma"/>
                          <a:cs typeface="Tahoma"/>
                        </a:rPr>
                        <a:t>0</a:t>
                      </a:r>
                      <a:r>
                        <a:rPr dirty="0" baseline="-13227" sz="1575" spc="209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-140">
                          <a:latin typeface="Tahoma"/>
                          <a:cs typeface="Tahoma"/>
                        </a:rPr>
                        <a:t>:</a:t>
                      </a:r>
                      <a:r>
                        <a:rPr dirty="0" sz="1500" spc="-7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-135" i="1">
                          <a:latin typeface="Verdana"/>
                          <a:cs typeface="Verdana"/>
                        </a:rPr>
                        <a:t>μ</a:t>
                      </a:r>
                      <a:r>
                        <a:rPr dirty="0" sz="1550" spc="-150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500" spc="-7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-25">
                          <a:latin typeface="Tahoma"/>
                          <a:cs typeface="Tahoma"/>
                        </a:rPr>
                        <a:t>50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2222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550" i="1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baseline="-15151" sz="1650" i="1">
                          <a:latin typeface="Verdana"/>
                          <a:cs typeface="Verdana"/>
                        </a:rPr>
                        <a:t>A</a:t>
                      </a:r>
                      <a:r>
                        <a:rPr dirty="0" baseline="-15151" sz="1650" spc="-22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00" spc="-140">
                          <a:latin typeface="Tahoma"/>
                          <a:cs typeface="Tahoma"/>
                        </a:rPr>
                        <a:t>:</a:t>
                      </a:r>
                      <a:r>
                        <a:rPr dirty="0" sz="1500" spc="-7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-135" i="1">
                          <a:latin typeface="Verdana"/>
                          <a:cs typeface="Verdana"/>
                        </a:rPr>
                        <a:t>μ</a:t>
                      </a:r>
                      <a:r>
                        <a:rPr dirty="0" sz="1550" spc="-150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&gt;</a:t>
                      </a:r>
                      <a:r>
                        <a:rPr dirty="0" sz="1500" spc="9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-25">
                          <a:latin typeface="Tahoma"/>
                          <a:cs typeface="Tahoma"/>
                        </a:rPr>
                        <a:t>50</a:t>
                      </a:r>
                      <a:endParaRPr sz="1500">
                        <a:latin typeface="Tahoma"/>
                        <a:cs typeface="Tahoma"/>
                      </a:endParaRPr>
                    </a:p>
                  </a:txBody>
                  <a:tcPr marL="0" marR="0" marB="0" marT="2222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>
                          <a:latin typeface="Trebuchet MS"/>
                          <a:cs typeface="Trebuchet MS"/>
                        </a:rPr>
                        <a:t>One-tailed</a:t>
                      </a:r>
                      <a:r>
                        <a:rPr dirty="0" sz="1450" spc="-1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0">
                          <a:latin typeface="Trebuchet MS"/>
                          <a:cs typeface="Trebuchet MS"/>
                        </a:rPr>
                        <a:t>test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solidFill>
                      <a:srgbClr val="EDEDED"/>
                    </a:solidFill>
                  </a:tcPr>
                </a:tc>
              </a:tr>
              <a:tr h="366395">
                <a:tc gridSpan="3"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325"/>
                        </a:spcBef>
                        <a:tabLst>
                          <a:tab pos="1471930" algn="l"/>
                          <a:tab pos="3475354" algn="l"/>
                        </a:tabLst>
                      </a:pPr>
                      <a:r>
                        <a:rPr dirty="0" sz="1550" i="1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baseline="-13227" sz="1575">
                          <a:latin typeface="Tahoma"/>
                          <a:cs typeface="Tahoma"/>
                        </a:rPr>
                        <a:t>0</a:t>
                      </a:r>
                      <a:r>
                        <a:rPr dirty="0" baseline="-13227" sz="1575" spc="209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-140">
                          <a:latin typeface="Tahoma"/>
                          <a:cs typeface="Tahoma"/>
                        </a:rPr>
                        <a:t>:</a:t>
                      </a:r>
                      <a:r>
                        <a:rPr dirty="0" sz="1500" spc="-7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-135" i="1">
                          <a:latin typeface="Verdana"/>
                          <a:cs typeface="Verdana"/>
                        </a:rPr>
                        <a:t>μ</a:t>
                      </a:r>
                      <a:r>
                        <a:rPr dirty="0" sz="1550" spc="-150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500" spc="-7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-25">
                          <a:latin typeface="Tahoma"/>
                          <a:cs typeface="Tahoma"/>
                        </a:rPr>
                        <a:t>50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550" i="1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baseline="-12626" sz="1650" i="1">
                          <a:latin typeface="Verdana"/>
                          <a:cs typeface="Verdana"/>
                        </a:rPr>
                        <a:t>A</a:t>
                      </a:r>
                      <a:r>
                        <a:rPr dirty="0" baseline="-12626" sz="1650" spc="157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500" spc="-140">
                          <a:latin typeface="Tahoma"/>
                          <a:cs typeface="Tahoma"/>
                        </a:rPr>
                        <a:t>:</a:t>
                      </a:r>
                      <a:r>
                        <a:rPr dirty="0" sz="1500" spc="-5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50" spc="-135" i="1">
                          <a:latin typeface="Verdana"/>
                          <a:cs typeface="Verdana"/>
                        </a:rPr>
                        <a:t>μ 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≠</a:t>
                      </a:r>
                      <a:r>
                        <a:rPr dirty="0" sz="1500" spc="-5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500" spc="-25">
                          <a:latin typeface="Tahoma"/>
                          <a:cs typeface="Tahoma"/>
                        </a:rPr>
                        <a:t>50</a:t>
                      </a:r>
                      <a:r>
                        <a:rPr dirty="0" sz="1500">
                          <a:latin typeface="Tahoma"/>
                          <a:cs typeface="Tahoma"/>
                        </a:rPr>
                        <a:t>	</a:t>
                      </a:r>
                      <a:r>
                        <a:rPr dirty="0" sz="1450" spc="-30">
                          <a:latin typeface="Trebuchet MS"/>
                          <a:cs typeface="Trebuchet MS"/>
                        </a:rPr>
                        <a:t>Two-</a:t>
                      </a:r>
                      <a:r>
                        <a:rPr dirty="0" sz="1450">
                          <a:latin typeface="Trebuchet MS"/>
                          <a:cs typeface="Trebuchet MS"/>
                        </a:rPr>
                        <a:t>tailed</a:t>
                      </a:r>
                      <a:r>
                        <a:rPr dirty="0" sz="1450" spc="-9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20">
                          <a:latin typeface="Trebuchet MS"/>
                          <a:cs typeface="Trebuchet MS"/>
                        </a:rPr>
                        <a:t>test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1275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 descr=""/>
          <p:cNvSpPr/>
          <p:nvPr/>
        </p:nvSpPr>
        <p:spPr>
          <a:xfrm>
            <a:off x="771524" y="19049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1524" y="25241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35432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1524" y="41624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71524" y="47910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58800" y="1795145"/>
            <a:ext cx="6753225" cy="33502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93065">
              <a:lnSpc>
                <a:spcPts val="1730"/>
              </a:lnSpc>
              <a:spcBef>
                <a:spcPts val="90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null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hypothesis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stays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same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across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cases: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ts val="1730"/>
              </a:lnSpc>
            </a:pPr>
            <a:r>
              <a:rPr dirty="0" sz="1450" spc="-20">
                <a:latin typeface="Trebuchet MS"/>
                <a:cs typeface="Trebuchet MS"/>
              </a:rPr>
              <a:t>it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always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states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no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difference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no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effect</a:t>
            </a:r>
            <a:r>
              <a:rPr dirty="0" sz="1450" spc="-1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ts val="1730"/>
              </a:lnSpc>
              <a:spcBef>
                <a:spcPts val="1410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alternative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hypothesis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specified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three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ways</a:t>
            </a:r>
            <a:r>
              <a:rPr dirty="0" sz="1450" spc="-10">
                <a:latin typeface="Trebuchet MS"/>
                <a:cs typeface="Trebuchet MS"/>
              </a:rPr>
              <a:t>,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ts val="1730"/>
              </a:lnSpc>
            </a:pPr>
            <a:r>
              <a:rPr dirty="0" sz="1450">
                <a:latin typeface="Trebuchet MS"/>
                <a:cs typeface="Trebuchet MS"/>
              </a:rPr>
              <a:t>depending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whether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20">
                <a:latin typeface="Trebuchet MS"/>
                <a:cs typeface="Trebuchet MS"/>
              </a:rPr>
              <a:t> expect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directional</a:t>
            </a:r>
            <a:r>
              <a:rPr dirty="0" sz="1450" spc="-1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non-</a:t>
            </a:r>
            <a:r>
              <a:rPr dirty="0" sz="1450" spc="-30" b="1">
                <a:latin typeface="Trebuchet MS"/>
                <a:cs typeface="Trebuchet MS"/>
              </a:rPr>
              <a:t>directional</a:t>
            </a:r>
            <a:r>
              <a:rPr dirty="0" sz="1450" spc="-20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effect.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50" spc="-45" b="1">
                <a:latin typeface="Trebuchet MS"/>
                <a:cs typeface="Trebuchet MS"/>
              </a:rPr>
              <a:t>Key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idea:</a:t>
            </a:r>
            <a:endParaRPr sz="1450">
              <a:latin typeface="Trebuchet MS"/>
              <a:cs typeface="Trebuchet MS"/>
            </a:endParaRPr>
          </a:p>
          <a:p>
            <a:pPr marL="393065" marR="1161415">
              <a:lnSpc>
                <a:spcPts val="1730"/>
              </a:lnSpc>
              <a:spcBef>
                <a:spcPts val="1475"/>
              </a:spcBef>
            </a:pP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one-tailed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60">
                <a:latin typeface="Trebuchet MS"/>
                <a:cs typeface="Trebuchet MS"/>
              </a:rPr>
              <a:t>test,</a:t>
            </a:r>
            <a:r>
              <a:rPr dirty="0" sz="1450" spc="-10">
                <a:latin typeface="Trebuchet MS"/>
                <a:cs typeface="Trebuchet MS"/>
              </a:rPr>
              <a:t> we </a:t>
            </a:r>
            <a:r>
              <a:rPr dirty="0" sz="1450">
                <a:latin typeface="Trebuchet MS"/>
                <a:cs typeface="Trebuchet MS"/>
              </a:rPr>
              <a:t>only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look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40">
                <a:latin typeface="Trebuchet MS"/>
                <a:cs typeface="Trebuchet MS"/>
              </a:rPr>
              <a:t>effect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</a:t>
            </a:r>
            <a:r>
              <a:rPr dirty="0" sz="1450" spc="-10">
                <a:latin typeface="Trebuchet MS"/>
                <a:cs typeface="Trebuchet MS"/>
              </a:rPr>
              <a:t> direction. </a:t>
            </a:r>
            <a:r>
              <a:rPr dirty="0" sz="1450" spc="-120">
                <a:latin typeface="Trebuchet MS"/>
                <a:cs typeface="Trebuchet MS"/>
              </a:rPr>
              <a:t>(e.g.,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higher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80" i="1">
                <a:latin typeface="Lucida Sans"/>
                <a:cs typeface="Lucida Sans"/>
              </a:rPr>
              <a:t>or</a:t>
            </a:r>
            <a:r>
              <a:rPr dirty="0" sz="1450" spc="-35" i="1">
                <a:latin typeface="Lucida Sans"/>
                <a:cs typeface="Lucida Sans"/>
              </a:rPr>
              <a:t> </a:t>
            </a:r>
            <a:r>
              <a:rPr dirty="0" sz="1450" spc="-55">
                <a:latin typeface="Trebuchet MS"/>
                <a:cs typeface="Trebuchet MS"/>
              </a:rPr>
              <a:t>lower,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20">
                <a:latin typeface="Trebuchet MS"/>
                <a:cs typeface="Trebuchet MS"/>
              </a:rPr>
              <a:t> both)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ts val="1730"/>
              </a:lnSpc>
              <a:spcBef>
                <a:spcPts val="1350"/>
              </a:spcBef>
            </a:pP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0">
                <a:latin typeface="Trebuchet MS"/>
                <a:cs typeface="Trebuchet MS"/>
              </a:rPr>
              <a:t> two-</a:t>
            </a:r>
            <a:r>
              <a:rPr dirty="0" sz="1450">
                <a:latin typeface="Trebuchet MS"/>
                <a:cs typeface="Trebuchet MS"/>
              </a:rPr>
              <a:t>tailed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60">
                <a:latin typeface="Trebuchet MS"/>
                <a:cs typeface="Trebuchet MS"/>
              </a:rPr>
              <a:t>test,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 </a:t>
            </a:r>
            <a:r>
              <a:rPr dirty="0" sz="1450">
                <a:latin typeface="Trebuchet MS"/>
                <a:cs typeface="Trebuchet MS"/>
              </a:rPr>
              <a:t>consider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both</a:t>
            </a:r>
            <a:r>
              <a:rPr dirty="0" sz="1450" spc="-10">
                <a:latin typeface="Trebuchet MS"/>
                <a:cs typeface="Trebuchet MS"/>
              </a:rPr>
              <a:t> directions,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ts val="1735"/>
              </a:lnSpc>
            </a:pPr>
            <a:r>
              <a:rPr dirty="0" sz="1450">
                <a:latin typeface="Trebuchet MS"/>
                <a:cs typeface="Trebuchet MS"/>
              </a:rPr>
              <a:t>whether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either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greater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less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hypothesized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value.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ts val="1735"/>
              </a:lnSpc>
              <a:spcBef>
                <a:spcPts val="1485"/>
              </a:spcBef>
            </a:pPr>
            <a:r>
              <a:rPr dirty="0" sz="1450" spc="-10">
                <a:latin typeface="Trebuchet MS"/>
                <a:cs typeface="Trebuchet MS"/>
              </a:rPr>
              <a:t>For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two-</a:t>
            </a:r>
            <a:r>
              <a:rPr dirty="0" sz="1450">
                <a:latin typeface="Trebuchet MS"/>
                <a:cs typeface="Trebuchet MS"/>
              </a:rPr>
              <a:t>tailed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tests,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p-value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doubled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ts val="1735"/>
              </a:lnSpc>
            </a:pP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account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probability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both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tails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distribution.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36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20700" y="265851"/>
            <a:ext cx="3423920" cy="213931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05"/>
              </a:spcBef>
            </a:pPr>
            <a:r>
              <a:rPr dirty="0" sz="1450" spc="-25" b="1">
                <a:latin typeface="Trebuchet MS"/>
                <a:cs typeface="Trebuchet MS"/>
              </a:rPr>
              <a:t>One-tailed </a:t>
            </a:r>
            <a:r>
              <a:rPr dirty="0" sz="1450" spc="-20" b="1">
                <a:latin typeface="Trebuchet MS"/>
                <a:cs typeface="Trebuchet MS"/>
              </a:rPr>
              <a:t>test</a:t>
            </a:r>
            <a:endParaRPr sz="1450">
              <a:latin typeface="Trebuchet MS"/>
              <a:cs typeface="Trebuchet MS"/>
            </a:endParaRPr>
          </a:p>
          <a:p>
            <a:pPr algn="ctr" marL="1356360" marR="1143635">
              <a:lnSpc>
                <a:spcPct val="157300"/>
              </a:lnSpc>
              <a:spcBef>
                <a:spcPts val="20"/>
              </a:spcBef>
            </a:pP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3227" sz="1575">
                <a:latin typeface="Tahoma"/>
                <a:cs typeface="Tahoma"/>
              </a:rPr>
              <a:t>0</a:t>
            </a:r>
            <a:r>
              <a:rPr dirty="0" baseline="-13227" sz="1575" spc="209">
                <a:latin typeface="Tahoma"/>
                <a:cs typeface="Tahoma"/>
              </a:rPr>
              <a:t> </a:t>
            </a:r>
            <a:r>
              <a:rPr dirty="0" sz="1500" spc="-140">
                <a:latin typeface="Tahoma"/>
                <a:cs typeface="Tahoma"/>
              </a:rPr>
              <a:t>:</a:t>
            </a:r>
            <a:r>
              <a:rPr dirty="0" sz="1500" spc="-70">
                <a:latin typeface="Tahoma"/>
                <a:cs typeface="Tahoma"/>
              </a:rPr>
              <a:t> </a:t>
            </a:r>
            <a:r>
              <a:rPr dirty="0" sz="1550" spc="-135" i="1">
                <a:latin typeface="Verdana"/>
                <a:cs typeface="Verdana"/>
              </a:rPr>
              <a:t>μ</a:t>
            </a:r>
            <a:r>
              <a:rPr dirty="0" sz="1550" spc="-150" i="1">
                <a:latin typeface="Verdana"/>
                <a:cs typeface="Verdan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70">
                <a:latin typeface="Tahoma"/>
                <a:cs typeface="Tahoma"/>
              </a:rPr>
              <a:t> </a:t>
            </a:r>
            <a:r>
              <a:rPr dirty="0" sz="1500" spc="-114">
                <a:latin typeface="Tahoma"/>
                <a:cs typeface="Tahoma"/>
              </a:rPr>
              <a:t>50 </a:t>
            </a: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3227" sz="1575">
                <a:latin typeface="Tahoma"/>
                <a:cs typeface="Tahoma"/>
              </a:rPr>
              <a:t>0</a:t>
            </a:r>
            <a:r>
              <a:rPr dirty="0" baseline="-13227" sz="1575" spc="-7">
                <a:latin typeface="Tahoma"/>
                <a:cs typeface="Tahoma"/>
              </a:rPr>
              <a:t> </a:t>
            </a:r>
            <a:r>
              <a:rPr dirty="0" sz="1500" spc="-140">
                <a:latin typeface="Tahoma"/>
                <a:cs typeface="Tahoma"/>
              </a:rPr>
              <a:t>:</a:t>
            </a:r>
            <a:r>
              <a:rPr dirty="0" sz="1500" spc="-70">
                <a:latin typeface="Tahoma"/>
                <a:cs typeface="Tahoma"/>
              </a:rPr>
              <a:t> </a:t>
            </a:r>
            <a:r>
              <a:rPr dirty="0" sz="1550" spc="-135" i="1">
                <a:latin typeface="Verdana"/>
                <a:cs typeface="Verdana"/>
              </a:rPr>
              <a:t>μ</a:t>
            </a:r>
            <a:r>
              <a:rPr dirty="0" sz="1550" spc="-150" i="1">
                <a:latin typeface="Verdana"/>
                <a:cs typeface="Verdana"/>
              </a:rPr>
              <a:t> </a:t>
            </a:r>
            <a:r>
              <a:rPr dirty="0" sz="1500">
                <a:latin typeface="Tahoma"/>
                <a:cs typeface="Tahoma"/>
              </a:rPr>
              <a:t>&gt;</a:t>
            </a:r>
            <a:r>
              <a:rPr dirty="0" sz="1500" spc="65">
                <a:latin typeface="Tahoma"/>
                <a:cs typeface="Tahoma"/>
              </a:rPr>
              <a:t> </a:t>
            </a:r>
            <a:r>
              <a:rPr dirty="0" sz="1500" spc="-110">
                <a:latin typeface="Tahoma"/>
                <a:cs typeface="Tahoma"/>
              </a:rPr>
              <a:t>50</a:t>
            </a:r>
            <a:endParaRPr sz="1500">
              <a:latin typeface="Tahoma"/>
              <a:cs typeface="Tahoma"/>
            </a:endParaRPr>
          </a:p>
          <a:p>
            <a:pPr marL="50800" marR="43180">
              <a:lnSpc>
                <a:spcPts val="1730"/>
              </a:lnSpc>
              <a:spcBef>
                <a:spcPts val="1530"/>
              </a:spcBef>
            </a:pPr>
            <a:r>
              <a:rPr dirty="0" sz="1450" spc="-30">
                <a:latin typeface="Trebuchet MS"/>
                <a:cs typeface="Trebuchet MS"/>
              </a:rPr>
              <a:t>We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testing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whether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differs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50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single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direction</a:t>
            </a:r>
            <a:r>
              <a:rPr dirty="0" sz="1450" spc="-1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algn="ctr" marL="205104">
              <a:lnSpc>
                <a:spcPct val="100000"/>
              </a:lnSpc>
              <a:spcBef>
                <a:spcPts val="1175"/>
              </a:spcBef>
            </a:pPr>
            <a:r>
              <a:rPr dirty="0" sz="1550" spc="-25" i="1">
                <a:latin typeface="Verdana"/>
                <a:cs typeface="Verdana"/>
              </a:rPr>
              <a:t>P</a:t>
            </a:r>
            <a:r>
              <a:rPr dirty="0" sz="1550" spc="-390" i="1">
                <a:latin typeface="Verdana"/>
                <a:cs typeface="Verdana"/>
              </a:rPr>
              <a:t> </a:t>
            </a:r>
            <a:r>
              <a:rPr dirty="0" sz="1500" spc="-30">
                <a:latin typeface="Tahoma"/>
                <a:cs typeface="Tahoma"/>
              </a:rPr>
              <a:t>(</a:t>
            </a:r>
            <a:r>
              <a:rPr dirty="0" sz="1550" spc="-715" i="1">
                <a:latin typeface="Verdana"/>
                <a:cs typeface="Verdana"/>
              </a:rPr>
              <a:t>X</a:t>
            </a:r>
            <a:r>
              <a:rPr dirty="0" baseline="11111" sz="2250" spc="-44">
                <a:latin typeface="Tahoma"/>
                <a:cs typeface="Tahoma"/>
              </a:rPr>
              <a:t>¯</a:t>
            </a:r>
            <a:r>
              <a:rPr dirty="0" baseline="11111" sz="2250" spc="7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&gt;</a:t>
            </a:r>
            <a:r>
              <a:rPr dirty="0" sz="1500" spc="5">
                <a:latin typeface="Tahoma"/>
                <a:cs typeface="Tahoma"/>
              </a:rPr>
              <a:t> </a:t>
            </a:r>
            <a:r>
              <a:rPr dirty="0" sz="1500" spc="-70">
                <a:latin typeface="Tahoma"/>
                <a:cs typeface="Tahoma"/>
              </a:rPr>
              <a:t>55.71|</a:t>
            </a:r>
            <a:r>
              <a:rPr dirty="0" sz="1550" spc="-70" i="1">
                <a:latin typeface="Verdana"/>
                <a:cs typeface="Verdana"/>
              </a:rPr>
              <a:t>H</a:t>
            </a:r>
            <a:r>
              <a:rPr dirty="0" baseline="-13227" sz="1575" spc="-104">
                <a:latin typeface="Tahoma"/>
                <a:cs typeface="Tahoma"/>
              </a:rPr>
              <a:t>0</a:t>
            </a:r>
            <a:r>
              <a:rPr dirty="0" sz="1500" spc="-70">
                <a:latin typeface="Tahoma"/>
                <a:cs typeface="Tahoma"/>
              </a:rPr>
              <a:t>) </a:t>
            </a:r>
            <a:r>
              <a:rPr dirty="0" sz="1500" spc="-25">
                <a:latin typeface="Tahoma"/>
                <a:cs typeface="Tahoma"/>
              </a:rPr>
              <a:t>=?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595888" y="448457"/>
            <a:ext cx="3452495" cy="2192020"/>
            <a:chOff x="4595888" y="448457"/>
            <a:chExt cx="3452495" cy="2192020"/>
          </a:xfrm>
        </p:grpSpPr>
        <p:sp>
          <p:nvSpPr>
            <p:cNvPr id="4" name="object 4" descr=""/>
            <p:cNvSpPr/>
            <p:nvPr/>
          </p:nvSpPr>
          <p:spPr>
            <a:xfrm>
              <a:off x="4761998" y="2228144"/>
              <a:ext cx="3282950" cy="0"/>
            </a:xfrm>
            <a:custGeom>
              <a:avLst/>
              <a:gdLst/>
              <a:ahLst/>
              <a:cxnLst/>
              <a:rect l="l" t="t" r="r" b="b"/>
              <a:pathLst>
                <a:path w="3282950" h="0">
                  <a:moveTo>
                    <a:pt x="0" y="0"/>
                  </a:moveTo>
                  <a:lnTo>
                    <a:pt x="3282696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761998" y="1865443"/>
              <a:ext cx="3282950" cy="0"/>
            </a:xfrm>
            <a:custGeom>
              <a:avLst/>
              <a:gdLst/>
              <a:ahLst/>
              <a:cxnLst/>
              <a:rect l="l" t="t" r="r" b="b"/>
              <a:pathLst>
                <a:path w="3282950" h="0">
                  <a:moveTo>
                    <a:pt x="0" y="0"/>
                  </a:moveTo>
                  <a:lnTo>
                    <a:pt x="3282696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1998" y="1502741"/>
              <a:ext cx="3282950" cy="0"/>
            </a:xfrm>
            <a:custGeom>
              <a:avLst/>
              <a:gdLst/>
              <a:ahLst/>
              <a:cxnLst/>
              <a:rect l="l" t="t" r="r" b="b"/>
              <a:pathLst>
                <a:path w="3282950" h="0">
                  <a:moveTo>
                    <a:pt x="0" y="0"/>
                  </a:moveTo>
                  <a:lnTo>
                    <a:pt x="3282696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761998" y="1140039"/>
              <a:ext cx="3282950" cy="0"/>
            </a:xfrm>
            <a:custGeom>
              <a:avLst/>
              <a:gdLst/>
              <a:ahLst/>
              <a:cxnLst/>
              <a:rect l="l" t="t" r="r" b="b"/>
              <a:pathLst>
                <a:path w="3282950" h="0">
                  <a:moveTo>
                    <a:pt x="0" y="0"/>
                  </a:moveTo>
                  <a:lnTo>
                    <a:pt x="3282696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761998" y="777355"/>
              <a:ext cx="3282950" cy="0"/>
            </a:xfrm>
            <a:custGeom>
              <a:avLst/>
              <a:gdLst/>
              <a:ahLst/>
              <a:cxnLst/>
              <a:rect l="l" t="t" r="r" b="b"/>
              <a:pathLst>
                <a:path w="3282950" h="0">
                  <a:moveTo>
                    <a:pt x="0" y="0"/>
                  </a:moveTo>
                  <a:lnTo>
                    <a:pt x="3282696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994100" y="451624"/>
              <a:ext cx="0" cy="2051685"/>
            </a:xfrm>
            <a:custGeom>
              <a:avLst/>
              <a:gdLst/>
              <a:ahLst/>
              <a:cxnLst/>
              <a:rect l="l" t="t" r="r" b="b"/>
              <a:pathLst>
                <a:path w="0" h="2051685">
                  <a:moveTo>
                    <a:pt x="0" y="20510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823064" y="451624"/>
              <a:ext cx="0" cy="2051685"/>
            </a:xfrm>
            <a:custGeom>
              <a:avLst/>
              <a:gdLst/>
              <a:ahLst/>
              <a:cxnLst/>
              <a:rect l="l" t="t" r="r" b="b"/>
              <a:pathLst>
                <a:path w="0" h="2051685">
                  <a:moveTo>
                    <a:pt x="0" y="20510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652028" y="451624"/>
              <a:ext cx="0" cy="2051685"/>
            </a:xfrm>
            <a:custGeom>
              <a:avLst/>
              <a:gdLst/>
              <a:ahLst/>
              <a:cxnLst/>
              <a:rect l="l" t="t" r="r" b="b"/>
              <a:pathLst>
                <a:path w="0" h="2051685">
                  <a:moveTo>
                    <a:pt x="0" y="20510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480992" y="451624"/>
              <a:ext cx="0" cy="2051685"/>
            </a:xfrm>
            <a:custGeom>
              <a:avLst/>
              <a:gdLst/>
              <a:ahLst/>
              <a:cxnLst/>
              <a:rect l="l" t="t" r="r" b="b"/>
              <a:pathLst>
                <a:path w="0" h="2051685">
                  <a:moveTo>
                    <a:pt x="0" y="20510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761998" y="2409477"/>
              <a:ext cx="3282950" cy="0"/>
            </a:xfrm>
            <a:custGeom>
              <a:avLst/>
              <a:gdLst/>
              <a:ahLst/>
              <a:cxnLst/>
              <a:rect l="l" t="t" r="r" b="b"/>
              <a:pathLst>
                <a:path w="3282950" h="0">
                  <a:moveTo>
                    <a:pt x="0" y="0"/>
                  </a:moveTo>
                  <a:lnTo>
                    <a:pt x="3282696" y="0"/>
                  </a:lnTo>
                </a:path>
              </a:pathLst>
            </a:custGeom>
            <a:ln w="6334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761998" y="2046793"/>
              <a:ext cx="3282950" cy="0"/>
            </a:xfrm>
            <a:custGeom>
              <a:avLst/>
              <a:gdLst/>
              <a:ahLst/>
              <a:cxnLst/>
              <a:rect l="l" t="t" r="r" b="b"/>
              <a:pathLst>
                <a:path w="3282950" h="0">
                  <a:moveTo>
                    <a:pt x="0" y="0"/>
                  </a:moveTo>
                  <a:lnTo>
                    <a:pt x="3282696" y="0"/>
                  </a:lnTo>
                </a:path>
              </a:pathLst>
            </a:custGeom>
            <a:ln w="6334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761998" y="1684092"/>
              <a:ext cx="3282950" cy="0"/>
            </a:xfrm>
            <a:custGeom>
              <a:avLst/>
              <a:gdLst/>
              <a:ahLst/>
              <a:cxnLst/>
              <a:rect l="l" t="t" r="r" b="b"/>
              <a:pathLst>
                <a:path w="3282950" h="0">
                  <a:moveTo>
                    <a:pt x="0" y="0"/>
                  </a:moveTo>
                  <a:lnTo>
                    <a:pt x="3282696" y="0"/>
                  </a:lnTo>
                </a:path>
              </a:pathLst>
            </a:custGeom>
            <a:ln w="6334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761998" y="1321390"/>
              <a:ext cx="3282950" cy="0"/>
            </a:xfrm>
            <a:custGeom>
              <a:avLst/>
              <a:gdLst/>
              <a:ahLst/>
              <a:cxnLst/>
              <a:rect l="l" t="t" r="r" b="b"/>
              <a:pathLst>
                <a:path w="3282950" h="0">
                  <a:moveTo>
                    <a:pt x="0" y="0"/>
                  </a:moveTo>
                  <a:lnTo>
                    <a:pt x="3282696" y="0"/>
                  </a:lnTo>
                </a:path>
              </a:pathLst>
            </a:custGeom>
            <a:ln w="6334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761998" y="958706"/>
              <a:ext cx="3282950" cy="0"/>
            </a:xfrm>
            <a:custGeom>
              <a:avLst/>
              <a:gdLst/>
              <a:ahLst/>
              <a:cxnLst/>
              <a:rect l="l" t="t" r="r" b="b"/>
              <a:pathLst>
                <a:path w="3282950" h="0">
                  <a:moveTo>
                    <a:pt x="0" y="0"/>
                  </a:moveTo>
                  <a:lnTo>
                    <a:pt x="3282696" y="0"/>
                  </a:lnTo>
                </a:path>
              </a:pathLst>
            </a:custGeom>
            <a:ln w="6334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761998" y="596005"/>
              <a:ext cx="3282950" cy="0"/>
            </a:xfrm>
            <a:custGeom>
              <a:avLst/>
              <a:gdLst/>
              <a:ahLst/>
              <a:cxnLst/>
              <a:rect l="l" t="t" r="r" b="b"/>
              <a:pathLst>
                <a:path w="3282950" h="0">
                  <a:moveTo>
                    <a:pt x="0" y="0"/>
                  </a:moveTo>
                  <a:lnTo>
                    <a:pt x="3282696" y="0"/>
                  </a:lnTo>
                </a:path>
              </a:pathLst>
            </a:custGeom>
            <a:ln w="6334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408591" y="451624"/>
              <a:ext cx="0" cy="2051685"/>
            </a:xfrm>
            <a:custGeom>
              <a:avLst/>
              <a:gdLst/>
              <a:ahLst/>
              <a:cxnLst/>
              <a:rect l="l" t="t" r="r" b="b"/>
              <a:pathLst>
                <a:path w="0" h="2051685">
                  <a:moveTo>
                    <a:pt x="0" y="2051088"/>
                  </a:moveTo>
                  <a:lnTo>
                    <a:pt x="0" y="0"/>
                  </a:lnTo>
                </a:path>
              </a:pathLst>
            </a:custGeom>
            <a:ln w="633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237555" y="451624"/>
              <a:ext cx="0" cy="2051685"/>
            </a:xfrm>
            <a:custGeom>
              <a:avLst/>
              <a:gdLst/>
              <a:ahLst/>
              <a:cxnLst/>
              <a:rect l="l" t="t" r="r" b="b"/>
              <a:pathLst>
                <a:path w="0" h="2051685">
                  <a:moveTo>
                    <a:pt x="0" y="2051088"/>
                  </a:moveTo>
                  <a:lnTo>
                    <a:pt x="0" y="0"/>
                  </a:lnTo>
                </a:path>
              </a:pathLst>
            </a:custGeom>
            <a:ln w="633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066519" y="451624"/>
              <a:ext cx="0" cy="2051685"/>
            </a:xfrm>
            <a:custGeom>
              <a:avLst/>
              <a:gdLst/>
              <a:ahLst/>
              <a:cxnLst/>
              <a:rect l="l" t="t" r="r" b="b"/>
              <a:pathLst>
                <a:path w="0" h="2051685">
                  <a:moveTo>
                    <a:pt x="0" y="2051088"/>
                  </a:moveTo>
                  <a:lnTo>
                    <a:pt x="0" y="0"/>
                  </a:lnTo>
                </a:path>
              </a:pathLst>
            </a:custGeom>
            <a:ln w="633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895483" y="451624"/>
              <a:ext cx="0" cy="2051685"/>
            </a:xfrm>
            <a:custGeom>
              <a:avLst/>
              <a:gdLst/>
              <a:ahLst/>
              <a:cxnLst/>
              <a:rect l="l" t="t" r="r" b="b"/>
              <a:pathLst>
                <a:path w="0" h="2051685">
                  <a:moveTo>
                    <a:pt x="0" y="2051088"/>
                  </a:moveTo>
                  <a:lnTo>
                    <a:pt x="0" y="0"/>
                  </a:lnTo>
                </a:path>
              </a:pathLst>
            </a:custGeom>
            <a:ln w="633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05238" y="538888"/>
              <a:ext cx="2926001" cy="1884193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7179246" y="472134"/>
              <a:ext cx="10160" cy="2030730"/>
            </a:xfrm>
            <a:custGeom>
              <a:avLst/>
              <a:gdLst/>
              <a:ahLst/>
              <a:cxnLst/>
              <a:rect l="l" t="t" r="r" b="b"/>
              <a:pathLst>
                <a:path w="10159" h="2030730">
                  <a:moveTo>
                    <a:pt x="9944" y="1990763"/>
                  </a:moveTo>
                  <a:lnTo>
                    <a:pt x="0" y="1990763"/>
                  </a:lnTo>
                  <a:lnTo>
                    <a:pt x="0" y="2030590"/>
                  </a:lnTo>
                  <a:lnTo>
                    <a:pt x="9944" y="2030590"/>
                  </a:lnTo>
                  <a:lnTo>
                    <a:pt x="9944" y="1990763"/>
                  </a:lnTo>
                  <a:close/>
                </a:path>
                <a:path w="10159" h="2030730">
                  <a:moveTo>
                    <a:pt x="9944" y="0"/>
                  </a:moveTo>
                  <a:lnTo>
                    <a:pt x="0" y="0"/>
                  </a:lnTo>
                  <a:lnTo>
                    <a:pt x="0" y="39814"/>
                  </a:lnTo>
                  <a:lnTo>
                    <a:pt x="9944" y="39814"/>
                  </a:lnTo>
                  <a:lnTo>
                    <a:pt x="9944" y="0"/>
                  </a:lnTo>
                  <a:close/>
                </a:path>
              </a:pathLst>
            </a:custGeom>
            <a:solidFill>
              <a:srgbClr val="E640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761998" y="451624"/>
              <a:ext cx="3282950" cy="2051685"/>
            </a:xfrm>
            <a:custGeom>
              <a:avLst/>
              <a:gdLst/>
              <a:ahLst/>
              <a:cxnLst/>
              <a:rect l="l" t="t" r="r" b="b"/>
              <a:pathLst>
                <a:path w="3282950" h="2051685">
                  <a:moveTo>
                    <a:pt x="0" y="2051088"/>
                  </a:moveTo>
                  <a:lnTo>
                    <a:pt x="3282696" y="2051088"/>
                  </a:lnTo>
                  <a:lnTo>
                    <a:pt x="3282696" y="0"/>
                  </a:lnTo>
                  <a:lnTo>
                    <a:pt x="0" y="0"/>
                  </a:lnTo>
                  <a:lnTo>
                    <a:pt x="0" y="2051088"/>
                  </a:lnTo>
                  <a:close/>
                </a:path>
              </a:pathLst>
            </a:custGeom>
            <a:ln w="633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2951" y="2391402"/>
              <a:ext cx="66942" cy="36222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4662944" y="1665617"/>
              <a:ext cx="67310" cy="399415"/>
            </a:xfrm>
            <a:custGeom>
              <a:avLst/>
              <a:gdLst/>
              <a:ahLst/>
              <a:cxnLst/>
              <a:rect l="l" t="t" r="r" b="b"/>
              <a:pathLst>
                <a:path w="67310" h="399414">
                  <a:moveTo>
                    <a:pt x="23406" y="389166"/>
                  </a:moveTo>
                  <a:lnTo>
                    <a:pt x="23317" y="372478"/>
                  </a:lnTo>
                  <a:lnTo>
                    <a:pt x="23241" y="372186"/>
                  </a:lnTo>
                  <a:lnTo>
                    <a:pt x="23164" y="371944"/>
                  </a:lnTo>
                  <a:lnTo>
                    <a:pt x="22745" y="370611"/>
                  </a:lnTo>
                  <a:lnTo>
                    <a:pt x="20828" y="366839"/>
                  </a:lnTo>
                  <a:lnTo>
                    <a:pt x="20586" y="366496"/>
                  </a:lnTo>
                  <a:lnTo>
                    <a:pt x="19888" y="365696"/>
                  </a:lnTo>
                  <a:lnTo>
                    <a:pt x="19138" y="364998"/>
                  </a:lnTo>
                  <a:lnTo>
                    <a:pt x="18757" y="364693"/>
                  </a:lnTo>
                  <a:lnTo>
                    <a:pt x="18554" y="364553"/>
                  </a:lnTo>
                  <a:lnTo>
                    <a:pt x="18554" y="389915"/>
                  </a:lnTo>
                  <a:lnTo>
                    <a:pt x="18326" y="390690"/>
                  </a:lnTo>
                  <a:lnTo>
                    <a:pt x="14389" y="395427"/>
                  </a:lnTo>
                  <a:lnTo>
                    <a:pt x="9004" y="395427"/>
                  </a:lnTo>
                  <a:lnTo>
                    <a:pt x="5816" y="392493"/>
                  </a:lnTo>
                  <a:lnTo>
                    <a:pt x="5537" y="391947"/>
                  </a:lnTo>
                  <a:lnTo>
                    <a:pt x="5041" y="390690"/>
                  </a:lnTo>
                  <a:lnTo>
                    <a:pt x="4762" y="389724"/>
                  </a:lnTo>
                  <a:lnTo>
                    <a:pt x="4622" y="389166"/>
                  </a:lnTo>
                  <a:lnTo>
                    <a:pt x="4737" y="372478"/>
                  </a:lnTo>
                  <a:lnTo>
                    <a:pt x="4826" y="372186"/>
                  </a:lnTo>
                  <a:lnTo>
                    <a:pt x="4902" y="371944"/>
                  </a:lnTo>
                  <a:lnTo>
                    <a:pt x="5029" y="371513"/>
                  </a:lnTo>
                  <a:lnTo>
                    <a:pt x="9017" y="366839"/>
                  </a:lnTo>
                  <a:lnTo>
                    <a:pt x="14503" y="366839"/>
                  </a:lnTo>
                  <a:lnTo>
                    <a:pt x="18554" y="389915"/>
                  </a:lnTo>
                  <a:lnTo>
                    <a:pt x="18554" y="364553"/>
                  </a:lnTo>
                  <a:lnTo>
                    <a:pt x="13335" y="362737"/>
                  </a:lnTo>
                  <a:lnTo>
                    <a:pt x="10236" y="362737"/>
                  </a:lnTo>
                  <a:lnTo>
                    <a:pt x="190" y="389915"/>
                  </a:lnTo>
                  <a:lnTo>
                    <a:pt x="596" y="391236"/>
                  </a:lnTo>
                  <a:lnTo>
                    <a:pt x="8166" y="399199"/>
                  </a:lnTo>
                  <a:lnTo>
                    <a:pt x="15151" y="399199"/>
                  </a:lnTo>
                  <a:lnTo>
                    <a:pt x="22796" y="391236"/>
                  </a:lnTo>
                  <a:lnTo>
                    <a:pt x="23406" y="389166"/>
                  </a:lnTo>
                  <a:close/>
                </a:path>
                <a:path w="67310" h="399414">
                  <a:moveTo>
                    <a:pt x="23418" y="10210"/>
                  </a:moveTo>
                  <a:lnTo>
                    <a:pt x="18923" y="2146"/>
                  </a:lnTo>
                  <a:lnTo>
                    <a:pt x="18923" y="10807"/>
                  </a:lnTo>
                  <a:lnTo>
                    <a:pt x="18872" y="25984"/>
                  </a:lnTo>
                  <a:lnTo>
                    <a:pt x="14389" y="32753"/>
                  </a:lnTo>
                  <a:lnTo>
                    <a:pt x="9004" y="32753"/>
                  </a:lnTo>
                  <a:lnTo>
                    <a:pt x="5816" y="29794"/>
                  </a:lnTo>
                  <a:lnTo>
                    <a:pt x="5524" y="29210"/>
                  </a:lnTo>
                  <a:lnTo>
                    <a:pt x="5041" y="27990"/>
                  </a:lnTo>
                  <a:lnTo>
                    <a:pt x="4762" y="27025"/>
                  </a:lnTo>
                  <a:lnTo>
                    <a:pt x="4622" y="26466"/>
                  </a:lnTo>
                  <a:lnTo>
                    <a:pt x="4495" y="10807"/>
                  </a:lnTo>
                  <a:lnTo>
                    <a:pt x="4749" y="9740"/>
                  </a:lnTo>
                  <a:lnTo>
                    <a:pt x="5181" y="8343"/>
                  </a:lnTo>
                  <a:lnTo>
                    <a:pt x="5283" y="8115"/>
                  </a:lnTo>
                  <a:lnTo>
                    <a:pt x="5537" y="7531"/>
                  </a:lnTo>
                  <a:lnTo>
                    <a:pt x="8102" y="4559"/>
                  </a:lnTo>
                  <a:lnTo>
                    <a:pt x="7886" y="4559"/>
                  </a:lnTo>
                  <a:lnTo>
                    <a:pt x="9652" y="3962"/>
                  </a:lnTo>
                  <a:lnTo>
                    <a:pt x="10439" y="3797"/>
                  </a:lnTo>
                  <a:lnTo>
                    <a:pt x="13144" y="3797"/>
                  </a:lnTo>
                  <a:lnTo>
                    <a:pt x="13881" y="3962"/>
                  </a:lnTo>
                  <a:lnTo>
                    <a:pt x="15570" y="4559"/>
                  </a:lnTo>
                  <a:lnTo>
                    <a:pt x="15367" y="4559"/>
                  </a:lnTo>
                  <a:lnTo>
                    <a:pt x="15621" y="4711"/>
                  </a:lnTo>
                  <a:lnTo>
                    <a:pt x="18783" y="10210"/>
                  </a:lnTo>
                  <a:lnTo>
                    <a:pt x="18923" y="10807"/>
                  </a:lnTo>
                  <a:lnTo>
                    <a:pt x="18923" y="2146"/>
                  </a:lnTo>
                  <a:lnTo>
                    <a:pt x="18757" y="2006"/>
                  </a:lnTo>
                  <a:lnTo>
                    <a:pt x="14795" y="279"/>
                  </a:lnTo>
                  <a:lnTo>
                    <a:pt x="8724" y="279"/>
                  </a:lnTo>
                  <a:lnTo>
                    <a:pt x="2730" y="3962"/>
                  </a:lnTo>
                  <a:lnTo>
                    <a:pt x="2184" y="4711"/>
                  </a:lnTo>
                  <a:lnTo>
                    <a:pt x="0" y="10210"/>
                  </a:lnTo>
                  <a:lnTo>
                    <a:pt x="0" y="26466"/>
                  </a:lnTo>
                  <a:lnTo>
                    <a:pt x="9613" y="36817"/>
                  </a:lnTo>
                  <a:lnTo>
                    <a:pt x="13703" y="36817"/>
                  </a:lnTo>
                  <a:lnTo>
                    <a:pt x="20650" y="32753"/>
                  </a:lnTo>
                  <a:lnTo>
                    <a:pt x="20751" y="32626"/>
                  </a:lnTo>
                  <a:lnTo>
                    <a:pt x="20878" y="32461"/>
                  </a:lnTo>
                  <a:lnTo>
                    <a:pt x="20967" y="32308"/>
                  </a:lnTo>
                  <a:lnTo>
                    <a:pt x="21082" y="32131"/>
                  </a:lnTo>
                  <a:lnTo>
                    <a:pt x="23406" y="26466"/>
                  </a:lnTo>
                  <a:lnTo>
                    <a:pt x="23418" y="10210"/>
                  </a:lnTo>
                  <a:close/>
                </a:path>
                <a:path w="67310" h="399414">
                  <a:moveTo>
                    <a:pt x="35991" y="393560"/>
                  </a:moveTo>
                  <a:lnTo>
                    <a:pt x="31013" y="393560"/>
                  </a:lnTo>
                  <a:lnTo>
                    <a:pt x="31013" y="399148"/>
                  </a:lnTo>
                  <a:lnTo>
                    <a:pt x="35991" y="399148"/>
                  </a:lnTo>
                  <a:lnTo>
                    <a:pt x="35991" y="393560"/>
                  </a:lnTo>
                  <a:close/>
                </a:path>
                <a:path w="67310" h="399414">
                  <a:moveTo>
                    <a:pt x="35991" y="30873"/>
                  </a:moveTo>
                  <a:lnTo>
                    <a:pt x="31013" y="30873"/>
                  </a:lnTo>
                  <a:lnTo>
                    <a:pt x="31013" y="36449"/>
                  </a:lnTo>
                  <a:lnTo>
                    <a:pt x="35991" y="36449"/>
                  </a:lnTo>
                  <a:lnTo>
                    <a:pt x="35991" y="30873"/>
                  </a:lnTo>
                  <a:close/>
                </a:path>
                <a:path w="67310" h="399414">
                  <a:moveTo>
                    <a:pt x="67157" y="32550"/>
                  </a:moveTo>
                  <a:lnTo>
                    <a:pt x="48425" y="32550"/>
                  </a:lnTo>
                  <a:lnTo>
                    <a:pt x="48552" y="32258"/>
                  </a:lnTo>
                  <a:lnTo>
                    <a:pt x="49911" y="30035"/>
                  </a:lnTo>
                  <a:lnTo>
                    <a:pt x="52336" y="27368"/>
                  </a:lnTo>
                  <a:lnTo>
                    <a:pt x="61429" y="19507"/>
                  </a:lnTo>
                  <a:lnTo>
                    <a:pt x="63995" y="16675"/>
                  </a:lnTo>
                  <a:lnTo>
                    <a:pt x="65519" y="14236"/>
                  </a:lnTo>
                  <a:lnTo>
                    <a:pt x="66065" y="12941"/>
                  </a:lnTo>
                  <a:lnTo>
                    <a:pt x="66433" y="11595"/>
                  </a:lnTo>
                  <a:lnTo>
                    <a:pt x="66598" y="9347"/>
                  </a:lnTo>
                  <a:lnTo>
                    <a:pt x="66421" y="7569"/>
                  </a:lnTo>
                  <a:lnTo>
                    <a:pt x="54267" y="0"/>
                  </a:lnTo>
                  <a:lnTo>
                    <a:pt x="51828" y="330"/>
                  </a:lnTo>
                  <a:lnTo>
                    <a:pt x="43586" y="9385"/>
                  </a:lnTo>
                  <a:lnTo>
                    <a:pt x="48272" y="9829"/>
                  </a:lnTo>
                  <a:lnTo>
                    <a:pt x="48348" y="9245"/>
                  </a:lnTo>
                  <a:lnTo>
                    <a:pt x="48920" y="7416"/>
                  </a:lnTo>
                  <a:lnTo>
                    <a:pt x="55905" y="3759"/>
                  </a:lnTo>
                  <a:lnTo>
                    <a:pt x="57277" y="3937"/>
                  </a:lnTo>
                  <a:lnTo>
                    <a:pt x="61849" y="10833"/>
                  </a:lnTo>
                  <a:lnTo>
                    <a:pt x="61518" y="12446"/>
                  </a:lnTo>
                  <a:lnTo>
                    <a:pt x="61061" y="13538"/>
                  </a:lnTo>
                  <a:lnTo>
                    <a:pt x="59969" y="15278"/>
                  </a:lnTo>
                  <a:lnTo>
                    <a:pt x="58572" y="16891"/>
                  </a:lnTo>
                  <a:lnTo>
                    <a:pt x="52959" y="21691"/>
                  </a:lnTo>
                  <a:lnTo>
                    <a:pt x="49263" y="24968"/>
                  </a:lnTo>
                  <a:lnTo>
                    <a:pt x="46164" y="28409"/>
                  </a:lnTo>
                  <a:lnTo>
                    <a:pt x="44818" y="30416"/>
                  </a:lnTo>
                  <a:lnTo>
                    <a:pt x="43383" y="33223"/>
                  </a:lnTo>
                  <a:lnTo>
                    <a:pt x="43383" y="36449"/>
                  </a:lnTo>
                  <a:lnTo>
                    <a:pt x="67157" y="36449"/>
                  </a:lnTo>
                  <a:lnTo>
                    <a:pt x="67157" y="32550"/>
                  </a:lnTo>
                  <a:close/>
                </a:path>
                <a:path w="67310" h="399414">
                  <a:moveTo>
                    <a:pt x="67233" y="395249"/>
                  </a:moveTo>
                  <a:lnTo>
                    <a:pt x="58496" y="395249"/>
                  </a:lnTo>
                  <a:lnTo>
                    <a:pt x="58496" y="363194"/>
                  </a:lnTo>
                  <a:lnTo>
                    <a:pt x="54267" y="363194"/>
                  </a:lnTo>
                  <a:lnTo>
                    <a:pt x="45770" y="369049"/>
                  </a:lnTo>
                  <a:lnTo>
                    <a:pt x="45770" y="373380"/>
                  </a:lnTo>
                  <a:lnTo>
                    <a:pt x="53886" y="367588"/>
                  </a:lnTo>
                  <a:lnTo>
                    <a:pt x="53886" y="395249"/>
                  </a:lnTo>
                  <a:lnTo>
                    <a:pt x="44729" y="395249"/>
                  </a:lnTo>
                  <a:lnTo>
                    <a:pt x="44729" y="399148"/>
                  </a:lnTo>
                  <a:lnTo>
                    <a:pt x="67233" y="399148"/>
                  </a:lnTo>
                  <a:lnTo>
                    <a:pt x="67233" y="395249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2951" y="1302896"/>
              <a:ext cx="67488" cy="36988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4662944" y="940269"/>
              <a:ext cx="68580" cy="36830"/>
            </a:xfrm>
            <a:custGeom>
              <a:avLst/>
              <a:gdLst/>
              <a:ahLst/>
              <a:cxnLst/>
              <a:rect l="l" t="t" r="r" b="b"/>
              <a:pathLst>
                <a:path w="68579" h="36830">
                  <a:moveTo>
                    <a:pt x="23406" y="26428"/>
                  </a:moveTo>
                  <a:lnTo>
                    <a:pt x="23304" y="9715"/>
                  </a:lnTo>
                  <a:lnTo>
                    <a:pt x="23241" y="9436"/>
                  </a:lnTo>
                  <a:lnTo>
                    <a:pt x="23164" y="9207"/>
                  </a:lnTo>
                  <a:lnTo>
                    <a:pt x="22745" y="7874"/>
                  </a:lnTo>
                  <a:lnTo>
                    <a:pt x="20828" y="4102"/>
                  </a:lnTo>
                  <a:lnTo>
                    <a:pt x="20586" y="3759"/>
                  </a:lnTo>
                  <a:lnTo>
                    <a:pt x="19888" y="2959"/>
                  </a:lnTo>
                  <a:lnTo>
                    <a:pt x="19138" y="2260"/>
                  </a:lnTo>
                  <a:lnTo>
                    <a:pt x="18757" y="1955"/>
                  </a:lnTo>
                  <a:lnTo>
                    <a:pt x="18745" y="26428"/>
                  </a:lnTo>
                  <a:lnTo>
                    <a:pt x="18465" y="27482"/>
                  </a:lnTo>
                  <a:lnTo>
                    <a:pt x="14389" y="32689"/>
                  </a:lnTo>
                  <a:lnTo>
                    <a:pt x="9004" y="32689"/>
                  </a:lnTo>
                  <a:lnTo>
                    <a:pt x="5816" y="29756"/>
                  </a:lnTo>
                  <a:lnTo>
                    <a:pt x="5537" y="29210"/>
                  </a:lnTo>
                  <a:lnTo>
                    <a:pt x="5029" y="27863"/>
                  </a:lnTo>
                  <a:lnTo>
                    <a:pt x="4902" y="27482"/>
                  </a:lnTo>
                  <a:lnTo>
                    <a:pt x="4813" y="27165"/>
                  </a:lnTo>
                  <a:lnTo>
                    <a:pt x="4762" y="26987"/>
                  </a:lnTo>
                  <a:lnTo>
                    <a:pt x="4622" y="26428"/>
                  </a:lnTo>
                  <a:lnTo>
                    <a:pt x="4737" y="9715"/>
                  </a:lnTo>
                  <a:lnTo>
                    <a:pt x="4826" y="9436"/>
                  </a:lnTo>
                  <a:lnTo>
                    <a:pt x="4889" y="9207"/>
                  </a:lnTo>
                  <a:lnTo>
                    <a:pt x="9017" y="4102"/>
                  </a:lnTo>
                  <a:lnTo>
                    <a:pt x="14503" y="4102"/>
                  </a:lnTo>
                  <a:lnTo>
                    <a:pt x="18745" y="26428"/>
                  </a:lnTo>
                  <a:lnTo>
                    <a:pt x="18745" y="1955"/>
                  </a:lnTo>
                  <a:lnTo>
                    <a:pt x="13335" y="0"/>
                  </a:lnTo>
                  <a:lnTo>
                    <a:pt x="10236" y="0"/>
                  </a:lnTo>
                  <a:lnTo>
                    <a:pt x="9220" y="152"/>
                  </a:lnTo>
                  <a:lnTo>
                    <a:pt x="7658" y="482"/>
                  </a:lnTo>
                  <a:lnTo>
                    <a:pt x="7797" y="482"/>
                  </a:lnTo>
                  <a:lnTo>
                    <a:pt x="7289" y="622"/>
                  </a:lnTo>
                  <a:lnTo>
                    <a:pt x="0" y="26428"/>
                  </a:lnTo>
                  <a:lnTo>
                    <a:pt x="381" y="27863"/>
                  </a:lnTo>
                  <a:lnTo>
                    <a:pt x="8166" y="36461"/>
                  </a:lnTo>
                  <a:lnTo>
                    <a:pt x="15151" y="36461"/>
                  </a:lnTo>
                  <a:lnTo>
                    <a:pt x="22834" y="28397"/>
                  </a:lnTo>
                  <a:lnTo>
                    <a:pt x="23406" y="26428"/>
                  </a:lnTo>
                  <a:close/>
                </a:path>
                <a:path w="68579" h="36830">
                  <a:moveTo>
                    <a:pt x="35991" y="30810"/>
                  </a:moveTo>
                  <a:lnTo>
                    <a:pt x="31013" y="30810"/>
                  </a:lnTo>
                  <a:lnTo>
                    <a:pt x="31013" y="36410"/>
                  </a:lnTo>
                  <a:lnTo>
                    <a:pt x="35991" y="36410"/>
                  </a:lnTo>
                  <a:lnTo>
                    <a:pt x="35991" y="30810"/>
                  </a:lnTo>
                  <a:close/>
                </a:path>
                <a:path w="68579" h="36830">
                  <a:moveTo>
                    <a:pt x="68249" y="24599"/>
                  </a:moveTo>
                  <a:lnTo>
                    <a:pt x="63207" y="24599"/>
                  </a:lnTo>
                  <a:lnTo>
                    <a:pt x="63207" y="5651"/>
                  </a:lnTo>
                  <a:lnTo>
                    <a:pt x="63207" y="457"/>
                  </a:lnTo>
                  <a:lnTo>
                    <a:pt x="58877" y="457"/>
                  </a:lnTo>
                  <a:lnTo>
                    <a:pt x="58877" y="5651"/>
                  </a:lnTo>
                  <a:lnTo>
                    <a:pt x="58877" y="24599"/>
                  </a:lnTo>
                  <a:lnTo>
                    <a:pt x="46215" y="24599"/>
                  </a:lnTo>
                  <a:lnTo>
                    <a:pt x="46316" y="24472"/>
                  </a:lnTo>
                  <a:lnTo>
                    <a:pt x="46888" y="23749"/>
                  </a:lnTo>
                  <a:lnTo>
                    <a:pt x="47536" y="22847"/>
                  </a:lnTo>
                  <a:lnTo>
                    <a:pt x="47637" y="22720"/>
                  </a:lnTo>
                  <a:lnTo>
                    <a:pt x="47726" y="22593"/>
                  </a:lnTo>
                  <a:lnTo>
                    <a:pt x="57213" y="8623"/>
                  </a:lnTo>
                  <a:lnTo>
                    <a:pt x="57289" y="8470"/>
                  </a:lnTo>
                  <a:lnTo>
                    <a:pt x="57378" y="8331"/>
                  </a:lnTo>
                  <a:lnTo>
                    <a:pt x="57480" y="8178"/>
                  </a:lnTo>
                  <a:lnTo>
                    <a:pt x="57581" y="8001"/>
                  </a:lnTo>
                  <a:lnTo>
                    <a:pt x="57696" y="7823"/>
                  </a:lnTo>
                  <a:lnTo>
                    <a:pt x="57797" y="7620"/>
                  </a:lnTo>
                  <a:lnTo>
                    <a:pt x="58458" y="6451"/>
                  </a:lnTo>
                  <a:lnTo>
                    <a:pt x="58877" y="5651"/>
                  </a:lnTo>
                  <a:lnTo>
                    <a:pt x="58877" y="457"/>
                  </a:lnTo>
                  <a:lnTo>
                    <a:pt x="58381" y="457"/>
                  </a:lnTo>
                  <a:lnTo>
                    <a:pt x="41998" y="24599"/>
                  </a:lnTo>
                  <a:lnTo>
                    <a:pt x="41935" y="28270"/>
                  </a:lnTo>
                  <a:lnTo>
                    <a:pt x="58877" y="28270"/>
                  </a:lnTo>
                  <a:lnTo>
                    <a:pt x="58877" y="36410"/>
                  </a:lnTo>
                  <a:lnTo>
                    <a:pt x="63207" y="36410"/>
                  </a:lnTo>
                  <a:lnTo>
                    <a:pt x="63207" y="28270"/>
                  </a:lnTo>
                  <a:lnTo>
                    <a:pt x="68249" y="28270"/>
                  </a:lnTo>
                  <a:lnTo>
                    <a:pt x="68249" y="24599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62652" y="577802"/>
              <a:ext cx="67897" cy="36678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4745736" y="596005"/>
              <a:ext cx="2320925" cy="1923414"/>
            </a:xfrm>
            <a:custGeom>
              <a:avLst/>
              <a:gdLst/>
              <a:ahLst/>
              <a:cxnLst/>
              <a:rect l="l" t="t" r="r" b="b"/>
              <a:pathLst>
                <a:path w="2320925" h="1923414">
                  <a:moveTo>
                    <a:pt x="0" y="1813472"/>
                  </a:moveTo>
                  <a:lnTo>
                    <a:pt x="16261" y="1813472"/>
                  </a:lnTo>
                </a:path>
                <a:path w="2320925" h="1923414">
                  <a:moveTo>
                    <a:pt x="0" y="1450788"/>
                  </a:moveTo>
                  <a:lnTo>
                    <a:pt x="16261" y="1450788"/>
                  </a:lnTo>
                </a:path>
                <a:path w="2320925" h="1923414">
                  <a:moveTo>
                    <a:pt x="0" y="1088087"/>
                  </a:moveTo>
                  <a:lnTo>
                    <a:pt x="16261" y="1088087"/>
                  </a:lnTo>
                </a:path>
                <a:path w="2320925" h="1923414">
                  <a:moveTo>
                    <a:pt x="0" y="725385"/>
                  </a:moveTo>
                  <a:lnTo>
                    <a:pt x="16261" y="725385"/>
                  </a:lnTo>
                </a:path>
                <a:path w="2320925" h="1923414">
                  <a:moveTo>
                    <a:pt x="0" y="362701"/>
                  </a:moveTo>
                  <a:lnTo>
                    <a:pt x="16261" y="362701"/>
                  </a:lnTo>
                </a:path>
                <a:path w="2320925" h="1923414">
                  <a:moveTo>
                    <a:pt x="0" y="0"/>
                  </a:moveTo>
                  <a:lnTo>
                    <a:pt x="16261" y="0"/>
                  </a:lnTo>
                </a:path>
                <a:path w="2320925" h="1923414">
                  <a:moveTo>
                    <a:pt x="662854" y="1922979"/>
                  </a:moveTo>
                  <a:lnTo>
                    <a:pt x="662854" y="1906707"/>
                  </a:lnTo>
                </a:path>
                <a:path w="2320925" h="1923414">
                  <a:moveTo>
                    <a:pt x="1491818" y="1922979"/>
                  </a:moveTo>
                  <a:lnTo>
                    <a:pt x="1491818" y="1906707"/>
                  </a:lnTo>
                </a:path>
                <a:path w="2320925" h="1923414">
                  <a:moveTo>
                    <a:pt x="2320782" y="1922979"/>
                  </a:moveTo>
                  <a:lnTo>
                    <a:pt x="2320782" y="1906707"/>
                  </a:lnTo>
                </a:path>
              </a:pathLst>
            </a:custGeom>
            <a:ln w="633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380736" y="2531668"/>
              <a:ext cx="1713230" cy="36830"/>
            </a:xfrm>
            <a:custGeom>
              <a:avLst/>
              <a:gdLst/>
              <a:ahLst/>
              <a:cxnLst/>
              <a:rect l="l" t="t" r="r" b="b"/>
              <a:pathLst>
                <a:path w="1713229" h="36830">
                  <a:moveTo>
                    <a:pt x="26314" y="24511"/>
                  </a:moveTo>
                  <a:lnTo>
                    <a:pt x="21272" y="24511"/>
                  </a:lnTo>
                  <a:lnTo>
                    <a:pt x="21272" y="5511"/>
                  </a:lnTo>
                  <a:lnTo>
                    <a:pt x="21272" y="330"/>
                  </a:lnTo>
                  <a:lnTo>
                    <a:pt x="16941" y="330"/>
                  </a:lnTo>
                  <a:lnTo>
                    <a:pt x="16941" y="5511"/>
                  </a:lnTo>
                  <a:lnTo>
                    <a:pt x="16941" y="24511"/>
                  </a:lnTo>
                  <a:lnTo>
                    <a:pt x="4229" y="24511"/>
                  </a:lnTo>
                  <a:lnTo>
                    <a:pt x="5156" y="23342"/>
                  </a:lnTo>
                  <a:lnTo>
                    <a:pt x="5245" y="23202"/>
                  </a:lnTo>
                  <a:lnTo>
                    <a:pt x="5689" y="22580"/>
                  </a:lnTo>
                  <a:lnTo>
                    <a:pt x="5829" y="22415"/>
                  </a:lnTo>
                  <a:lnTo>
                    <a:pt x="5943" y="22250"/>
                  </a:lnTo>
                  <a:lnTo>
                    <a:pt x="6019" y="22123"/>
                  </a:lnTo>
                  <a:lnTo>
                    <a:pt x="15481" y="8128"/>
                  </a:lnTo>
                  <a:lnTo>
                    <a:pt x="16560" y="6235"/>
                  </a:lnTo>
                  <a:lnTo>
                    <a:pt x="16941" y="5511"/>
                  </a:lnTo>
                  <a:lnTo>
                    <a:pt x="16941" y="330"/>
                  </a:lnTo>
                  <a:lnTo>
                    <a:pt x="16446" y="330"/>
                  </a:lnTo>
                  <a:lnTo>
                    <a:pt x="38" y="24511"/>
                  </a:lnTo>
                  <a:lnTo>
                    <a:pt x="0" y="28130"/>
                  </a:lnTo>
                  <a:lnTo>
                    <a:pt x="16941" y="28130"/>
                  </a:lnTo>
                  <a:lnTo>
                    <a:pt x="16941" y="36283"/>
                  </a:lnTo>
                  <a:lnTo>
                    <a:pt x="21272" y="36283"/>
                  </a:lnTo>
                  <a:lnTo>
                    <a:pt x="21272" y="28130"/>
                  </a:lnTo>
                  <a:lnTo>
                    <a:pt x="26314" y="28130"/>
                  </a:lnTo>
                  <a:lnTo>
                    <a:pt x="26314" y="24511"/>
                  </a:lnTo>
                  <a:close/>
                </a:path>
                <a:path w="1713229" h="36830">
                  <a:moveTo>
                    <a:pt x="54686" y="24079"/>
                  </a:moveTo>
                  <a:lnTo>
                    <a:pt x="42113" y="13360"/>
                  </a:lnTo>
                  <a:lnTo>
                    <a:pt x="39903" y="13665"/>
                  </a:lnTo>
                  <a:lnTo>
                    <a:pt x="37680" y="14452"/>
                  </a:lnTo>
                  <a:lnTo>
                    <a:pt x="36461" y="15087"/>
                  </a:lnTo>
                  <a:lnTo>
                    <a:pt x="35674" y="15633"/>
                  </a:lnTo>
                  <a:lnTo>
                    <a:pt x="36347" y="4229"/>
                  </a:lnTo>
                  <a:lnTo>
                    <a:pt x="52590" y="4229"/>
                  </a:lnTo>
                  <a:lnTo>
                    <a:pt x="52590" y="330"/>
                  </a:lnTo>
                  <a:lnTo>
                    <a:pt x="32181" y="330"/>
                  </a:lnTo>
                  <a:lnTo>
                    <a:pt x="30975" y="19659"/>
                  </a:lnTo>
                  <a:lnTo>
                    <a:pt x="35458" y="19659"/>
                  </a:lnTo>
                  <a:lnTo>
                    <a:pt x="36715" y="18694"/>
                  </a:lnTo>
                  <a:lnTo>
                    <a:pt x="38557" y="17716"/>
                  </a:lnTo>
                  <a:lnTo>
                    <a:pt x="40627" y="17183"/>
                  </a:lnTo>
                  <a:lnTo>
                    <a:pt x="42506" y="17094"/>
                  </a:lnTo>
                  <a:lnTo>
                    <a:pt x="43878" y="17221"/>
                  </a:lnTo>
                  <a:lnTo>
                    <a:pt x="49923" y="25057"/>
                  </a:lnTo>
                  <a:lnTo>
                    <a:pt x="49796" y="26568"/>
                  </a:lnTo>
                  <a:lnTo>
                    <a:pt x="42748" y="33020"/>
                  </a:lnTo>
                  <a:lnTo>
                    <a:pt x="40335" y="32931"/>
                  </a:lnTo>
                  <a:lnTo>
                    <a:pt x="34569" y="27698"/>
                  </a:lnTo>
                  <a:lnTo>
                    <a:pt x="29946" y="28244"/>
                  </a:lnTo>
                  <a:lnTo>
                    <a:pt x="43167" y="36753"/>
                  </a:lnTo>
                  <a:lnTo>
                    <a:pt x="45440" y="36461"/>
                  </a:lnTo>
                  <a:lnTo>
                    <a:pt x="54686" y="24561"/>
                  </a:lnTo>
                  <a:lnTo>
                    <a:pt x="54686" y="24079"/>
                  </a:lnTo>
                  <a:close/>
                </a:path>
                <a:path w="1713229" h="36830">
                  <a:moveTo>
                    <a:pt x="854608" y="24561"/>
                  </a:moveTo>
                  <a:lnTo>
                    <a:pt x="842022" y="13360"/>
                  </a:lnTo>
                  <a:lnTo>
                    <a:pt x="839825" y="13665"/>
                  </a:lnTo>
                  <a:lnTo>
                    <a:pt x="838657" y="14033"/>
                  </a:lnTo>
                  <a:lnTo>
                    <a:pt x="836676" y="14922"/>
                  </a:lnTo>
                  <a:lnTo>
                    <a:pt x="835596" y="15633"/>
                  </a:lnTo>
                  <a:lnTo>
                    <a:pt x="836295" y="4229"/>
                  </a:lnTo>
                  <a:lnTo>
                    <a:pt x="852538" y="4229"/>
                  </a:lnTo>
                  <a:lnTo>
                    <a:pt x="852538" y="330"/>
                  </a:lnTo>
                  <a:lnTo>
                    <a:pt x="832104" y="330"/>
                  </a:lnTo>
                  <a:lnTo>
                    <a:pt x="830897" y="19659"/>
                  </a:lnTo>
                  <a:lnTo>
                    <a:pt x="835393" y="19659"/>
                  </a:lnTo>
                  <a:lnTo>
                    <a:pt x="837361" y="18237"/>
                  </a:lnTo>
                  <a:lnTo>
                    <a:pt x="838314" y="17792"/>
                  </a:lnTo>
                  <a:lnTo>
                    <a:pt x="840549" y="17183"/>
                  </a:lnTo>
                  <a:lnTo>
                    <a:pt x="842441" y="17094"/>
                  </a:lnTo>
                  <a:lnTo>
                    <a:pt x="843483" y="17183"/>
                  </a:lnTo>
                  <a:lnTo>
                    <a:pt x="849769" y="23380"/>
                  </a:lnTo>
                  <a:lnTo>
                    <a:pt x="849769" y="26200"/>
                  </a:lnTo>
                  <a:lnTo>
                    <a:pt x="840917" y="33007"/>
                  </a:lnTo>
                  <a:lnTo>
                    <a:pt x="839381" y="32766"/>
                  </a:lnTo>
                  <a:lnTo>
                    <a:pt x="837869" y="32181"/>
                  </a:lnTo>
                  <a:lnTo>
                    <a:pt x="836485" y="31254"/>
                  </a:lnTo>
                  <a:lnTo>
                    <a:pt x="835507" y="30073"/>
                  </a:lnTo>
                  <a:lnTo>
                    <a:pt x="834504" y="27698"/>
                  </a:lnTo>
                  <a:lnTo>
                    <a:pt x="829868" y="28244"/>
                  </a:lnTo>
                  <a:lnTo>
                    <a:pt x="840765" y="36753"/>
                  </a:lnTo>
                  <a:lnTo>
                    <a:pt x="843102" y="36753"/>
                  </a:lnTo>
                  <a:lnTo>
                    <a:pt x="854405" y="27152"/>
                  </a:lnTo>
                  <a:lnTo>
                    <a:pt x="854608" y="24561"/>
                  </a:lnTo>
                  <a:close/>
                </a:path>
                <a:path w="1713229" h="36830">
                  <a:moveTo>
                    <a:pt x="883323" y="11607"/>
                  </a:moveTo>
                  <a:lnTo>
                    <a:pt x="883018" y="10045"/>
                  </a:lnTo>
                  <a:lnTo>
                    <a:pt x="882891" y="9563"/>
                  </a:lnTo>
                  <a:lnTo>
                    <a:pt x="882764" y="9093"/>
                  </a:lnTo>
                  <a:lnTo>
                    <a:pt x="882637" y="8597"/>
                  </a:lnTo>
                  <a:lnTo>
                    <a:pt x="880618" y="4229"/>
                  </a:lnTo>
                  <a:lnTo>
                    <a:pt x="880198" y="3632"/>
                  </a:lnTo>
                  <a:lnTo>
                    <a:pt x="879843" y="3213"/>
                  </a:lnTo>
                  <a:lnTo>
                    <a:pt x="879119" y="2463"/>
                  </a:lnTo>
                  <a:lnTo>
                    <a:pt x="878751" y="2133"/>
                  </a:lnTo>
                  <a:lnTo>
                    <a:pt x="878713" y="11607"/>
                  </a:lnTo>
                  <a:lnTo>
                    <a:pt x="878687" y="24676"/>
                  </a:lnTo>
                  <a:lnTo>
                    <a:pt x="878573" y="25260"/>
                  </a:lnTo>
                  <a:lnTo>
                    <a:pt x="878459" y="25806"/>
                  </a:lnTo>
                  <a:lnTo>
                    <a:pt x="878357" y="26301"/>
                  </a:lnTo>
                  <a:lnTo>
                    <a:pt x="877138" y="29616"/>
                  </a:lnTo>
                  <a:lnTo>
                    <a:pt x="876820" y="30162"/>
                  </a:lnTo>
                  <a:lnTo>
                    <a:pt x="873988" y="32562"/>
                  </a:lnTo>
                  <a:lnTo>
                    <a:pt x="868591" y="32562"/>
                  </a:lnTo>
                  <a:lnTo>
                    <a:pt x="864095" y="10642"/>
                  </a:lnTo>
                  <a:lnTo>
                    <a:pt x="864476" y="9093"/>
                  </a:lnTo>
                  <a:lnTo>
                    <a:pt x="869937" y="3632"/>
                  </a:lnTo>
                  <a:lnTo>
                    <a:pt x="872820" y="3632"/>
                  </a:lnTo>
                  <a:lnTo>
                    <a:pt x="873480" y="3771"/>
                  </a:lnTo>
                  <a:lnTo>
                    <a:pt x="873658" y="3771"/>
                  </a:lnTo>
                  <a:lnTo>
                    <a:pt x="877760" y="7950"/>
                  </a:lnTo>
                  <a:lnTo>
                    <a:pt x="877849" y="8178"/>
                  </a:lnTo>
                  <a:lnTo>
                    <a:pt x="878014" y="8597"/>
                  </a:lnTo>
                  <a:lnTo>
                    <a:pt x="878281" y="9563"/>
                  </a:lnTo>
                  <a:lnTo>
                    <a:pt x="878382" y="10045"/>
                  </a:lnTo>
                  <a:lnTo>
                    <a:pt x="878509" y="10642"/>
                  </a:lnTo>
                  <a:lnTo>
                    <a:pt x="878535" y="10807"/>
                  </a:lnTo>
                  <a:lnTo>
                    <a:pt x="878713" y="11607"/>
                  </a:lnTo>
                  <a:lnTo>
                    <a:pt x="878713" y="2108"/>
                  </a:lnTo>
                  <a:lnTo>
                    <a:pt x="873912" y="0"/>
                  </a:lnTo>
                  <a:lnTo>
                    <a:pt x="868819" y="0"/>
                  </a:lnTo>
                  <a:lnTo>
                    <a:pt x="861910" y="4381"/>
                  </a:lnTo>
                  <a:lnTo>
                    <a:pt x="861809" y="4521"/>
                  </a:lnTo>
                  <a:lnTo>
                    <a:pt x="859320" y="11607"/>
                  </a:lnTo>
                  <a:lnTo>
                    <a:pt x="859409" y="25260"/>
                  </a:lnTo>
                  <a:lnTo>
                    <a:pt x="868248" y="36449"/>
                  </a:lnTo>
                  <a:lnTo>
                    <a:pt x="874280" y="36449"/>
                  </a:lnTo>
                  <a:lnTo>
                    <a:pt x="883221" y="25260"/>
                  </a:lnTo>
                  <a:lnTo>
                    <a:pt x="883323" y="11607"/>
                  </a:lnTo>
                  <a:close/>
                </a:path>
                <a:path w="1713229" h="36830">
                  <a:moveTo>
                    <a:pt x="1683575" y="24561"/>
                  </a:moveTo>
                  <a:lnTo>
                    <a:pt x="1670989" y="13360"/>
                  </a:lnTo>
                  <a:lnTo>
                    <a:pt x="1668792" y="13665"/>
                  </a:lnTo>
                  <a:lnTo>
                    <a:pt x="1666570" y="14452"/>
                  </a:lnTo>
                  <a:lnTo>
                    <a:pt x="1665351" y="15087"/>
                  </a:lnTo>
                  <a:lnTo>
                    <a:pt x="1664563" y="15633"/>
                  </a:lnTo>
                  <a:lnTo>
                    <a:pt x="1665249" y="4229"/>
                  </a:lnTo>
                  <a:lnTo>
                    <a:pt x="1681480" y="4229"/>
                  </a:lnTo>
                  <a:lnTo>
                    <a:pt x="1681480" y="330"/>
                  </a:lnTo>
                  <a:lnTo>
                    <a:pt x="1661071" y="330"/>
                  </a:lnTo>
                  <a:lnTo>
                    <a:pt x="1659864" y="19659"/>
                  </a:lnTo>
                  <a:lnTo>
                    <a:pt x="1664360" y="19659"/>
                  </a:lnTo>
                  <a:lnTo>
                    <a:pt x="1666328" y="18237"/>
                  </a:lnTo>
                  <a:lnTo>
                    <a:pt x="1667281" y="17792"/>
                  </a:lnTo>
                  <a:lnTo>
                    <a:pt x="1669516" y="17183"/>
                  </a:lnTo>
                  <a:lnTo>
                    <a:pt x="1671396" y="17094"/>
                  </a:lnTo>
                  <a:lnTo>
                    <a:pt x="1672780" y="17221"/>
                  </a:lnTo>
                  <a:lnTo>
                    <a:pt x="1678762" y="23685"/>
                  </a:lnTo>
                  <a:lnTo>
                    <a:pt x="1678724" y="26200"/>
                  </a:lnTo>
                  <a:lnTo>
                    <a:pt x="1669884" y="33007"/>
                  </a:lnTo>
                  <a:lnTo>
                    <a:pt x="1668335" y="32766"/>
                  </a:lnTo>
                  <a:lnTo>
                    <a:pt x="1666836" y="32181"/>
                  </a:lnTo>
                  <a:lnTo>
                    <a:pt x="1665452" y="31254"/>
                  </a:lnTo>
                  <a:lnTo>
                    <a:pt x="1664474" y="30073"/>
                  </a:lnTo>
                  <a:lnTo>
                    <a:pt x="1663471" y="27698"/>
                  </a:lnTo>
                  <a:lnTo>
                    <a:pt x="1658823" y="28244"/>
                  </a:lnTo>
                  <a:lnTo>
                    <a:pt x="1669732" y="36753"/>
                  </a:lnTo>
                  <a:lnTo>
                    <a:pt x="1672043" y="36753"/>
                  </a:lnTo>
                  <a:lnTo>
                    <a:pt x="1683372" y="27152"/>
                  </a:lnTo>
                  <a:lnTo>
                    <a:pt x="1683575" y="24561"/>
                  </a:lnTo>
                  <a:close/>
                </a:path>
                <a:path w="1713229" h="36830">
                  <a:moveTo>
                    <a:pt x="1712620" y="24561"/>
                  </a:moveTo>
                  <a:lnTo>
                    <a:pt x="1700034" y="13360"/>
                  </a:lnTo>
                  <a:lnTo>
                    <a:pt x="1697812" y="13665"/>
                  </a:lnTo>
                  <a:lnTo>
                    <a:pt x="1696643" y="14033"/>
                  </a:lnTo>
                  <a:lnTo>
                    <a:pt x="1695284" y="14592"/>
                  </a:lnTo>
                  <a:lnTo>
                    <a:pt x="1693595" y="15633"/>
                  </a:lnTo>
                  <a:lnTo>
                    <a:pt x="1694281" y="4229"/>
                  </a:lnTo>
                  <a:lnTo>
                    <a:pt x="1710524" y="4229"/>
                  </a:lnTo>
                  <a:lnTo>
                    <a:pt x="1710524" y="330"/>
                  </a:lnTo>
                  <a:lnTo>
                    <a:pt x="1690116" y="330"/>
                  </a:lnTo>
                  <a:lnTo>
                    <a:pt x="1688909" y="19659"/>
                  </a:lnTo>
                  <a:lnTo>
                    <a:pt x="1693392" y="19659"/>
                  </a:lnTo>
                  <a:lnTo>
                    <a:pt x="1695996" y="17932"/>
                  </a:lnTo>
                  <a:lnTo>
                    <a:pt x="1698561" y="17183"/>
                  </a:lnTo>
                  <a:lnTo>
                    <a:pt x="1707832" y="25463"/>
                  </a:lnTo>
                  <a:lnTo>
                    <a:pt x="1707388" y="27914"/>
                  </a:lnTo>
                  <a:lnTo>
                    <a:pt x="1700669" y="33020"/>
                  </a:lnTo>
                  <a:lnTo>
                    <a:pt x="1698269" y="32931"/>
                  </a:lnTo>
                  <a:lnTo>
                    <a:pt x="1692490" y="27698"/>
                  </a:lnTo>
                  <a:lnTo>
                    <a:pt x="1687855" y="28244"/>
                  </a:lnTo>
                  <a:lnTo>
                    <a:pt x="1699869" y="36791"/>
                  </a:lnTo>
                  <a:lnTo>
                    <a:pt x="1702257" y="36639"/>
                  </a:lnTo>
                  <a:lnTo>
                    <a:pt x="1712417" y="27152"/>
                  </a:lnTo>
                  <a:lnTo>
                    <a:pt x="1712620" y="24561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69571" y="2502713"/>
              <a:ext cx="52098" cy="65394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4595876" y="1460982"/>
              <a:ext cx="1823085" cy="1179195"/>
            </a:xfrm>
            <a:custGeom>
              <a:avLst/>
              <a:gdLst/>
              <a:ahLst/>
              <a:cxnLst/>
              <a:rect l="l" t="t" r="r" b="b"/>
              <a:pathLst>
                <a:path w="1823085" h="1179195">
                  <a:moveTo>
                    <a:pt x="47929" y="24980"/>
                  </a:moveTo>
                  <a:lnTo>
                    <a:pt x="0" y="0"/>
                  </a:lnTo>
                  <a:lnTo>
                    <a:pt x="0" y="6057"/>
                  </a:lnTo>
                  <a:lnTo>
                    <a:pt x="19685" y="12814"/>
                  </a:lnTo>
                  <a:lnTo>
                    <a:pt x="28232" y="15836"/>
                  </a:lnTo>
                  <a:lnTo>
                    <a:pt x="0" y="26238"/>
                  </a:lnTo>
                  <a:lnTo>
                    <a:pt x="0" y="32359"/>
                  </a:lnTo>
                  <a:lnTo>
                    <a:pt x="34315" y="18681"/>
                  </a:lnTo>
                  <a:lnTo>
                    <a:pt x="35699" y="19227"/>
                  </a:lnTo>
                  <a:lnTo>
                    <a:pt x="43548" y="27203"/>
                  </a:lnTo>
                  <a:lnTo>
                    <a:pt x="43357" y="30378"/>
                  </a:lnTo>
                  <a:lnTo>
                    <a:pt x="47675" y="30378"/>
                  </a:lnTo>
                  <a:lnTo>
                    <a:pt x="47790" y="29781"/>
                  </a:lnTo>
                  <a:lnTo>
                    <a:pt x="47929" y="24980"/>
                  </a:lnTo>
                  <a:close/>
                </a:path>
                <a:path w="1823085" h="1179195">
                  <a:moveTo>
                    <a:pt x="1823085" y="1178991"/>
                  </a:moveTo>
                  <a:lnTo>
                    <a:pt x="1810639" y="1161186"/>
                  </a:lnTo>
                  <a:lnTo>
                    <a:pt x="1822348" y="1144485"/>
                  </a:lnTo>
                  <a:lnTo>
                    <a:pt x="1815934" y="1144485"/>
                  </a:lnTo>
                  <a:lnTo>
                    <a:pt x="1807400" y="1157909"/>
                  </a:lnTo>
                  <a:lnTo>
                    <a:pt x="1798789" y="1144485"/>
                  </a:lnTo>
                  <a:lnTo>
                    <a:pt x="1792452" y="1144485"/>
                  </a:lnTo>
                  <a:lnTo>
                    <a:pt x="1804136" y="1161262"/>
                  </a:lnTo>
                  <a:lnTo>
                    <a:pt x="1791881" y="1178991"/>
                  </a:lnTo>
                  <a:lnTo>
                    <a:pt x="1798053" y="1178991"/>
                  </a:lnTo>
                  <a:lnTo>
                    <a:pt x="1807400" y="1164831"/>
                  </a:lnTo>
                  <a:lnTo>
                    <a:pt x="1816671" y="1178991"/>
                  </a:lnTo>
                  <a:lnTo>
                    <a:pt x="1823085" y="11789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520700" y="2913150"/>
            <a:ext cx="3490595" cy="2139950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35"/>
              </a:spcBef>
            </a:pPr>
            <a:r>
              <a:rPr dirty="0" sz="1450" spc="-55" b="1">
                <a:latin typeface="Trebuchet MS"/>
                <a:cs typeface="Trebuchet MS"/>
              </a:rPr>
              <a:t>Two-</a:t>
            </a:r>
            <a:r>
              <a:rPr dirty="0" sz="1450" spc="-25" b="1">
                <a:latin typeface="Trebuchet MS"/>
                <a:cs typeface="Trebuchet MS"/>
              </a:rPr>
              <a:t>tailed</a:t>
            </a:r>
            <a:r>
              <a:rPr dirty="0" sz="1450" spc="-20" b="1">
                <a:latin typeface="Trebuchet MS"/>
                <a:cs typeface="Trebuchet MS"/>
              </a:rPr>
              <a:t> test</a:t>
            </a:r>
            <a:endParaRPr sz="1450">
              <a:latin typeface="Trebuchet MS"/>
              <a:cs typeface="Trebuchet MS"/>
            </a:endParaRPr>
          </a:p>
          <a:p>
            <a:pPr algn="ctr" marL="1340485" marR="1193800">
              <a:lnSpc>
                <a:spcPts val="3000"/>
              </a:lnSpc>
              <a:spcBef>
                <a:spcPts val="160"/>
              </a:spcBef>
            </a:pP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3227" sz="1575">
                <a:latin typeface="Tahoma"/>
                <a:cs typeface="Tahoma"/>
              </a:rPr>
              <a:t>0</a:t>
            </a:r>
            <a:r>
              <a:rPr dirty="0" baseline="-13227" sz="1575" spc="209">
                <a:latin typeface="Tahoma"/>
                <a:cs typeface="Tahoma"/>
              </a:rPr>
              <a:t> </a:t>
            </a:r>
            <a:r>
              <a:rPr dirty="0" sz="1500" spc="-140">
                <a:latin typeface="Tahoma"/>
                <a:cs typeface="Tahoma"/>
              </a:rPr>
              <a:t>:</a:t>
            </a:r>
            <a:r>
              <a:rPr dirty="0" sz="1500" spc="-70">
                <a:latin typeface="Tahoma"/>
                <a:cs typeface="Tahoma"/>
              </a:rPr>
              <a:t> </a:t>
            </a:r>
            <a:r>
              <a:rPr dirty="0" sz="1550" spc="-135" i="1">
                <a:latin typeface="Verdana"/>
                <a:cs typeface="Verdana"/>
              </a:rPr>
              <a:t>μ</a:t>
            </a:r>
            <a:r>
              <a:rPr dirty="0" sz="1550" spc="-150" i="1">
                <a:latin typeface="Verdana"/>
                <a:cs typeface="Verdana"/>
              </a:rPr>
              <a:t> </a:t>
            </a:r>
            <a:r>
              <a:rPr dirty="0" sz="1500">
                <a:latin typeface="Tahoma"/>
                <a:cs typeface="Tahoma"/>
              </a:rPr>
              <a:t>=</a:t>
            </a:r>
            <a:r>
              <a:rPr dirty="0" sz="1500" spc="-70">
                <a:latin typeface="Tahoma"/>
                <a:cs typeface="Tahoma"/>
              </a:rPr>
              <a:t> </a:t>
            </a:r>
            <a:r>
              <a:rPr dirty="0" sz="1500" spc="-25">
                <a:latin typeface="Tahoma"/>
                <a:cs typeface="Tahoma"/>
              </a:rPr>
              <a:t>50 </a:t>
            </a: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5151" sz="1650" i="1">
                <a:latin typeface="Verdana"/>
                <a:cs typeface="Verdana"/>
              </a:rPr>
              <a:t>A</a:t>
            </a:r>
            <a:r>
              <a:rPr dirty="0" baseline="-15151" sz="1650" spc="157" i="1">
                <a:latin typeface="Verdana"/>
                <a:cs typeface="Verdana"/>
              </a:rPr>
              <a:t> </a:t>
            </a:r>
            <a:r>
              <a:rPr dirty="0" sz="1500" spc="-140">
                <a:latin typeface="Tahoma"/>
                <a:cs typeface="Tahoma"/>
              </a:rPr>
              <a:t>:</a:t>
            </a:r>
            <a:r>
              <a:rPr dirty="0" sz="1500" spc="-55">
                <a:latin typeface="Tahoma"/>
                <a:cs typeface="Tahoma"/>
              </a:rPr>
              <a:t> </a:t>
            </a:r>
            <a:r>
              <a:rPr dirty="0" sz="1550" spc="-135" i="1">
                <a:latin typeface="Verdana"/>
                <a:cs typeface="Verdana"/>
              </a:rPr>
              <a:t>μ </a:t>
            </a:r>
            <a:r>
              <a:rPr dirty="0" sz="1500">
                <a:latin typeface="Tahoma"/>
                <a:cs typeface="Tahoma"/>
              </a:rPr>
              <a:t>≠</a:t>
            </a:r>
            <a:r>
              <a:rPr dirty="0" sz="1500" spc="-50">
                <a:latin typeface="Tahoma"/>
                <a:cs typeface="Tahoma"/>
              </a:rPr>
              <a:t> </a:t>
            </a:r>
            <a:r>
              <a:rPr dirty="0" sz="1500" spc="-114">
                <a:latin typeface="Tahoma"/>
                <a:cs typeface="Tahoma"/>
              </a:rPr>
              <a:t>50</a:t>
            </a:r>
            <a:endParaRPr sz="1500">
              <a:latin typeface="Tahoma"/>
              <a:cs typeface="Tahoma"/>
            </a:endParaRPr>
          </a:p>
          <a:p>
            <a:pPr marL="50800" marR="109220">
              <a:lnSpc>
                <a:spcPts val="1730"/>
              </a:lnSpc>
              <a:spcBef>
                <a:spcPts val="1240"/>
              </a:spcBef>
            </a:pPr>
            <a:r>
              <a:rPr dirty="0" sz="1450" spc="-30">
                <a:latin typeface="Trebuchet MS"/>
                <a:cs typeface="Trebuchet MS"/>
              </a:rPr>
              <a:t>We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testing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whether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differs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50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either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direction</a:t>
            </a:r>
            <a:r>
              <a:rPr dirty="0" sz="1450" spc="-1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algn="ctr" marL="139065">
              <a:lnSpc>
                <a:spcPct val="100000"/>
              </a:lnSpc>
              <a:spcBef>
                <a:spcPts val="1250"/>
              </a:spcBef>
            </a:pPr>
            <a:r>
              <a:rPr dirty="0" sz="1550" spc="-25" i="1">
                <a:latin typeface="Verdana"/>
                <a:cs typeface="Verdana"/>
              </a:rPr>
              <a:t>P</a:t>
            </a:r>
            <a:r>
              <a:rPr dirty="0" sz="1550" spc="-390" i="1">
                <a:latin typeface="Verdana"/>
                <a:cs typeface="Verdana"/>
              </a:rPr>
              <a:t> </a:t>
            </a:r>
            <a:r>
              <a:rPr dirty="0" sz="1500" spc="-30">
                <a:latin typeface="Tahoma"/>
                <a:cs typeface="Tahoma"/>
              </a:rPr>
              <a:t>(</a:t>
            </a:r>
            <a:r>
              <a:rPr dirty="0" sz="1550" spc="-715" i="1">
                <a:latin typeface="Verdana"/>
                <a:cs typeface="Verdana"/>
              </a:rPr>
              <a:t>X</a:t>
            </a:r>
            <a:r>
              <a:rPr dirty="0" baseline="11111" sz="2250" spc="-44">
                <a:latin typeface="Tahoma"/>
                <a:cs typeface="Tahoma"/>
              </a:rPr>
              <a:t>¯</a:t>
            </a:r>
            <a:r>
              <a:rPr dirty="0" baseline="11111" sz="2250" spc="1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&gt;</a:t>
            </a:r>
            <a:r>
              <a:rPr dirty="0" sz="1500" spc="145">
                <a:latin typeface="Tahoma"/>
                <a:cs typeface="Tahoma"/>
              </a:rPr>
              <a:t> </a:t>
            </a:r>
            <a:r>
              <a:rPr dirty="0" sz="1500" spc="-75">
                <a:latin typeface="Tahoma"/>
                <a:cs typeface="Tahoma"/>
              </a:rPr>
              <a:t>55.71|</a:t>
            </a:r>
            <a:r>
              <a:rPr dirty="0" sz="1550" spc="-75" i="1">
                <a:latin typeface="Verdana"/>
                <a:cs typeface="Verdana"/>
              </a:rPr>
              <a:t>H</a:t>
            </a:r>
            <a:r>
              <a:rPr dirty="0" baseline="-13227" sz="1575" spc="-112">
                <a:latin typeface="Tahoma"/>
                <a:cs typeface="Tahoma"/>
              </a:rPr>
              <a:t>0</a:t>
            </a:r>
            <a:r>
              <a:rPr dirty="0" sz="1500" spc="-75">
                <a:latin typeface="Tahoma"/>
                <a:cs typeface="Tahoma"/>
              </a:rPr>
              <a:t>)</a:t>
            </a:r>
            <a:r>
              <a:rPr dirty="0" sz="1500" spc="-14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+</a:t>
            </a:r>
            <a:r>
              <a:rPr dirty="0" sz="1500" spc="-150">
                <a:latin typeface="Tahoma"/>
                <a:cs typeface="Tahoma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P</a:t>
            </a:r>
            <a:r>
              <a:rPr dirty="0" sz="1550" spc="-390" i="1">
                <a:latin typeface="Verdana"/>
                <a:cs typeface="Verdana"/>
              </a:rPr>
              <a:t> </a:t>
            </a:r>
            <a:r>
              <a:rPr dirty="0" sz="1500" spc="-30">
                <a:latin typeface="Tahoma"/>
                <a:cs typeface="Tahoma"/>
              </a:rPr>
              <a:t>(</a:t>
            </a:r>
            <a:r>
              <a:rPr dirty="0" sz="1550" spc="-715" i="1">
                <a:latin typeface="Verdana"/>
                <a:cs typeface="Verdana"/>
              </a:rPr>
              <a:t>X</a:t>
            </a:r>
            <a:r>
              <a:rPr dirty="0" baseline="11111" sz="2250" spc="-44">
                <a:latin typeface="Tahoma"/>
                <a:cs typeface="Tahoma"/>
              </a:rPr>
              <a:t>¯</a:t>
            </a:r>
            <a:r>
              <a:rPr dirty="0" baseline="11111" sz="2250" spc="15">
                <a:latin typeface="Tahoma"/>
                <a:cs typeface="Tahoma"/>
              </a:rPr>
              <a:t> </a:t>
            </a:r>
            <a:r>
              <a:rPr dirty="0" sz="1500">
                <a:latin typeface="Tahoma"/>
                <a:cs typeface="Tahoma"/>
              </a:rPr>
              <a:t>&lt;</a:t>
            </a:r>
            <a:r>
              <a:rPr dirty="0" sz="1500" spc="-65">
                <a:latin typeface="Tahoma"/>
                <a:cs typeface="Tahoma"/>
              </a:rPr>
              <a:t> </a:t>
            </a:r>
            <a:r>
              <a:rPr dirty="0" sz="1500" spc="-70">
                <a:latin typeface="Tahoma"/>
                <a:cs typeface="Tahoma"/>
              </a:rPr>
              <a:t>44.29|</a:t>
            </a:r>
            <a:r>
              <a:rPr dirty="0" sz="1550" spc="-70" i="1">
                <a:latin typeface="Verdana"/>
                <a:cs typeface="Verdana"/>
              </a:rPr>
              <a:t>H</a:t>
            </a:r>
            <a:r>
              <a:rPr dirty="0" baseline="-13227" sz="1575" spc="-104">
                <a:latin typeface="Tahoma"/>
                <a:cs typeface="Tahoma"/>
              </a:rPr>
              <a:t>0</a:t>
            </a:r>
            <a:r>
              <a:rPr dirty="0" sz="1500" spc="-70">
                <a:latin typeface="Tahoma"/>
                <a:cs typeface="Tahoma"/>
              </a:rPr>
              <a:t>)</a:t>
            </a:r>
            <a:r>
              <a:rPr dirty="0" sz="1500" spc="-65">
                <a:latin typeface="Tahoma"/>
                <a:cs typeface="Tahoma"/>
              </a:rPr>
              <a:t> </a:t>
            </a:r>
            <a:r>
              <a:rPr dirty="0" sz="1500" spc="-35">
                <a:latin typeface="Tahoma"/>
                <a:cs typeface="Tahoma"/>
              </a:rPr>
              <a:t>=?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4595888" y="3086882"/>
            <a:ext cx="3452495" cy="2192020"/>
            <a:chOff x="4595888" y="3086882"/>
            <a:chExt cx="3452495" cy="2192020"/>
          </a:xfrm>
        </p:grpSpPr>
        <p:sp>
          <p:nvSpPr>
            <p:cNvPr id="37" name="object 37" descr=""/>
            <p:cNvSpPr/>
            <p:nvPr/>
          </p:nvSpPr>
          <p:spPr>
            <a:xfrm>
              <a:off x="4761998" y="4866569"/>
              <a:ext cx="3282950" cy="0"/>
            </a:xfrm>
            <a:custGeom>
              <a:avLst/>
              <a:gdLst/>
              <a:ahLst/>
              <a:cxnLst/>
              <a:rect l="l" t="t" r="r" b="b"/>
              <a:pathLst>
                <a:path w="3282950" h="0">
                  <a:moveTo>
                    <a:pt x="0" y="0"/>
                  </a:moveTo>
                  <a:lnTo>
                    <a:pt x="3282696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761998" y="4503868"/>
              <a:ext cx="3282950" cy="0"/>
            </a:xfrm>
            <a:custGeom>
              <a:avLst/>
              <a:gdLst/>
              <a:ahLst/>
              <a:cxnLst/>
              <a:rect l="l" t="t" r="r" b="b"/>
              <a:pathLst>
                <a:path w="3282950" h="0">
                  <a:moveTo>
                    <a:pt x="0" y="0"/>
                  </a:moveTo>
                  <a:lnTo>
                    <a:pt x="3282696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761998" y="4141166"/>
              <a:ext cx="3282950" cy="0"/>
            </a:xfrm>
            <a:custGeom>
              <a:avLst/>
              <a:gdLst/>
              <a:ahLst/>
              <a:cxnLst/>
              <a:rect l="l" t="t" r="r" b="b"/>
              <a:pathLst>
                <a:path w="3282950" h="0">
                  <a:moveTo>
                    <a:pt x="0" y="0"/>
                  </a:moveTo>
                  <a:lnTo>
                    <a:pt x="3282696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761998" y="3778464"/>
              <a:ext cx="3282950" cy="0"/>
            </a:xfrm>
            <a:custGeom>
              <a:avLst/>
              <a:gdLst/>
              <a:ahLst/>
              <a:cxnLst/>
              <a:rect l="l" t="t" r="r" b="b"/>
              <a:pathLst>
                <a:path w="3282950" h="0">
                  <a:moveTo>
                    <a:pt x="0" y="0"/>
                  </a:moveTo>
                  <a:lnTo>
                    <a:pt x="3282696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761998" y="3415780"/>
              <a:ext cx="3282950" cy="0"/>
            </a:xfrm>
            <a:custGeom>
              <a:avLst/>
              <a:gdLst/>
              <a:ahLst/>
              <a:cxnLst/>
              <a:rect l="l" t="t" r="r" b="b"/>
              <a:pathLst>
                <a:path w="3282950" h="0">
                  <a:moveTo>
                    <a:pt x="0" y="0"/>
                  </a:moveTo>
                  <a:lnTo>
                    <a:pt x="3282696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5284236" y="3090048"/>
              <a:ext cx="0" cy="2051685"/>
            </a:xfrm>
            <a:custGeom>
              <a:avLst/>
              <a:gdLst/>
              <a:ahLst/>
              <a:cxnLst/>
              <a:rect l="l" t="t" r="r" b="b"/>
              <a:pathLst>
                <a:path w="0" h="2051685">
                  <a:moveTo>
                    <a:pt x="0" y="20510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030309" y="3090048"/>
              <a:ext cx="0" cy="2051685"/>
            </a:xfrm>
            <a:custGeom>
              <a:avLst/>
              <a:gdLst/>
              <a:ahLst/>
              <a:cxnLst/>
              <a:rect l="l" t="t" r="r" b="b"/>
              <a:pathLst>
                <a:path w="0" h="2051685">
                  <a:moveTo>
                    <a:pt x="0" y="20510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776383" y="3090048"/>
              <a:ext cx="0" cy="2051685"/>
            </a:xfrm>
            <a:custGeom>
              <a:avLst/>
              <a:gdLst/>
              <a:ahLst/>
              <a:cxnLst/>
              <a:rect l="l" t="t" r="r" b="b"/>
              <a:pathLst>
                <a:path w="0" h="2051685">
                  <a:moveTo>
                    <a:pt x="0" y="20510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522438" y="3090048"/>
              <a:ext cx="0" cy="2051685"/>
            </a:xfrm>
            <a:custGeom>
              <a:avLst/>
              <a:gdLst/>
              <a:ahLst/>
              <a:cxnLst/>
              <a:rect l="l" t="t" r="r" b="b"/>
              <a:pathLst>
                <a:path w="0" h="2051685">
                  <a:moveTo>
                    <a:pt x="0" y="20510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4761998" y="5047902"/>
              <a:ext cx="3282950" cy="0"/>
            </a:xfrm>
            <a:custGeom>
              <a:avLst/>
              <a:gdLst/>
              <a:ahLst/>
              <a:cxnLst/>
              <a:rect l="l" t="t" r="r" b="b"/>
              <a:pathLst>
                <a:path w="3282950" h="0">
                  <a:moveTo>
                    <a:pt x="0" y="0"/>
                  </a:moveTo>
                  <a:lnTo>
                    <a:pt x="3282696" y="0"/>
                  </a:lnTo>
                </a:path>
              </a:pathLst>
            </a:custGeom>
            <a:ln w="6334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4761998" y="4685218"/>
              <a:ext cx="3282950" cy="0"/>
            </a:xfrm>
            <a:custGeom>
              <a:avLst/>
              <a:gdLst/>
              <a:ahLst/>
              <a:cxnLst/>
              <a:rect l="l" t="t" r="r" b="b"/>
              <a:pathLst>
                <a:path w="3282950" h="0">
                  <a:moveTo>
                    <a:pt x="0" y="0"/>
                  </a:moveTo>
                  <a:lnTo>
                    <a:pt x="3282696" y="0"/>
                  </a:lnTo>
                </a:path>
              </a:pathLst>
            </a:custGeom>
            <a:ln w="6334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761998" y="4322517"/>
              <a:ext cx="3282950" cy="0"/>
            </a:xfrm>
            <a:custGeom>
              <a:avLst/>
              <a:gdLst/>
              <a:ahLst/>
              <a:cxnLst/>
              <a:rect l="l" t="t" r="r" b="b"/>
              <a:pathLst>
                <a:path w="3282950" h="0">
                  <a:moveTo>
                    <a:pt x="0" y="0"/>
                  </a:moveTo>
                  <a:lnTo>
                    <a:pt x="3282696" y="0"/>
                  </a:lnTo>
                </a:path>
              </a:pathLst>
            </a:custGeom>
            <a:ln w="6334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4761998" y="3959815"/>
              <a:ext cx="3282950" cy="0"/>
            </a:xfrm>
            <a:custGeom>
              <a:avLst/>
              <a:gdLst/>
              <a:ahLst/>
              <a:cxnLst/>
              <a:rect l="l" t="t" r="r" b="b"/>
              <a:pathLst>
                <a:path w="3282950" h="0">
                  <a:moveTo>
                    <a:pt x="0" y="0"/>
                  </a:moveTo>
                  <a:lnTo>
                    <a:pt x="3282696" y="0"/>
                  </a:lnTo>
                </a:path>
              </a:pathLst>
            </a:custGeom>
            <a:ln w="6334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761998" y="3597131"/>
              <a:ext cx="3282950" cy="0"/>
            </a:xfrm>
            <a:custGeom>
              <a:avLst/>
              <a:gdLst/>
              <a:ahLst/>
              <a:cxnLst/>
              <a:rect l="l" t="t" r="r" b="b"/>
              <a:pathLst>
                <a:path w="3282950" h="0">
                  <a:moveTo>
                    <a:pt x="0" y="0"/>
                  </a:moveTo>
                  <a:lnTo>
                    <a:pt x="3282696" y="0"/>
                  </a:lnTo>
                </a:path>
              </a:pathLst>
            </a:custGeom>
            <a:ln w="6334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4761998" y="3234429"/>
              <a:ext cx="3282950" cy="0"/>
            </a:xfrm>
            <a:custGeom>
              <a:avLst/>
              <a:gdLst/>
              <a:ahLst/>
              <a:cxnLst/>
              <a:rect l="l" t="t" r="r" b="b"/>
              <a:pathLst>
                <a:path w="3282950" h="0">
                  <a:moveTo>
                    <a:pt x="0" y="0"/>
                  </a:moveTo>
                  <a:lnTo>
                    <a:pt x="3282696" y="0"/>
                  </a:lnTo>
                </a:path>
              </a:pathLst>
            </a:custGeom>
            <a:ln w="6334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4911209" y="3090048"/>
              <a:ext cx="0" cy="2051685"/>
            </a:xfrm>
            <a:custGeom>
              <a:avLst/>
              <a:gdLst/>
              <a:ahLst/>
              <a:cxnLst/>
              <a:rect l="l" t="t" r="r" b="b"/>
              <a:pathLst>
                <a:path w="0" h="2051685">
                  <a:moveTo>
                    <a:pt x="0" y="2051088"/>
                  </a:moveTo>
                  <a:lnTo>
                    <a:pt x="0" y="0"/>
                  </a:lnTo>
                </a:path>
              </a:pathLst>
            </a:custGeom>
            <a:ln w="633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5657282" y="3090048"/>
              <a:ext cx="0" cy="2051685"/>
            </a:xfrm>
            <a:custGeom>
              <a:avLst/>
              <a:gdLst/>
              <a:ahLst/>
              <a:cxnLst/>
              <a:rect l="l" t="t" r="r" b="b"/>
              <a:pathLst>
                <a:path w="0" h="2051685">
                  <a:moveTo>
                    <a:pt x="0" y="2051088"/>
                  </a:moveTo>
                  <a:lnTo>
                    <a:pt x="0" y="0"/>
                  </a:lnTo>
                </a:path>
              </a:pathLst>
            </a:custGeom>
            <a:ln w="633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6403337" y="3090048"/>
              <a:ext cx="0" cy="2051685"/>
            </a:xfrm>
            <a:custGeom>
              <a:avLst/>
              <a:gdLst/>
              <a:ahLst/>
              <a:cxnLst/>
              <a:rect l="l" t="t" r="r" b="b"/>
              <a:pathLst>
                <a:path w="0" h="2051685">
                  <a:moveTo>
                    <a:pt x="0" y="2051088"/>
                  </a:moveTo>
                  <a:lnTo>
                    <a:pt x="0" y="0"/>
                  </a:lnTo>
                </a:path>
              </a:pathLst>
            </a:custGeom>
            <a:ln w="633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7149410" y="3090048"/>
              <a:ext cx="0" cy="2051685"/>
            </a:xfrm>
            <a:custGeom>
              <a:avLst/>
              <a:gdLst/>
              <a:ahLst/>
              <a:cxnLst/>
              <a:rect l="l" t="t" r="r" b="b"/>
              <a:pathLst>
                <a:path w="0" h="2051685">
                  <a:moveTo>
                    <a:pt x="0" y="2051088"/>
                  </a:moveTo>
                  <a:lnTo>
                    <a:pt x="0" y="0"/>
                  </a:lnTo>
                </a:path>
              </a:pathLst>
            </a:custGeom>
            <a:ln w="633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7895483" y="3090048"/>
              <a:ext cx="0" cy="2051685"/>
            </a:xfrm>
            <a:custGeom>
              <a:avLst/>
              <a:gdLst/>
              <a:ahLst/>
              <a:cxnLst/>
              <a:rect l="l" t="t" r="r" b="b"/>
              <a:pathLst>
                <a:path w="0" h="2051685">
                  <a:moveTo>
                    <a:pt x="0" y="2051088"/>
                  </a:moveTo>
                  <a:lnTo>
                    <a:pt x="0" y="0"/>
                  </a:lnTo>
                </a:path>
              </a:pathLst>
            </a:custGeom>
            <a:ln w="6330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05237" y="3177313"/>
              <a:ext cx="2996217" cy="1884194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5546356" y="3110559"/>
              <a:ext cx="1714500" cy="2030730"/>
            </a:xfrm>
            <a:custGeom>
              <a:avLst/>
              <a:gdLst/>
              <a:ahLst/>
              <a:cxnLst/>
              <a:rect l="l" t="t" r="r" b="b"/>
              <a:pathLst>
                <a:path w="1714500" h="2030729">
                  <a:moveTo>
                    <a:pt x="9944" y="1990763"/>
                  </a:moveTo>
                  <a:lnTo>
                    <a:pt x="0" y="1990763"/>
                  </a:lnTo>
                  <a:lnTo>
                    <a:pt x="0" y="2030590"/>
                  </a:lnTo>
                  <a:lnTo>
                    <a:pt x="9944" y="2030590"/>
                  </a:lnTo>
                  <a:lnTo>
                    <a:pt x="9944" y="1990763"/>
                  </a:lnTo>
                  <a:close/>
                </a:path>
                <a:path w="1714500" h="2030729">
                  <a:moveTo>
                    <a:pt x="9944" y="0"/>
                  </a:moveTo>
                  <a:lnTo>
                    <a:pt x="0" y="0"/>
                  </a:lnTo>
                  <a:lnTo>
                    <a:pt x="0" y="39814"/>
                  </a:lnTo>
                  <a:lnTo>
                    <a:pt x="9944" y="39814"/>
                  </a:lnTo>
                  <a:lnTo>
                    <a:pt x="9944" y="0"/>
                  </a:lnTo>
                  <a:close/>
                </a:path>
                <a:path w="1714500" h="2030729">
                  <a:moveTo>
                    <a:pt x="1713966" y="1990763"/>
                  </a:moveTo>
                  <a:lnTo>
                    <a:pt x="1704022" y="1990763"/>
                  </a:lnTo>
                  <a:lnTo>
                    <a:pt x="1704022" y="2030590"/>
                  </a:lnTo>
                  <a:lnTo>
                    <a:pt x="1713966" y="2030590"/>
                  </a:lnTo>
                  <a:lnTo>
                    <a:pt x="1713966" y="1990763"/>
                  </a:lnTo>
                  <a:close/>
                </a:path>
                <a:path w="1714500" h="2030729">
                  <a:moveTo>
                    <a:pt x="1713966" y="0"/>
                  </a:moveTo>
                  <a:lnTo>
                    <a:pt x="1704022" y="0"/>
                  </a:lnTo>
                  <a:lnTo>
                    <a:pt x="1704022" y="39814"/>
                  </a:lnTo>
                  <a:lnTo>
                    <a:pt x="1713966" y="39814"/>
                  </a:lnTo>
                  <a:lnTo>
                    <a:pt x="1713966" y="0"/>
                  </a:lnTo>
                  <a:close/>
                </a:path>
              </a:pathLst>
            </a:custGeom>
            <a:solidFill>
              <a:srgbClr val="E640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4761998" y="3090048"/>
              <a:ext cx="3282950" cy="2051685"/>
            </a:xfrm>
            <a:custGeom>
              <a:avLst/>
              <a:gdLst/>
              <a:ahLst/>
              <a:cxnLst/>
              <a:rect l="l" t="t" r="r" b="b"/>
              <a:pathLst>
                <a:path w="3282950" h="2051685">
                  <a:moveTo>
                    <a:pt x="0" y="2051088"/>
                  </a:moveTo>
                  <a:lnTo>
                    <a:pt x="3282696" y="2051088"/>
                  </a:lnTo>
                  <a:lnTo>
                    <a:pt x="3282696" y="0"/>
                  </a:lnTo>
                  <a:lnTo>
                    <a:pt x="0" y="0"/>
                  </a:lnTo>
                  <a:lnTo>
                    <a:pt x="0" y="2051088"/>
                  </a:lnTo>
                  <a:close/>
                </a:path>
              </a:pathLst>
            </a:custGeom>
            <a:ln w="633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2951" y="5029827"/>
              <a:ext cx="66942" cy="36222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4662944" y="4304042"/>
              <a:ext cx="67310" cy="399415"/>
            </a:xfrm>
            <a:custGeom>
              <a:avLst/>
              <a:gdLst/>
              <a:ahLst/>
              <a:cxnLst/>
              <a:rect l="l" t="t" r="r" b="b"/>
              <a:pathLst>
                <a:path w="67310" h="399414">
                  <a:moveTo>
                    <a:pt x="23406" y="389166"/>
                  </a:moveTo>
                  <a:lnTo>
                    <a:pt x="23317" y="372478"/>
                  </a:lnTo>
                  <a:lnTo>
                    <a:pt x="23241" y="372186"/>
                  </a:lnTo>
                  <a:lnTo>
                    <a:pt x="23164" y="371944"/>
                  </a:lnTo>
                  <a:lnTo>
                    <a:pt x="22745" y="370611"/>
                  </a:lnTo>
                  <a:lnTo>
                    <a:pt x="20828" y="366839"/>
                  </a:lnTo>
                  <a:lnTo>
                    <a:pt x="20586" y="366496"/>
                  </a:lnTo>
                  <a:lnTo>
                    <a:pt x="19888" y="365696"/>
                  </a:lnTo>
                  <a:lnTo>
                    <a:pt x="19138" y="364998"/>
                  </a:lnTo>
                  <a:lnTo>
                    <a:pt x="18757" y="364693"/>
                  </a:lnTo>
                  <a:lnTo>
                    <a:pt x="18554" y="364553"/>
                  </a:lnTo>
                  <a:lnTo>
                    <a:pt x="18554" y="389915"/>
                  </a:lnTo>
                  <a:lnTo>
                    <a:pt x="18326" y="390690"/>
                  </a:lnTo>
                  <a:lnTo>
                    <a:pt x="14389" y="395427"/>
                  </a:lnTo>
                  <a:lnTo>
                    <a:pt x="9004" y="395427"/>
                  </a:lnTo>
                  <a:lnTo>
                    <a:pt x="5816" y="392493"/>
                  </a:lnTo>
                  <a:lnTo>
                    <a:pt x="5537" y="391947"/>
                  </a:lnTo>
                  <a:lnTo>
                    <a:pt x="5041" y="390690"/>
                  </a:lnTo>
                  <a:lnTo>
                    <a:pt x="4762" y="389724"/>
                  </a:lnTo>
                  <a:lnTo>
                    <a:pt x="4622" y="389166"/>
                  </a:lnTo>
                  <a:lnTo>
                    <a:pt x="4737" y="372478"/>
                  </a:lnTo>
                  <a:lnTo>
                    <a:pt x="4826" y="372186"/>
                  </a:lnTo>
                  <a:lnTo>
                    <a:pt x="4902" y="371944"/>
                  </a:lnTo>
                  <a:lnTo>
                    <a:pt x="5029" y="371513"/>
                  </a:lnTo>
                  <a:lnTo>
                    <a:pt x="9017" y="366839"/>
                  </a:lnTo>
                  <a:lnTo>
                    <a:pt x="14503" y="366839"/>
                  </a:lnTo>
                  <a:lnTo>
                    <a:pt x="18554" y="389915"/>
                  </a:lnTo>
                  <a:lnTo>
                    <a:pt x="18554" y="364553"/>
                  </a:lnTo>
                  <a:lnTo>
                    <a:pt x="13335" y="362737"/>
                  </a:lnTo>
                  <a:lnTo>
                    <a:pt x="10236" y="362737"/>
                  </a:lnTo>
                  <a:lnTo>
                    <a:pt x="190" y="389915"/>
                  </a:lnTo>
                  <a:lnTo>
                    <a:pt x="596" y="391236"/>
                  </a:lnTo>
                  <a:lnTo>
                    <a:pt x="8166" y="399199"/>
                  </a:lnTo>
                  <a:lnTo>
                    <a:pt x="15151" y="399199"/>
                  </a:lnTo>
                  <a:lnTo>
                    <a:pt x="22796" y="391236"/>
                  </a:lnTo>
                  <a:lnTo>
                    <a:pt x="23406" y="389166"/>
                  </a:lnTo>
                  <a:close/>
                </a:path>
                <a:path w="67310" h="399414">
                  <a:moveTo>
                    <a:pt x="23418" y="10210"/>
                  </a:moveTo>
                  <a:lnTo>
                    <a:pt x="18923" y="2146"/>
                  </a:lnTo>
                  <a:lnTo>
                    <a:pt x="18923" y="10807"/>
                  </a:lnTo>
                  <a:lnTo>
                    <a:pt x="18872" y="25984"/>
                  </a:lnTo>
                  <a:lnTo>
                    <a:pt x="14389" y="32753"/>
                  </a:lnTo>
                  <a:lnTo>
                    <a:pt x="9004" y="32753"/>
                  </a:lnTo>
                  <a:lnTo>
                    <a:pt x="5816" y="29794"/>
                  </a:lnTo>
                  <a:lnTo>
                    <a:pt x="5524" y="29210"/>
                  </a:lnTo>
                  <a:lnTo>
                    <a:pt x="5041" y="27990"/>
                  </a:lnTo>
                  <a:lnTo>
                    <a:pt x="4762" y="27025"/>
                  </a:lnTo>
                  <a:lnTo>
                    <a:pt x="4622" y="26466"/>
                  </a:lnTo>
                  <a:lnTo>
                    <a:pt x="4495" y="10807"/>
                  </a:lnTo>
                  <a:lnTo>
                    <a:pt x="4749" y="9740"/>
                  </a:lnTo>
                  <a:lnTo>
                    <a:pt x="5181" y="8343"/>
                  </a:lnTo>
                  <a:lnTo>
                    <a:pt x="5283" y="8115"/>
                  </a:lnTo>
                  <a:lnTo>
                    <a:pt x="5537" y="7531"/>
                  </a:lnTo>
                  <a:lnTo>
                    <a:pt x="8102" y="4559"/>
                  </a:lnTo>
                  <a:lnTo>
                    <a:pt x="7886" y="4559"/>
                  </a:lnTo>
                  <a:lnTo>
                    <a:pt x="9652" y="3962"/>
                  </a:lnTo>
                  <a:lnTo>
                    <a:pt x="10439" y="3797"/>
                  </a:lnTo>
                  <a:lnTo>
                    <a:pt x="13144" y="3797"/>
                  </a:lnTo>
                  <a:lnTo>
                    <a:pt x="13881" y="3962"/>
                  </a:lnTo>
                  <a:lnTo>
                    <a:pt x="15570" y="4559"/>
                  </a:lnTo>
                  <a:lnTo>
                    <a:pt x="15367" y="4559"/>
                  </a:lnTo>
                  <a:lnTo>
                    <a:pt x="15621" y="4711"/>
                  </a:lnTo>
                  <a:lnTo>
                    <a:pt x="18783" y="10210"/>
                  </a:lnTo>
                  <a:lnTo>
                    <a:pt x="18923" y="10807"/>
                  </a:lnTo>
                  <a:lnTo>
                    <a:pt x="18923" y="2146"/>
                  </a:lnTo>
                  <a:lnTo>
                    <a:pt x="18757" y="2006"/>
                  </a:lnTo>
                  <a:lnTo>
                    <a:pt x="14795" y="279"/>
                  </a:lnTo>
                  <a:lnTo>
                    <a:pt x="8724" y="279"/>
                  </a:lnTo>
                  <a:lnTo>
                    <a:pt x="2730" y="3962"/>
                  </a:lnTo>
                  <a:lnTo>
                    <a:pt x="2184" y="4711"/>
                  </a:lnTo>
                  <a:lnTo>
                    <a:pt x="0" y="10210"/>
                  </a:lnTo>
                  <a:lnTo>
                    <a:pt x="0" y="26466"/>
                  </a:lnTo>
                  <a:lnTo>
                    <a:pt x="9613" y="36804"/>
                  </a:lnTo>
                  <a:lnTo>
                    <a:pt x="13703" y="36804"/>
                  </a:lnTo>
                  <a:lnTo>
                    <a:pt x="20650" y="32753"/>
                  </a:lnTo>
                  <a:lnTo>
                    <a:pt x="20751" y="32626"/>
                  </a:lnTo>
                  <a:lnTo>
                    <a:pt x="20878" y="32461"/>
                  </a:lnTo>
                  <a:lnTo>
                    <a:pt x="20967" y="32308"/>
                  </a:lnTo>
                  <a:lnTo>
                    <a:pt x="21082" y="32131"/>
                  </a:lnTo>
                  <a:lnTo>
                    <a:pt x="23406" y="26466"/>
                  </a:lnTo>
                  <a:lnTo>
                    <a:pt x="23418" y="10210"/>
                  </a:lnTo>
                  <a:close/>
                </a:path>
                <a:path w="67310" h="399414">
                  <a:moveTo>
                    <a:pt x="35991" y="393560"/>
                  </a:moveTo>
                  <a:lnTo>
                    <a:pt x="31013" y="393560"/>
                  </a:lnTo>
                  <a:lnTo>
                    <a:pt x="31013" y="399148"/>
                  </a:lnTo>
                  <a:lnTo>
                    <a:pt x="35991" y="399148"/>
                  </a:lnTo>
                  <a:lnTo>
                    <a:pt x="35991" y="393560"/>
                  </a:lnTo>
                  <a:close/>
                </a:path>
                <a:path w="67310" h="399414">
                  <a:moveTo>
                    <a:pt x="35991" y="30873"/>
                  </a:moveTo>
                  <a:lnTo>
                    <a:pt x="31013" y="30873"/>
                  </a:lnTo>
                  <a:lnTo>
                    <a:pt x="31013" y="36449"/>
                  </a:lnTo>
                  <a:lnTo>
                    <a:pt x="35991" y="36449"/>
                  </a:lnTo>
                  <a:lnTo>
                    <a:pt x="35991" y="30873"/>
                  </a:lnTo>
                  <a:close/>
                </a:path>
                <a:path w="67310" h="399414">
                  <a:moveTo>
                    <a:pt x="67157" y="32550"/>
                  </a:moveTo>
                  <a:lnTo>
                    <a:pt x="48425" y="32550"/>
                  </a:lnTo>
                  <a:lnTo>
                    <a:pt x="48552" y="32258"/>
                  </a:lnTo>
                  <a:lnTo>
                    <a:pt x="49911" y="30035"/>
                  </a:lnTo>
                  <a:lnTo>
                    <a:pt x="52336" y="27368"/>
                  </a:lnTo>
                  <a:lnTo>
                    <a:pt x="61429" y="19507"/>
                  </a:lnTo>
                  <a:lnTo>
                    <a:pt x="63995" y="16675"/>
                  </a:lnTo>
                  <a:lnTo>
                    <a:pt x="65519" y="14236"/>
                  </a:lnTo>
                  <a:lnTo>
                    <a:pt x="66065" y="12941"/>
                  </a:lnTo>
                  <a:lnTo>
                    <a:pt x="66433" y="11595"/>
                  </a:lnTo>
                  <a:lnTo>
                    <a:pt x="66598" y="9347"/>
                  </a:lnTo>
                  <a:lnTo>
                    <a:pt x="66421" y="7569"/>
                  </a:lnTo>
                  <a:lnTo>
                    <a:pt x="54267" y="0"/>
                  </a:lnTo>
                  <a:lnTo>
                    <a:pt x="51828" y="330"/>
                  </a:lnTo>
                  <a:lnTo>
                    <a:pt x="43586" y="9385"/>
                  </a:lnTo>
                  <a:lnTo>
                    <a:pt x="48272" y="9829"/>
                  </a:lnTo>
                  <a:lnTo>
                    <a:pt x="48348" y="9245"/>
                  </a:lnTo>
                  <a:lnTo>
                    <a:pt x="48920" y="7416"/>
                  </a:lnTo>
                  <a:lnTo>
                    <a:pt x="55905" y="3759"/>
                  </a:lnTo>
                  <a:lnTo>
                    <a:pt x="57277" y="3937"/>
                  </a:lnTo>
                  <a:lnTo>
                    <a:pt x="61849" y="10833"/>
                  </a:lnTo>
                  <a:lnTo>
                    <a:pt x="61518" y="12446"/>
                  </a:lnTo>
                  <a:lnTo>
                    <a:pt x="61061" y="13538"/>
                  </a:lnTo>
                  <a:lnTo>
                    <a:pt x="59969" y="15278"/>
                  </a:lnTo>
                  <a:lnTo>
                    <a:pt x="58572" y="16891"/>
                  </a:lnTo>
                  <a:lnTo>
                    <a:pt x="52959" y="21691"/>
                  </a:lnTo>
                  <a:lnTo>
                    <a:pt x="49263" y="24968"/>
                  </a:lnTo>
                  <a:lnTo>
                    <a:pt x="46164" y="28409"/>
                  </a:lnTo>
                  <a:lnTo>
                    <a:pt x="44818" y="30416"/>
                  </a:lnTo>
                  <a:lnTo>
                    <a:pt x="43383" y="33223"/>
                  </a:lnTo>
                  <a:lnTo>
                    <a:pt x="43383" y="36449"/>
                  </a:lnTo>
                  <a:lnTo>
                    <a:pt x="67157" y="36449"/>
                  </a:lnTo>
                  <a:lnTo>
                    <a:pt x="67157" y="32550"/>
                  </a:lnTo>
                  <a:close/>
                </a:path>
                <a:path w="67310" h="399414">
                  <a:moveTo>
                    <a:pt x="67233" y="395249"/>
                  </a:moveTo>
                  <a:lnTo>
                    <a:pt x="58496" y="395249"/>
                  </a:lnTo>
                  <a:lnTo>
                    <a:pt x="58496" y="363194"/>
                  </a:lnTo>
                  <a:lnTo>
                    <a:pt x="54267" y="363194"/>
                  </a:lnTo>
                  <a:lnTo>
                    <a:pt x="45770" y="369049"/>
                  </a:lnTo>
                  <a:lnTo>
                    <a:pt x="45770" y="373380"/>
                  </a:lnTo>
                  <a:lnTo>
                    <a:pt x="53886" y="367588"/>
                  </a:lnTo>
                  <a:lnTo>
                    <a:pt x="53886" y="395249"/>
                  </a:lnTo>
                  <a:lnTo>
                    <a:pt x="44729" y="395249"/>
                  </a:lnTo>
                  <a:lnTo>
                    <a:pt x="44729" y="399148"/>
                  </a:lnTo>
                  <a:lnTo>
                    <a:pt x="67233" y="399148"/>
                  </a:lnTo>
                  <a:lnTo>
                    <a:pt x="67233" y="395249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2951" y="3941321"/>
              <a:ext cx="67488" cy="36988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4662944" y="3578694"/>
              <a:ext cx="68580" cy="36830"/>
            </a:xfrm>
            <a:custGeom>
              <a:avLst/>
              <a:gdLst/>
              <a:ahLst/>
              <a:cxnLst/>
              <a:rect l="l" t="t" r="r" b="b"/>
              <a:pathLst>
                <a:path w="68579" h="36829">
                  <a:moveTo>
                    <a:pt x="23406" y="26428"/>
                  </a:moveTo>
                  <a:lnTo>
                    <a:pt x="23304" y="9715"/>
                  </a:lnTo>
                  <a:lnTo>
                    <a:pt x="23241" y="9436"/>
                  </a:lnTo>
                  <a:lnTo>
                    <a:pt x="23164" y="9207"/>
                  </a:lnTo>
                  <a:lnTo>
                    <a:pt x="22745" y="7874"/>
                  </a:lnTo>
                  <a:lnTo>
                    <a:pt x="20828" y="4102"/>
                  </a:lnTo>
                  <a:lnTo>
                    <a:pt x="20586" y="3759"/>
                  </a:lnTo>
                  <a:lnTo>
                    <a:pt x="19888" y="2959"/>
                  </a:lnTo>
                  <a:lnTo>
                    <a:pt x="19138" y="2260"/>
                  </a:lnTo>
                  <a:lnTo>
                    <a:pt x="18757" y="1955"/>
                  </a:lnTo>
                  <a:lnTo>
                    <a:pt x="18745" y="26428"/>
                  </a:lnTo>
                  <a:lnTo>
                    <a:pt x="18465" y="27482"/>
                  </a:lnTo>
                  <a:lnTo>
                    <a:pt x="14389" y="32689"/>
                  </a:lnTo>
                  <a:lnTo>
                    <a:pt x="9004" y="32689"/>
                  </a:lnTo>
                  <a:lnTo>
                    <a:pt x="5816" y="29756"/>
                  </a:lnTo>
                  <a:lnTo>
                    <a:pt x="5537" y="29210"/>
                  </a:lnTo>
                  <a:lnTo>
                    <a:pt x="5029" y="27863"/>
                  </a:lnTo>
                  <a:lnTo>
                    <a:pt x="4902" y="27482"/>
                  </a:lnTo>
                  <a:lnTo>
                    <a:pt x="4813" y="27165"/>
                  </a:lnTo>
                  <a:lnTo>
                    <a:pt x="4762" y="26987"/>
                  </a:lnTo>
                  <a:lnTo>
                    <a:pt x="4622" y="26428"/>
                  </a:lnTo>
                  <a:lnTo>
                    <a:pt x="4737" y="9715"/>
                  </a:lnTo>
                  <a:lnTo>
                    <a:pt x="4826" y="9436"/>
                  </a:lnTo>
                  <a:lnTo>
                    <a:pt x="4889" y="9207"/>
                  </a:lnTo>
                  <a:lnTo>
                    <a:pt x="9017" y="4102"/>
                  </a:lnTo>
                  <a:lnTo>
                    <a:pt x="14503" y="4102"/>
                  </a:lnTo>
                  <a:lnTo>
                    <a:pt x="18745" y="26428"/>
                  </a:lnTo>
                  <a:lnTo>
                    <a:pt x="18745" y="1955"/>
                  </a:lnTo>
                  <a:lnTo>
                    <a:pt x="13335" y="0"/>
                  </a:lnTo>
                  <a:lnTo>
                    <a:pt x="10236" y="0"/>
                  </a:lnTo>
                  <a:lnTo>
                    <a:pt x="9220" y="152"/>
                  </a:lnTo>
                  <a:lnTo>
                    <a:pt x="7658" y="482"/>
                  </a:lnTo>
                  <a:lnTo>
                    <a:pt x="7797" y="482"/>
                  </a:lnTo>
                  <a:lnTo>
                    <a:pt x="7289" y="622"/>
                  </a:lnTo>
                  <a:lnTo>
                    <a:pt x="0" y="26428"/>
                  </a:lnTo>
                  <a:lnTo>
                    <a:pt x="381" y="27863"/>
                  </a:lnTo>
                  <a:lnTo>
                    <a:pt x="8166" y="36461"/>
                  </a:lnTo>
                  <a:lnTo>
                    <a:pt x="15151" y="36461"/>
                  </a:lnTo>
                  <a:lnTo>
                    <a:pt x="22834" y="28397"/>
                  </a:lnTo>
                  <a:lnTo>
                    <a:pt x="23406" y="26428"/>
                  </a:lnTo>
                  <a:close/>
                </a:path>
                <a:path w="68579" h="36829">
                  <a:moveTo>
                    <a:pt x="35991" y="30810"/>
                  </a:moveTo>
                  <a:lnTo>
                    <a:pt x="31013" y="30810"/>
                  </a:lnTo>
                  <a:lnTo>
                    <a:pt x="31013" y="36410"/>
                  </a:lnTo>
                  <a:lnTo>
                    <a:pt x="35991" y="36410"/>
                  </a:lnTo>
                  <a:lnTo>
                    <a:pt x="35991" y="30810"/>
                  </a:lnTo>
                  <a:close/>
                </a:path>
                <a:path w="68579" h="36829">
                  <a:moveTo>
                    <a:pt x="68249" y="24599"/>
                  </a:moveTo>
                  <a:lnTo>
                    <a:pt x="63207" y="24599"/>
                  </a:lnTo>
                  <a:lnTo>
                    <a:pt x="63207" y="5651"/>
                  </a:lnTo>
                  <a:lnTo>
                    <a:pt x="63207" y="457"/>
                  </a:lnTo>
                  <a:lnTo>
                    <a:pt x="58877" y="457"/>
                  </a:lnTo>
                  <a:lnTo>
                    <a:pt x="58877" y="5651"/>
                  </a:lnTo>
                  <a:lnTo>
                    <a:pt x="58877" y="24599"/>
                  </a:lnTo>
                  <a:lnTo>
                    <a:pt x="46215" y="24599"/>
                  </a:lnTo>
                  <a:lnTo>
                    <a:pt x="46316" y="24472"/>
                  </a:lnTo>
                  <a:lnTo>
                    <a:pt x="46888" y="23749"/>
                  </a:lnTo>
                  <a:lnTo>
                    <a:pt x="47536" y="22847"/>
                  </a:lnTo>
                  <a:lnTo>
                    <a:pt x="47637" y="22720"/>
                  </a:lnTo>
                  <a:lnTo>
                    <a:pt x="47726" y="22593"/>
                  </a:lnTo>
                  <a:lnTo>
                    <a:pt x="57213" y="8623"/>
                  </a:lnTo>
                  <a:lnTo>
                    <a:pt x="57289" y="8470"/>
                  </a:lnTo>
                  <a:lnTo>
                    <a:pt x="57378" y="8331"/>
                  </a:lnTo>
                  <a:lnTo>
                    <a:pt x="57480" y="8178"/>
                  </a:lnTo>
                  <a:lnTo>
                    <a:pt x="57581" y="8001"/>
                  </a:lnTo>
                  <a:lnTo>
                    <a:pt x="57696" y="7823"/>
                  </a:lnTo>
                  <a:lnTo>
                    <a:pt x="57797" y="7620"/>
                  </a:lnTo>
                  <a:lnTo>
                    <a:pt x="58458" y="6451"/>
                  </a:lnTo>
                  <a:lnTo>
                    <a:pt x="58877" y="5651"/>
                  </a:lnTo>
                  <a:lnTo>
                    <a:pt x="58877" y="457"/>
                  </a:lnTo>
                  <a:lnTo>
                    <a:pt x="58381" y="457"/>
                  </a:lnTo>
                  <a:lnTo>
                    <a:pt x="41998" y="24599"/>
                  </a:lnTo>
                  <a:lnTo>
                    <a:pt x="41935" y="28270"/>
                  </a:lnTo>
                  <a:lnTo>
                    <a:pt x="58877" y="28270"/>
                  </a:lnTo>
                  <a:lnTo>
                    <a:pt x="58877" y="36410"/>
                  </a:lnTo>
                  <a:lnTo>
                    <a:pt x="63207" y="36410"/>
                  </a:lnTo>
                  <a:lnTo>
                    <a:pt x="63207" y="28270"/>
                  </a:lnTo>
                  <a:lnTo>
                    <a:pt x="68249" y="28270"/>
                  </a:lnTo>
                  <a:lnTo>
                    <a:pt x="68249" y="24599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62652" y="3216227"/>
              <a:ext cx="67897" cy="36678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4745736" y="3234429"/>
              <a:ext cx="2404110" cy="1923414"/>
            </a:xfrm>
            <a:custGeom>
              <a:avLst/>
              <a:gdLst/>
              <a:ahLst/>
              <a:cxnLst/>
              <a:rect l="l" t="t" r="r" b="b"/>
              <a:pathLst>
                <a:path w="2404109" h="1923414">
                  <a:moveTo>
                    <a:pt x="0" y="1813472"/>
                  </a:moveTo>
                  <a:lnTo>
                    <a:pt x="16261" y="1813472"/>
                  </a:lnTo>
                </a:path>
                <a:path w="2404109" h="1923414">
                  <a:moveTo>
                    <a:pt x="0" y="1450788"/>
                  </a:moveTo>
                  <a:lnTo>
                    <a:pt x="16261" y="1450788"/>
                  </a:lnTo>
                </a:path>
                <a:path w="2404109" h="1923414">
                  <a:moveTo>
                    <a:pt x="0" y="1088087"/>
                  </a:moveTo>
                  <a:lnTo>
                    <a:pt x="16261" y="1088087"/>
                  </a:lnTo>
                </a:path>
                <a:path w="2404109" h="1923414">
                  <a:moveTo>
                    <a:pt x="0" y="725385"/>
                  </a:moveTo>
                  <a:lnTo>
                    <a:pt x="16261" y="725385"/>
                  </a:lnTo>
                </a:path>
                <a:path w="2404109" h="1923414">
                  <a:moveTo>
                    <a:pt x="0" y="362701"/>
                  </a:moveTo>
                  <a:lnTo>
                    <a:pt x="16261" y="362701"/>
                  </a:lnTo>
                </a:path>
                <a:path w="2404109" h="1923414">
                  <a:moveTo>
                    <a:pt x="0" y="0"/>
                  </a:moveTo>
                  <a:lnTo>
                    <a:pt x="16261" y="0"/>
                  </a:lnTo>
                </a:path>
                <a:path w="2404109" h="1923414">
                  <a:moveTo>
                    <a:pt x="165472" y="1922979"/>
                  </a:moveTo>
                  <a:lnTo>
                    <a:pt x="165472" y="1906707"/>
                  </a:lnTo>
                </a:path>
                <a:path w="2404109" h="1923414">
                  <a:moveTo>
                    <a:pt x="911545" y="1922979"/>
                  </a:moveTo>
                  <a:lnTo>
                    <a:pt x="911545" y="1906707"/>
                  </a:lnTo>
                </a:path>
                <a:path w="2404109" h="1923414">
                  <a:moveTo>
                    <a:pt x="1657600" y="1922979"/>
                  </a:moveTo>
                  <a:lnTo>
                    <a:pt x="1657600" y="1906707"/>
                  </a:lnTo>
                </a:path>
                <a:path w="2404109" h="1923414">
                  <a:moveTo>
                    <a:pt x="2403673" y="1922979"/>
                  </a:moveTo>
                  <a:lnTo>
                    <a:pt x="2403673" y="1906707"/>
                  </a:lnTo>
                </a:path>
              </a:pathLst>
            </a:custGeom>
            <a:ln w="633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4883366" y="5170093"/>
              <a:ext cx="2292985" cy="36830"/>
            </a:xfrm>
            <a:custGeom>
              <a:avLst/>
              <a:gdLst/>
              <a:ahLst/>
              <a:cxnLst/>
              <a:rect l="l" t="t" r="r" b="b"/>
              <a:pathLst>
                <a:path w="2292984" h="36829">
                  <a:moveTo>
                    <a:pt x="26301" y="24472"/>
                  </a:moveTo>
                  <a:lnTo>
                    <a:pt x="21259" y="24472"/>
                  </a:lnTo>
                  <a:lnTo>
                    <a:pt x="21259" y="5511"/>
                  </a:lnTo>
                  <a:lnTo>
                    <a:pt x="21259" y="330"/>
                  </a:lnTo>
                  <a:lnTo>
                    <a:pt x="16929" y="330"/>
                  </a:lnTo>
                  <a:lnTo>
                    <a:pt x="16929" y="5511"/>
                  </a:lnTo>
                  <a:lnTo>
                    <a:pt x="16929" y="24472"/>
                  </a:lnTo>
                  <a:lnTo>
                    <a:pt x="4254" y="24472"/>
                  </a:lnTo>
                  <a:lnTo>
                    <a:pt x="4686" y="23939"/>
                  </a:lnTo>
                  <a:lnTo>
                    <a:pt x="5892" y="22301"/>
                  </a:lnTo>
                  <a:lnTo>
                    <a:pt x="15430" y="8204"/>
                  </a:lnTo>
                  <a:lnTo>
                    <a:pt x="15532" y="8039"/>
                  </a:lnTo>
                  <a:lnTo>
                    <a:pt x="15633" y="7874"/>
                  </a:lnTo>
                  <a:lnTo>
                    <a:pt x="15722" y="7670"/>
                  </a:lnTo>
                  <a:lnTo>
                    <a:pt x="16929" y="5511"/>
                  </a:lnTo>
                  <a:lnTo>
                    <a:pt x="16929" y="330"/>
                  </a:lnTo>
                  <a:lnTo>
                    <a:pt x="16433" y="330"/>
                  </a:lnTo>
                  <a:lnTo>
                    <a:pt x="50" y="24472"/>
                  </a:lnTo>
                  <a:lnTo>
                    <a:pt x="0" y="28130"/>
                  </a:lnTo>
                  <a:lnTo>
                    <a:pt x="16929" y="28130"/>
                  </a:lnTo>
                  <a:lnTo>
                    <a:pt x="16929" y="36283"/>
                  </a:lnTo>
                  <a:lnTo>
                    <a:pt x="21259" y="36283"/>
                  </a:lnTo>
                  <a:lnTo>
                    <a:pt x="21259" y="28130"/>
                  </a:lnTo>
                  <a:lnTo>
                    <a:pt x="26301" y="28130"/>
                  </a:lnTo>
                  <a:lnTo>
                    <a:pt x="26301" y="24472"/>
                  </a:lnTo>
                  <a:close/>
                </a:path>
                <a:path w="2292984" h="36829">
                  <a:moveTo>
                    <a:pt x="54038" y="26301"/>
                  </a:moveTo>
                  <a:lnTo>
                    <a:pt x="49555" y="1955"/>
                  </a:lnTo>
                  <a:lnTo>
                    <a:pt x="49555" y="10604"/>
                  </a:lnTo>
                  <a:lnTo>
                    <a:pt x="49504" y="25806"/>
                  </a:lnTo>
                  <a:lnTo>
                    <a:pt x="45008" y="32562"/>
                  </a:lnTo>
                  <a:lnTo>
                    <a:pt x="39636" y="32562"/>
                  </a:lnTo>
                  <a:lnTo>
                    <a:pt x="35255" y="26301"/>
                  </a:lnTo>
                  <a:lnTo>
                    <a:pt x="35369" y="9588"/>
                  </a:lnTo>
                  <a:lnTo>
                    <a:pt x="39636" y="3975"/>
                  </a:lnTo>
                  <a:lnTo>
                    <a:pt x="45161" y="3975"/>
                  </a:lnTo>
                  <a:lnTo>
                    <a:pt x="47815" y="6108"/>
                  </a:lnTo>
                  <a:lnTo>
                    <a:pt x="48158" y="6629"/>
                  </a:lnTo>
                  <a:lnTo>
                    <a:pt x="48514" y="7289"/>
                  </a:lnTo>
                  <a:lnTo>
                    <a:pt x="49034" y="8597"/>
                  </a:lnTo>
                  <a:lnTo>
                    <a:pt x="49174" y="9080"/>
                  </a:lnTo>
                  <a:lnTo>
                    <a:pt x="49555" y="10604"/>
                  </a:lnTo>
                  <a:lnTo>
                    <a:pt x="49555" y="1955"/>
                  </a:lnTo>
                  <a:lnTo>
                    <a:pt x="44932" y="0"/>
                  </a:lnTo>
                  <a:lnTo>
                    <a:pt x="39814" y="0"/>
                  </a:lnTo>
                  <a:lnTo>
                    <a:pt x="32588" y="4940"/>
                  </a:lnTo>
                  <a:lnTo>
                    <a:pt x="32296" y="5448"/>
                  </a:lnTo>
                  <a:lnTo>
                    <a:pt x="31877" y="6324"/>
                  </a:lnTo>
                  <a:lnTo>
                    <a:pt x="31457" y="7289"/>
                  </a:lnTo>
                  <a:lnTo>
                    <a:pt x="31026" y="8597"/>
                  </a:lnTo>
                  <a:lnTo>
                    <a:pt x="30899" y="9080"/>
                  </a:lnTo>
                  <a:lnTo>
                    <a:pt x="30759" y="9588"/>
                  </a:lnTo>
                  <a:lnTo>
                    <a:pt x="39319" y="36449"/>
                  </a:lnTo>
                  <a:lnTo>
                    <a:pt x="45300" y="36449"/>
                  </a:lnTo>
                  <a:lnTo>
                    <a:pt x="51981" y="31521"/>
                  </a:lnTo>
                  <a:lnTo>
                    <a:pt x="52425" y="30759"/>
                  </a:lnTo>
                  <a:lnTo>
                    <a:pt x="53200" y="29006"/>
                  </a:lnTo>
                  <a:lnTo>
                    <a:pt x="53314" y="28676"/>
                  </a:lnTo>
                  <a:lnTo>
                    <a:pt x="53644" y="27698"/>
                  </a:lnTo>
                  <a:lnTo>
                    <a:pt x="54038" y="26301"/>
                  </a:lnTo>
                  <a:close/>
                </a:path>
                <a:path w="2292984" h="36829">
                  <a:moveTo>
                    <a:pt x="772375" y="24396"/>
                  </a:moveTo>
                  <a:lnTo>
                    <a:pt x="767334" y="24396"/>
                  </a:lnTo>
                  <a:lnTo>
                    <a:pt x="767334" y="5511"/>
                  </a:lnTo>
                  <a:lnTo>
                    <a:pt x="767334" y="330"/>
                  </a:lnTo>
                  <a:lnTo>
                    <a:pt x="763003" y="330"/>
                  </a:lnTo>
                  <a:lnTo>
                    <a:pt x="763003" y="5511"/>
                  </a:lnTo>
                  <a:lnTo>
                    <a:pt x="763003" y="24396"/>
                  </a:lnTo>
                  <a:lnTo>
                    <a:pt x="750404" y="24396"/>
                  </a:lnTo>
                  <a:lnTo>
                    <a:pt x="750912" y="23749"/>
                  </a:lnTo>
                  <a:lnTo>
                    <a:pt x="751878" y="22415"/>
                  </a:lnTo>
                  <a:lnTo>
                    <a:pt x="761504" y="8204"/>
                  </a:lnTo>
                  <a:lnTo>
                    <a:pt x="761606" y="8039"/>
                  </a:lnTo>
                  <a:lnTo>
                    <a:pt x="761695" y="7874"/>
                  </a:lnTo>
                  <a:lnTo>
                    <a:pt x="761796" y="7670"/>
                  </a:lnTo>
                  <a:lnTo>
                    <a:pt x="762622" y="6235"/>
                  </a:lnTo>
                  <a:lnTo>
                    <a:pt x="763003" y="5511"/>
                  </a:lnTo>
                  <a:lnTo>
                    <a:pt x="763003" y="330"/>
                  </a:lnTo>
                  <a:lnTo>
                    <a:pt x="762508" y="330"/>
                  </a:lnTo>
                  <a:lnTo>
                    <a:pt x="746175" y="24396"/>
                  </a:lnTo>
                  <a:lnTo>
                    <a:pt x="746061" y="28130"/>
                  </a:lnTo>
                  <a:lnTo>
                    <a:pt x="763003" y="28130"/>
                  </a:lnTo>
                  <a:lnTo>
                    <a:pt x="763003" y="36283"/>
                  </a:lnTo>
                  <a:lnTo>
                    <a:pt x="767334" y="36283"/>
                  </a:lnTo>
                  <a:lnTo>
                    <a:pt x="767334" y="28130"/>
                  </a:lnTo>
                  <a:lnTo>
                    <a:pt x="772375" y="28130"/>
                  </a:lnTo>
                  <a:lnTo>
                    <a:pt x="772375" y="24396"/>
                  </a:lnTo>
                  <a:close/>
                </a:path>
                <a:path w="2292984" h="36829">
                  <a:moveTo>
                    <a:pt x="800747" y="24066"/>
                  </a:moveTo>
                  <a:lnTo>
                    <a:pt x="788174" y="13360"/>
                  </a:lnTo>
                  <a:lnTo>
                    <a:pt x="785952" y="13665"/>
                  </a:lnTo>
                  <a:lnTo>
                    <a:pt x="783742" y="14452"/>
                  </a:lnTo>
                  <a:lnTo>
                    <a:pt x="782523" y="15087"/>
                  </a:lnTo>
                  <a:lnTo>
                    <a:pt x="781735" y="15633"/>
                  </a:lnTo>
                  <a:lnTo>
                    <a:pt x="782408" y="4229"/>
                  </a:lnTo>
                  <a:lnTo>
                    <a:pt x="798652" y="4229"/>
                  </a:lnTo>
                  <a:lnTo>
                    <a:pt x="798652" y="330"/>
                  </a:lnTo>
                  <a:lnTo>
                    <a:pt x="778243" y="330"/>
                  </a:lnTo>
                  <a:lnTo>
                    <a:pt x="777036" y="19659"/>
                  </a:lnTo>
                  <a:lnTo>
                    <a:pt x="781519" y="19659"/>
                  </a:lnTo>
                  <a:lnTo>
                    <a:pt x="782383" y="18973"/>
                  </a:lnTo>
                  <a:lnTo>
                    <a:pt x="784618" y="17716"/>
                  </a:lnTo>
                  <a:lnTo>
                    <a:pt x="786688" y="17183"/>
                  </a:lnTo>
                  <a:lnTo>
                    <a:pt x="788568" y="17094"/>
                  </a:lnTo>
                  <a:lnTo>
                    <a:pt x="789940" y="17221"/>
                  </a:lnTo>
                  <a:lnTo>
                    <a:pt x="795959" y="25463"/>
                  </a:lnTo>
                  <a:lnTo>
                    <a:pt x="795528" y="27914"/>
                  </a:lnTo>
                  <a:lnTo>
                    <a:pt x="788809" y="33020"/>
                  </a:lnTo>
                  <a:lnTo>
                    <a:pt x="786396" y="32931"/>
                  </a:lnTo>
                  <a:lnTo>
                    <a:pt x="780630" y="27698"/>
                  </a:lnTo>
                  <a:lnTo>
                    <a:pt x="776008" y="28244"/>
                  </a:lnTo>
                  <a:lnTo>
                    <a:pt x="788009" y="36791"/>
                  </a:lnTo>
                  <a:lnTo>
                    <a:pt x="790384" y="36639"/>
                  </a:lnTo>
                  <a:lnTo>
                    <a:pt x="800747" y="24561"/>
                  </a:lnTo>
                  <a:lnTo>
                    <a:pt x="800747" y="24066"/>
                  </a:lnTo>
                  <a:close/>
                </a:path>
                <a:path w="2292984" h="36829">
                  <a:moveTo>
                    <a:pt x="1517777" y="24066"/>
                  </a:moveTo>
                  <a:lnTo>
                    <a:pt x="1505191" y="13360"/>
                  </a:lnTo>
                  <a:lnTo>
                    <a:pt x="1502981" y="13665"/>
                  </a:lnTo>
                  <a:lnTo>
                    <a:pt x="1500771" y="14452"/>
                  </a:lnTo>
                  <a:lnTo>
                    <a:pt x="1499552" y="15087"/>
                  </a:lnTo>
                  <a:lnTo>
                    <a:pt x="1498765" y="15633"/>
                  </a:lnTo>
                  <a:lnTo>
                    <a:pt x="1499438" y="4229"/>
                  </a:lnTo>
                  <a:lnTo>
                    <a:pt x="1515681" y="4229"/>
                  </a:lnTo>
                  <a:lnTo>
                    <a:pt x="1515681" y="330"/>
                  </a:lnTo>
                  <a:lnTo>
                    <a:pt x="1495272" y="330"/>
                  </a:lnTo>
                  <a:lnTo>
                    <a:pt x="1494066" y="19659"/>
                  </a:lnTo>
                  <a:lnTo>
                    <a:pt x="1498549" y="19659"/>
                  </a:lnTo>
                  <a:lnTo>
                    <a:pt x="1499806" y="18694"/>
                  </a:lnTo>
                  <a:lnTo>
                    <a:pt x="1501648" y="17716"/>
                  </a:lnTo>
                  <a:lnTo>
                    <a:pt x="1503718" y="17183"/>
                  </a:lnTo>
                  <a:lnTo>
                    <a:pt x="1505597" y="17094"/>
                  </a:lnTo>
                  <a:lnTo>
                    <a:pt x="1506969" y="17221"/>
                  </a:lnTo>
                  <a:lnTo>
                    <a:pt x="1512989" y="25463"/>
                  </a:lnTo>
                  <a:lnTo>
                    <a:pt x="1512557" y="27914"/>
                  </a:lnTo>
                  <a:lnTo>
                    <a:pt x="1505839" y="33020"/>
                  </a:lnTo>
                  <a:lnTo>
                    <a:pt x="1503426" y="32931"/>
                  </a:lnTo>
                  <a:lnTo>
                    <a:pt x="1497660" y="27698"/>
                  </a:lnTo>
                  <a:lnTo>
                    <a:pt x="1493037" y="28244"/>
                  </a:lnTo>
                  <a:lnTo>
                    <a:pt x="1505038" y="36791"/>
                  </a:lnTo>
                  <a:lnTo>
                    <a:pt x="1507413" y="36639"/>
                  </a:lnTo>
                  <a:lnTo>
                    <a:pt x="1517777" y="24561"/>
                  </a:lnTo>
                  <a:lnTo>
                    <a:pt x="1517777" y="24066"/>
                  </a:lnTo>
                  <a:close/>
                </a:path>
                <a:path w="2292984" h="36829">
                  <a:moveTo>
                    <a:pt x="1546174" y="26301"/>
                  </a:moveTo>
                  <a:lnTo>
                    <a:pt x="1543596" y="3975"/>
                  </a:lnTo>
                  <a:lnTo>
                    <a:pt x="1543342" y="3632"/>
                  </a:lnTo>
                  <a:lnTo>
                    <a:pt x="1542656" y="2832"/>
                  </a:lnTo>
                  <a:lnTo>
                    <a:pt x="1542288" y="2463"/>
                  </a:lnTo>
                  <a:lnTo>
                    <a:pt x="1541691" y="1968"/>
                  </a:lnTo>
                  <a:lnTo>
                    <a:pt x="1541691" y="10604"/>
                  </a:lnTo>
                  <a:lnTo>
                    <a:pt x="1541640" y="25806"/>
                  </a:lnTo>
                  <a:lnTo>
                    <a:pt x="1537119" y="32562"/>
                  </a:lnTo>
                  <a:lnTo>
                    <a:pt x="1531759" y="32562"/>
                  </a:lnTo>
                  <a:lnTo>
                    <a:pt x="1527390" y="26301"/>
                  </a:lnTo>
                  <a:lnTo>
                    <a:pt x="1527505" y="9563"/>
                  </a:lnTo>
                  <a:lnTo>
                    <a:pt x="1531759" y="3975"/>
                  </a:lnTo>
                  <a:lnTo>
                    <a:pt x="1537258" y="3975"/>
                  </a:lnTo>
                  <a:lnTo>
                    <a:pt x="1541551" y="10045"/>
                  </a:lnTo>
                  <a:lnTo>
                    <a:pt x="1541691" y="10604"/>
                  </a:lnTo>
                  <a:lnTo>
                    <a:pt x="1541691" y="1968"/>
                  </a:lnTo>
                  <a:lnTo>
                    <a:pt x="1541526" y="1828"/>
                  </a:lnTo>
                  <a:lnTo>
                    <a:pt x="1537131" y="0"/>
                  </a:lnTo>
                  <a:lnTo>
                    <a:pt x="1531988" y="0"/>
                  </a:lnTo>
                  <a:lnTo>
                    <a:pt x="1522768" y="10045"/>
                  </a:lnTo>
                  <a:lnTo>
                    <a:pt x="1522768" y="26301"/>
                  </a:lnTo>
                  <a:lnTo>
                    <a:pt x="1525460" y="32562"/>
                  </a:lnTo>
                  <a:lnTo>
                    <a:pt x="1524012" y="32562"/>
                  </a:lnTo>
                  <a:lnTo>
                    <a:pt x="1525485" y="32600"/>
                  </a:lnTo>
                  <a:lnTo>
                    <a:pt x="1525917" y="33147"/>
                  </a:lnTo>
                  <a:lnTo>
                    <a:pt x="1526286" y="33553"/>
                  </a:lnTo>
                  <a:lnTo>
                    <a:pt x="1531442" y="36449"/>
                  </a:lnTo>
                  <a:lnTo>
                    <a:pt x="1537423" y="36449"/>
                  </a:lnTo>
                  <a:lnTo>
                    <a:pt x="1543050" y="33020"/>
                  </a:lnTo>
                  <a:lnTo>
                    <a:pt x="1543418" y="32562"/>
                  </a:lnTo>
                  <a:lnTo>
                    <a:pt x="1543735" y="32131"/>
                  </a:lnTo>
                  <a:lnTo>
                    <a:pt x="1543977" y="31750"/>
                  </a:lnTo>
                  <a:lnTo>
                    <a:pt x="1544548" y="30759"/>
                  </a:lnTo>
                  <a:lnTo>
                    <a:pt x="1544840" y="30162"/>
                  </a:lnTo>
                  <a:lnTo>
                    <a:pt x="1545336" y="29006"/>
                  </a:lnTo>
                  <a:lnTo>
                    <a:pt x="1545767" y="27698"/>
                  </a:lnTo>
                  <a:lnTo>
                    <a:pt x="1546174" y="26301"/>
                  </a:lnTo>
                  <a:close/>
                </a:path>
                <a:path w="2292984" h="36829">
                  <a:moveTo>
                    <a:pt x="2263851" y="24561"/>
                  </a:moveTo>
                  <a:lnTo>
                    <a:pt x="2252776" y="13335"/>
                  </a:lnTo>
                  <a:lnTo>
                    <a:pt x="2251265" y="13360"/>
                  </a:lnTo>
                  <a:lnTo>
                    <a:pt x="2249043" y="13665"/>
                  </a:lnTo>
                  <a:lnTo>
                    <a:pt x="2247887" y="14033"/>
                  </a:lnTo>
                  <a:lnTo>
                    <a:pt x="2245893" y="14922"/>
                  </a:lnTo>
                  <a:lnTo>
                    <a:pt x="2244826" y="15633"/>
                  </a:lnTo>
                  <a:lnTo>
                    <a:pt x="2245512" y="4229"/>
                  </a:lnTo>
                  <a:lnTo>
                    <a:pt x="2261755" y="4229"/>
                  </a:lnTo>
                  <a:lnTo>
                    <a:pt x="2261755" y="330"/>
                  </a:lnTo>
                  <a:lnTo>
                    <a:pt x="2241334" y="330"/>
                  </a:lnTo>
                  <a:lnTo>
                    <a:pt x="2240140" y="19659"/>
                  </a:lnTo>
                  <a:lnTo>
                    <a:pt x="2244623" y="19659"/>
                  </a:lnTo>
                  <a:lnTo>
                    <a:pt x="2246592" y="18237"/>
                  </a:lnTo>
                  <a:lnTo>
                    <a:pt x="2247531" y="17792"/>
                  </a:lnTo>
                  <a:lnTo>
                    <a:pt x="2249779" y="17183"/>
                  </a:lnTo>
                  <a:lnTo>
                    <a:pt x="2251672" y="17094"/>
                  </a:lnTo>
                  <a:lnTo>
                    <a:pt x="2252713" y="17183"/>
                  </a:lnTo>
                  <a:lnTo>
                    <a:pt x="2259063" y="25463"/>
                  </a:lnTo>
                  <a:lnTo>
                    <a:pt x="2258885" y="26911"/>
                  </a:lnTo>
                  <a:lnTo>
                    <a:pt x="2250135" y="33007"/>
                  </a:lnTo>
                  <a:lnTo>
                    <a:pt x="2248611" y="32766"/>
                  </a:lnTo>
                  <a:lnTo>
                    <a:pt x="2243734" y="27698"/>
                  </a:lnTo>
                  <a:lnTo>
                    <a:pt x="2239086" y="28244"/>
                  </a:lnTo>
                  <a:lnTo>
                    <a:pt x="2251100" y="36791"/>
                  </a:lnTo>
                  <a:lnTo>
                    <a:pt x="2253488" y="36639"/>
                  </a:lnTo>
                  <a:lnTo>
                    <a:pt x="2263775" y="26149"/>
                  </a:lnTo>
                  <a:lnTo>
                    <a:pt x="2263851" y="24561"/>
                  </a:lnTo>
                  <a:close/>
                </a:path>
                <a:path w="2292984" h="36829">
                  <a:moveTo>
                    <a:pt x="2292883" y="24066"/>
                  </a:moveTo>
                  <a:lnTo>
                    <a:pt x="2280297" y="13360"/>
                  </a:lnTo>
                  <a:lnTo>
                    <a:pt x="2278088" y="13665"/>
                  </a:lnTo>
                  <a:lnTo>
                    <a:pt x="2275878" y="14452"/>
                  </a:lnTo>
                  <a:lnTo>
                    <a:pt x="2274646" y="15087"/>
                  </a:lnTo>
                  <a:lnTo>
                    <a:pt x="2273871" y="15633"/>
                  </a:lnTo>
                  <a:lnTo>
                    <a:pt x="2274557" y="4229"/>
                  </a:lnTo>
                  <a:lnTo>
                    <a:pt x="2290788" y="4229"/>
                  </a:lnTo>
                  <a:lnTo>
                    <a:pt x="2290788" y="330"/>
                  </a:lnTo>
                  <a:lnTo>
                    <a:pt x="2270366" y="330"/>
                  </a:lnTo>
                  <a:lnTo>
                    <a:pt x="2269172" y="19659"/>
                  </a:lnTo>
                  <a:lnTo>
                    <a:pt x="2273668" y="19659"/>
                  </a:lnTo>
                  <a:lnTo>
                    <a:pt x="2274913" y="18694"/>
                  </a:lnTo>
                  <a:lnTo>
                    <a:pt x="2276576" y="17792"/>
                  </a:lnTo>
                  <a:lnTo>
                    <a:pt x="2278824" y="17183"/>
                  </a:lnTo>
                  <a:lnTo>
                    <a:pt x="2280691" y="17094"/>
                  </a:lnTo>
                  <a:lnTo>
                    <a:pt x="2282723" y="17373"/>
                  </a:lnTo>
                  <a:lnTo>
                    <a:pt x="2288108" y="25057"/>
                  </a:lnTo>
                  <a:lnTo>
                    <a:pt x="2287981" y="26568"/>
                  </a:lnTo>
                  <a:lnTo>
                    <a:pt x="2279180" y="33007"/>
                  </a:lnTo>
                  <a:lnTo>
                    <a:pt x="2277643" y="32766"/>
                  </a:lnTo>
                  <a:lnTo>
                    <a:pt x="2275929" y="32067"/>
                  </a:lnTo>
                  <a:lnTo>
                    <a:pt x="2274760" y="31254"/>
                  </a:lnTo>
                  <a:lnTo>
                    <a:pt x="2273782" y="30073"/>
                  </a:lnTo>
                  <a:lnTo>
                    <a:pt x="2272779" y="27698"/>
                  </a:lnTo>
                  <a:lnTo>
                    <a:pt x="2268131" y="28244"/>
                  </a:lnTo>
                  <a:lnTo>
                    <a:pt x="2281351" y="36753"/>
                  </a:lnTo>
                  <a:lnTo>
                    <a:pt x="2283625" y="36461"/>
                  </a:lnTo>
                  <a:lnTo>
                    <a:pt x="2292883" y="24561"/>
                  </a:lnTo>
                  <a:lnTo>
                    <a:pt x="2292883" y="2406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69571" y="5141137"/>
              <a:ext cx="52098" cy="65394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4595876" y="4099407"/>
              <a:ext cx="1823085" cy="1179195"/>
            </a:xfrm>
            <a:custGeom>
              <a:avLst/>
              <a:gdLst/>
              <a:ahLst/>
              <a:cxnLst/>
              <a:rect l="l" t="t" r="r" b="b"/>
              <a:pathLst>
                <a:path w="1823085" h="1179195">
                  <a:moveTo>
                    <a:pt x="47929" y="24980"/>
                  </a:moveTo>
                  <a:lnTo>
                    <a:pt x="0" y="0"/>
                  </a:lnTo>
                  <a:lnTo>
                    <a:pt x="0" y="6057"/>
                  </a:lnTo>
                  <a:lnTo>
                    <a:pt x="19685" y="12814"/>
                  </a:lnTo>
                  <a:lnTo>
                    <a:pt x="28232" y="15836"/>
                  </a:lnTo>
                  <a:lnTo>
                    <a:pt x="0" y="26238"/>
                  </a:lnTo>
                  <a:lnTo>
                    <a:pt x="0" y="32359"/>
                  </a:lnTo>
                  <a:lnTo>
                    <a:pt x="34315" y="18681"/>
                  </a:lnTo>
                  <a:lnTo>
                    <a:pt x="35699" y="19227"/>
                  </a:lnTo>
                  <a:lnTo>
                    <a:pt x="43548" y="27203"/>
                  </a:lnTo>
                  <a:lnTo>
                    <a:pt x="43357" y="30378"/>
                  </a:lnTo>
                  <a:lnTo>
                    <a:pt x="47675" y="30378"/>
                  </a:lnTo>
                  <a:lnTo>
                    <a:pt x="47790" y="29781"/>
                  </a:lnTo>
                  <a:lnTo>
                    <a:pt x="47929" y="24980"/>
                  </a:lnTo>
                  <a:close/>
                </a:path>
                <a:path w="1823085" h="1179195">
                  <a:moveTo>
                    <a:pt x="1823085" y="1178991"/>
                  </a:moveTo>
                  <a:lnTo>
                    <a:pt x="1810639" y="1161186"/>
                  </a:lnTo>
                  <a:lnTo>
                    <a:pt x="1822348" y="1144485"/>
                  </a:lnTo>
                  <a:lnTo>
                    <a:pt x="1815934" y="1144485"/>
                  </a:lnTo>
                  <a:lnTo>
                    <a:pt x="1807400" y="1157909"/>
                  </a:lnTo>
                  <a:lnTo>
                    <a:pt x="1798789" y="1144485"/>
                  </a:lnTo>
                  <a:lnTo>
                    <a:pt x="1792452" y="1144485"/>
                  </a:lnTo>
                  <a:lnTo>
                    <a:pt x="1804136" y="1161262"/>
                  </a:lnTo>
                  <a:lnTo>
                    <a:pt x="1791881" y="1178991"/>
                  </a:lnTo>
                  <a:lnTo>
                    <a:pt x="1798053" y="1178991"/>
                  </a:lnTo>
                  <a:lnTo>
                    <a:pt x="1807400" y="1164831"/>
                  </a:lnTo>
                  <a:lnTo>
                    <a:pt x="1816671" y="1178991"/>
                  </a:lnTo>
                  <a:lnTo>
                    <a:pt x="1823085" y="11789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36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F97B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Statistical Inference</dc:title>
  <dcterms:created xsi:type="dcterms:W3CDTF">2025-10-21T17:41:51Z</dcterms:created>
  <dcterms:modified xsi:type="dcterms:W3CDTF">2025-10-21T17:41:51Z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2025-10-21T00:00:00Z</vt:filetime>
  </property>
  <property fmtid="{D5CDD505-2E9C-101B-9397-08002B2CF9AE}" pid="3" name="Creator">
    <vt:lpwstr>Mozilla/5.0 (Windows NT 10.0; Win64; x64) AppleWebKit/537.36 (KHTML, like Gecko) Chrome/141.0.0.0 Safari/537.36</vt:lpwstr>
  </property>
  <property fmtid="{D5CDD505-2E9C-101B-9397-08002B2CF9AE}" pid="4" name="LastSaved">
    <vt:filetime>2025-10-21T00:00:00Z</vt:filetime>
  </property>
  <property fmtid="{D5CDD505-2E9C-101B-9397-08002B2CF9AE}" pid="5" name="Producer">
    <vt:lpwstr>Skia/PDF m141</vt:lpwstr>
  </property>
</Properties>
</file>