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Default Extension="jpg" ContentType="image/jpg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8648700" cy="6489700"/>
  <p:notesSz cx="8648700" cy="6489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9128" y="2011807"/>
            <a:ext cx="7356792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8257" y="3634232"/>
            <a:ext cx="6058535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32752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457350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206375"/>
            <a:ext cx="6645909" cy="433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9800" y="1842770"/>
            <a:ext cx="7007859" cy="2321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942717" y="6035421"/>
            <a:ext cx="2769616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32752" y="6035421"/>
            <a:ext cx="1990661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133407" y="6228353"/>
            <a:ext cx="33782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iencedirect.com/science/article/pii/S0022103198913713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learningstatisticswithr-bookdown.netlify.app/ttest.html#welchttest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8648700" cy="6486525"/>
            <a:chOff x="0" y="0"/>
            <a:chExt cx="8648700" cy="64865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7399" y="5610224"/>
              <a:ext cx="2381249" cy="4857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7624" y="47625"/>
              <a:ext cx="8553450" cy="6391275"/>
            </a:xfrm>
            <a:custGeom>
              <a:avLst/>
              <a:gdLst/>
              <a:ahLst/>
              <a:cxnLst/>
              <a:rect l="l" t="t" r="r" b="b"/>
              <a:pathLst>
                <a:path w="8553450" h="6391275">
                  <a:moveTo>
                    <a:pt x="0" y="0"/>
                  </a:moveTo>
                  <a:lnTo>
                    <a:pt x="8553449" y="0"/>
                  </a:lnTo>
                  <a:lnTo>
                    <a:pt x="8553449" y="6391274"/>
                  </a:lnTo>
                  <a:lnTo>
                    <a:pt x="0" y="6391274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1546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54049" y="3235324"/>
            <a:ext cx="599376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500" spc="-175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dirty="0" sz="4500" spc="-2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22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4500" spc="-2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180">
                <a:solidFill>
                  <a:srgbClr val="FFFFFF"/>
                </a:solidFill>
                <a:latin typeface="Trebuchet MS"/>
                <a:cs typeface="Trebuchet MS"/>
              </a:rPr>
              <a:t>Statistical </a:t>
            </a:r>
            <a:r>
              <a:rPr dirty="0" sz="4500" spc="-235">
                <a:solidFill>
                  <a:srgbClr val="FFFFFF"/>
                </a:solidFill>
                <a:latin typeface="Trebuchet MS"/>
                <a:cs typeface="Trebuchet MS"/>
              </a:rPr>
              <a:t>Inference</a:t>
            </a:r>
            <a:r>
              <a:rPr dirty="0" sz="4500" spc="-2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25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4049" y="4959350"/>
            <a:ext cx="2704465" cy="112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10">
                <a:solidFill>
                  <a:srgbClr val="FFFFFF"/>
                </a:solidFill>
                <a:latin typeface="Trebuchet MS"/>
                <a:cs typeface="Trebuchet MS"/>
              </a:rPr>
              <a:t>EDUC</a:t>
            </a:r>
            <a:r>
              <a:rPr dirty="0" sz="30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320">
                <a:solidFill>
                  <a:srgbClr val="FFFFFF"/>
                </a:solidFill>
                <a:latin typeface="Trebuchet MS"/>
                <a:cs typeface="Trebuchet MS"/>
              </a:rPr>
              <a:t>641:</a:t>
            </a:r>
            <a:r>
              <a:rPr dirty="0" sz="30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204">
                <a:solidFill>
                  <a:srgbClr val="FFFFFF"/>
                </a:solidFill>
                <a:latin typeface="Trebuchet MS"/>
                <a:cs typeface="Trebuchet MS"/>
              </a:rPr>
              <a:t>Week</a:t>
            </a:r>
            <a:r>
              <a:rPr dirty="0" sz="30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5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dirty="0" sz="2250" spc="-130">
                <a:solidFill>
                  <a:srgbClr val="252629"/>
                </a:solidFill>
                <a:latin typeface="Trebuchet MS"/>
                <a:cs typeface="Trebuchet MS"/>
              </a:rPr>
              <a:t>Cengiz </a:t>
            </a:r>
            <a:r>
              <a:rPr dirty="0" sz="2250" spc="-10">
                <a:solidFill>
                  <a:srgbClr val="252629"/>
                </a:solidFill>
                <a:latin typeface="Trebuchet MS"/>
                <a:cs typeface="Trebuchet MS"/>
              </a:rPr>
              <a:t>Zopluoglu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779780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Goals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9800" y="795019"/>
            <a:ext cx="7141845" cy="18929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62611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Build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intuition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freedom;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contrast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 spc="-10">
                <a:latin typeface="Trebuchet MS"/>
                <a:cs typeface="Trebuchet MS"/>
              </a:rPr>
              <a:t>normal.</a:t>
            </a:r>
            <a:endParaRPr sz="1450">
              <a:latin typeface="Trebuchet MS"/>
              <a:cs typeface="Trebuchet MS"/>
            </a:endParaRPr>
          </a:p>
          <a:p>
            <a:pPr marL="12700" marR="52069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Conduct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interpret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</a:t>
            </a:r>
            <a:r>
              <a:rPr dirty="0" sz="1450" spc="-10">
                <a:latin typeface="Trebuchet MS"/>
                <a:cs typeface="Trebuchet MS"/>
              </a:rPr>
              <a:t>sample,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independent-samples,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dependent-samples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t- </a:t>
            </a:r>
            <a:r>
              <a:rPr dirty="0" sz="1450" spc="-10">
                <a:latin typeface="Trebuchet MS"/>
                <a:cs typeface="Trebuchet MS"/>
              </a:rPr>
              <a:t>tests.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81000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Choose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right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variant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(one-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vs</a:t>
            </a:r>
            <a:r>
              <a:rPr dirty="0" sz="1450" spc="-10">
                <a:latin typeface="Trebuchet MS"/>
                <a:cs typeface="Trebuchet MS"/>
              </a:rPr>
              <a:t> two-</a:t>
            </a:r>
            <a:r>
              <a:rPr dirty="0" sz="1450" spc="-35">
                <a:latin typeface="Trebuchet MS"/>
                <a:cs typeface="Trebuchet MS"/>
              </a:rPr>
              <a:t>tailed;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pooled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Welch’s)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justify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choice. </a:t>
            </a:r>
            <a:r>
              <a:rPr dirty="0" sz="1450" spc="-30">
                <a:latin typeface="Trebuchet MS"/>
                <a:cs typeface="Trebuchet MS"/>
              </a:rPr>
              <a:t>Write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clear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APA-</a:t>
            </a:r>
            <a:r>
              <a:rPr dirty="0" sz="1450">
                <a:latin typeface="Trebuchet MS"/>
                <a:cs typeface="Trebuchet MS"/>
              </a:rPr>
              <a:t>style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results.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152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978149"/>
            <a:ext cx="549592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85">
                <a:solidFill>
                  <a:srgbClr val="FFFFFF"/>
                </a:solidFill>
              </a:rPr>
              <a:t>One-</a:t>
            </a:r>
            <a:r>
              <a:rPr dirty="0" sz="4100" spc="-150">
                <a:solidFill>
                  <a:srgbClr val="FFFFFF"/>
                </a:solidFill>
              </a:rPr>
              <a:t>sample</a:t>
            </a:r>
            <a:r>
              <a:rPr dirty="0" sz="4100" spc="-250">
                <a:solidFill>
                  <a:srgbClr val="FFFFFF"/>
                </a:solidFill>
              </a:rPr>
              <a:t> </a:t>
            </a:r>
            <a:r>
              <a:rPr dirty="0" sz="4100" spc="-25" i="1">
                <a:solidFill>
                  <a:srgbClr val="FFFFFF"/>
                </a:solidFill>
                <a:latin typeface="Book Antiqua"/>
                <a:cs typeface="Book Antiqua"/>
              </a:rPr>
              <a:t>t</a:t>
            </a:r>
            <a:r>
              <a:rPr dirty="0" sz="4100" spc="-25">
                <a:solidFill>
                  <a:srgbClr val="FFFFFF"/>
                </a:solidFill>
              </a:rPr>
              <a:t>-</a:t>
            </a:r>
            <a:r>
              <a:rPr dirty="0" sz="4100" spc="-185">
                <a:solidFill>
                  <a:srgbClr val="FFFFFF"/>
                </a:solidFill>
              </a:rPr>
              <a:t>test</a:t>
            </a:r>
            <a:r>
              <a:rPr dirty="0" sz="4100" spc="-245">
                <a:solidFill>
                  <a:srgbClr val="FFFFFF"/>
                </a:solidFill>
              </a:rPr>
              <a:t> </a:t>
            </a:r>
            <a:r>
              <a:rPr dirty="0" sz="4100" spc="-204">
                <a:solidFill>
                  <a:srgbClr val="FFFFFF"/>
                </a:solidFill>
              </a:rPr>
              <a:t>(NHST)</a:t>
            </a:r>
            <a:endParaRPr sz="41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251523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One-</a:t>
            </a:r>
            <a:r>
              <a:rPr dirty="0" spc="-80"/>
              <a:t>sample</a:t>
            </a:r>
            <a:r>
              <a:rPr dirty="0" spc="-120"/>
              <a:t> </a:t>
            </a:r>
            <a:r>
              <a:rPr dirty="0" spc="-10" i="1">
                <a:latin typeface="Book Antiqua"/>
                <a:cs typeface="Book Antiqua"/>
              </a:rPr>
              <a:t>t</a:t>
            </a:r>
            <a:r>
              <a:rPr dirty="0" spc="-10"/>
              <a:t>-</a:t>
            </a:r>
            <a:r>
              <a:rPr dirty="0" spc="-75"/>
              <a:t>test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9800" y="781596"/>
            <a:ext cx="7042150" cy="451612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412750">
              <a:lnSpc>
                <a:spcPts val="1730"/>
              </a:lnSpc>
              <a:spcBef>
                <a:spcPts val="260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one-sample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z</a:t>
            </a:r>
            <a:r>
              <a:rPr dirty="0" sz="1450" spc="-70">
                <a:latin typeface="Trebuchet MS"/>
                <a:cs typeface="Trebuchet MS"/>
              </a:rPr>
              <a:t>-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0">
                <a:latin typeface="Trebuchet MS"/>
                <a:cs typeface="Trebuchet MS"/>
              </a:rPr>
              <a:t>(</a:t>
            </a:r>
            <a:r>
              <a:rPr dirty="0" sz="1550" spc="-100" i="1">
                <a:latin typeface="Arial"/>
                <a:cs typeface="Arial"/>
              </a:rPr>
              <a:t>σ</a:t>
            </a:r>
            <a:r>
              <a:rPr dirty="0" sz="1450" spc="-100">
                <a:latin typeface="Trebuchet MS"/>
                <a:cs typeface="Trebuchet MS"/>
              </a:rPr>
              <a:t>)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 spc="-10">
                <a:latin typeface="Trebuchet MS"/>
                <a:cs typeface="Trebuchet MS"/>
              </a:rPr>
              <a:t>known.</a:t>
            </a:r>
            <a:endParaRPr sz="1450">
              <a:latin typeface="Trebuchet MS"/>
              <a:cs typeface="Trebuchet MS"/>
            </a:endParaRPr>
          </a:p>
          <a:p>
            <a:pPr marL="12700" marR="1412875">
              <a:lnSpc>
                <a:spcPts val="3229"/>
              </a:lnSpc>
              <a:spcBef>
                <a:spcPts val="21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reality,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almost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never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deviation. Instead,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estimate</a:t>
            </a:r>
            <a:r>
              <a:rPr dirty="0" sz="1450" spc="-20">
                <a:latin typeface="Trebuchet MS"/>
                <a:cs typeface="Trebuchet MS"/>
              </a:rPr>
              <a:t> it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deviation:</a:t>
            </a:r>
            <a:endParaRPr sz="1450">
              <a:latin typeface="Trebuchet MS"/>
              <a:cs typeface="Trebuchet MS"/>
            </a:endParaRPr>
          </a:p>
          <a:p>
            <a:pPr algn="ctr" marR="266700">
              <a:lnSpc>
                <a:spcPct val="100000"/>
              </a:lnSpc>
              <a:spcBef>
                <a:spcPts val="725"/>
              </a:spcBef>
            </a:pPr>
            <a:r>
              <a:rPr dirty="0" sz="1550" spc="-130" i="1">
                <a:latin typeface="Arial"/>
                <a:cs typeface="Arial"/>
              </a:rPr>
              <a:t>σ</a:t>
            </a:r>
            <a:r>
              <a:rPr dirty="0" sz="1550" spc="-30" i="1">
                <a:latin typeface="Arial"/>
                <a:cs typeface="Arial"/>
              </a:rPr>
              <a:t> </a:t>
            </a:r>
            <a:r>
              <a:rPr dirty="0" sz="1500" spc="-60">
                <a:latin typeface="Tahoma"/>
                <a:cs typeface="Tahoma"/>
              </a:rPr>
              <a:t>→</a:t>
            </a:r>
            <a:r>
              <a:rPr dirty="0" sz="1500" spc="-65">
                <a:latin typeface="Tahoma"/>
                <a:cs typeface="Tahoma"/>
              </a:rPr>
              <a:t> </a:t>
            </a:r>
            <a:r>
              <a:rPr dirty="0" sz="1550" spc="-1090" i="1">
                <a:latin typeface="Arial"/>
                <a:cs typeface="Arial"/>
              </a:rPr>
              <a:t>σ</a:t>
            </a:r>
            <a:r>
              <a:rPr dirty="0" baseline="1851" sz="2250" spc="-367">
                <a:latin typeface="Tahoma"/>
                <a:cs typeface="Tahoma"/>
              </a:rPr>
              <a:t>^</a:t>
            </a:r>
            <a:endParaRPr baseline="1851" sz="2250">
              <a:latin typeface="Tahoma"/>
              <a:cs typeface="Tahoma"/>
            </a:endParaRPr>
          </a:p>
          <a:p>
            <a:pPr marL="179705" marR="433070">
              <a:lnSpc>
                <a:spcPts val="1730"/>
              </a:lnSpc>
              <a:spcBef>
                <a:spcPts val="1230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best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estimate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population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deviation.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9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substitution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changes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shape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longer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normal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distribution.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450" spc="-10">
                <a:latin typeface="Trebuchet MS"/>
                <a:cs typeface="Trebuchet MS"/>
              </a:rPr>
              <a:t>Instead,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650" spc="-10" i="1">
                <a:latin typeface="Georgia"/>
                <a:cs typeface="Georgia"/>
              </a:rPr>
              <a:t>t</a:t>
            </a:r>
            <a:r>
              <a:rPr dirty="0" sz="1450" spc="-10" b="1">
                <a:latin typeface="Trebuchet MS"/>
                <a:cs typeface="Trebuchet MS"/>
              </a:rPr>
              <a:t>-distribution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 marR="420370">
              <a:lnSpc>
                <a:spcPts val="1730"/>
              </a:lnSpc>
              <a:spcBef>
                <a:spcPts val="143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accounts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additional</a:t>
            </a:r>
            <a:r>
              <a:rPr dirty="0" sz="1450" spc="-10">
                <a:latin typeface="Trebuchet MS"/>
                <a:cs typeface="Trebuchet MS"/>
              </a:rPr>
              <a:t> uncertainty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estimating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σ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 spc="-10">
                <a:latin typeface="Trebuchet MS"/>
                <a:cs typeface="Trebuchet MS"/>
              </a:rPr>
              <a:t>sample.</a:t>
            </a:r>
            <a:endParaRPr sz="1450">
              <a:latin typeface="Trebuchet MS"/>
              <a:cs typeface="Trebuchet MS"/>
            </a:endParaRPr>
          </a:p>
          <a:p>
            <a:pPr marL="12700" marR="889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Aside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change,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process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conceptually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5" i="1">
                <a:latin typeface="Lucida Sans"/>
                <a:cs typeface="Lucida Sans"/>
              </a:rPr>
              <a:t>z</a:t>
            </a:r>
            <a:r>
              <a:rPr dirty="0" sz="1450" spc="-25">
                <a:latin typeface="Trebuchet MS"/>
                <a:cs typeface="Trebuchet MS"/>
              </a:rPr>
              <a:t>- </a:t>
            </a:r>
            <a:r>
              <a:rPr dirty="0" sz="1450" spc="-10">
                <a:latin typeface="Trebuchet MS"/>
                <a:cs typeface="Trebuchet MS"/>
              </a:rPr>
              <a:t>test.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3051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39242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1524" y="4324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71524" y="49434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What</a:t>
            </a:r>
            <a:r>
              <a:rPr dirty="0" spc="-160"/>
              <a:t> </a:t>
            </a:r>
            <a:r>
              <a:rPr dirty="0"/>
              <a:t>is</a:t>
            </a:r>
            <a:r>
              <a:rPr dirty="0" spc="-160"/>
              <a:t> </a:t>
            </a:r>
            <a:r>
              <a:rPr dirty="0" spc="-90"/>
              <a:t>a</a:t>
            </a:r>
            <a:r>
              <a:rPr dirty="0" spc="-155"/>
              <a:t> </a:t>
            </a:r>
            <a:r>
              <a:rPr dirty="0" spc="-140"/>
              <a:t>t-</a:t>
            </a:r>
            <a:r>
              <a:rPr dirty="0" spc="-55"/>
              <a:t>distribution?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2947987"/>
            <a:ext cx="66675" cy="66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348037"/>
            <a:ext cx="66675" cy="666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39800" y="795019"/>
            <a:ext cx="6996430" cy="26930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A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similar to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normal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N(0,1).</a:t>
            </a:r>
            <a:endParaRPr sz="1450">
              <a:latin typeface="Trebuchet MS"/>
              <a:cs typeface="Trebuchet MS"/>
            </a:endParaRPr>
          </a:p>
          <a:p>
            <a:pPr marL="12700" marR="83820">
              <a:lnSpc>
                <a:spcPts val="1730"/>
              </a:lnSpc>
              <a:spcBef>
                <a:spcPts val="147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depends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parameter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called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degrees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freedom (df).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90"/>
              </a:spcBef>
            </a:pP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freedom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increase,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becomes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closer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 distribution.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50" spc="-25">
                <a:latin typeface="Trebuchet MS"/>
                <a:cs typeface="Trebuchet MS"/>
              </a:rPr>
              <a:t>So:</a:t>
            </a:r>
            <a:endParaRPr sz="1450">
              <a:latin typeface="Trebuchet MS"/>
              <a:cs typeface="Trebuchet MS"/>
            </a:endParaRPr>
          </a:p>
          <a:p>
            <a:pPr marL="393065" marR="2512695">
              <a:lnSpc>
                <a:spcPct val="181000"/>
              </a:lnSpc>
            </a:pPr>
            <a:r>
              <a:rPr dirty="0" sz="1450">
                <a:latin typeface="Trebuchet MS"/>
                <a:cs typeface="Trebuchet MS"/>
              </a:rPr>
              <a:t>Small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25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heavier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tails</a:t>
            </a:r>
            <a:r>
              <a:rPr dirty="0" sz="1450" spc="-10">
                <a:latin typeface="Trebuchet MS"/>
                <a:cs typeface="Trebuchet MS"/>
              </a:rPr>
              <a:t> (more uncertainty) Large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65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approaches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Comparing</a:t>
            </a:r>
            <a:r>
              <a:rPr dirty="0" spc="-135"/>
              <a:t> </a:t>
            </a:r>
            <a:r>
              <a:rPr dirty="0" spc="-140"/>
              <a:t>t-</a:t>
            </a:r>
            <a:r>
              <a:rPr dirty="0" spc="-55"/>
              <a:t>distributions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58800" y="795019"/>
            <a:ext cx="6788150" cy="10547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Below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30">
                <a:latin typeface="Trebuchet MS"/>
                <a:cs typeface="Trebuchet MS"/>
              </a:rPr>
              <a:t>2,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10,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30,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normal</a:t>
            </a:r>
            <a:r>
              <a:rPr dirty="0" sz="1450" spc="-10">
                <a:latin typeface="Trebuchet MS"/>
                <a:cs typeface="Trebuchet MS"/>
              </a:rPr>
              <a:t> distribution.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Notice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tails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shrink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increases.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8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5">
                <a:latin typeface="Trebuchet MS"/>
                <a:cs typeface="Trebuchet MS"/>
              </a:rPr>
              <a:t> reflects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increasing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precision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larger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samples.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629519" y="2075907"/>
            <a:ext cx="4709160" cy="3879215"/>
            <a:chOff x="1629519" y="2075907"/>
            <a:chExt cx="4709160" cy="3879215"/>
          </a:xfrm>
        </p:grpSpPr>
        <p:sp>
          <p:nvSpPr>
            <p:cNvPr id="8" name="object 8" descr=""/>
            <p:cNvSpPr/>
            <p:nvPr/>
          </p:nvSpPr>
          <p:spPr>
            <a:xfrm>
              <a:off x="1916757" y="5249800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6757" y="4390801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6757" y="3531765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16757" y="2672729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619449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23257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27103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630911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16757" y="5679318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916757" y="4820319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16757" y="3961283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16757" y="3102247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16757" y="2243211"/>
              <a:ext cx="4417060" cy="0"/>
            </a:xfrm>
            <a:custGeom>
              <a:avLst/>
              <a:gdLst/>
              <a:ahLst/>
              <a:cxnLst/>
              <a:rect l="l" t="t" r="r" b="b"/>
              <a:pathLst>
                <a:path w="4417060" h="0">
                  <a:moveTo>
                    <a:pt x="0" y="0"/>
                  </a:moveTo>
                  <a:lnTo>
                    <a:pt x="4416846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117526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121334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125180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28988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132834" y="2081026"/>
              <a:ext cx="0" cy="3768725"/>
            </a:xfrm>
            <a:custGeom>
              <a:avLst/>
              <a:gdLst/>
              <a:ahLst/>
              <a:cxnLst/>
              <a:rect l="l" t="t" r="r" b="b"/>
              <a:pathLst>
                <a:path w="0" h="3768725">
                  <a:moveTo>
                    <a:pt x="0" y="37684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6347" y="2241148"/>
              <a:ext cx="4037666" cy="3448195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916757" y="2080989"/>
              <a:ext cx="4417060" cy="3768725"/>
            </a:xfrm>
            <a:custGeom>
              <a:avLst/>
              <a:gdLst/>
              <a:ahLst/>
              <a:cxnLst/>
              <a:rect l="l" t="t" r="r" b="b"/>
              <a:pathLst>
                <a:path w="4417060" h="3768725">
                  <a:moveTo>
                    <a:pt x="0" y="3768476"/>
                  </a:moveTo>
                  <a:lnTo>
                    <a:pt x="4416846" y="3768476"/>
                  </a:lnTo>
                  <a:lnTo>
                    <a:pt x="4416846" y="0"/>
                  </a:lnTo>
                  <a:lnTo>
                    <a:pt x="0" y="0"/>
                  </a:lnTo>
                  <a:lnTo>
                    <a:pt x="0" y="37684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6986" y="5649850"/>
              <a:ext cx="108958" cy="58898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756981" y="4790744"/>
              <a:ext cx="109220" cy="59055"/>
            </a:xfrm>
            <a:custGeom>
              <a:avLst/>
              <a:gdLst/>
              <a:ahLst/>
              <a:cxnLst/>
              <a:rect l="l" t="t" r="r" b="b"/>
              <a:pathLst>
                <a:path w="109219" h="59054">
                  <a:moveTo>
                    <a:pt x="39141" y="37807"/>
                  </a:moveTo>
                  <a:lnTo>
                    <a:pt x="31737" y="3848"/>
                  </a:lnTo>
                  <a:lnTo>
                    <a:pt x="31737" y="21056"/>
                  </a:lnTo>
                  <a:lnTo>
                    <a:pt x="31699" y="37807"/>
                  </a:lnTo>
                  <a:lnTo>
                    <a:pt x="31407" y="39776"/>
                  </a:lnTo>
                  <a:lnTo>
                    <a:pt x="30657" y="43268"/>
                  </a:lnTo>
                  <a:lnTo>
                    <a:pt x="30568" y="43535"/>
                  </a:lnTo>
                  <a:lnTo>
                    <a:pt x="30403" y="44056"/>
                  </a:lnTo>
                  <a:lnTo>
                    <a:pt x="22326" y="52908"/>
                  </a:lnTo>
                  <a:lnTo>
                    <a:pt x="22644" y="52908"/>
                  </a:lnTo>
                  <a:lnTo>
                    <a:pt x="20688" y="53174"/>
                  </a:lnTo>
                  <a:lnTo>
                    <a:pt x="18376" y="53174"/>
                  </a:lnTo>
                  <a:lnTo>
                    <a:pt x="16433" y="52908"/>
                  </a:lnTo>
                  <a:lnTo>
                    <a:pt x="16751" y="52908"/>
                  </a:lnTo>
                  <a:lnTo>
                    <a:pt x="15709" y="52616"/>
                  </a:lnTo>
                  <a:lnTo>
                    <a:pt x="7518" y="38811"/>
                  </a:lnTo>
                  <a:lnTo>
                    <a:pt x="7518" y="20053"/>
                  </a:lnTo>
                  <a:lnTo>
                    <a:pt x="7823" y="18122"/>
                  </a:lnTo>
                  <a:lnTo>
                    <a:pt x="8382" y="15557"/>
                  </a:lnTo>
                  <a:lnTo>
                    <a:pt x="8509" y="15151"/>
                  </a:lnTo>
                  <a:lnTo>
                    <a:pt x="8610" y="14770"/>
                  </a:lnTo>
                  <a:lnTo>
                    <a:pt x="15735" y="6400"/>
                  </a:lnTo>
                  <a:lnTo>
                    <a:pt x="15519" y="6400"/>
                  </a:lnTo>
                  <a:lnTo>
                    <a:pt x="17335" y="6032"/>
                  </a:lnTo>
                  <a:lnTo>
                    <a:pt x="18529" y="5880"/>
                  </a:lnTo>
                  <a:lnTo>
                    <a:pt x="20878" y="5880"/>
                  </a:lnTo>
                  <a:lnTo>
                    <a:pt x="21996" y="6032"/>
                  </a:lnTo>
                  <a:lnTo>
                    <a:pt x="23723" y="6400"/>
                  </a:lnTo>
                  <a:lnTo>
                    <a:pt x="23482" y="6400"/>
                  </a:lnTo>
                  <a:lnTo>
                    <a:pt x="24041" y="6591"/>
                  </a:lnTo>
                  <a:lnTo>
                    <a:pt x="30632" y="15151"/>
                  </a:lnTo>
                  <a:lnTo>
                    <a:pt x="30734" y="15557"/>
                  </a:lnTo>
                  <a:lnTo>
                    <a:pt x="30937" y="16294"/>
                  </a:lnTo>
                  <a:lnTo>
                    <a:pt x="31191" y="17526"/>
                  </a:lnTo>
                  <a:lnTo>
                    <a:pt x="31292" y="18122"/>
                  </a:lnTo>
                  <a:lnTo>
                    <a:pt x="31483" y="19050"/>
                  </a:lnTo>
                  <a:lnTo>
                    <a:pt x="31597" y="20053"/>
                  </a:lnTo>
                  <a:lnTo>
                    <a:pt x="31737" y="21056"/>
                  </a:lnTo>
                  <a:lnTo>
                    <a:pt x="31737" y="3848"/>
                  </a:lnTo>
                  <a:lnTo>
                    <a:pt x="22174" y="0"/>
                  </a:lnTo>
                  <a:lnTo>
                    <a:pt x="17195" y="0"/>
                  </a:lnTo>
                  <a:lnTo>
                    <a:pt x="304" y="18834"/>
                  </a:lnTo>
                  <a:lnTo>
                    <a:pt x="266" y="19050"/>
                  </a:lnTo>
                  <a:lnTo>
                    <a:pt x="0" y="21056"/>
                  </a:lnTo>
                  <a:lnTo>
                    <a:pt x="0" y="37807"/>
                  </a:lnTo>
                  <a:lnTo>
                    <a:pt x="16192" y="58978"/>
                  </a:lnTo>
                  <a:lnTo>
                    <a:pt x="22733" y="58978"/>
                  </a:lnTo>
                  <a:lnTo>
                    <a:pt x="38862" y="39776"/>
                  </a:lnTo>
                  <a:lnTo>
                    <a:pt x="39141" y="37807"/>
                  </a:lnTo>
                  <a:close/>
                </a:path>
                <a:path w="109219" h="59054">
                  <a:moveTo>
                    <a:pt x="58534" y="49453"/>
                  </a:moveTo>
                  <a:lnTo>
                    <a:pt x="50533" y="49453"/>
                  </a:lnTo>
                  <a:lnTo>
                    <a:pt x="50533" y="58420"/>
                  </a:lnTo>
                  <a:lnTo>
                    <a:pt x="58534" y="58420"/>
                  </a:lnTo>
                  <a:lnTo>
                    <a:pt x="58534" y="49453"/>
                  </a:lnTo>
                  <a:close/>
                </a:path>
                <a:path w="109219" h="59054">
                  <a:moveTo>
                    <a:pt x="108724" y="52133"/>
                  </a:moveTo>
                  <a:lnTo>
                    <a:pt x="94653" y="52133"/>
                  </a:lnTo>
                  <a:lnTo>
                    <a:pt x="94653" y="749"/>
                  </a:lnTo>
                  <a:lnTo>
                    <a:pt x="87884" y="749"/>
                  </a:lnTo>
                  <a:lnTo>
                    <a:pt x="74231" y="10121"/>
                  </a:lnTo>
                  <a:lnTo>
                    <a:pt x="74231" y="17081"/>
                  </a:lnTo>
                  <a:lnTo>
                    <a:pt x="87249" y="7772"/>
                  </a:lnTo>
                  <a:lnTo>
                    <a:pt x="87249" y="52133"/>
                  </a:lnTo>
                  <a:lnTo>
                    <a:pt x="72555" y="52133"/>
                  </a:lnTo>
                  <a:lnTo>
                    <a:pt x="72555" y="58420"/>
                  </a:lnTo>
                  <a:lnTo>
                    <a:pt x="108724" y="58420"/>
                  </a:lnTo>
                  <a:lnTo>
                    <a:pt x="108724" y="5213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6985" y="3072556"/>
              <a:ext cx="109133" cy="5934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756981" y="2213749"/>
              <a:ext cx="110489" cy="59055"/>
            </a:xfrm>
            <a:custGeom>
              <a:avLst/>
              <a:gdLst/>
              <a:ahLst/>
              <a:cxnLst/>
              <a:rect l="l" t="t" r="r" b="b"/>
              <a:pathLst>
                <a:path w="110489" h="59055">
                  <a:moveTo>
                    <a:pt x="39128" y="37731"/>
                  </a:moveTo>
                  <a:lnTo>
                    <a:pt x="37299" y="12573"/>
                  </a:lnTo>
                  <a:lnTo>
                    <a:pt x="36614" y="10756"/>
                  </a:lnTo>
                  <a:lnTo>
                    <a:pt x="35801" y="9004"/>
                  </a:lnTo>
                  <a:lnTo>
                    <a:pt x="35687" y="8813"/>
                  </a:lnTo>
                  <a:lnTo>
                    <a:pt x="34823" y="7366"/>
                  </a:lnTo>
                  <a:lnTo>
                    <a:pt x="34264" y="6515"/>
                  </a:lnTo>
                  <a:lnTo>
                    <a:pt x="33743" y="5803"/>
                  </a:lnTo>
                  <a:lnTo>
                    <a:pt x="32702" y="4648"/>
                  </a:lnTo>
                  <a:lnTo>
                    <a:pt x="32118" y="4051"/>
                  </a:lnTo>
                  <a:lnTo>
                    <a:pt x="31737" y="3746"/>
                  </a:lnTo>
                  <a:lnTo>
                    <a:pt x="31737" y="20980"/>
                  </a:lnTo>
                  <a:lnTo>
                    <a:pt x="31699" y="37731"/>
                  </a:lnTo>
                  <a:lnTo>
                    <a:pt x="22326" y="52832"/>
                  </a:lnTo>
                  <a:lnTo>
                    <a:pt x="16751" y="52832"/>
                  </a:lnTo>
                  <a:lnTo>
                    <a:pt x="7518" y="38735"/>
                  </a:lnTo>
                  <a:lnTo>
                    <a:pt x="7518" y="19939"/>
                  </a:lnTo>
                  <a:lnTo>
                    <a:pt x="7823" y="18046"/>
                  </a:lnTo>
                  <a:lnTo>
                    <a:pt x="8382" y="15481"/>
                  </a:lnTo>
                  <a:lnTo>
                    <a:pt x="8496" y="15074"/>
                  </a:lnTo>
                  <a:lnTo>
                    <a:pt x="8623" y="14655"/>
                  </a:lnTo>
                  <a:lnTo>
                    <a:pt x="8839" y="13919"/>
                  </a:lnTo>
                  <a:lnTo>
                    <a:pt x="15735" y="6324"/>
                  </a:lnTo>
                  <a:lnTo>
                    <a:pt x="15519" y="6324"/>
                  </a:lnTo>
                  <a:lnTo>
                    <a:pt x="18122" y="5803"/>
                  </a:lnTo>
                  <a:lnTo>
                    <a:pt x="21297" y="5803"/>
                  </a:lnTo>
                  <a:lnTo>
                    <a:pt x="23723" y="6324"/>
                  </a:lnTo>
                  <a:lnTo>
                    <a:pt x="23482" y="6324"/>
                  </a:lnTo>
                  <a:lnTo>
                    <a:pt x="24041" y="6515"/>
                  </a:lnTo>
                  <a:lnTo>
                    <a:pt x="28359" y="9893"/>
                  </a:lnTo>
                  <a:lnTo>
                    <a:pt x="28917" y="10756"/>
                  </a:lnTo>
                  <a:lnTo>
                    <a:pt x="30734" y="15481"/>
                  </a:lnTo>
                  <a:lnTo>
                    <a:pt x="30937" y="16217"/>
                  </a:lnTo>
                  <a:lnTo>
                    <a:pt x="31191" y="17449"/>
                  </a:lnTo>
                  <a:lnTo>
                    <a:pt x="31292" y="18046"/>
                  </a:lnTo>
                  <a:lnTo>
                    <a:pt x="31483" y="18973"/>
                  </a:lnTo>
                  <a:lnTo>
                    <a:pt x="31597" y="19939"/>
                  </a:lnTo>
                  <a:lnTo>
                    <a:pt x="31737" y="20980"/>
                  </a:lnTo>
                  <a:lnTo>
                    <a:pt x="31737" y="3746"/>
                  </a:lnTo>
                  <a:lnTo>
                    <a:pt x="22961" y="0"/>
                  </a:lnTo>
                  <a:lnTo>
                    <a:pt x="16370" y="0"/>
                  </a:lnTo>
                  <a:lnTo>
                    <a:pt x="304" y="18757"/>
                  </a:lnTo>
                  <a:lnTo>
                    <a:pt x="266" y="18973"/>
                  </a:lnTo>
                  <a:lnTo>
                    <a:pt x="0" y="20980"/>
                  </a:lnTo>
                  <a:lnTo>
                    <a:pt x="12" y="37731"/>
                  </a:lnTo>
                  <a:lnTo>
                    <a:pt x="279" y="39700"/>
                  </a:lnTo>
                  <a:lnTo>
                    <a:pt x="16192" y="58902"/>
                  </a:lnTo>
                  <a:lnTo>
                    <a:pt x="22733" y="58902"/>
                  </a:lnTo>
                  <a:lnTo>
                    <a:pt x="33553" y="52832"/>
                  </a:lnTo>
                  <a:lnTo>
                    <a:pt x="34264" y="51904"/>
                  </a:lnTo>
                  <a:lnTo>
                    <a:pt x="38862" y="39700"/>
                  </a:lnTo>
                  <a:lnTo>
                    <a:pt x="39128" y="37731"/>
                  </a:lnTo>
                  <a:close/>
                </a:path>
                <a:path w="110489" h="59055">
                  <a:moveTo>
                    <a:pt x="58534" y="49339"/>
                  </a:moveTo>
                  <a:lnTo>
                    <a:pt x="50533" y="49339"/>
                  </a:lnTo>
                  <a:lnTo>
                    <a:pt x="50533" y="58305"/>
                  </a:lnTo>
                  <a:lnTo>
                    <a:pt x="58534" y="58305"/>
                  </a:lnTo>
                  <a:lnTo>
                    <a:pt x="58534" y="49339"/>
                  </a:lnTo>
                  <a:close/>
                </a:path>
                <a:path w="110489" h="59055">
                  <a:moveTo>
                    <a:pt x="110363" y="39446"/>
                  </a:moveTo>
                  <a:lnTo>
                    <a:pt x="102247" y="39446"/>
                  </a:lnTo>
                  <a:lnTo>
                    <a:pt x="102247" y="8966"/>
                  </a:lnTo>
                  <a:lnTo>
                    <a:pt x="102247" y="635"/>
                  </a:lnTo>
                  <a:lnTo>
                    <a:pt x="95288" y="635"/>
                  </a:lnTo>
                  <a:lnTo>
                    <a:pt x="95288" y="8966"/>
                  </a:lnTo>
                  <a:lnTo>
                    <a:pt x="95288" y="39446"/>
                  </a:lnTo>
                  <a:lnTo>
                    <a:pt x="74904" y="39446"/>
                  </a:lnTo>
                  <a:lnTo>
                    <a:pt x="75984" y="38100"/>
                  </a:lnTo>
                  <a:lnTo>
                    <a:pt x="76276" y="37655"/>
                  </a:lnTo>
                  <a:lnTo>
                    <a:pt x="76466" y="37465"/>
                  </a:lnTo>
                  <a:lnTo>
                    <a:pt x="76542" y="37325"/>
                  </a:lnTo>
                  <a:lnTo>
                    <a:pt x="77127" y="36461"/>
                  </a:lnTo>
                  <a:lnTo>
                    <a:pt x="77317" y="36245"/>
                  </a:lnTo>
                  <a:lnTo>
                    <a:pt x="77431" y="36055"/>
                  </a:lnTo>
                  <a:lnTo>
                    <a:pt x="77584" y="35902"/>
                  </a:lnTo>
                  <a:lnTo>
                    <a:pt x="77685" y="35750"/>
                  </a:lnTo>
                  <a:lnTo>
                    <a:pt x="77762" y="35610"/>
                  </a:lnTo>
                  <a:lnTo>
                    <a:pt x="92760" y="13512"/>
                  </a:lnTo>
                  <a:lnTo>
                    <a:pt x="92875" y="13284"/>
                  </a:lnTo>
                  <a:lnTo>
                    <a:pt x="93014" y="13017"/>
                  </a:lnTo>
                  <a:lnTo>
                    <a:pt x="93129" y="12877"/>
                  </a:lnTo>
                  <a:lnTo>
                    <a:pt x="93281" y="12611"/>
                  </a:lnTo>
                  <a:lnTo>
                    <a:pt x="93357" y="12433"/>
                  </a:lnTo>
                  <a:lnTo>
                    <a:pt x="93472" y="12280"/>
                  </a:lnTo>
                  <a:lnTo>
                    <a:pt x="93611" y="11976"/>
                  </a:lnTo>
                  <a:lnTo>
                    <a:pt x="93726" y="11836"/>
                  </a:lnTo>
                  <a:lnTo>
                    <a:pt x="93878" y="11531"/>
                  </a:lnTo>
                  <a:lnTo>
                    <a:pt x="93992" y="11391"/>
                  </a:lnTo>
                  <a:lnTo>
                    <a:pt x="94653" y="10121"/>
                  </a:lnTo>
                  <a:lnTo>
                    <a:pt x="94881" y="9791"/>
                  </a:lnTo>
                  <a:lnTo>
                    <a:pt x="94996" y="9563"/>
                  </a:lnTo>
                  <a:lnTo>
                    <a:pt x="95097" y="9334"/>
                  </a:lnTo>
                  <a:lnTo>
                    <a:pt x="95288" y="8966"/>
                  </a:lnTo>
                  <a:lnTo>
                    <a:pt x="95288" y="635"/>
                  </a:lnTo>
                  <a:lnTo>
                    <a:pt x="94513" y="635"/>
                  </a:lnTo>
                  <a:lnTo>
                    <a:pt x="68148" y="39446"/>
                  </a:lnTo>
                  <a:lnTo>
                    <a:pt x="68097" y="45250"/>
                  </a:lnTo>
                  <a:lnTo>
                    <a:pt x="95288" y="45250"/>
                  </a:lnTo>
                  <a:lnTo>
                    <a:pt x="95288" y="58305"/>
                  </a:lnTo>
                  <a:lnTo>
                    <a:pt x="102247" y="58305"/>
                  </a:lnTo>
                  <a:lnTo>
                    <a:pt x="102247" y="45250"/>
                  </a:lnTo>
                  <a:lnTo>
                    <a:pt x="110363" y="45250"/>
                  </a:lnTo>
                  <a:lnTo>
                    <a:pt x="110363" y="3944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890675" y="2243211"/>
              <a:ext cx="4242435" cy="3632835"/>
            </a:xfrm>
            <a:custGeom>
              <a:avLst/>
              <a:gdLst/>
              <a:ahLst/>
              <a:cxnLst/>
              <a:rect l="l" t="t" r="r" b="b"/>
              <a:pathLst>
                <a:path w="4242435" h="3632835">
                  <a:moveTo>
                    <a:pt x="0" y="3436106"/>
                  </a:moveTo>
                  <a:lnTo>
                    <a:pt x="26082" y="3436106"/>
                  </a:lnTo>
                </a:path>
                <a:path w="4242435" h="3632835">
                  <a:moveTo>
                    <a:pt x="0" y="2577107"/>
                  </a:moveTo>
                  <a:lnTo>
                    <a:pt x="26082" y="2577107"/>
                  </a:lnTo>
                </a:path>
                <a:path w="4242435" h="3632835">
                  <a:moveTo>
                    <a:pt x="0" y="1718071"/>
                  </a:moveTo>
                  <a:lnTo>
                    <a:pt x="26082" y="1718071"/>
                  </a:lnTo>
                </a:path>
                <a:path w="4242435" h="3632835">
                  <a:moveTo>
                    <a:pt x="0" y="859035"/>
                  </a:moveTo>
                  <a:lnTo>
                    <a:pt x="26082" y="859035"/>
                  </a:lnTo>
                </a:path>
                <a:path w="4242435" h="3632835">
                  <a:moveTo>
                    <a:pt x="0" y="0"/>
                  </a:moveTo>
                  <a:lnTo>
                    <a:pt x="26082" y="0"/>
                  </a:lnTo>
                </a:path>
                <a:path w="4242435" h="3632835">
                  <a:moveTo>
                    <a:pt x="226851" y="3632373"/>
                  </a:moveTo>
                  <a:lnTo>
                    <a:pt x="226851" y="3606254"/>
                  </a:lnTo>
                </a:path>
                <a:path w="4242435" h="3632835">
                  <a:moveTo>
                    <a:pt x="1230659" y="3632373"/>
                  </a:moveTo>
                  <a:lnTo>
                    <a:pt x="1230659" y="3606254"/>
                  </a:lnTo>
                </a:path>
                <a:path w="4242435" h="3632835">
                  <a:moveTo>
                    <a:pt x="2234505" y="3632373"/>
                  </a:moveTo>
                  <a:lnTo>
                    <a:pt x="2234505" y="3606254"/>
                  </a:lnTo>
                </a:path>
                <a:path w="4242435" h="3632835">
                  <a:moveTo>
                    <a:pt x="3238313" y="3632373"/>
                  </a:moveTo>
                  <a:lnTo>
                    <a:pt x="3238313" y="3606254"/>
                  </a:lnTo>
                </a:path>
                <a:path w="4242435" h="3632835">
                  <a:moveTo>
                    <a:pt x="4242159" y="3632373"/>
                  </a:moveTo>
                  <a:lnTo>
                    <a:pt x="4242159" y="3606254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083955" y="5895606"/>
              <a:ext cx="2061210" cy="59690"/>
            </a:xfrm>
            <a:custGeom>
              <a:avLst/>
              <a:gdLst/>
              <a:ahLst/>
              <a:cxnLst/>
              <a:rect l="l" t="t" r="r" b="b"/>
              <a:pathLst>
                <a:path w="2061210" h="59689">
                  <a:moveTo>
                    <a:pt x="20472" y="32969"/>
                  </a:moveTo>
                  <a:lnTo>
                    <a:pt x="0" y="32969"/>
                  </a:lnTo>
                  <a:lnTo>
                    <a:pt x="0" y="39522"/>
                  </a:lnTo>
                  <a:lnTo>
                    <a:pt x="20472" y="39522"/>
                  </a:lnTo>
                  <a:lnTo>
                    <a:pt x="20472" y="32969"/>
                  </a:lnTo>
                  <a:close/>
                </a:path>
                <a:path w="2061210" h="59689">
                  <a:moveTo>
                    <a:pt x="68351" y="39585"/>
                  </a:moveTo>
                  <a:lnTo>
                    <a:pt x="60274" y="39585"/>
                  </a:lnTo>
                  <a:lnTo>
                    <a:pt x="60274" y="9156"/>
                  </a:lnTo>
                  <a:lnTo>
                    <a:pt x="60274" y="863"/>
                  </a:lnTo>
                  <a:lnTo>
                    <a:pt x="53327" y="863"/>
                  </a:lnTo>
                  <a:lnTo>
                    <a:pt x="53327" y="9156"/>
                  </a:lnTo>
                  <a:lnTo>
                    <a:pt x="53327" y="39585"/>
                  </a:lnTo>
                  <a:lnTo>
                    <a:pt x="32969" y="39585"/>
                  </a:lnTo>
                  <a:lnTo>
                    <a:pt x="33083" y="39446"/>
                  </a:lnTo>
                  <a:lnTo>
                    <a:pt x="33235" y="39293"/>
                  </a:lnTo>
                  <a:lnTo>
                    <a:pt x="33337" y="39141"/>
                  </a:lnTo>
                  <a:lnTo>
                    <a:pt x="33489" y="38925"/>
                  </a:lnTo>
                  <a:lnTo>
                    <a:pt x="33680" y="38735"/>
                  </a:lnTo>
                  <a:lnTo>
                    <a:pt x="33972" y="38290"/>
                  </a:lnTo>
                  <a:lnTo>
                    <a:pt x="34163" y="38100"/>
                  </a:lnTo>
                  <a:lnTo>
                    <a:pt x="34493" y="37655"/>
                  </a:lnTo>
                  <a:lnTo>
                    <a:pt x="35166" y="36652"/>
                  </a:lnTo>
                  <a:lnTo>
                    <a:pt x="35344" y="36461"/>
                  </a:lnTo>
                  <a:lnTo>
                    <a:pt x="35458" y="36283"/>
                  </a:lnTo>
                  <a:lnTo>
                    <a:pt x="35610" y="36093"/>
                  </a:lnTo>
                  <a:lnTo>
                    <a:pt x="35687" y="35941"/>
                  </a:lnTo>
                  <a:lnTo>
                    <a:pt x="35801" y="35801"/>
                  </a:lnTo>
                  <a:lnTo>
                    <a:pt x="50571" y="14033"/>
                  </a:lnTo>
                  <a:lnTo>
                    <a:pt x="50749" y="13690"/>
                  </a:lnTo>
                  <a:lnTo>
                    <a:pt x="51231" y="12954"/>
                  </a:lnTo>
                  <a:lnTo>
                    <a:pt x="51384" y="12649"/>
                  </a:lnTo>
                  <a:lnTo>
                    <a:pt x="51498" y="12509"/>
                  </a:lnTo>
                  <a:lnTo>
                    <a:pt x="51574" y="12319"/>
                  </a:lnTo>
                  <a:lnTo>
                    <a:pt x="51650" y="12166"/>
                  </a:lnTo>
                  <a:lnTo>
                    <a:pt x="51752" y="12014"/>
                  </a:lnTo>
                  <a:lnTo>
                    <a:pt x="51981" y="11569"/>
                  </a:lnTo>
                  <a:lnTo>
                    <a:pt x="52095" y="11430"/>
                  </a:lnTo>
                  <a:lnTo>
                    <a:pt x="53327" y="9156"/>
                  </a:lnTo>
                  <a:lnTo>
                    <a:pt x="53327" y="863"/>
                  </a:lnTo>
                  <a:lnTo>
                    <a:pt x="52539" y="863"/>
                  </a:lnTo>
                  <a:lnTo>
                    <a:pt x="26225" y="39585"/>
                  </a:lnTo>
                  <a:lnTo>
                    <a:pt x="26123" y="45466"/>
                  </a:lnTo>
                  <a:lnTo>
                    <a:pt x="53327" y="45466"/>
                  </a:lnTo>
                  <a:lnTo>
                    <a:pt x="53327" y="58534"/>
                  </a:lnTo>
                  <a:lnTo>
                    <a:pt x="60274" y="58534"/>
                  </a:lnTo>
                  <a:lnTo>
                    <a:pt x="60274" y="45466"/>
                  </a:lnTo>
                  <a:lnTo>
                    <a:pt x="68351" y="45466"/>
                  </a:lnTo>
                  <a:lnTo>
                    <a:pt x="68351" y="39585"/>
                  </a:lnTo>
                  <a:close/>
                </a:path>
                <a:path w="2061210" h="59689">
                  <a:moveTo>
                    <a:pt x="1024318" y="32969"/>
                  </a:moveTo>
                  <a:lnTo>
                    <a:pt x="1003846" y="32969"/>
                  </a:lnTo>
                  <a:lnTo>
                    <a:pt x="1003846" y="39522"/>
                  </a:lnTo>
                  <a:lnTo>
                    <a:pt x="1024318" y="39522"/>
                  </a:lnTo>
                  <a:lnTo>
                    <a:pt x="1024318" y="32969"/>
                  </a:lnTo>
                  <a:close/>
                </a:path>
                <a:path w="2061210" h="59689">
                  <a:moveTo>
                    <a:pt x="1070444" y="52235"/>
                  </a:moveTo>
                  <a:lnTo>
                    <a:pt x="1040345" y="52235"/>
                  </a:lnTo>
                  <a:lnTo>
                    <a:pt x="1041806" y="49530"/>
                  </a:lnTo>
                  <a:lnTo>
                    <a:pt x="1043101" y="47777"/>
                  </a:lnTo>
                  <a:lnTo>
                    <a:pt x="1047978" y="42710"/>
                  </a:lnTo>
                  <a:lnTo>
                    <a:pt x="1056906" y="35242"/>
                  </a:lnTo>
                  <a:lnTo>
                    <a:pt x="1063828" y="28651"/>
                  </a:lnTo>
                  <a:lnTo>
                    <a:pt x="1066685" y="24853"/>
                  </a:lnTo>
                  <a:lnTo>
                    <a:pt x="1068476" y="21323"/>
                  </a:lnTo>
                  <a:lnTo>
                    <a:pt x="1069365" y="18046"/>
                  </a:lnTo>
                  <a:lnTo>
                    <a:pt x="1069517" y="16370"/>
                  </a:lnTo>
                  <a:lnTo>
                    <a:pt x="1069441" y="13550"/>
                  </a:lnTo>
                  <a:lnTo>
                    <a:pt x="1050582" y="0"/>
                  </a:lnTo>
                  <a:lnTo>
                    <a:pt x="1048131" y="190"/>
                  </a:lnTo>
                  <a:lnTo>
                    <a:pt x="1032573" y="15113"/>
                  </a:lnTo>
                  <a:lnTo>
                    <a:pt x="1040130" y="15773"/>
                  </a:lnTo>
                  <a:lnTo>
                    <a:pt x="1040574" y="13512"/>
                  </a:lnTo>
                  <a:lnTo>
                    <a:pt x="1041539" y="11201"/>
                  </a:lnTo>
                  <a:lnTo>
                    <a:pt x="1051433" y="6032"/>
                  </a:lnTo>
                  <a:lnTo>
                    <a:pt x="1054557" y="6362"/>
                  </a:lnTo>
                  <a:lnTo>
                    <a:pt x="1061961" y="16751"/>
                  </a:lnTo>
                  <a:lnTo>
                    <a:pt x="1061707" y="18719"/>
                  </a:lnTo>
                  <a:lnTo>
                    <a:pt x="1047610" y="34823"/>
                  </a:lnTo>
                  <a:lnTo>
                    <a:pt x="1039787" y="42049"/>
                  </a:lnTo>
                  <a:lnTo>
                    <a:pt x="1035621" y="47180"/>
                  </a:lnTo>
                  <a:lnTo>
                    <a:pt x="1034059" y="49669"/>
                  </a:lnTo>
                  <a:lnTo>
                    <a:pt x="1032243" y="53314"/>
                  </a:lnTo>
                  <a:lnTo>
                    <a:pt x="1032243" y="58534"/>
                  </a:lnTo>
                  <a:lnTo>
                    <a:pt x="1070444" y="58534"/>
                  </a:lnTo>
                  <a:lnTo>
                    <a:pt x="1070444" y="52235"/>
                  </a:lnTo>
                  <a:close/>
                </a:path>
                <a:path w="2061210" h="59689">
                  <a:moveTo>
                    <a:pt x="2060790" y="21170"/>
                  </a:moveTo>
                  <a:lnTo>
                    <a:pt x="2053234" y="3835"/>
                  </a:lnTo>
                  <a:lnTo>
                    <a:pt x="2053234" y="20167"/>
                  </a:lnTo>
                  <a:lnTo>
                    <a:pt x="2053196" y="38925"/>
                  </a:lnTo>
                  <a:lnTo>
                    <a:pt x="2051265" y="46329"/>
                  </a:lnTo>
                  <a:lnTo>
                    <a:pt x="2050999" y="46990"/>
                  </a:lnTo>
                  <a:lnTo>
                    <a:pt x="2043976" y="53022"/>
                  </a:lnTo>
                  <a:lnTo>
                    <a:pt x="2038388" y="53022"/>
                  </a:lnTo>
                  <a:lnTo>
                    <a:pt x="2029345" y="40043"/>
                  </a:lnTo>
                  <a:lnTo>
                    <a:pt x="2029320" y="39890"/>
                  </a:lnTo>
                  <a:lnTo>
                    <a:pt x="2029129" y="38696"/>
                  </a:lnTo>
                  <a:lnTo>
                    <a:pt x="2029015" y="21170"/>
                  </a:lnTo>
                  <a:lnTo>
                    <a:pt x="2029612" y="17373"/>
                  </a:lnTo>
                  <a:lnTo>
                    <a:pt x="2037905" y="6362"/>
                  </a:lnTo>
                  <a:lnTo>
                    <a:pt x="2044674" y="6362"/>
                  </a:lnTo>
                  <a:lnTo>
                    <a:pt x="2053082" y="19202"/>
                  </a:lnTo>
                  <a:lnTo>
                    <a:pt x="2053234" y="20167"/>
                  </a:lnTo>
                  <a:lnTo>
                    <a:pt x="2053234" y="3835"/>
                  </a:lnTo>
                  <a:lnTo>
                    <a:pt x="2046135" y="482"/>
                  </a:lnTo>
                  <a:lnTo>
                    <a:pt x="2046389" y="482"/>
                  </a:lnTo>
                  <a:lnTo>
                    <a:pt x="2043785" y="114"/>
                  </a:lnTo>
                  <a:lnTo>
                    <a:pt x="2038769" y="114"/>
                  </a:lnTo>
                  <a:lnTo>
                    <a:pt x="2036152" y="482"/>
                  </a:lnTo>
                  <a:lnTo>
                    <a:pt x="2036381" y="482"/>
                  </a:lnTo>
                  <a:lnTo>
                    <a:pt x="2035594" y="673"/>
                  </a:lnTo>
                  <a:lnTo>
                    <a:pt x="2022589" y="15671"/>
                  </a:lnTo>
                  <a:lnTo>
                    <a:pt x="2022386" y="16408"/>
                  </a:lnTo>
                  <a:lnTo>
                    <a:pt x="2021878" y="19202"/>
                  </a:lnTo>
                  <a:lnTo>
                    <a:pt x="2021738" y="20167"/>
                  </a:lnTo>
                  <a:lnTo>
                    <a:pt x="2021751" y="38925"/>
                  </a:lnTo>
                  <a:lnTo>
                    <a:pt x="2021903" y="40043"/>
                  </a:lnTo>
                  <a:lnTo>
                    <a:pt x="2022157" y="41262"/>
                  </a:lnTo>
                  <a:lnTo>
                    <a:pt x="2022386" y="42494"/>
                  </a:lnTo>
                  <a:lnTo>
                    <a:pt x="2037829" y="59093"/>
                  </a:lnTo>
                  <a:lnTo>
                    <a:pt x="2044382" y="59093"/>
                  </a:lnTo>
                  <a:lnTo>
                    <a:pt x="2060676" y="38696"/>
                  </a:lnTo>
                  <a:lnTo>
                    <a:pt x="2060790" y="2117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9519" y="3790763"/>
              <a:ext cx="236041" cy="340556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109896" y="5895606"/>
              <a:ext cx="1043940" cy="59055"/>
            </a:xfrm>
            <a:custGeom>
              <a:avLst/>
              <a:gdLst/>
              <a:ahLst/>
              <a:cxnLst/>
              <a:rect l="l" t="t" r="r" b="b"/>
              <a:pathLst>
                <a:path w="1043939" h="59054">
                  <a:moveTo>
                    <a:pt x="38214" y="52235"/>
                  </a:moveTo>
                  <a:lnTo>
                    <a:pt x="8115" y="52235"/>
                  </a:lnTo>
                  <a:lnTo>
                    <a:pt x="9563" y="49530"/>
                  </a:lnTo>
                  <a:lnTo>
                    <a:pt x="10858" y="47777"/>
                  </a:lnTo>
                  <a:lnTo>
                    <a:pt x="15735" y="42710"/>
                  </a:lnTo>
                  <a:lnTo>
                    <a:pt x="24663" y="35242"/>
                  </a:lnTo>
                  <a:lnTo>
                    <a:pt x="31584" y="28651"/>
                  </a:lnTo>
                  <a:lnTo>
                    <a:pt x="34455" y="24853"/>
                  </a:lnTo>
                  <a:lnTo>
                    <a:pt x="36233" y="21323"/>
                  </a:lnTo>
                  <a:lnTo>
                    <a:pt x="37134" y="18046"/>
                  </a:lnTo>
                  <a:lnTo>
                    <a:pt x="37287" y="15036"/>
                  </a:lnTo>
                  <a:lnTo>
                    <a:pt x="36868" y="11493"/>
                  </a:lnTo>
                  <a:lnTo>
                    <a:pt x="18338" y="0"/>
                  </a:lnTo>
                  <a:lnTo>
                    <a:pt x="15849" y="190"/>
                  </a:lnTo>
                  <a:lnTo>
                    <a:pt x="330" y="15113"/>
                  </a:lnTo>
                  <a:lnTo>
                    <a:pt x="7886" y="15773"/>
                  </a:lnTo>
                  <a:lnTo>
                    <a:pt x="8178" y="13957"/>
                  </a:lnTo>
                  <a:lnTo>
                    <a:pt x="9296" y="11201"/>
                  </a:lnTo>
                  <a:lnTo>
                    <a:pt x="10452" y="9563"/>
                  </a:lnTo>
                  <a:lnTo>
                    <a:pt x="12204" y="8039"/>
                  </a:lnTo>
                  <a:lnTo>
                    <a:pt x="14655" y="6769"/>
                  </a:lnTo>
                  <a:lnTo>
                    <a:pt x="17487" y="6146"/>
                  </a:lnTo>
                  <a:lnTo>
                    <a:pt x="21018" y="6146"/>
                  </a:lnTo>
                  <a:lnTo>
                    <a:pt x="29730" y="15557"/>
                  </a:lnTo>
                  <a:lnTo>
                    <a:pt x="29464" y="18719"/>
                  </a:lnTo>
                  <a:lnTo>
                    <a:pt x="10756" y="38849"/>
                  </a:lnTo>
                  <a:lnTo>
                    <a:pt x="7556" y="42049"/>
                  </a:lnTo>
                  <a:lnTo>
                    <a:pt x="3390" y="47180"/>
                  </a:lnTo>
                  <a:lnTo>
                    <a:pt x="1333" y="50533"/>
                  </a:lnTo>
                  <a:lnTo>
                    <a:pt x="0" y="53314"/>
                  </a:lnTo>
                  <a:lnTo>
                    <a:pt x="0" y="58534"/>
                  </a:lnTo>
                  <a:lnTo>
                    <a:pt x="38214" y="58534"/>
                  </a:lnTo>
                  <a:lnTo>
                    <a:pt x="38214" y="52235"/>
                  </a:lnTo>
                  <a:close/>
                </a:path>
                <a:path w="1043939" h="59054">
                  <a:moveTo>
                    <a:pt x="1043762" y="39585"/>
                  </a:moveTo>
                  <a:lnTo>
                    <a:pt x="1035697" y="39585"/>
                  </a:lnTo>
                  <a:lnTo>
                    <a:pt x="1035697" y="9156"/>
                  </a:lnTo>
                  <a:lnTo>
                    <a:pt x="1035697" y="863"/>
                  </a:lnTo>
                  <a:lnTo>
                    <a:pt x="1028738" y="863"/>
                  </a:lnTo>
                  <a:lnTo>
                    <a:pt x="1028738" y="9156"/>
                  </a:lnTo>
                  <a:lnTo>
                    <a:pt x="1028738" y="39585"/>
                  </a:lnTo>
                  <a:lnTo>
                    <a:pt x="1008380" y="39585"/>
                  </a:lnTo>
                  <a:lnTo>
                    <a:pt x="1008494" y="39446"/>
                  </a:lnTo>
                  <a:lnTo>
                    <a:pt x="1008646" y="39293"/>
                  </a:lnTo>
                  <a:lnTo>
                    <a:pt x="1008761" y="39141"/>
                  </a:lnTo>
                  <a:lnTo>
                    <a:pt x="1008900" y="38925"/>
                  </a:lnTo>
                  <a:lnTo>
                    <a:pt x="1009091" y="38735"/>
                  </a:lnTo>
                  <a:lnTo>
                    <a:pt x="1009383" y="38290"/>
                  </a:lnTo>
                  <a:lnTo>
                    <a:pt x="1009573" y="38100"/>
                  </a:lnTo>
                  <a:lnTo>
                    <a:pt x="1010767" y="36461"/>
                  </a:lnTo>
                  <a:lnTo>
                    <a:pt x="1010881" y="36283"/>
                  </a:lnTo>
                  <a:lnTo>
                    <a:pt x="1011021" y="36093"/>
                  </a:lnTo>
                  <a:lnTo>
                    <a:pt x="1011097" y="35941"/>
                  </a:lnTo>
                  <a:lnTo>
                    <a:pt x="1011212" y="35801"/>
                  </a:lnTo>
                  <a:lnTo>
                    <a:pt x="1025982" y="14033"/>
                  </a:lnTo>
                  <a:lnTo>
                    <a:pt x="1026172" y="13690"/>
                  </a:lnTo>
                  <a:lnTo>
                    <a:pt x="1026655" y="12954"/>
                  </a:lnTo>
                  <a:lnTo>
                    <a:pt x="1026807" y="12649"/>
                  </a:lnTo>
                  <a:lnTo>
                    <a:pt x="1026909" y="12509"/>
                  </a:lnTo>
                  <a:lnTo>
                    <a:pt x="1026985" y="12319"/>
                  </a:lnTo>
                  <a:lnTo>
                    <a:pt x="1027061" y="12166"/>
                  </a:lnTo>
                  <a:lnTo>
                    <a:pt x="1027176" y="12014"/>
                  </a:lnTo>
                  <a:lnTo>
                    <a:pt x="1027391" y="11569"/>
                  </a:lnTo>
                  <a:lnTo>
                    <a:pt x="1027506" y="11430"/>
                  </a:lnTo>
                  <a:lnTo>
                    <a:pt x="1028738" y="9156"/>
                  </a:lnTo>
                  <a:lnTo>
                    <a:pt x="1028738" y="863"/>
                  </a:lnTo>
                  <a:lnTo>
                    <a:pt x="1027950" y="863"/>
                  </a:lnTo>
                  <a:lnTo>
                    <a:pt x="1001636" y="39585"/>
                  </a:lnTo>
                  <a:lnTo>
                    <a:pt x="1001534" y="45466"/>
                  </a:lnTo>
                  <a:lnTo>
                    <a:pt x="1028738" y="45466"/>
                  </a:lnTo>
                  <a:lnTo>
                    <a:pt x="1028738" y="58534"/>
                  </a:lnTo>
                  <a:lnTo>
                    <a:pt x="1035697" y="58534"/>
                  </a:lnTo>
                  <a:lnTo>
                    <a:pt x="1035697" y="45466"/>
                  </a:lnTo>
                  <a:lnTo>
                    <a:pt x="1043762" y="45466"/>
                  </a:lnTo>
                  <a:lnTo>
                    <a:pt x="1043762" y="3958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/>
          <p:nvPr/>
        </p:nvSpPr>
        <p:spPr>
          <a:xfrm>
            <a:off x="6506604" y="3733266"/>
            <a:ext cx="132080" cy="22860"/>
          </a:xfrm>
          <a:custGeom>
            <a:avLst/>
            <a:gdLst/>
            <a:ahLst/>
            <a:cxnLst/>
            <a:rect l="l" t="t" r="r" b="b"/>
            <a:pathLst>
              <a:path w="132079" h="22860">
                <a:moveTo>
                  <a:pt x="131686" y="0"/>
                </a:moveTo>
                <a:lnTo>
                  <a:pt x="0" y="0"/>
                </a:lnTo>
                <a:lnTo>
                  <a:pt x="0" y="22364"/>
                </a:lnTo>
                <a:lnTo>
                  <a:pt x="131686" y="22364"/>
                </a:lnTo>
                <a:lnTo>
                  <a:pt x="131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6506604" y="3897870"/>
            <a:ext cx="132080" cy="22860"/>
          </a:xfrm>
          <a:custGeom>
            <a:avLst/>
            <a:gdLst/>
            <a:ahLst/>
            <a:cxnLst/>
            <a:rect l="l" t="t" r="r" b="b"/>
            <a:pathLst>
              <a:path w="132079" h="22860">
                <a:moveTo>
                  <a:pt x="131686" y="0"/>
                </a:moveTo>
                <a:lnTo>
                  <a:pt x="0" y="0"/>
                </a:lnTo>
                <a:lnTo>
                  <a:pt x="0" y="22364"/>
                </a:lnTo>
                <a:lnTo>
                  <a:pt x="131686" y="22364"/>
                </a:lnTo>
                <a:lnTo>
                  <a:pt x="131686" y="0"/>
                </a:lnTo>
                <a:close/>
              </a:path>
            </a:pathLst>
          </a:custGeom>
          <a:solidFill>
            <a:srgbClr val="009D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6506604" y="4062475"/>
            <a:ext cx="132080" cy="22860"/>
          </a:xfrm>
          <a:custGeom>
            <a:avLst/>
            <a:gdLst/>
            <a:ahLst/>
            <a:cxnLst/>
            <a:rect l="l" t="t" r="r" b="b"/>
            <a:pathLst>
              <a:path w="132079" h="22860">
                <a:moveTo>
                  <a:pt x="131686" y="0"/>
                </a:moveTo>
                <a:lnTo>
                  <a:pt x="0" y="0"/>
                </a:lnTo>
                <a:lnTo>
                  <a:pt x="0" y="22364"/>
                </a:lnTo>
                <a:lnTo>
                  <a:pt x="131686" y="22364"/>
                </a:lnTo>
                <a:lnTo>
                  <a:pt x="131686" y="0"/>
                </a:lnTo>
                <a:close/>
              </a:path>
            </a:pathLst>
          </a:custGeom>
          <a:solidFill>
            <a:srgbClr val="E69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6506604" y="4227042"/>
            <a:ext cx="132080" cy="22860"/>
          </a:xfrm>
          <a:custGeom>
            <a:avLst/>
            <a:gdLst/>
            <a:ahLst/>
            <a:cxnLst/>
            <a:rect l="l" t="t" r="r" b="b"/>
            <a:pathLst>
              <a:path w="132079" h="22860">
                <a:moveTo>
                  <a:pt x="131686" y="0"/>
                </a:moveTo>
                <a:lnTo>
                  <a:pt x="0" y="0"/>
                </a:lnTo>
                <a:lnTo>
                  <a:pt x="0" y="22364"/>
                </a:lnTo>
                <a:lnTo>
                  <a:pt x="131686" y="22364"/>
                </a:lnTo>
                <a:lnTo>
                  <a:pt x="131686" y="0"/>
                </a:lnTo>
                <a:close/>
              </a:path>
            </a:pathLst>
          </a:custGeom>
          <a:solidFill>
            <a:srgbClr val="56B4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" name="object 40" descr=""/>
          <p:cNvGrpSpPr/>
          <p:nvPr/>
        </p:nvGrpSpPr>
        <p:grpSpPr>
          <a:xfrm>
            <a:off x="6712519" y="3712554"/>
            <a:ext cx="245110" cy="61594"/>
            <a:chOff x="6712519" y="3712554"/>
            <a:chExt cx="245110" cy="61594"/>
          </a:xfrm>
        </p:grpSpPr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2519" y="3728181"/>
              <a:ext cx="233138" cy="4557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6950198" y="3712554"/>
              <a:ext cx="7620" cy="60960"/>
            </a:xfrm>
            <a:custGeom>
              <a:avLst/>
              <a:gdLst/>
              <a:ahLst/>
              <a:cxnLst/>
              <a:rect l="l" t="t" r="r" b="b"/>
              <a:pathLst>
                <a:path w="7620" h="60960">
                  <a:moveTo>
                    <a:pt x="7366" y="60721"/>
                  </a:moveTo>
                  <a:lnTo>
                    <a:pt x="0" y="60721"/>
                  </a:lnTo>
                  <a:lnTo>
                    <a:pt x="0" y="0"/>
                  </a:lnTo>
                  <a:lnTo>
                    <a:pt x="7366" y="0"/>
                  </a:lnTo>
                  <a:lnTo>
                    <a:pt x="7366" y="607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" name="object 4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08240" y="3877158"/>
            <a:ext cx="119248" cy="78060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8240" y="4041725"/>
            <a:ext cx="165869" cy="78097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08240" y="4206329"/>
            <a:ext cx="165869" cy="78097"/>
          </a:xfrm>
          <a:prstGeom prst="rect">
            <a:avLst/>
          </a:prstGeom>
        </p:spPr>
      </p:pic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42974" y="638174"/>
            <a:ext cx="6762750" cy="9525"/>
          </a:xfrm>
          <a:custGeom>
            <a:avLst/>
            <a:gdLst/>
            <a:ahLst/>
            <a:cxnLst/>
            <a:rect l="l" t="t" r="r" b="b"/>
            <a:pathLst>
              <a:path w="6762750" h="9525">
                <a:moveTo>
                  <a:pt x="6762749" y="9524"/>
                </a:moveTo>
                <a:lnTo>
                  <a:pt x="0" y="9524"/>
                </a:lnTo>
                <a:lnTo>
                  <a:pt x="0" y="0"/>
                </a:lnTo>
                <a:lnTo>
                  <a:pt x="6762749" y="0"/>
                </a:lnTo>
                <a:lnTo>
                  <a:pt x="67627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52202" y="661987"/>
          <a:ext cx="6820534" cy="1403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/>
                <a:gridCol w="3933825"/>
                <a:gridCol w="1981200"/>
              </a:tblGrid>
              <a:tr h="31877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Function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Purpose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350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Example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dt()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B="0" marT="48895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Density</a:t>
                      </a:r>
                      <a:r>
                        <a:rPr dirty="0" sz="14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dirty="0" sz="14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given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score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dt(-</a:t>
                      </a:r>
                      <a:r>
                        <a:rPr dirty="0" sz="16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1,</a:t>
                      </a:r>
                      <a:r>
                        <a:rPr dirty="0" sz="1600" spc="-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6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df</a:t>
                      </a:r>
                      <a:r>
                        <a:rPr dirty="0" sz="1600" spc="-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400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=</a:t>
                      </a:r>
                      <a:r>
                        <a:rPr dirty="0" sz="1400" spc="459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10)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B="0" marT="48895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6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pt()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B="0" marT="254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Cumulative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probability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up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i="1"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score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600" spc="-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pt(-</a:t>
                      </a:r>
                      <a:r>
                        <a:rPr dirty="0" sz="16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1,</a:t>
                      </a:r>
                      <a:r>
                        <a:rPr dirty="0" sz="1600" spc="-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6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df</a:t>
                      </a:r>
                      <a:r>
                        <a:rPr dirty="0" sz="1600" spc="-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400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=</a:t>
                      </a:r>
                      <a:r>
                        <a:rPr dirty="0" sz="1400" spc="459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10)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B="0" marT="25400">
                    <a:solidFill>
                      <a:srgbClr val="EDEDED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qt()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B="0" marT="4445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Quantile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(critical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value)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given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probability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600" spc="-10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qt(.025,</a:t>
                      </a:r>
                      <a:r>
                        <a:rPr dirty="0" sz="1600" spc="-1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6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df</a:t>
                      </a:r>
                      <a:r>
                        <a:rPr dirty="0" sz="1600" spc="-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400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=</a:t>
                      </a:r>
                      <a:r>
                        <a:rPr dirty="0" sz="1400" spc="459">
                          <a:solidFill>
                            <a:srgbClr val="007834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6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10)</a:t>
                      </a:r>
                      <a:endParaRPr sz="1600">
                        <a:latin typeface="Lucida Console"/>
                        <a:cs typeface="Lucida Console"/>
                      </a:endParaRPr>
                    </a:p>
                  </a:txBody>
                  <a:tcPr marL="0" marR="0" marB="0" marT="4445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954732" y="4350692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4732" y="3842072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54732" y="3333415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949650" y="2469297"/>
            <a:ext cx="3051810" cy="2242820"/>
            <a:chOff x="949650" y="2469297"/>
            <a:chExt cx="3051810" cy="2242820"/>
          </a:xfrm>
        </p:grpSpPr>
        <p:sp>
          <p:nvSpPr>
            <p:cNvPr id="8" name="object 8" descr=""/>
            <p:cNvSpPr/>
            <p:nvPr/>
          </p:nvSpPr>
          <p:spPr>
            <a:xfrm>
              <a:off x="954732" y="282479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2956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14537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936118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57699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54732" y="4605002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54732" y="4096382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54732" y="3587762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54732" y="307910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4732" y="257048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53765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475346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96927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92956" y="2575842"/>
              <a:ext cx="2764790" cy="2007235"/>
            </a:xfrm>
            <a:custGeom>
              <a:avLst/>
              <a:gdLst/>
              <a:ahLst/>
              <a:cxnLst/>
              <a:rect l="l" t="t" r="r" b="b"/>
              <a:pathLst>
                <a:path w="2764790" h="2007235">
                  <a:moveTo>
                    <a:pt x="0" y="2006649"/>
                  </a:moveTo>
                  <a:lnTo>
                    <a:pt x="13841" y="2004528"/>
                  </a:lnTo>
                  <a:lnTo>
                    <a:pt x="18454" y="2003784"/>
                  </a:lnTo>
                  <a:lnTo>
                    <a:pt x="23068" y="2003003"/>
                  </a:lnTo>
                  <a:lnTo>
                    <a:pt x="27644" y="2002221"/>
                  </a:lnTo>
                  <a:lnTo>
                    <a:pt x="32258" y="2001440"/>
                  </a:lnTo>
                  <a:lnTo>
                    <a:pt x="36872" y="2000621"/>
                  </a:lnTo>
                  <a:lnTo>
                    <a:pt x="46099" y="1998910"/>
                  </a:lnTo>
                  <a:lnTo>
                    <a:pt x="50713" y="1998017"/>
                  </a:lnTo>
                  <a:lnTo>
                    <a:pt x="55289" y="1997087"/>
                  </a:lnTo>
                  <a:lnTo>
                    <a:pt x="59903" y="1996157"/>
                  </a:lnTo>
                  <a:lnTo>
                    <a:pt x="106002" y="1985404"/>
                  </a:lnTo>
                  <a:lnTo>
                    <a:pt x="115192" y="1982911"/>
                  </a:lnTo>
                  <a:lnTo>
                    <a:pt x="119806" y="1981646"/>
                  </a:lnTo>
                  <a:lnTo>
                    <a:pt x="156678" y="1970186"/>
                  </a:lnTo>
                  <a:lnTo>
                    <a:pt x="193550" y="1956420"/>
                  </a:lnTo>
                  <a:lnTo>
                    <a:pt x="207354" y="1950578"/>
                  </a:lnTo>
                  <a:lnTo>
                    <a:pt x="211968" y="1948569"/>
                  </a:lnTo>
                  <a:lnTo>
                    <a:pt x="253454" y="1928291"/>
                  </a:lnTo>
                  <a:lnTo>
                    <a:pt x="290326" y="1906822"/>
                  </a:lnTo>
                  <a:lnTo>
                    <a:pt x="322547" y="1885094"/>
                  </a:lnTo>
                  <a:lnTo>
                    <a:pt x="354806" y="1860351"/>
                  </a:lnTo>
                  <a:lnTo>
                    <a:pt x="387064" y="1832297"/>
                  </a:lnTo>
                  <a:lnTo>
                    <a:pt x="414709" y="1805471"/>
                  </a:lnTo>
                  <a:lnTo>
                    <a:pt x="442354" y="1775891"/>
                  </a:lnTo>
                  <a:lnTo>
                    <a:pt x="469999" y="1743409"/>
                  </a:lnTo>
                  <a:lnTo>
                    <a:pt x="497681" y="1707951"/>
                  </a:lnTo>
                  <a:lnTo>
                    <a:pt x="520712" y="1676027"/>
                  </a:lnTo>
                  <a:lnTo>
                    <a:pt x="543743" y="1641871"/>
                  </a:lnTo>
                  <a:lnTo>
                    <a:pt x="566774" y="1605520"/>
                  </a:lnTo>
                  <a:lnTo>
                    <a:pt x="589805" y="1566899"/>
                  </a:lnTo>
                  <a:lnTo>
                    <a:pt x="612874" y="1526009"/>
                  </a:lnTo>
                  <a:lnTo>
                    <a:pt x="631291" y="1491667"/>
                  </a:lnTo>
                  <a:lnTo>
                    <a:pt x="649709" y="1455911"/>
                  </a:lnTo>
                  <a:lnTo>
                    <a:pt x="668163" y="1418778"/>
                  </a:lnTo>
                  <a:lnTo>
                    <a:pt x="686581" y="1380231"/>
                  </a:lnTo>
                  <a:lnTo>
                    <a:pt x="705035" y="1340383"/>
                  </a:lnTo>
                  <a:lnTo>
                    <a:pt x="709612" y="1330225"/>
                  </a:lnTo>
                  <a:lnTo>
                    <a:pt x="714226" y="1319993"/>
                  </a:lnTo>
                  <a:lnTo>
                    <a:pt x="732680" y="1278247"/>
                  </a:lnTo>
                  <a:lnTo>
                    <a:pt x="737257" y="1267606"/>
                  </a:lnTo>
                  <a:lnTo>
                    <a:pt x="741870" y="1256927"/>
                  </a:lnTo>
                  <a:lnTo>
                    <a:pt x="760325" y="1213395"/>
                  </a:lnTo>
                  <a:lnTo>
                    <a:pt x="769515" y="1191257"/>
                  </a:lnTo>
                  <a:lnTo>
                    <a:pt x="774129" y="1180058"/>
                  </a:lnTo>
                  <a:lnTo>
                    <a:pt x="792584" y="1134739"/>
                  </a:lnTo>
                  <a:lnTo>
                    <a:pt x="797160" y="1123280"/>
                  </a:lnTo>
                  <a:lnTo>
                    <a:pt x="801774" y="1111746"/>
                  </a:lnTo>
                  <a:lnTo>
                    <a:pt x="820228" y="1065088"/>
                  </a:lnTo>
                  <a:lnTo>
                    <a:pt x="824805" y="1053293"/>
                  </a:lnTo>
                  <a:lnTo>
                    <a:pt x="829419" y="1041461"/>
                  </a:lnTo>
                  <a:lnTo>
                    <a:pt x="843260" y="1005743"/>
                  </a:lnTo>
                  <a:lnTo>
                    <a:pt x="857063" y="969652"/>
                  </a:lnTo>
                  <a:lnTo>
                    <a:pt x="861677" y="957560"/>
                  </a:lnTo>
                  <a:lnTo>
                    <a:pt x="866291" y="945430"/>
                  </a:lnTo>
                  <a:lnTo>
                    <a:pt x="875518" y="921097"/>
                  </a:lnTo>
                  <a:lnTo>
                    <a:pt x="880132" y="908893"/>
                  </a:lnTo>
                  <a:lnTo>
                    <a:pt x="884708" y="896689"/>
                  </a:lnTo>
                  <a:lnTo>
                    <a:pt x="889322" y="884448"/>
                  </a:lnTo>
                  <a:lnTo>
                    <a:pt x="893936" y="872169"/>
                  </a:lnTo>
                  <a:lnTo>
                    <a:pt x="898549" y="859928"/>
                  </a:lnTo>
                  <a:lnTo>
                    <a:pt x="903163" y="847650"/>
                  </a:lnTo>
                  <a:lnTo>
                    <a:pt x="907777" y="835334"/>
                  </a:lnTo>
                  <a:lnTo>
                    <a:pt x="912390" y="823056"/>
                  </a:lnTo>
                  <a:lnTo>
                    <a:pt x="916967" y="810741"/>
                  </a:lnTo>
                  <a:lnTo>
                    <a:pt x="926194" y="786110"/>
                  </a:lnTo>
                  <a:lnTo>
                    <a:pt x="930808" y="773831"/>
                  </a:lnTo>
                  <a:lnTo>
                    <a:pt x="935421" y="761516"/>
                  </a:lnTo>
                  <a:lnTo>
                    <a:pt x="940035" y="749237"/>
                  </a:lnTo>
                  <a:lnTo>
                    <a:pt x="944612" y="736959"/>
                  </a:lnTo>
                  <a:lnTo>
                    <a:pt x="953839" y="712402"/>
                  </a:lnTo>
                  <a:lnTo>
                    <a:pt x="958453" y="700199"/>
                  </a:lnTo>
                  <a:lnTo>
                    <a:pt x="963066" y="687957"/>
                  </a:lnTo>
                  <a:lnTo>
                    <a:pt x="967680" y="675791"/>
                  </a:lnTo>
                  <a:lnTo>
                    <a:pt x="972294" y="663587"/>
                  </a:lnTo>
                  <a:lnTo>
                    <a:pt x="976870" y="651457"/>
                  </a:lnTo>
                  <a:lnTo>
                    <a:pt x="986097" y="627273"/>
                  </a:lnTo>
                  <a:lnTo>
                    <a:pt x="995325" y="603237"/>
                  </a:lnTo>
                  <a:lnTo>
                    <a:pt x="999938" y="591294"/>
                  </a:lnTo>
                  <a:lnTo>
                    <a:pt x="1004515" y="579387"/>
                  </a:lnTo>
                  <a:lnTo>
                    <a:pt x="1022970" y="532246"/>
                  </a:lnTo>
                  <a:lnTo>
                    <a:pt x="1027583" y="520600"/>
                  </a:lnTo>
                  <a:lnTo>
                    <a:pt x="1032160" y="508992"/>
                  </a:lnTo>
                  <a:lnTo>
                    <a:pt x="1050614" y="463339"/>
                  </a:lnTo>
                  <a:lnTo>
                    <a:pt x="1059842" y="440940"/>
                  </a:lnTo>
                  <a:lnTo>
                    <a:pt x="1064418" y="429852"/>
                  </a:lnTo>
                  <a:lnTo>
                    <a:pt x="1082873" y="386432"/>
                  </a:lnTo>
                  <a:lnTo>
                    <a:pt x="1101290" y="344499"/>
                  </a:lnTo>
                  <a:lnTo>
                    <a:pt x="1119745" y="304279"/>
                  </a:lnTo>
                  <a:lnTo>
                    <a:pt x="1138162" y="265918"/>
                  </a:lnTo>
                  <a:lnTo>
                    <a:pt x="1156580" y="229567"/>
                  </a:lnTo>
                  <a:lnTo>
                    <a:pt x="1175035" y="195411"/>
                  </a:lnTo>
                  <a:lnTo>
                    <a:pt x="1198066" y="156009"/>
                  </a:lnTo>
                  <a:lnTo>
                    <a:pt x="1221097" y="120587"/>
                  </a:lnTo>
                  <a:lnTo>
                    <a:pt x="1244128" y="89296"/>
                  </a:lnTo>
                  <a:lnTo>
                    <a:pt x="1271773" y="57633"/>
                  </a:lnTo>
                  <a:lnTo>
                    <a:pt x="1304031" y="29133"/>
                  </a:lnTo>
                  <a:lnTo>
                    <a:pt x="1340904" y="8222"/>
                  </a:lnTo>
                  <a:lnTo>
                    <a:pt x="1382389" y="0"/>
                  </a:lnTo>
                  <a:lnTo>
                    <a:pt x="1386966" y="111"/>
                  </a:lnTo>
                  <a:lnTo>
                    <a:pt x="1428452" y="10120"/>
                  </a:lnTo>
                  <a:lnTo>
                    <a:pt x="1465324" y="32630"/>
                  </a:lnTo>
                  <a:lnTo>
                    <a:pt x="1497582" y="62433"/>
                  </a:lnTo>
                  <a:lnTo>
                    <a:pt x="1525227" y="95212"/>
                  </a:lnTo>
                  <a:lnTo>
                    <a:pt x="1548258" y="127322"/>
                  </a:lnTo>
                  <a:lnTo>
                    <a:pt x="1571290" y="163599"/>
                  </a:lnTo>
                  <a:lnTo>
                    <a:pt x="1594321" y="203745"/>
                  </a:lnTo>
                  <a:lnTo>
                    <a:pt x="1612775" y="238459"/>
                  </a:lnTo>
                  <a:lnTo>
                    <a:pt x="1626579" y="265918"/>
                  </a:lnTo>
                  <a:lnTo>
                    <a:pt x="1631193" y="275294"/>
                  </a:lnTo>
                  <a:lnTo>
                    <a:pt x="1649648" y="314176"/>
                  </a:lnTo>
                  <a:lnTo>
                    <a:pt x="1668065" y="354843"/>
                  </a:lnTo>
                  <a:lnTo>
                    <a:pt x="1686482" y="397147"/>
                  </a:lnTo>
                  <a:lnTo>
                    <a:pt x="1704937" y="440940"/>
                  </a:lnTo>
                  <a:lnTo>
                    <a:pt x="1714127" y="463339"/>
                  </a:lnTo>
                  <a:lnTo>
                    <a:pt x="1718741" y="474650"/>
                  </a:lnTo>
                  <a:lnTo>
                    <a:pt x="1737196" y="520600"/>
                  </a:lnTo>
                  <a:lnTo>
                    <a:pt x="1741772" y="532246"/>
                  </a:lnTo>
                  <a:lnTo>
                    <a:pt x="1746386" y="543929"/>
                  </a:lnTo>
                  <a:lnTo>
                    <a:pt x="1764840" y="591294"/>
                  </a:lnTo>
                  <a:lnTo>
                    <a:pt x="1774031" y="615255"/>
                  </a:lnTo>
                  <a:lnTo>
                    <a:pt x="1778644" y="627273"/>
                  </a:lnTo>
                  <a:lnTo>
                    <a:pt x="1787872" y="651457"/>
                  </a:lnTo>
                  <a:lnTo>
                    <a:pt x="1792485" y="663587"/>
                  </a:lnTo>
                  <a:lnTo>
                    <a:pt x="1797099" y="675791"/>
                  </a:lnTo>
                  <a:lnTo>
                    <a:pt x="1801675" y="687957"/>
                  </a:lnTo>
                  <a:lnTo>
                    <a:pt x="1806289" y="700199"/>
                  </a:lnTo>
                  <a:lnTo>
                    <a:pt x="1810903" y="712402"/>
                  </a:lnTo>
                  <a:lnTo>
                    <a:pt x="1829357" y="761516"/>
                  </a:lnTo>
                  <a:lnTo>
                    <a:pt x="1833934" y="773831"/>
                  </a:lnTo>
                  <a:lnTo>
                    <a:pt x="1838548" y="786110"/>
                  </a:lnTo>
                  <a:lnTo>
                    <a:pt x="1852389" y="823056"/>
                  </a:lnTo>
                  <a:lnTo>
                    <a:pt x="1857002" y="835334"/>
                  </a:lnTo>
                  <a:lnTo>
                    <a:pt x="1861579" y="847650"/>
                  </a:lnTo>
                  <a:lnTo>
                    <a:pt x="1866192" y="859928"/>
                  </a:lnTo>
                  <a:lnTo>
                    <a:pt x="1870806" y="872169"/>
                  </a:lnTo>
                  <a:lnTo>
                    <a:pt x="1875420" y="884448"/>
                  </a:lnTo>
                  <a:lnTo>
                    <a:pt x="1880033" y="896689"/>
                  </a:lnTo>
                  <a:lnTo>
                    <a:pt x="1889261" y="921097"/>
                  </a:lnTo>
                  <a:lnTo>
                    <a:pt x="1893837" y="933263"/>
                  </a:lnTo>
                  <a:lnTo>
                    <a:pt x="1907678" y="969652"/>
                  </a:lnTo>
                  <a:lnTo>
                    <a:pt x="1916906" y="993725"/>
                  </a:lnTo>
                  <a:lnTo>
                    <a:pt x="1921482" y="1005743"/>
                  </a:lnTo>
                  <a:lnTo>
                    <a:pt x="1935323" y="1041461"/>
                  </a:lnTo>
                  <a:lnTo>
                    <a:pt x="1944550" y="1065088"/>
                  </a:lnTo>
                  <a:lnTo>
                    <a:pt x="1949127" y="1076845"/>
                  </a:lnTo>
                  <a:lnTo>
                    <a:pt x="1967582" y="1123280"/>
                  </a:lnTo>
                  <a:lnTo>
                    <a:pt x="1976809" y="1146162"/>
                  </a:lnTo>
                  <a:lnTo>
                    <a:pt x="1981385" y="1157547"/>
                  </a:lnTo>
                  <a:lnTo>
                    <a:pt x="1999840" y="1202382"/>
                  </a:lnTo>
                  <a:lnTo>
                    <a:pt x="2004454" y="1213395"/>
                  </a:lnTo>
                  <a:lnTo>
                    <a:pt x="2009030" y="1224371"/>
                  </a:lnTo>
                  <a:lnTo>
                    <a:pt x="2027485" y="1267606"/>
                  </a:lnTo>
                  <a:lnTo>
                    <a:pt x="2036712" y="1288777"/>
                  </a:lnTo>
                  <a:lnTo>
                    <a:pt x="2041289" y="1299269"/>
                  </a:lnTo>
                  <a:lnTo>
                    <a:pt x="2059743" y="1340383"/>
                  </a:lnTo>
                  <a:lnTo>
                    <a:pt x="2064357" y="1350466"/>
                  </a:lnTo>
                  <a:lnTo>
                    <a:pt x="2068934" y="1360474"/>
                  </a:lnTo>
                  <a:lnTo>
                    <a:pt x="2087388" y="1399691"/>
                  </a:lnTo>
                  <a:lnTo>
                    <a:pt x="2105806" y="1437530"/>
                  </a:lnTo>
                  <a:lnTo>
                    <a:pt x="2124260" y="1473993"/>
                  </a:lnTo>
                  <a:lnTo>
                    <a:pt x="2142678" y="1509005"/>
                  </a:lnTo>
                  <a:lnTo>
                    <a:pt x="2161095" y="1542640"/>
                  </a:lnTo>
                  <a:lnTo>
                    <a:pt x="2184164" y="1582600"/>
                  </a:lnTo>
                  <a:lnTo>
                    <a:pt x="2207195" y="1620328"/>
                  </a:lnTo>
                  <a:lnTo>
                    <a:pt x="2230226" y="1655787"/>
                  </a:lnTo>
                  <a:lnTo>
                    <a:pt x="2253257" y="1689050"/>
                  </a:lnTo>
                  <a:lnTo>
                    <a:pt x="2271712" y="1714053"/>
                  </a:lnTo>
                  <a:lnTo>
                    <a:pt x="2276288" y="1720118"/>
                  </a:lnTo>
                  <a:lnTo>
                    <a:pt x="2303970" y="1754571"/>
                  </a:lnTo>
                  <a:lnTo>
                    <a:pt x="2331615" y="1786049"/>
                  </a:lnTo>
                  <a:lnTo>
                    <a:pt x="2359260" y="1814698"/>
                  </a:lnTo>
                  <a:lnTo>
                    <a:pt x="2391518" y="1844724"/>
                  </a:lnTo>
                  <a:lnTo>
                    <a:pt x="2423740" y="1871327"/>
                  </a:lnTo>
                  <a:lnTo>
                    <a:pt x="2455998" y="1894767"/>
                  </a:lnTo>
                  <a:lnTo>
                    <a:pt x="2488257" y="1915268"/>
                  </a:lnTo>
                  <a:lnTo>
                    <a:pt x="2506711" y="1925761"/>
                  </a:lnTo>
                  <a:lnTo>
                    <a:pt x="2511288" y="1928291"/>
                  </a:lnTo>
                  <a:lnTo>
                    <a:pt x="2552774" y="1948569"/>
                  </a:lnTo>
                  <a:lnTo>
                    <a:pt x="2589646" y="1963600"/>
                  </a:lnTo>
                  <a:lnTo>
                    <a:pt x="2598873" y="1966949"/>
                  </a:lnTo>
                  <a:lnTo>
                    <a:pt x="2603450" y="1968586"/>
                  </a:lnTo>
                  <a:lnTo>
                    <a:pt x="2644936" y="1981646"/>
                  </a:lnTo>
                  <a:lnTo>
                    <a:pt x="2686421" y="1992175"/>
                  </a:lnTo>
                  <a:lnTo>
                    <a:pt x="2727870" y="2000621"/>
                  </a:lnTo>
                  <a:lnTo>
                    <a:pt x="2750901" y="2004528"/>
                  </a:lnTo>
                  <a:lnTo>
                    <a:pt x="2764742" y="2006649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014537" y="3426098"/>
              <a:ext cx="0" cy="1179195"/>
            </a:xfrm>
            <a:custGeom>
              <a:avLst/>
              <a:gdLst/>
              <a:ahLst/>
              <a:cxnLst/>
              <a:rect l="l" t="t" r="r" b="b"/>
              <a:pathLst>
                <a:path w="0" h="1179195">
                  <a:moveTo>
                    <a:pt x="0" y="0"/>
                  </a:moveTo>
                  <a:lnTo>
                    <a:pt x="0" y="1178904"/>
                  </a:lnTo>
                </a:path>
              </a:pathLst>
            </a:custGeom>
            <a:ln w="1016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009455" y="3374119"/>
              <a:ext cx="10160" cy="11430"/>
            </a:xfrm>
            <a:custGeom>
              <a:avLst/>
              <a:gdLst/>
              <a:ahLst/>
              <a:cxnLst/>
              <a:rect l="l" t="t" r="r" b="b"/>
              <a:pathLst>
                <a:path w="10160" h="11429">
                  <a:moveTo>
                    <a:pt x="10163" y="11326"/>
                  </a:moveTo>
                  <a:lnTo>
                    <a:pt x="0" y="11326"/>
                  </a:lnTo>
                  <a:lnTo>
                    <a:pt x="0" y="0"/>
                  </a:lnTo>
                  <a:lnTo>
                    <a:pt x="10163" y="0"/>
                  </a:lnTo>
                  <a:lnTo>
                    <a:pt x="10163" y="113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54732" y="2474379"/>
              <a:ext cx="3041650" cy="2232660"/>
            </a:xfrm>
            <a:custGeom>
              <a:avLst/>
              <a:gdLst/>
              <a:ahLst/>
              <a:cxnLst/>
              <a:rect l="l" t="t" r="r" b="b"/>
              <a:pathLst>
                <a:path w="3041650" h="2232660">
                  <a:moveTo>
                    <a:pt x="0" y="2232086"/>
                  </a:moveTo>
                  <a:lnTo>
                    <a:pt x="3041190" y="2232086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22320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961" y="4575534"/>
            <a:ext cx="108958" cy="58898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794956" y="4066806"/>
            <a:ext cx="109220" cy="59690"/>
          </a:xfrm>
          <a:custGeom>
            <a:avLst/>
            <a:gdLst/>
            <a:ahLst/>
            <a:cxnLst/>
            <a:rect l="l" t="t" r="r" b="b"/>
            <a:pathLst>
              <a:path w="109219" h="59689">
                <a:moveTo>
                  <a:pt x="39141" y="37807"/>
                </a:moveTo>
                <a:lnTo>
                  <a:pt x="37299" y="12687"/>
                </a:lnTo>
                <a:lnTo>
                  <a:pt x="36614" y="10871"/>
                </a:lnTo>
                <a:lnTo>
                  <a:pt x="31737" y="3848"/>
                </a:lnTo>
                <a:lnTo>
                  <a:pt x="31737" y="21056"/>
                </a:lnTo>
                <a:lnTo>
                  <a:pt x="31699" y="37807"/>
                </a:lnTo>
                <a:lnTo>
                  <a:pt x="23368" y="52654"/>
                </a:lnTo>
                <a:lnTo>
                  <a:pt x="23545" y="52654"/>
                </a:lnTo>
                <a:lnTo>
                  <a:pt x="21805" y="53022"/>
                </a:lnTo>
                <a:lnTo>
                  <a:pt x="20688" y="53174"/>
                </a:lnTo>
                <a:lnTo>
                  <a:pt x="18376" y="53174"/>
                </a:lnTo>
                <a:lnTo>
                  <a:pt x="17272" y="53022"/>
                </a:lnTo>
                <a:lnTo>
                  <a:pt x="15532" y="52654"/>
                </a:lnTo>
                <a:lnTo>
                  <a:pt x="15709" y="52654"/>
                </a:lnTo>
                <a:lnTo>
                  <a:pt x="14693" y="52235"/>
                </a:lnTo>
                <a:lnTo>
                  <a:pt x="7518" y="38849"/>
                </a:lnTo>
                <a:lnTo>
                  <a:pt x="7518" y="20053"/>
                </a:lnTo>
                <a:lnTo>
                  <a:pt x="7823" y="18161"/>
                </a:lnTo>
                <a:lnTo>
                  <a:pt x="8382" y="15557"/>
                </a:lnTo>
                <a:lnTo>
                  <a:pt x="8509" y="15151"/>
                </a:lnTo>
                <a:lnTo>
                  <a:pt x="8610" y="14770"/>
                </a:lnTo>
                <a:lnTo>
                  <a:pt x="17221" y="6032"/>
                </a:lnTo>
                <a:lnTo>
                  <a:pt x="22136" y="6032"/>
                </a:lnTo>
                <a:lnTo>
                  <a:pt x="24041" y="6591"/>
                </a:lnTo>
                <a:lnTo>
                  <a:pt x="24333" y="6731"/>
                </a:lnTo>
                <a:lnTo>
                  <a:pt x="24968" y="6997"/>
                </a:lnTo>
                <a:lnTo>
                  <a:pt x="30632" y="15151"/>
                </a:lnTo>
                <a:lnTo>
                  <a:pt x="30734" y="15557"/>
                </a:lnTo>
                <a:lnTo>
                  <a:pt x="30949" y="16332"/>
                </a:lnTo>
                <a:lnTo>
                  <a:pt x="31140" y="17233"/>
                </a:lnTo>
                <a:lnTo>
                  <a:pt x="31203" y="17564"/>
                </a:lnTo>
                <a:lnTo>
                  <a:pt x="31292" y="18161"/>
                </a:lnTo>
                <a:lnTo>
                  <a:pt x="31483" y="19088"/>
                </a:lnTo>
                <a:lnTo>
                  <a:pt x="22174" y="0"/>
                </a:lnTo>
                <a:lnTo>
                  <a:pt x="17195" y="0"/>
                </a:lnTo>
                <a:lnTo>
                  <a:pt x="0" y="21056"/>
                </a:lnTo>
                <a:lnTo>
                  <a:pt x="0" y="37807"/>
                </a:lnTo>
                <a:lnTo>
                  <a:pt x="18097" y="59232"/>
                </a:lnTo>
                <a:lnTo>
                  <a:pt x="20916" y="59232"/>
                </a:lnTo>
                <a:lnTo>
                  <a:pt x="33477" y="53022"/>
                </a:lnTo>
                <a:lnTo>
                  <a:pt x="34264" y="52019"/>
                </a:lnTo>
                <a:lnTo>
                  <a:pt x="38087" y="43307"/>
                </a:lnTo>
                <a:lnTo>
                  <a:pt x="38328" y="42379"/>
                </a:lnTo>
                <a:lnTo>
                  <a:pt x="38862" y="39814"/>
                </a:lnTo>
                <a:lnTo>
                  <a:pt x="39141" y="37807"/>
                </a:lnTo>
                <a:close/>
              </a:path>
              <a:path w="109219" h="59689">
                <a:moveTo>
                  <a:pt x="58534" y="49453"/>
                </a:moveTo>
                <a:lnTo>
                  <a:pt x="50533" y="49453"/>
                </a:lnTo>
                <a:lnTo>
                  <a:pt x="50533" y="58420"/>
                </a:lnTo>
                <a:lnTo>
                  <a:pt x="58534" y="58420"/>
                </a:lnTo>
                <a:lnTo>
                  <a:pt x="58534" y="49453"/>
                </a:lnTo>
                <a:close/>
              </a:path>
              <a:path w="109219" h="59689">
                <a:moveTo>
                  <a:pt x="108724" y="52171"/>
                </a:moveTo>
                <a:lnTo>
                  <a:pt x="94653" y="52171"/>
                </a:lnTo>
                <a:lnTo>
                  <a:pt x="94653" y="749"/>
                </a:lnTo>
                <a:lnTo>
                  <a:pt x="87884" y="749"/>
                </a:lnTo>
                <a:lnTo>
                  <a:pt x="74231" y="10121"/>
                </a:lnTo>
                <a:lnTo>
                  <a:pt x="74231" y="17081"/>
                </a:lnTo>
                <a:lnTo>
                  <a:pt x="87249" y="7772"/>
                </a:lnTo>
                <a:lnTo>
                  <a:pt x="87249" y="52171"/>
                </a:lnTo>
                <a:lnTo>
                  <a:pt x="72555" y="52171"/>
                </a:lnTo>
                <a:lnTo>
                  <a:pt x="72555" y="58420"/>
                </a:lnTo>
                <a:lnTo>
                  <a:pt x="108724" y="58420"/>
                </a:lnTo>
                <a:lnTo>
                  <a:pt x="108724" y="5217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961" y="3049488"/>
            <a:ext cx="109132" cy="59233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794956" y="2540914"/>
            <a:ext cx="110489" cy="59055"/>
          </a:xfrm>
          <a:custGeom>
            <a:avLst/>
            <a:gdLst/>
            <a:ahLst/>
            <a:cxnLst/>
            <a:rect l="l" t="t" r="r" b="b"/>
            <a:pathLst>
              <a:path w="110490" h="59055">
                <a:moveTo>
                  <a:pt x="39141" y="37795"/>
                </a:moveTo>
                <a:lnTo>
                  <a:pt x="33985" y="6248"/>
                </a:lnTo>
                <a:lnTo>
                  <a:pt x="33820" y="6019"/>
                </a:lnTo>
                <a:lnTo>
                  <a:pt x="32702" y="4724"/>
                </a:lnTo>
                <a:lnTo>
                  <a:pt x="32118" y="4165"/>
                </a:lnTo>
                <a:lnTo>
                  <a:pt x="31737" y="3848"/>
                </a:lnTo>
                <a:lnTo>
                  <a:pt x="31737" y="21056"/>
                </a:lnTo>
                <a:lnTo>
                  <a:pt x="31699" y="37795"/>
                </a:lnTo>
                <a:lnTo>
                  <a:pt x="20688" y="53162"/>
                </a:lnTo>
                <a:lnTo>
                  <a:pt x="18376" y="53162"/>
                </a:lnTo>
                <a:lnTo>
                  <a:pt x="7518" y="38836"/>
                </a:lnTo>
                <a:lnTo>
                  <a:pt x="7518" y="20053"/>
                </a:lnTo>
                <a:lnTo>
                  <a:pt x="7823" y="18122"/>
                </a:lnTo>
                <a:lnTo>
                  <a:pt x="7950" y="17564"/>
                </a:lnTo>
                <a:lnTo>
                  <a:pt x="8013" y="17221"/>
                </a:lnTo>
                <a:lnTo>
                  <a:pt x="8382" y="15544"/>
                </a:lnTo>
                <a:lnTo>
                  <a:pt x="8509" y="15138"/>
                </a:lnTo>
                <a:lnTo>
                  <a:pt x="8610" y="14770"/>
                </a:lnTo>
                <a:lnTo>
                  <a:pt x="16256" y="6248"/>
                </a:lnTo>
                <a:lnTo>
                  <a:pt x="23037" y="6248"/>
                </a:lnTo>
                <a:lnTo>
                  <a:pt x="30632" y="15138"/>
                </a:lnTo>
                <a:lnTo>
                  <a:pt x="30734" y="15544"/>
                </a:lnTo>
                <a:lnTo>
                  <a:pt x="30937" y="16294"/>
                </a:lnTo>
                <a:lnTo>
                  <a:pt x="31140" y="17221"/>
                </a:lnTo>
                <a:lnTo>
                  <a:pt x="31203" y="17564"/>
                </a:lnTo>
                <a:lnTo>
                  <a:pt x="31292" y="18122"/>
                </a:lnTo>
                <a:lnTo>
                  <a:pt x="31483" y="19050"/>
                </a:lnTo>
                <a:lnTo>
                  <a:pt x="22174" y="0"/>
                </a:lnTo>
                <a:lnTo>
                  <a:pt x="17195" y="0"/>
                </a:lnTo>
                <a:lnTo>
                  <a:pt x="0" y="21056"/>
                </a:lnTo>
                <a:lnTo>
                  <a:pt x="0" y="37795"/>
                </a:lnTo>
                <a:lnTo>
                  <a:pt x="15405" y="58864"/>
                </a:lnTo>
                <a:lnTo>
                  <a:pt x="23520" y="58864"/>
                </a:lnTo>
                <a:lnTo>
                  <a:pt x="33362" y="53162"/>
                </a:lnTo>
                <a:lnTo>
                  <a:pt x="33477" y="53022"/>
                </a:lnTo>
                <a:lnTo>
                  <a:pt x="38862" y="39814"/>
                </a:lnTo>
                <a:lnTo>
                  <a:pt x="39141" y="37795"/>
                </a:lnTo>
                <a:close/>
              </a:path>
              <a:path w="110490" h="59055">
                <a:moveTo>
                  <a:pt x="58534" y="49441"/>
                </a:moveTo>
                <a:lnTo>
                  <a:pt x="50533" y="49441"/>
                </a:lnTo>
                <a:lnTo>
                  <a:pt x="50533" y="58407"/>
                </a:lnTo>
                <a:lnTo>
                  <a:pt x="58534" y="58407"/>
                </a:lnTo>
                <a:lnTo>
                  <a:pt x="58534" y="49441"/>
                </a:lnTo>
                <a:close/>
              </a:path>
              <a:path w="110490" h="59055">
                <a:moveTo>
                  <a:pt x="110363" y="39471"/>
                </a:moveTo>
                <a:lnTo>
                  <a:pt x="102247" y="39471"/>
                </a:lnTo>
                <a:lnTo>
                  <a:pt x="102247" y="9042"/>
                </a:lnTo>
                <a:lnTo>
                  <a:pt x="102247" y="736"/>
                </a:lnTo>
                <a:lnTo>
                  <a:pt x="95288" y="736"/>
                </a:lnTo>
                <a:lnTo>
                  <a:pt x="95288" y="9182"/>
                </a:lnTo>
                <a:lnTo>
                  <a:pt x="95288" y="39471"/>
                </a:lnTo>
                <a:lnTo>
                  <a:pt x="74942" y="39471"/>
                </a:lnTo>
                <a:lnTo>
                  <a:pt x="75044" y="39319"/>
                </a:lnTo>
                <a:lnTo>
                  <a:pt x="75196" y="39179"/>
                </a:lnTo>
                <a:lnTo>
                  <a:pt x="75311" y="39027"/>
                </a:lnTo>
                <a:lnTo>
                  <a:pt x="75565" y="38735"/>
                </a:lnTo>
                <a:lnTo>
                  <a:pt x="75869" y="38277"/>
                </a:lnTo>
                <a:lnTo>
                  <a:pt x="76047" y="38100"/>
                </a:lnTo>
                <a:lnTo>
                  <a:pt x="77241" y="36461"/>
                </a:lnTo>
                <a:lnTo>
                  <a:pt x="77431" y="36156"/>
                </a:lnTo>
                <a:lnTo>
                  <a:pt x="77685" y="35826"/>
                </a:lnTo>
                <a:lnTo>
                  <a:pt x="77762" y="35674"/>
                </a:lnTo>
                <a:lnTo>
                  <a:pt x="92608" y="13804"/>
                </a:lnTo>
                <a:lnTo>
                  <a:pt x="92760" y="13614"/>
                </a:lnTo>
                <a:lnTo>
                  <a:pt x="92798" y="13462"/>
                </a:lnTo>
                <a:lnTo>
                  <a:pt x="93129" y="12979"/>
                </a:lnTo>
                <a:lnTo>
                  <a:pt x="93357" y="12534"/>
                </a:lnTo>
                <a:lnTo>
                  <a:pt x="93472" y="12382"/>
                </a:lnTo>
                <a:lnTo>
                  <a:pt x="93878" y="11607"/>
                </a:lnTo>
                <a:lnTo>
                  <a:pt x="93992" y="11455"/>
                </a:lnTo>
                <a:lnTo>
                  <a:pt x="94576" y="10337"/>
                </a:lnTo>
                <a:lnTo>
                  <a:pt x="94729" y="10121"/>
                </a:lnTo>
                <a:lnTo>
                  <a:pt x="94805" y="9969"/>
                </a:lnTo>
                <a:lnTo>
                  <a:pt x="94919" y="9740"/>
                </a:lnTo>
                <a:lnTo>
                  <a:pt x="95034" y="9525"/>
                </a:lnTo>
                <a:lnTo>
                  <a:pt x="95135" y="9334"/>
                </a:lnTo>
                <a:lnTo>
                  <a:pt x="95288" y="9182"/>
                </a:lnTo>
                <a:lnTo>
                  <a:pt x="95288" y="736"/>
                </a:lnTo>
                <a:lnTo>
                  <a:pt x="94513" y="736"/>
                </a:lnTo>
                <a:lnTo>
                  <a:pt x="68186" y="39471"/>
                </a:lnTo>
                <a:lnTo>
                  <a:pt x="68097" y="45351"/>
                </a:lnTo>
                <a:lnTo>
                  <a:pt x="95288" y="45351"/>
                </a:lnTo>
                <a:lnTo>
                  <a:pt x="95288" y="58407"/>
                </a:lnTo>
                <a:lnTo>
                  <a:pt x="102247" y="58407"/>
                </a:lnTo>
                <a:lnTo>
                  <a:pt x="102247" y="45351"/>
                </a:lnTo>
                <a:lnTo>
                  <a:pt x="110363" y="45351"/>
                </a:lnTo>
                <a:lnTo>
                  <a:pt x="110363" y="3947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928650" y="4605002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928650" y="4096382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928650" y="3587762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928650" y="307910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928650" y="257048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553765" y="4706465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3396927" y="4706465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520202" y="4752606"/>
            <a:ext cx="66675" cy="59055"/>
          </a:xfrm>
          <a:custGeom>
            <a:avLst/>
            <a:gdLst/>
            <a:ahLst/>
            <a:cxnLst/>
            <a:rect l="l" t="t" r="r" b="b"/>
            <a:pathLst>
              <a:path w="66675" h="59054">
                <a:moveTo>
                  <a:pt x="20459" y="32969"/>
                </a:moveTo>
                <a:lnTo>
                  <a:pt x="0" y="32969"/>
                </a:lnTo>
                <a:lnTo>
                  <a:pt x="0" y="39522"/>
                </a:lnTo>
                <a:lnTo>
                  <a:pt x="20459" y="39522"/>
                </a:lnTo>
                <a:lnTo>
                  <a:pt x="20459" y="32969"/>
                </a:lnTo>
                <a:close/>
              </a:path>
              <a:path w="66675" h="59054">
                <a:moveTo>
                  <a:pt x="66598" y="52235"/>
                </a:moveTo>
                <a:lnTo>
                  <a:pt x="36537" y="52235"/>
                </a:lnTo>
                <a:lnTo>
                  <a:pt x="37680" y="49974"/>
                </a:lnTo>
                <a:lnTo>
                  <a:pt x="39243" y="47777"/>
                </a:lnTo>
                <a:lnTo>
                  <a:pt x="44119" y="42710"/>
                </a:lnTo>
                <a:lnTo>
                  <a:pt x="54051" y="34378"/>
                </a:lnTo>
                <a:lnTo>
                  <a:pt x="59969" y="28651"/>
                </a:lnTo>
                <a:lnTo>
                  <a:pt x="63131" y="24371"/>
                </a:lnTo>
                <a:lnTo>
                  <a:pt x="65036" y="20243"/>
                </a:lnTo>
                <a:lnTo>
                  <a:pt x="65671" y="16929"/>
                </a:lnTo>
                <a:lnTo>
                  <a:pt x="65671" y="14287"/>
                </a:lnTo>
                <a:lnTo>
                  <a:pt x="46723" y="0"/>
                </a:lnTo>
                <a:lnTo>
                  <a:pt x="42710" y="406"/>
                </a:lnTo>
                <a:lnTo>
                  <a:pt x="28752" y="15113"/>
                </a:lnTo>
                <a:lnTo>
                  <a:pt x="36271" y="15773"/>
                </a:lnTo>
                <a:lnTo>
                  <a:pt x="36499" y="14401"/>
                </a:lnTo>
                <a:lnTo>
                  <a:pt x="36982" y="12687"/>
                </a:lnTo>
                <a:lnTo>
                  <a:pt x="47625" y="6032"/>
                </a:lnTo>
                <a:lnTo>
                  <a:pt x="50304" y="6286"/>
                </a:lnTo>
                <a:lnTo>
                  <a:pt x="58077" y="14630"/>
                </a:lnTo>
                <a:lnTo>
                  <a:pt x="58077" y="17411"/>
                </a:lnTo>
                <a:lnTo>
                  <a:pt x="45720" y="33223"/>
                </a:lnTo>
                <a:lnTo>
                  <a:pt x="36576" y="41376"/>
                </a:lnTo>
                <a:lnTo>
                  <a:pt x="34074" y="44170"/>
                </a:lnTo>
                <a:lnTo>
                  <a:pt x="31775" y="47180"/>
                </a:lnTo>
                <a:lnTo>
                  <a:pt x="30213" y="49669"/>
                </a:lnTo>
                <a:lnTo>
                  <a:pt x="28422" y="53314"/>
                </a:lnTo>
                <a:lnTo>
                  <a:pt x="28422" y="58534"/>
                </a:lnTo>
                <a:lnTo>
                  <a:pt x="66598" y="58534"/>
                </a:lnTo>
                <a:lnTo>
                  <a:pt x="66598" y="5223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3377802" y="4752602"/>
            <a:ext cx="38735" cy="59055"/>
          </a:xfrm>
          <a:custGeom>
            <a:avLst/>
            <a:gdLst/>
            <a:ahLst/>
            <a:cxnLst/>
            <a:rect l="l" t="t" r="r" b="b"/>
            <a:pathLst>
              <a:path w="38735" h="59054">
                <a:moveTo>
                  <a:pt x="38211" y="58526"/>
                </a:moveTo>
                <a:lnTo>
                  <a:pt x="0" y="58526"/>
                </a:lnTo>
                <a:lnTo>
                  <a:pt x="0" y="53317"/>
                </a:lnTo>
                <a:lnTo>
                  <a:pt x="22807" y="28686"/>
                </a:lnTo>
                <a:lnTo>
                  <a:pt x="25821" y="25598"/>
                </a:lnTo>
                <a:lnTo>
                  <a:pt x="27421" y="23440"/>
                </a:lnTo>
                <a:lnTo>
                  <a:pt x="28686" y="21207"/>
                </a:lnTo>
                <a:lnTo>
                  <a:pt x="29467" y="18715"/>
                </a:lnTo>
                <a:lnTo>
                  <a:pt x="29728" y="16743"/>
                </a:lnTo>
                <a:lnTo>
                  <a:pt x="29467" y="13320"/>
                </a:lnTo>
                <a:lnTo>
                  <a:pt x="19198" y="6027"/>
                </a:lnTo>
                <a:lnTo>
                  <a:pt x="16631" y="6250"/>
                </a:lnTo>
                <a:lnTo>
                  <a:pt x="7887" y="15775"/>
                </a:lnTo>
                <a:lnTo>
                  <a:pt x="334" y="15106"/>
                </a:lnTo>
                <a:lnTo>
                  <a:pt x="18343" y="0"/>
                </a:lnTo>
                <a:lnTo>
                  <a:pt x="22510" y="148"/>
                </a:lnTo>
                <a:lnTo>
                  <a:pt x="37281" y="15031"/>
                </a:lnTo>
                <a:lnTo>
                  <a:pt x="37132" y="18045"/>
                </a:lnTo>
                <a:lnTo>
                  <a:pt x="36239" y="21319"/>
                </a:lnTo>
                <a:lnTo>
                  <a:pt x="34453" y="24854"/>
                </a:lnTo>
                <a:lnTo>
                  <a:pt x="31588" y="28649"/>
                </a:lnTo>
                <a:lnTo>
                  <a:pt x="14399" y="43941"/>
                </a:lnTo>
                <a:lnTo>
                  <a:pt x="10864" y="47773"/>
                </a:lnTo>
                <a:lnTo>
                  <a:pt x="9562" y="49522"/>
                </a:lnTo>
                <a:lnTo>
                  <a:pt x="8111" y="52238"/>
                </a:lnTo>
                <a:lnTo>
                  <a:pt x="38211" y="52238"/>
                </a:lnTo>
                <a:lnTo>
                  <a:pt x="38211" y="5852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06091" y="4706465"/>
            <a:ext cx="336314" cy="221232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7494" y="3415940"/>
            <a:ext cx="236041" cy="340593"/>
          </a:xfrm>
          <a:prstGeom prst="rect">
            <a:avLst/>
          </a:prstGeom>
        </p:spPr>
      </p:pic>
      <p:grpSp>
        <p:nvGrpSpPr>
          <p:cNvPr id="40" name="object 40" descr=""/>
          <p:cNvGrpSpPr/>
          <p:nvPr/>
        </p:nvGrpSpPr>
        <p:grpSpPr>
          <a:xfrm>
            <a:off x="960425" y="2305012"/>
            <a:ext cx="936625" cy="92710"/>
            <a:chOff x="960425" y="2305012"/>
            <a:chExt cx="936625" cy="92710"/>
          </a:xfrm>
        </p:grpSpPr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425" y="2305012"/>
              <a:ext cx="916781" cy="92347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885689" y="2305012"/>
              <a:ext cx="11430" cy="91440"/>
            </a:xfrm>
            <a:custGeom>
              <a:avLst/>
              <a:gdLst/>
              <a:ahLst/>
              <a:cxnLst/>
              <a:rect l="l" t="t" r="r" b="b"/>
              <a:pathLst>
                <a:path w="11430" h="91439">
                  <a:moveTo>
                    <a:pt x="11050" y="91120"/>
                  </a:moveTo>
                  <a:lnTo>
                    <a:pt x="0" y="91120"/>
                  </a:lnTo>
                  <a:lnTo>
                    <a:pt x="0" y="0"/>
                  </a:lnTo>
                  <a:lnTo>
                    <a:pt x="11050" y="0"/>
                  </a:lnTo>
                  <a:lnTo>
                    <a:pt x="11050" y="911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" name="object 4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50392" y="2305012"/>
            <a:ext cx="229641" cy="92347"/>
          </a:xfrm>
          <a:prstGeom prst="rect">
            <a:avLst/>
          </a:prstGeom>
        </p:spPr>
      </p:pic>
      <p:sp>
        <p:nvSpPr>
          <p:cNvPr id="44" name="object 44" descr=""/>
          <p:cNvSpPr txBox="1"/>
          <p:nvPr/>
        </p:nvSpPr>
        <p:spPr>
          <a:xfrm>
            <a:off x="571499" y="5181599"/>
            <a:ext cx="3524250" cy="4000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667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525"/>
              </a:spcBef>
            </a:pP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dnorm(x</a:t>
            </a:r>
            <a:r>
              <a:rPr dirty="0" sz="15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-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-12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Lucida Console"/>
                <a:cs typeface="Lucida Console"/>
              </a:rPr>
              <a:t>mean</a:t>
            </a:r>
            <a:r>
              <a:rPr dirty="0" sz="15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-12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dirty="0" sz="15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58800" y="5635818"/>
            <a:ext cx="136271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0.2419707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4648944" y="2469297"/>
            <a:ext cx="3333750" cy="2458720"/>
            <a:chOff x="4648944" y="2469297"/>
            <a:chExt cx="3333750" cy="2458720"/>
          </a:xfrm>
        </p:grpSpPr>
        <p:sp>
          <p:nvSpPr>
            <p:cNvPr id="47" name="object 47" descr=""/>
            <p:cNvSpPr/>
            <p:nvPr/>
          </p:nvSpPr>
          <p:spPr>
            <a:xfrm>
              <a:off x="4936182" y="434425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936182" y="3822798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936182" y="330130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936182" y="277981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074406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995987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917568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839149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936182" y="4605002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936182" y="408354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936182" y="3562052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936182" y="3040558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936182" y="251906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535215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456796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378377" y="2474416"/>
              <a:ext cx="0" cy="2232660"/>
            </a:xfrm>
            <a:custGeom>
              <a:avLst/>
              <a:gdLst/>
              <a:ahLst/>
              <a:cxnLst/>
              <a:rect l="l" t="t" r="r" b="b"/>
              <a:pathLst>
                <a:path w="0" h="2232660">
                  <a:moveTo>
                    <a:pt x="0" y="22320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074406" y="2575842"/>
              <a:ext cx="2764790" cy="1969770"/>
            </a:xfrm>
            <a:custGeom>
              <a:avLst/>
              <a:gdLst/>
              <a:ahLst/>
              <a:cxnLst/>
              <a:rect l="l" t="t" r="r" b="b"/>
              <a:pathLst>
                <a:path w="2764790" h="1969770">
                  <a:moveTo>
                    <a:pt x="0" y="1969740"/>
                  </a:moveTo>
                  <a:lnTo>
                    <a:pt x="4613" y="1968698"/>
                  </a:lnTo>
                  <a:lnTo>
                    <a:pt x="18454" y="1965461"/>
                  </a:lnTo>
                  <a:lnTo>
                    <a:pt x="23068" y="1964345"/>
                  </a:lnTo>
                  <a:lnTo>
                    <a:pt x="27644" y="1963191"/>
                  </a:lnTo>
                  <a:lnTo>
                    <a:pt x="36872" y="1960884"/>
                  </a:lnTo>
                  <a:lnTo>
                    <a:pt x="41485" y="1959656"/>
                  </a:lnTo>
                  <a:lnTo>
                    <a:pt x="46099" y="1958466"/>
                  </a:lnTo>
                  <a:lnTo>
                    <a:pt x="50713" y="1957238"/>
                  </a:lnTo>
                  <a:lnTo>
                    <a:pt x="87548" y="1946560"/>
                  </a:lnTo>
                  <a:lnTo>
                    <a:pt x="115192" y="1937518"/>
                  </a:lnTo>
                  <a:lnTo>
                    <a:pt x="119806" y="1935956"/>
                  </a:lnTo>
                  <a:lnTo>
                    <a:pt x="129033" y="1932681"/>
                  </a:lnTo>
                  <a:lnTo>
                    <a:pt x="133647" y="1931007"/>
                  </a:lnTo>
                  <a:lnTo>
                    <a:pt x="142874" y="1927584"/>
                  </a:lnTo>
                  <a:lnTo>
                    <a:pt x="147451" y="1925798"/>
                  </a:lnTo>
                  <a:lnTo>
                    <a:pt x="156678" y="1922226"/>
                  </a:lnTo>
                  <a:lnTo>
                    <a:pt x="198164" y="1904441"/>
                  </a:lnTo>
                  <a:lnTo>
                    <a:pt x="234999" y="1886284"/>
                  </a:lnTo>
                  <a:lnTo>
                    <a:pt x="239613" y="1883866"/>
                  </a:lnTo>
                  <a:lnTo>
                    <a:pt x="276485" y="1862918"/>
                  </a:lnTo>
                  <a:lnTo>
                    <a:pt x="308743" y="1842343"/>
                  </a:lnTo>
                  <a:lnTo>
                    <a:pt x="341002" y="1819423"/>
                  </a:lnTo>
                  <a:lnTo>
                    <a:pt x="373260" y="1793936"/>
                  </a:lnTo>
                  <a:lnTo>
                    <a:pt x="405519" y="1765733"/>
                  </a:lnTo>
                  <a:lnTo>
                    <a:pt x="433164" y="1739168"/>
                  </a:lnTo>
                  <a:lnTo>
                    <a:pt x="460809" y="1710295"/>
                  </a:lnTo>
                  <a:lnTo>
                    <a:pt x="469999" y="1700137"/>
                  </a:lnTo>
                  <a:lnTo>
                    <a:pt x="474612" y="1694966"/>
                  </a:lnTo>
                  <a:lnTo>
                    <a:pt x="502257" y="1662372"/>
                  </a:lnTo>
                  <a:lnTo>
                    <a:pt x="506871" y="1656717"/>
                  </a:lnTo>
                  <a:lnTo>
                    <a:pt x="534516" y="1621035"/>
                  </a:lnTo>
                  <a:lnTo>
                    <a:pt x="557584" y="1589223"/>
                  </a:lnTo>
                  <a:lnTo>
                    <a:pt x="562160" y="1582600"/>
                  </a:lnTo>
                  <a:lnTo>
                    <a:pt x="566774" y="1575940"/>
                  </a:lnTo>
                  <a:lnTo>
                    <a:pt x="589805" y="1541338"/>
                  </a:lnTo>
                  <a:lnTo>
                    <a:pt x="612874" y="1504689"/>
                  </a:lnTo>
                  <a:lnTo>
                    <a:pt x="617450" y="1497099"/>
                  </a:lnTo>
                  <a:lnTo>
                    <a:pt x="622064" y="1489471"/>
                  </a:lnTo>
                  <a:lnTo>
                    <a:pt x="645132" y="1449920"/>
                  </a:lnTo>
                  <a:lnTo>
                    <a:pt x="668163" y="1408286"/>
                  </a:lnTo>
                  <a:lnTo>
                    <a:pt x="686581" y="1373460"/>
                  </a:lnTo>
                  <a:lnTo>
                    <a:pt x="705035" y="1337332"/>
                  </a:lnTo>
                  <a:lnTo>
                    <a:pt x="723453" y="1299901"/>
                  </a:lnTo>
                  <a:lnTo>
                    <a:pt x="737257" y="1270954"/>
                  </a:lnTo>
                  <a:lnTo>
                    <a:pt x="741870" y="1261169"/>
                  </a:lnTo>
                  <a:lnTo>
                    <a:pt x="760325" y="1221171"/>
                  </a:lnTo>
                  <a:lnTo>
                    <a:pt x="769515" y="1200708"/>
                  </a:lnTo>
                  <a:lnTo>
                    <a:pt x="774129" y="1190401"/>
                  </a:lnTo>
                  <a:lnTo>
                    <a:pt x="792584" y="1148320"/>
                  </a:lnTo>
                  <a:lnTo>
                    <a:pt x="797160" y="1137642"/>
                  </a:lnTo>
                  <a:lnTo>
                    <a:pt x="801774" y="1126889"/>
                  </a:lnTo>
                  <a:lnTo>
                    <a:pt x="820228" y="1083171"/>
                  </a:lnTo>
                  <a:lnTo>
                    <a:pt x="824805" y="1072083"/>
                  </a:lnTo>
                  <a:lnTo>
                    <a:pt x="829419" y="1060958"/>
                  </a:lnTo>
                  <a:lnTo>
                    <a:pt x="847873" y="1015826"/>
                  </a:lnTo>
                  <a:lnTo>
                    <a:pt x="857063" y="992906"/>
                  </a:lnTo>
                  <a:lnTo>
                    <a:pt x="861677" y="981372"/>
                  </a:lnTo>
                  <a:lnTo>
                    <a:pt x="880132" y="934826"/>
                  </a:lnTo>
                  <a:lnTo>
                    <a:pt x="884708" y="923069"/>
                  </a:lnTo>
                  <a:lnTo>
                    <a:pt x="893936" y="899479"/>
                  </a:lnTo>
                  <a:lnTo>
                    <a:pt x="898549" y="887610"/>
                  </a:lnTo>
                  <a:lnTo>
                    <a:pt x="907777" y="863798"/>
                  </a:lnTo>
                  <a:lnTo>
                    <a:pt x="912390" y="851854"/>
                  </a:lnTo>
                  <a:lnTo>
                    <a:pt x="916967" y="839874"/>
                  </a:lnTo>
                  <a:lnTo>
                    <a:pt x="926194" y="815838"/>
                  </a:lnTo>
                  <a:lnTo>
                    <a:pt x="940035" y="779673"/>
                  </a:lnTo>
                  <a:lnTo>
                    <a:pt x="944612" y="767580"/>
                  </a:lnTo>
                  <a:lnTo>
                    <a:pt x="949225" y="755488"/>
                  </a:lnTo>
                  <a:lnTo>
                    <a:pt x="953839" y="743359"/>
                  </a:lnTo>
                  <a:lnTo>
                    <a:pt x="958453" y="731266"/>
                  </a:lnTo>
                  <a:lnTo>
                    <a:pt x="963066" y="719137"/>
                  </a:lnTo>
                  <a:lnTo>
                    <a:pt x="972294" y="694952"/>
                  </a:lnTo>
                  <a:lnTo>
                    <a:pt x="976870" y="682823"/>
                  </a:lnTo>
                  <a:lnTo>
                    <a:pt x="981484" y="670731"/>
                  </a:lnTo>
                  <a:lnTo>
                    <a:pt x="995325" y="634565"/>
                  </a:lnTo>
                  <a:lnTo>
                    <a:pt x="999938" y="622547"/>
                  </a:lnTo>
                  <a:lnTo>
                    <a:pt x="1004515" y="610530"/>
                  </a:lnTo>
                  <a:lnTo>
                    <a:pt x="1009129" y="598549"/>
                  </a:lnTo>
                  <a:lnTo>
                    <a:pt x="1013742" y="586606"/>
                  </a:lnTo>
                  <a:lnTo>
                    <a:pt x="1022970" y="562793"/>
                  </a:lnTo>
                  <a:lnTo>
                    <a:pt x="1027583" y="550961"/>
                  </a:lnTo>
                  <a:lnTo>
                    <a:pt x="1032160" y="539167"/>
                  </a:lnTo>
                  <a:lnTo>
                    <a:pt x="1050614" y="492472"/>
                  </a:lnTo>
                  <a:lnTo>
                    <a:pt x="1059842" y="469441"/>
                  </a:lnTo>
                  <a:lnTo>
                    <a:pt x="1064418" y="458018"/>
                  </a:lnTo>
                  <a:lnTo>
                    <a:pt x="1082873" y="413072"/>
                  </a:lnTo>
                  <a:lnTo>
                    <a:pt x="1087487" y="402021"/>
                  </a:lnTo>
                  <a:lnTo>
                    <a:pt x="1092063" y="391045"/>
                  </a:lnTo>
                  <a:lnTo>
                    <a:pt x="1110518" y="348108"/>
                  </a:lnTo>
                  <a:lnTo>
                    <a:pt x="1128935" y="306771"/>
                  </a:lnTo>
                  <a:lnTo>
                    <a:pt x="1147390" y="267258"/>
                  </a:lnTo>
                  <a:lnTo>
                    <a:pt x="1165807" y="229790"/>
                  </a:lnTo>
                  <a:lnTo>
                    <a:pt x="1184225" y="194518"/>
                  </a:lnTo>
                  <a:lnTo>
                    <a:pt x="1207293" y="153888"/>
                  </a:lnTo>
                  <a:lnTo>
                    <a:pt x="1230324" y="117350"/>
                  </a:lnTo>
                  <a:lnTo>
                    <a:pt x="1253355" y="85315"/>
                  </a:lnTo>
                  <a:lnTo>
                    <a:pt x="1281000" y="53206"/>
                  </a:lnTo>
                  <a:lnTo>
                    <a:pt x="1313259" y="24928"/>
                  </a:lnTo>
                  <a:lnTo>
                    <a:pt x="1350131" y="5469"/>
                  </a:lnTo>
                  <a:lnTo>
                    <a:pt x="1382389" y="0"/>
                  </a:lnTo>
                  <a:lnTo>
                    <a:pt x="1386966" y="111"/>
                  </a:lnTo>
                  <a:lnTo>
                    <a:pt x="1428452" y="11124"/>
                  </a:lnTo>
                  <a:lnTo>
                    <a:pt x="1460710" y="31960"/>
                  </a:lnTo>
                  <a:lnTo>
                    <a:pt x="1492969" y="63103"/>
                  </a:lnTo>
                  <a:lnTo>
                    <a:pt x="1520614" y="97594"/>
                  </a:lnTo>
                  <a:lnTo>
                    <a:pt x="1543645" y="131452"/>
                  </a:lnTo>
                  <a:lnTo>
                    <a:pt x="1566676" y="169664"/>
                  </a:lnTo>
                  <a:lnTo>
                    <a:pt x="1585131" y="203113"/>
                  </a:lnTo>
                  <a:lnTo>
                    <a:pt x="1603548" y="238943"/>
                  </a:lnTo>
                  <a:lnTo>
                    <a:pt x="1622003" y="276969"/>
                  </a:lnTo>
                  <a:lnTo>
                    <a:pt x="1640420" y="316966"/>
                  </a:lnTo>
                  <a:lnTo>
                    <a:pt x="1658838" y="358712"/>
                  </a:lnTo>
                  <a:lnTo>
                    <a:pt x="1677292" y="402021"/>
                  </a:lnTo>
                  <a:lnTo>
                    <a:pt x="1686482" y="424197"/>
                  </a:lnTo>
                  <a:lnTo>
                    <a:pt x="1691096" y="435396"/>
                  </a:lnTo>
                  <a:lnTo>
                    <a:pt x="1709551" y="480938"/>
                  </a:lnTo>
                  <a:lnTo>
                    <a:pt x="1714127" y="492472"/>
                  </a:lnTo>
                  <a:lnTo>
                    <a:pt x="1718741" y="504043"/>
                  </a:lnTo>
                  <a:lnTo>
                    <a:pt x="1727968" y="527409"/>
                  </a:lnTo>
                  <a:lnTo>
                    <a:pt x="1732582" y="539167"/>
                  </a:lnTo>
                  <a:lnTo>
                    <a:pt x="1737196" y="550961"/>
                  </a:lnTo>
                  <a:lnTo>
                    <a:pt x="1741772" y="562793"/>
                  </a:lnTo>
                  <a:lnTo>
                    <a:pt x="1751000" y="586606"/>
                  </a:lnTo>
                  <a:lnTo>
                    <a:pt x="1755613" y="598549"/>
                  </a:lnTo>
                  <a:lnTo>
                    <a:pt x="1760227" y="610530"/>
                  </a:lnTo>
                  <a:lnTo>
                    <a:pt x="1769454" y="634565"/>
                  </a:lnTo>
                  <a:lnTo>
                    <a:pt x="1774031" y="646620"/>
                  </a:lnTo>
                  <a:lnTo>
                    <a:pt x="1783258" y="670731"/>
                  </a:lnTo>
                  <a:lnTo>
                    <a:pt x="1787872" y="682823"/>
                  </a:lnTo>
                  <a:lnTo>
                    <a:pt x="1792485" y="694952"/>
                  </a:lnTo>
                  <a:lnTo>
                    <a:pt x="1797099" y="707045"/>
                  </a:lnTo>
                  <a:lnTo>
                    <a:pt x="1801675" y="719137"/>
                  </a:lnTo>
                  <a:lnTo>
                    <a:pt x="1806289" y="731266"/>
                  </a:lnTo>
                  <a:lnTo>
                    <a:pt x="1810903" y="743359"/>
                  </a:lnTo>
                  <a:lnTo>
                    <a:pt x="1815516" y="755488"/>
                  </a:lnTo>
                  <a:lnTo>
                    <a:pt x="1824744" y="779673"/>
                  </a:lnTo>
                  <a:lnTo>
                    <a:pt x="1829357" y="791728"/>
                  </a:lnTo>
                  <a:lnTo>
                    <a:pt x="1833934" y="803783"/>
                  </a:lnTo>
                  <a:lnTo>
                    <a:pt x="1838548" y="815838"/>
                  </a:lnTo>
                  <a:lnTo>
                    <a:pt x="1847775" y="839874"/>
                  </a:lnTo>
                  <a:lnTo>
                    <a:pt x="1852389" y="851854"/>
                  </a:lnTo>
                  <a:lnTo>
                    <a:pt x="1857002" y="863798"/>
                  </a:lnTo>
                  <a:lnTo>
                    <a:pt x="1861579" y="875704"/>
                  </a:lnTo>
                  <a:lnTo>
                    <a:pt x="1880033" y="923069"/>
                  </a:lnTo>
                  <a:lnTo>
                    <a:pt x="1889261" y="946546"/>
                  </a:lnTo>
                  <a:lnTo>
                    <a:pt x="1893837" y="958192"/>
                  </a:lnTo>
                  <a:lnTo>
                    <a:pt x="1912292" y="1004403"/>
                  </a:lnTo>
                  <a:lnTo>
                    <a:pt x="1916906" y="1015826"/>
                  </a:lnTo>
                  <a:lnTo>
                    <a:pt x="1921482" y="1027174"/>
                  </a:lnTo>
                  <a:lnTo>
                    <a:pt x="1939937" y="1072083"/>
                  </a:lnTo>
                  <a:lnTo>
                    <a:pt x="1944550" y="1083171"/>
                  </a:lnTo>
                  <a:lnTo>
                    <a:pt x="1949127" y="1094184"/>
                  </a:lnTo>
                  <a:lnTo>
                    <a:pt x="1967582" y="1137642"/>
                  </a:lnTo>
                  <a:lnTo>
                    <a:pt x="1985999" y="1179983"/>
                  </a:lnTo>
                  <a:lnTo>
                    <a:pt x="2004454" y="1221171"/>
                  </a:lnTo>
                  <a:lnTo>
                    <a:pt x="2009030" y="1231292"/>
                  </a:lnTo>
                  <a:lnTo>
                    <a:pt x="2027485" y="1270954"/>
                  </a:lnTo>
                  <a:lnTo>
                    <a:pt x="2045902" y="1309389"/>
                  </a:lnTo>
                  <a:lnTo>
                    <a:pt x="2064357" y="1346485"/>
                  </a:lnTo>
                  <a:lnTo>
                    <a:pt x="2082775" y="1382315"/>
                  </a:lnTo>
                  <a:lnTo>
                    <a:pt x="2101192" y="1416769"/>
                  </a:lnTo>
                  <a:lnTo>
                    <a:pt x="2124260" y="1457994"/>
                  </a:lnTo>
                  <a:lnTo>
                    <a:pt x="2147291" y="1497099"/>
                  </a:lnTo>
                  <a:lnTo>
                    <a:pt x="2170323" y="1534157"/>
                  </a:lnTo>
                  <a:lnTo>
                    <a:pt x="2193354" y="1569169"/>
                  </a:lnTo>
                  <a:lnTo>
                    <a:pt x="2216385" y="1602171"/>
                  </a:lnTo>
                  <a:lnTo>
                    <a:pt x="2239453" y="1633239"/>
                  </a:lnTo>
                  <a:lnTo>
                    <a:pt x="2244067" y="1639192"/>
                  </a:lnTo>
                  <a:lnTo>
                    <a:pt x="2248643" y="1645108"/>
                  </a:lnTo>
                  <a:lnTo>
                    <a:pt x="2276288" y="1679004"/>
                  </a:lnTo>
                  <a:lnTo>
                    <a:pt x="2303970" y="1710295"/>
                  </a:lnTo>
                  <a:lnTo>
                    <a:pt x="2308547" y="1715281"/>
                  </a:lnTo>
                  <a:lnTo>
                    <a:pt x="2336192" y="1743744"/>
                  </a:lnTo>
                  <a:lnTo>
                    <a:pt x="2368450" y="1774068"/>
                  </a:lnTo>
                  <a:lnTo>
                    <a:pt x="2400709" y="1801489"/>
                  </a:lnTo>
                  <a:lnTo>
                    <a:pt x="2437581" y="1829543"/>
                  </a:lnTo>
                  <a:lnTo>
                    <a:pt x="2469839" y="1851421"/>
                  </a:lnTo>
                  <a:lnTo>
                    <a:pt x="2506711" y="1873708"/>
                  </a:lnTo>
                  <a:lnTo>
                    <a:pt x="2511288" y="1876313"/>
                  </a:lnTo>
                  <a:lnTo>
                    <a:pt x="2548160" y="1895660"/>
                  </a:lnTo>
                  <a:lnTo>
                    <a:pt x="2585032" y="1912664"/>
                  </a:lnTo>
                  <a:lnTo>
                    <a:pt x="2598873" y="1918468"/>
                  </a:lnTo>
                  <a:lnTo>
                    <a:pt x="2603450" y="1920366"/>
                  </a:lnTo>
                  <a:lnTo>
                    <a:pt x="2608063" y="1922226"/>
                  </a:lnTo>
                  <a:lnTo>
                    <a:pt x="2621904" y="1927584"/>
                  </a:lnTo>
                  <a:lnTo>
                    <a:pt x="2626518" y="1929296"/>
                  </a:lnTo>
                  <a:lnTo>
                    <a:pt x="2631094" y="1931007"/>
                  </a:lnTo>
                  <a:lnTo>
                    <a:pt x="2667967" y="1943657"/>
                  </a:lnTo>
                  <a:lnTo>
                    <a:pt x="2686421" y="1949350"/>
                  </a:lnTo>
                  <a:lnTo>
                    <a:pt x="2690998" y="1950727"/>
                  </a:lnTo>
                  <a:lnTo>
                    <a:pt x="2723256" y="1959656"/>
                  </a:lnTo>
                  <a:lnTo>
                    <a:pt x="2727870" y="1960884"/>
                  </a:lnTo>
                  <a:lnTo>
                    <a:pt x="2741711" y="1964345"/>
                  </a:lnTo>
                  <a:lnTo>
                    <a:pt x="2746325" y="1965461"/>
                  </a:lnTo>
                  <a:lnTo>
                    <a:pt x="2750901" y="1966540"/>
                  </a:lnTo>
                  <a:lnTo>
                    <a:pt x="2760129" y="1968698"/>
                  </a:lnTo>
                  <a:lnTo>
                    <a:pt x="2764742" y="1969740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995987" y="3426098"/>
              <a:ext cx="0" cy="1179195"/>
            </a:xfrm>
            <a:custGeom>
              <a:avLst/>
              <a:gdLst/>
              <a:ahLst/>
              <a:cxnLst/>
              <a:rect l="l" t="t" r="r" b="b"/>
              <a:pathLst>
                <a:path w="0" h="1179195">
                  <a:moveTo>
                    <a:pt x="0" y="0"/>
                  </a:moveTo>
                  <a:lnTo>
                    <a:pt x="0" y="1178904"/>
                  </a:lnTo>
                </a:path>
              </a:pathLst>
            </a:custGeom>
            <a:ln w="1016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936182" y="2474379"/>
              <a:ext cx="3041650" cy="2232660"/>
            </a:xfrm>
            <a:custGeom>
              <a:avLst/>
              <a:gdLst/>
              <a:ahLst/>
              <a:cxnLst/>
              <a:rect l="l" t="t" r="r" b="b"/>
              <a:pathLst>
                <a:path w="3041650" h="2232660">
                  <a:moveTo>
                    <a:pt x="0" y="2232086"/>
                  </a:moveTo>
                  <a:lnTo>
                    <a:pt x="3041190" y="2232086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22320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76411" y="4575534"/>
              <a:ext cx="108958" cy="58898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4776406" y="4054042"/>
              <a:ext cx="109220" cy="59055"/>
            </a:xfrm>
            <a:custGeom>
              <a:avLst/>
              <a:gdLst/>
              <a:ahLst/>
              <a:cxnLst/>
              <a:rect l="l" t="t" r="r" b="b"/>
              <a:pathLst>
                <a:path w="109220" h="59054">
                  <a:moveTo>
                    <a:pt x="39141" y="37731"/>
                  </a:moveTo>
                  <a:lnTo>
                    <a:pt x="37947" y="14706"/>
                  </a:lnTo>
                  <a:lnTo>
                    <a:pt x="37299" y="12611"/>
                  </a:lnTo>
                  <a:lnTo>
                    <a:pt x="37020" y="11836"/>
                  </a:lnTo>
                  <a:lnTo>
                    <a:pt x="36601" y="10756"/>
                  </a:lnTo>
                  <a:lnTo>
                    <a:pt x="35801" y="9042"/>
                  </a:lnTo>
                  <a:lnTo>
                    <a:pt x="35674" y="8826"/>
                  </a:lnTo>
                  <a:lnTo>
                    <a:pt x="35458" y="8445"/>
                  </a:lnTo>
                  <a:lnTo>
                    <a:pt x="34264" y="6515"/>
                  </a:lnTo>
                  <a:lnTo>
                    <a:pt x="33743" y="5803"/>
                  </a:lnTo>
                  <a:lnTo>
                    <a:pt x="32702" y="4660"/>
                  </a:lnTo>
                  <a:lnTo>
                    <a:pt x="31737" y="3784"/>
                  </a:lnTo>
                  <a:lnTo>
                    <a:pt x="31737" y="20993"/>
                  </a:lnTo>
                  <a:lnTo>
                    <a:pt x="31699" y="37731"/>
                  </a:lnTo>
                  <a:lnTo>
                    <a:pt x="31407" y="39700"/>
                  </a:lnTo>
                  <a:lnTo>
                    <a:pt x="30657" y="43205"/>
                  </a:lnTo>
                  <a:lnTo>
                    <a:pt x="30568" y="43459"/>
                  </a:lnTo>
                  <a:lnTo>
                    <a:pt x="30403" y="43980"/>
                  </a:lnTo>
                  <a:lnTo>
                    <a:pt x="22326" y="52832"/>
                  </a:lnTo>
                  <a:lnTo>
                    <a:pt x="22644" y="52832"/>
                  </a:lnTo>
                  <a:lnTo>
                    <a:pt x="20688" y="53098"/>
                  </a:lnTo>
                  <a:lnTo>
                    <a:pt x="18376" y="53098"/>
                  </a:lnTo>
                  <a:lnTo>
                    <a:pt x="16433" y="52832"/>
                  </a:lnTo>
                  <a:lnTo>
                    <a:pt x="16751" y="52832"/>
                  </a:lnTo>
                  <a:lnTo>
                    <a:pt x="15709" y="52539"/>
                  </a:lnTo>
                  <a:lnTo>
                    <a:pt x="7518" y="38735"/>
                  </a:lnTo>
                  <a:lnTo>
                    <a:pt x="7518" y="19951"/>
                  </a:lnTo>
                  <a:lnTo>
                    <a:pt x="7823" y="18046"/>
                  </a:lnTo>
                  <a:lnTo>
                    <a:pt x="8382" y="15481"/>
                  </a:lnTo>
                  <a:lnTo>
                    <a:pt x="8509" y="15074"/>
                  </a:lnTo>
                  <a:lnTo>
                    <a:pt x="8610" y="14706"/>
                  </a:lnTo>
                  <a:lnTo>
                    <a:pt x="15735" y="6324"/>
                  </a:lnTo>
                  <a:lnTo>
                    <a:pt x="15519" y="6324"/>
                  </a:lnTo>
                  <a:lnTo>
                    <a:pt x="18122" y="5803"/>
                  </a:lnTo>
                  <a:lnTo>
                    <a:pt x="21297" y="5803"/>
                  </a:lnTo>
                  <a:lnTo>
                    <a:pt x="23723" y="6324"/>
                  </a:lnTo>
                  <a:lnTo>
                    <a:pt x="23482" y="6324"/>
                  </a:lnTo>
                  <a:lnTo>
                    <a:pt x="24041" y="6515"/>
                  </a:lnTo>
                  <a:lnTo>
                    <a:pt x="30289" y="13957"/>
                  </a:lnTo>
                  <a:lnTo>
                    <a:pt x="30543" y="14706"/>
                  </a:lnTo>
                  <a:lnTo>
                    <a:pt x="30632" y="15074"/>
                  </a:lnTo>
                  <a:lnTo>
                    <a:pt x="30734" y="15481"/>
                  </a:lnTo>
                  <a:lnTo>
                    <a:pt x="30937" y="16230"/>
                  </a:lnTo>
                  <a:lnTo>
                    <a:pt x="31191" y="17449"/>
                  </a:lnTo>
                  <a:lnTo>
                    <a:pt x="31292" y="18046"/>
                  </a:lnTo>
                  <a:lnTo>
                    <a:pt x="31483" y="18973"/>
                  </a:lnTo>
                  <a:lnTo>
                    <a:pt x="31584" y="19951"/>
                  </a:lnTo>
                  <a:lnTo>
                    <a:pt x="31737" y="20993"/>
                  </a:lnTo>
                  <a:lnTo>
                    <a:pt x="31737" y="3784"/>
                  </a:lnTo>
                  <a:lnTo>
                    <a:pt x="22961" y="0"/>
                  </a:lnTo>
                  <a:lnTo>
                    <a:pt x="16370" y="0"/>
                  </a:lnTo>
                  <a:lnTo>
                    <a:pt x="304" y="18757"/>
                  </a:lnTo>
                  <a:lnTo>
                    <a:pt x="266" y="18973"/>
                  </a:lnTo>
                  <a:lnTo>
                    <a:pt x="0" y="20993"/>
                  </a:lnTo>
                  <a:lnTo>
                    <a:pt x="0" y="37731"/>
                  </a:lnTo>
                  <a:lnTo>
                    <a:pt x="13093" y="58153"/>
                  </a:lnTo>
                  <a:lnTo>
                    <a:pt x="13843" y="58420"/>
                  </a:lnTo>
                  <a:lnTo>
                    <a:pt x="14630" y="58610"/>
                  </a:lnTo>
                  <a:lnTo>
                    <a:pt x="16192" y="58902"/>
                  </a:lnTo>
                  <a:lnTo>
                    <a:pt x="22733" y="58902"/>
                  </a:lnTo>
                  <a:lnTo>
                    <a:pt x="38862" y="39700"/>
                  </a:lnTo>
                  <a:lnTo>
                    <a:pt x="39141" y="37731"/>
                  </a:lnTo>
                  <a:close/>
                </a:path>
                <a:path w="109220" h="59054">
                  <a:moveTo>
                    <a:pt x="58534" y="49377"/>
                  </a:moveTo>
                  <a:lnTo>
                    <a:pt x="50533" y="49377"/>
                  </a:lnTo>
                  <a:lnTo>
                    <a:pt x="50533" y="58305"/>
                  </a:lnTo>
                  <a:lnTo>
                    <a:pt x="58534" y="58305"/>
                  </a:lnTo>
                  <a:lnTo>
                    <a:pt x="58534" y="49377"/>
                  </a:lnTo>
                  <a:close/>
                </a:path>
                <a:path w="109220" h="59054">
                  <a:moveTo>
                    <a:pt x="108724" y="52057"/>
                  </a:moveTo>
                  <a:lnTo>
                    <a:pt x="94653" y="52057"/>
                  </a:lnTo>
                  <a:lnTo>
                    <a:pt x="94653" y="673"/>
                  </a:lnTo>
                  <a:lnTo>
                    <a:pt x="87884" y="673"/>
                  </a:lnTo>
                  <a:lnTo>
                    <a:pt x="74231" y="10007"/>
                  </a:lnTo>
                  <a:lnTo>
                    <a:pt x="74231" y="16967"/>
                  </a:lnTo>
                  <a:lnTo>
                    <a:pt x="87249" y="7708"/>
                  </a:lnTo>
                  <a:lnTo>
                    <a:pt x="87249" y="52057"/>
                  </a:lnTo>
                  <a:lnTo>
                    <a:pt x="72555" y="52057"/>
                  </a:lnTo>
                  <a:lnTo>
                    <a:pt x="72555" y="58305"/>
                  </a:lnTo>
                  <a:lnTo>
                    <a:pt x="108724" y="58305"/>
                  </a:lnTo>
                  <a:lnTo>
                    <a:pt x="108724" y="5205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6411" y="3010904"/>
              <a:ext cx="109132" cy="59270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4776406" y="2489491"/>
              <a:ext cx="110489" cy="59055"/>
            </a:xfrm>
            <a:custGeom>
              <a:avLst/>
              <a:gdLst/>
              <a:ahLst/>
              <a:cxnLst/>
              <a:rect l="l" t="t" r="r" b="b"/>
              <a:pathLst>
                <a:path w="110489" h="59055">
                  <a:moveTo>
                    <a:pt x="39141" y="37807"/>
                  </a:moveTo>
                  <a:lnTo>
                    <a:pt x="31737" y="3848"/>
                  </a:lnTo>
                  <a:lnTo>
                    <a:pt x="31737" y="21056"/>
                  </a:lnTo>
                  <a:lnTo>
                    <a:pt x="31699" y="37807"/>
                  </a:lnTo>
                  <a:lnTo>
                    <a:pt x="20688" y="53162"/>
                  </a:lnTo>
                  <a:lnTo>
                    <a:pt x="18376" y="53162"/>
                  </a:lnTo>
                  <a:lnTo>
                    <a:pt x="7518" y="38849"/>
                  </a:lnTo>
                  <a:lnTo>
                    <a:pt x="7518" y="20053"/>
                  </a:lnTo>
                  <a:lnTo>
                    <a:pt x="7835" y="18122"/>
                  </a:lnTo>
                  <a:lnTo>
                    <a:pt x="7937" y="17564"/>
                  </a:lnTo>
                  <a:lnTo>
                    <a:pt x="8013" y="17221"/>
                  </a:lnTo>
                  <a:lnTo>
                    <a:pt x="8382" y="15557"/>
                  </a:lnTo>
                  <a:lnTo>
                    <a:pt x="8509" y="15138"/>
                  </a:lnTo>
                  <a:lnTo>
                    <a:pt x="8610" y="14770"/>
                  </a:lnTo>
                  <a:lnTo>
                    <a:pt x="8839" y="14020"/>
                  </a:lnTo>
                  <a:lnTo>
                    <a:pt x="17221" y="6032"/>
                  </a:lnTo>
                  <a:lnTo>
                    <a:pt x="22136" y="6032"/>
                  </a:lnTo>
                  <a:lnTo>
                    <a:pt x="30632" y="15138"/>
                  </a:lnTo>
                  <a:lnTo>
                    <a:pt x="30734" y="15557"/>
                  </a:lnTo>
                  <a:lnTo>
                    <a:pt x="30949" y="16332"/>
                  </a:lnTo>
                  <a:lnTo>
                    <a:pt x="31203" y="17564"/>
                  </a:lnTo>
                  <a:lnTo>
                    <a:pt x="31292" y="18122"/>
                  </a:lnTo>
                  <a:lnTo>
                    <a:pt x="31483" y="19050"/>
                  </a:lnTo>
                  <a:lnTo>
                    <a:pt x="31584" y="20053"/>
                  </a:lnTo>
                  <a:lnTo>
                    <a:pt x="31737" y="21056"/>
                  </a:lnTo>
                  <a:lnTo>
                    <a:pt x="31737" y="3848"/>
                  </a:lnTo>
                  <a:lnTo>
                    <a:pt x="22174" y="0"/>
                  </a:lnTo>
                  <a:lnTo>
                    <a:pt x="17195" y="0"/>
                  </a:lnTo>
                  <a:lnTo>
                    <a:pt x="304" y="18821"/>
                  </a:lnTo>
                  <a:lnTo>
                    <a:pt x="266" y="19050"/>
                  </a:lnTo>
                  <a:lnTo>
                    <a:pt x="0" y="21056"/>
                  </a:lnTo>
                  <a:lnTo>
                    <a:pt x="0" y="37807"/>
                  </a:lnTo>
                  <a:lnTo>
                    <a:pt x="15405" y="58864"/>
                  </a:lnTo>
                  <a:lnTo>
                    <a:pt x="23520" y="58864"/>
                  </a:lnTo>
                  <a:lnTo>
                    <a:pt x="33362" y="53162"/>
                  </a:lnTo>
                  <a:lnTo>
                    <a:pt x="33477" y="53022"/>
                  </a:lnTo>
                  <a:lnTo>
                    <a:pt x="38862" y="39814"/>
                  </a:lnTo>
                  <a:lnTo>
                    <a:pt x="39141" y="37807"/>
                  </a:lnTo>
                  <a:close/>
                </a:path>
                <a:path w="110489" h="59055">
                  <a:moveTo>
                    <a:pt x="58534" y="49453"/>
                  </a:moveTo>
                  <a:lnTo>
                    <a:pt x="50533" y="49453"/>
                  </a:lnTo>
                  <a:lnTo>
                    <a:pt x="50533" y="58420"/>
                  </a:lnTo>
                  <a:lnTo>
                    <a:pt x="58534" y="58420"/>
                  </a:lnTo>
                  <a:lnTo>
                    <a:pt x="58534" y="49453"/>
                  </a:lnTo>
                  <a:close/>
                </a:path>
                <a:path w="110489" h="59055">
                  <a:moveTo>
                    <a:pt x="110363" y="39471"/>
                  </a:moveTo>
                  <a:lnTo>
                    <a:pt x="102247" y="39471"/>
                  </a:lnTo>
                  <a:lnTo>
                    <a:pt x="102247" y="9042"/>
                  </a:lnTo>
                  <a:lnTo>
                    <a:pt x="102247" y="749"/>
                  </a:lnTo>
                  <a:lnTo>
                    <a:pt x="95313" y="749"/>
                  </a:lnTo>
                  <a:lnTo>
                    <a:pt x="95313" y="9042"/>
                  </a:lnTo>
                  <a:lnTo>
                    <a:pt x="95288" y="39471"/>
                  </a:lnTo>
                  <a:lnTo>
                    <a:pt x="74942" y="39471"/>
                  </a:lnTo>
                  <a:lnTo>
                    <a:pt x="75120" y="39293"/>
                  </a:lnTo>
                  <a:lnTo>
                    <a:pt x="75234" y="39103"/>
                  </a:lnTo>
                  <a:lnTo>
                    <a:pt x="75387" y="38912"/>
                  </a:lnTo>
                  <a:lnTo>
                    <a:pt x="75565" y="38735"/>
                  </a:lnTo>
                  <a:lnTo>
                    <a:pt x="75869" y="38290"/>
                  </a:lnTo>
                  <a:lnTo>
                    <a:pt x="76047" y="38100"/>
                  </a:lnTo>
                  <a:lnTo>
                    <a:pt x="77241" y="36461"/>
                  </a:lnTo>
                  <a:lnTo>
                    <a:pt x="77431" y="36169"/>
                  </a:lnTo>
                  <a:lnTo>
                    <a:pt x="77685" y="35826"/>
                  </a:lnTo>
                  <a:lnTo>
                    <a:pt x="77762" y="35687"/>
                  </a:lnTo>
                  <a:lnTo>
                    <a:pt x="92532" y="13919"/>
                  </a:lnTo>
                  <a:lnTo>
                    <a:pt x="92684" y="13728"/>
                  </a:lnTo>
                  <a:lnTo>
                    <a:pt x="92798" y="13500"/>
                  </a:lnTo>
                  <a:lnTo>
                    <a:pt x="92951" y="13246"/>
                  </a:lnTo>
                  <a:lnTo>
                    <a:pt x="93129" y="12979"/>
                  </a:lnTo>
                  <a:lnTo>
                    <a:pt x="93357" y="12534"/>
                  </a:lnTo>
                  <a:lnTo>
                    <a:pt x="93472" y="12395"/>
                  </a:lnTo>
                  <a:lnTo>
                    <a:pt x="93878" y="11607"/>
                  </a:lnTo>
                  <a:lnTo>
                    <a:pt x="93992" y="11455"/>
                  </a:lnTo>
                  <a:lnTo>
                    <a:pt x="94576" y="10337"/>
                  </a:lnTo>
                  <a:lnTo>
                    <a:pt x="95288" y="9232"/>
                  </a:lnTo>
                  <a:lnTo>
                    <a:pt x="95288" y="9042"/>
                  </a:lnTo>
                  <a:lnTo>
                    <a:pt x="95313" y="749"/>
                  </a:lnTo>
                  <a:lnTo>
                    <a:pt x="94513" y="749"/>
                  </a:lnTo>
                  <a:lnTo>
                    <a:pt x="68186" y="39471"/>
                  </a:lnTo>
                  <a:lnTo>
                    <a:pt x="68097" y="45351"/>
                  </a:lnTo>
                  <a:lnTo>
                    <a:pt x="95288" y="45351"/>
                  </a:lnTo>
                  <a:lnTo>
                    <a:pt x="95288" y="58420"/>
                  </a:lnTo>
                  <a:lnTo>
                    <a:pt x="102247" y="58420"/>
                  </a:lnTo>
                  <a:lnTo>
                    <a:pt x="102247" y="45351"/>
                  </a:lnTo>
                  <a:lnTo>
                    <a:pt x="110363" y="45351"/>
                  </a:lnTo>
                  <a:lnTo>
                    <a:pt x="110363" y="3947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910100" y="2519064"/>
              <a:ext cx="2468880" cy="2213610"/>
            </a:xfrm>
            <a:custGeom>
              <a:avLst/>
              <a:gdLst/>
              <a:ahLst/>
              <a:cxnLst/>
              <a:rect l="l" t="t" r="r" b="b"/>
              <a:pathLst>
                <a:path w="2468879" h="2213610">
                  <a:moveTo>
                    <a:pt x="0" y="2085937"/>
                  </a:moveTo>
                  <a:lnTo>
                    <a:pt x="26082" y="2085937"/>
                  </a:lnTo>
                </a:path>
                <a:path w="2468879" h="2213610">
                  <a:moveTo>
                    <a:pt x="0" y="1564481"/>
                  </a:moveTo>
                  <a:lnTo>
                    <a:pt x="26082" y="1564481"/>
                  </a:lnTo>
                </a:path>
                <a:path w="2468879" h="2213610">
                  <a:moveTo>
                    <a:pt x="0" y="1042987"/>
                  </a:moveTo>
                  <a:lnTo>
                    <a:pt x="26082" y="1042987"/>
                  </a:lnTo>
                </a:path>
                <a:path w="2468879" h="2213610">
                  <a:moveTo>
                    <a:pt x="0" y="521493"/>
                  </a:moveTo>
                  <a:lnTo>
                    <a:pt x="26082" y="521493"/>
                  </a:lnTo>
                </a:path>
                <a:path w="2468879" h="2213610">
                  <a:moveTo>
                    <a:pt x="0" y="0"/>
                  </a:moveTo>
                  <a:lnTo>
                    <a:pt x="26082" y="0"/>
                  </a:lnTo>
                </a:path>
                <a:path w="2468879" h="2213610">
                  <a:moveTo>
                    <a:pt x="625115" y="2213520"/>
                  </a:moveTo>
                  <a:lnTo>
                    <a:pt x="625115" y="2187401"/>
                  </a:lnTo>
                </a:path>
                <a:path w="2468879" h="2213610">
                  <a:moveTo>
                    <a:pt x="2468277" y="2213520"/>
                  </a:moveTo>
                  <a:lnTo>
                    <a:pt x="2468277" y="2187401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501653" y="4752606"/>
              <a:ext cx="1896110" cy="59055"/>
            </a:xfrm>
            <a:custGeom>
              <a:avLst/>
              <a:gdLst/>
              <a:ahLst/>
              <a:cxnLst/>
              <a:rect l="l" t="t" r="r" b="b"/>
              <a:pathLst>
                <a:path w="1896109" h="59054">
                  <a:moveTo>
                    <a:pt x="20459" y="32969"/>
                  </a:moveTo>
                  <a:lnTo>
                    <a:pt x="0" y="32969"/>
                  </a:lnTo>
                  <a:lnTo>
                    <a:pt x="0" y="39522"/>
                  </a:lnTo>
                  <a:lnTo>
                    <a:pt x="20459" y="39522"/>
                  </a:lnTo>
                  <a:lnTo>
                    <a:pt x="20459" y="32969"/>
                  </a:lnTo>
                  <a:close/>
                </a:path>
                <a:path w="1896109" h="59054">
                  <a:moveTo>
                    <a:pt x="66598" y="52235"/>
                  </a:moveTo>
                  <a:lnTo>
                    <a:pt x="36537" y="52235"/>
                  </a:lnTo>
                  <a:lnTo>
                    <a:pt x="37680" y="49974"/>
                  </a:lnTo>
                  <a:lnTo>
                    <a:pt x="39243" y="47777"/>
                  </a:lnTo>
                  <a:lnTo>
                    <a:pt x="44119" y="42710"/>
                  </a:lnTo>
                  <a:lnTo>
                    <a:pt x="54051" y="34378"/>
                  </a:lnTo>
                  <a:lnTo>
                    <a:pt x="59969" y="28651"/>
                  </a:lnTo>
                  <a:lnTo>
                    <a:pt x="63131" y="24371"/>
                  </a:lnTo>
                  <a:lnTo>
                    <a:pt x="65036" y="20243"/>
                  </a:lnTo>
                  <a:lnTo>
                    <a:pt x="65671" y="16929"/>
                  </a:lnTo>
                  <a:lnTo>
                    <a:pt x="65671" y="14287"/>
                  </a:lnTo>
                  <a:lnTo>
                    <a:pt x="46723" y="0"/>
                  </a:lnTo>
                  <a:lnTo>
                    <a:pt x="42710" y="406"/>
                  </a:lnTo>
                  <a:lnTo>
                    <a:pt x="28752" y="15113"/>
                  </a:lnTo>
                  <a:lnTo>
                    <a:pt x="36271" y="15773"/>
                  </a:lnTo>
                  <a:lnTo>
                    <a:pt x="36499" y="14401"/>
                  </a:lnTo>
                  <a:lnTo>
                    <a:pt x="36982" y="12687"/>
                  </a:lnTo>
                  <a:lnTo>
                    <a:pt x="47625" y="6032"/>
                  </a:lnTo>
                  <a:lnTo>
                    <a:pt x="50304" y="6286"/>
                  </a:lnTo>
                  <a:lnTo>
                    <a:pt x="58077" y="14630"/>
                  </a:lnTo>
                  <a:lnTo>
                    <a:pt x="58077" y="17411"/>
                  </a:lnTo>
                  <a:lnTo>
                    <a:pt x="45720" y="33223"/>
                  </a:lnTo>
                  <a:lnTo>
                    <a:pt x="36576" y="41376"/>
                  </a:lnTo>
                  <a:lnTo>
                    <a:pt x="34074" y="44170"/>
                  </a:lnTo>
                  <a:lnTo>
                    <a:pt x="31775" y="47180"/>
                  </a:lnTo>
                  <a:lnTo>
                    <a:pt x="30213" y="49669"/>
                  </a:lnTo>
                  <a:lnTo>
                    <a:pt x="28422" y="53314"/>
                  </a:lnTo>
                  <a:lnTo>
                    <a:pt x="28422" y="58534"/>
                  </a:lnTo>
                  <a:lnTo>
                    <a:pt x="66598" y="58534"/>
                  </a:lnTo>
                  <a:lnTo>
                    <a:pt x="66598" y="52235"/>
                  </a:lnTo>
                  <a:close/>
                </a:path>
                <a:path w="1896109" h="59054">
                  <a:moveTo>
                    <a:pt x="1895805" y="52235"/>
                  </a:moveTo>
                  <a:lnTo>
                    <a:pt x="1865706" y="52235"/>
                  </a:lnTo>
                  <a:lnTo>
                    <a:pt x="1867154" y="49530"/>
                  </a:lnTo>
                  <a:lnTo>
                    <a:pt x="1868462" y="47777"/>
                  </a:lnTo>
                  <a:lnTo>
                    <a:pt x="1871992" y="43942"/>
                  </a:lnTo>
                  <a:lnTo>
                    <a:pt x="1889188" y="28651"/>
                  </a:lnTo>
                  <a:lnTo>
                    <a:pt x="1892046" y="24853"/>
                  </a:lnTo>
                  <a:lnTo>
                    <a:pt x="1893836" y="21323"/>
                  </a:lnTo>
                  <a:lnTo>
                    <a:pt x="1894725" y="18046"/>
                  </a:lnTo>
                  <a:lnTo>
                    <a:pt x="1894878" y="15036"/>
                  </a:lnTo>
                  <a:lnTo>
                    <a:pt x="1894471" y="11493"/>
                  </a:lnTo>
                  <a:lnTo>
                    <a:pt x="1875942" y="0"/>
                  </a:lnTo>
                  <a:lnTo>
                    <a:pt x="1873440" y="190"/>
                  </a:lnTo>
                  <a:lnTo>
                    <a:pt x="1857933" y="15113"/>
                  </a:lnTo>
                  <a:lnTo>
                    <a:pt x="1865477" y="15773"/>
                  </a:lnTo>
                  <a:lnTo>
                    <a:pt x="1865922" y="13512"/>
                  </a:lnTo>
                  <a:lnTo>
                    <a:pt x="1866900" y="11201"/>
                  </a:lnTo>
                  <a:lnTo>
                    <a:pt x="1876793" y="6032"/>
                  </a:lnTo>
                  <a:lnTo>
                    <a:pt x="1879917" y="6362"/>
                  </a:lnTo>
                  <a:lnTo>
                    <a:pt x="1887321" y="16751"/>
                  </a:lnTo>
                  <a:lnTo>
                    <a:pt x="1887067" y="18719"/>
                  </a:lnTo>
                  <a:lnTo>
                    <a:pt x="1872957" y="34823"/>
                  </a:lnTo>
                  <a:lnTo>
                    <a:pt x="1865147" y="42049"/>
                  </a:lnTo>
                  <a:lnTo>
                    <a:pt x="1860981" y="47180"/>
                  </a:lnTo>
                  <a:lnTo>
                    <a:pt x="1859419" y="49669"/>
                  </a:lnTo>
                  <a:lnTo>
                    <a:pt x="1857590" y="53314"/>
                  </a:lnTo>
                  <a:lnTo>
                    <a:pt x="1857590" y="58534"/>
                  </a:lnTo>
                  <a:lnTo>
                    <a:pt x="1895805" y="58534"/>
                  </a:lnTo>
                  <a:lnTo>
                    <a:pt x="1895805" y="522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98257" y="4706465"/>
              <a:ext cx="313990" cy="221232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48944" y="3415940"/>
              <a:ext cx="236041" cy="340593"/>
            </a:xfrm>
            <a:prstGeom prst="rect">
              <a:avLst/>
            </a:prstGeom>
          </p:spPr>
        </p:pic>
      </p:grpSp>
      <p:pic>
        <p:nvPicPr>
          <p:cNvPr id="74" name="object 7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38079" y="2305012"/>
            <a:ext cx="1135651" cy="107193"/>
          </a:xfrm>
          <a:prstGeom prst="rect">
            <a:avLst/>
          </a:prstGeom>
        </p:spPr>
      </p:pic>
      <p:sp>
        <p:nvSpPr>
          <p:cNvPr id="75" name="object 75" descr=""/>
          <p:cNvSpPr txBox="1"/>
          <p:nvPr/>
        </p:nvSpPr>
        <p:spPr>
          <a:xfrm>
            <a:off x="4552949" y="5181599"/>
            <a:ext cx="3524250" cy="4000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667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525"/>
              </a:spcBef>
            </a:pPr>
            <a:r>
              <a:rPr dirty="0" sz="1500" spc="-90">
                <a:solidFill>
                  <a:srgbClr val="333333"/>
                </a:solidFill>
                <a:latin typeface="Lucida Console"/>
                <a:cs typeface="Lucida Console"/>
              </a:rPr>
              <a:t>dt(x</a:t>
            </a:r>
            <a:r>
              <a:rPr dirty="0" sz="1500" spc="-13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-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-13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r>
              <a:rPr dirty="0" sz="1300" spc="-1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78" name="object 7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76" name="object 76" descr=""/>
          <p:cNvSpPr txBox="1"/>
          <p:nvPr/>
        </p:nvSpPr>
        <p:spPr>
          <a:xfrm>
            <a:off x="4536826" y="5635818"/>
            <a:ext cx="125984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0.230362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i="1">
                <a:latin typeface="Book Antiqua"/>
                <a:cs typeface="Book Antiqua"/>
              </a:rPr>
              <a:t>t</a:t>
            </a:r>
            <a:r>
              <a:rPr dirty="0" spc="-20" i="1">
                <a:latin typeface="Book Antiqua"/>
                <a:cs typeface="Book Antiqua"/>
              </a:rPr>
              <a:t> </a:t>
            </a:r>
            <a:r>
              <a:rPr dirty="0" spc="-75"/>
              <a:t>distribution</a:t>
            </a:r>
            <a:r>
              <a:rPr dirty="0" spc="-150"/>
              <a:t> </a:t>
            </a:r>
            <a:r>
              <a:rPr dirty="0" spc="-80"/>
              <a:t>functions</a:t>
            </a:r>
            <a:r>
              <a:rPr dirty="0" spc="-150"/>
              <a:t> </a:t>
            </a:r>
            <a:r>
              <a:rPr dirty="0" spc="-70"/>
              <a:t>in</a:t>
            </a:r>
            <a:r>
              <a:rPr dirty="0" spc="-155"/>
              <a:t> </a:t>
            </a:r>
            <a:r>
              <a:rPr dirty="0" spc="-50"/>
              <a:t>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499" y="4429124"/>
            <a:ext cx="3524250" cy="1085850"/>
          </a:xfrm>
          <a:custGeom>
            <a:avLst/>
            <a:gdLst/>
            <a:ahLst/>
            <a:cxnLst/>
            <a:rect l="l" t="t" r="r" b="b"/>
            <a:pathLst>
              <a:path w="3524250" h="1085850">
                <a:moveTo>
                  <a:pt x="352424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3524249" y="0"/>
                </a:lnTo>
                <a:lnTo>
                  <a:pt x="3524249" y="10858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54732" y="3088853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54732" y="2423889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4732" y="1758962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949650" y="630972"/>
            <a:ext cx="3051810" cy="2928620"/>
            <a:chOff x="949650" y="630972"/>
            <a:chExt cx="3051810" cy="2928620"/>
          </a:xfrm>
        </p:grpSpPr>
        <p:sp>
          <p:nvSpPr>
            <p:cNvPr id="7" name="object 7" descr=""/>
            <p:cNvSpPr/>
            <p:nvPr/>
          </p:nvSpPr>
          <p:spPr>
            <a:xfrm>
              <a:off x="954732" y="1093998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9295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8794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88289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27785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67280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6775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46274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57699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54732" y="342133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4732" y="275637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54732" y="209144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54732" y="1426480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54732" y="761553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9045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85403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08035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47534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87029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6525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66020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92956" y="1812354"/>
              <a:ext cx="987425" cy="1609090"/>
            </a:xfrm>
            <a:custGeom>
              <a:avLst/>
              <a:gdLst/>
              <a:ahLst/>
              <a:cxnLst/>
              <a:rect l="l" t="t" r="r" b="b"/>
              <a:pathLst>
                <a:path w="987425" h="1609089">
                  <a:moveTo>
                    <a:pt x="987400" y="1608980"/>
                  </a:moveTo>
                  <a:lnTo>
                    <a:pt x="0" y="1608980"/>
                  </a:lnTo>
                  <a:lnTo>
                    <a:pt x="0" y="1603176"/>
                  </a:lnTo>
                  <a:lnTo>
                    <a:pt x="49373" y="1600051"/>
                  </a:lnTo>
                  <a:lnTo>
                    <a:pt x="78990" y="1597520"/>
                  </a:lnTo>
                  <a:lnTo>
                    <a:pt x="118504" y="1593130"/>
                  </a:lnTo>
                  <a:lnTo>
                    <a:pt x="157981" y="1587251"/>
                  </a:lnTo>
                  <a:lnTo>
                    <a:pt x="197494" y="1579512"/>
                  </a:lnTo>
                  <a:lnTo>
                    <a:pt x="236971" y="1569392"/>
                  </a:lnTo>
                  <a:lnTo>
                    <a:pt x="276485" y="1556332"/>
                  </a:lnTo>
                  <a:lnTo>
                    <a:pt x="315999" y="1539664"/>
                  </a:lnTo>
                  <a:lnTo>
                    <a:pt x="355475" y="1518642"/>
                  </a:lnTo>
                  <a:lnTo>
                    <a:pt x="394989" y="1492411"/>
                  </a:lnTo>
                  <a:lnTo>
                    <a:pt x="434466" y="1460040"/>
                  </a:lnTo>
                  <a:lnTo>
                    <a:pt x="464083" y="1431205"/>
                  </a:lnTo>
                  <a:lnTo>
                    <a:pt x="493700" y="1397905"/>
                  </a:lnTo>
                  <a:lnTo>
                    <a:pt x="523354" y="1359805"/>
                  </a:lnTo>
                  <a:lnTo>
                    <a:pt x="552970" y="1316496"/>
                  </a:lnTo>
                  <a:lnTo>
                    <a:pt x="582587" y="1267569"/>
                  </a:lnTo>
                  <a:lnTo>
                    <a:pt x="602344" y="1231664"/>
                  </a:lnTo>
                  <a:lnTo>
                    <a:pt x="622064" y="1193043"/>
                  </a:lnTo>
                  <a:lnTo>
                    <a:pt x="641821" y="1151557"/>
                  </a:lnTo>
                  <a:lnTo>
                    <a:pt x="661578" y="1107243"/>
                  </a:lnTo>
                  <a:lnTo>
                    <a:pt x="681335" y="1059990"/>
                  </a:lnTo>
                  <a:lnTo>
                    <a:pt x="701054" y="1009798"/>
                  </a:lnTo>
                  <a:lnTo>
                    <a:pt x="720811" y="956629"/>
                  </a:lnTo>
                  <a:lnTo>
                    <a:pt x="740568" y="900558"/>
                  </a:lnTo>
                  <a:lnTo>
                    <a:pt x="760325" y="841548"/>
                  </a:lnTo>
                  <a:lnTo>
                    <a:pt x="789942" y="747749"/>
                  </a:lnTo>
                  <a:lnTo>
                    <a:pt x="809699" y="681818"/>
                  </a:lnTo>
                  <a:lnTo>
                    <a:pt x="829419" y="613357"/>
                  </a:lnTo>
                  <a:lnTo>
                    <a:pt x="859035" y="506238"/>
                  </a:lnTo>
                  <a:lnTo>
                    <a:pt x="878792" y="432196"/>
                  </a:lnTo>
                  <a:lnTo>
                    <a:pt x="898549" y="356294"/>
                  </a:lnTo>
                  <a:lnTo>
                    <a:pt x="928166" y="239613"/>
                  </a:lnTo>
                  <a:lnTo>
                    <a:pt x="987400" y="0"/>
                  </a:lnTo>
                  <a:lnTo>
                    <a:pt x="987400" y="1608980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080356" y="768697"/>
              <a:ext cx="1777364" cy="2653030"/>
            </a:xfrm>
            <a:custGeom>
              <a:avLst/>
              <a:gdLst/>
              <a:ahLst/>
              <a:cxnLst/>
              <a:rect l="l" t="t" r="r" b="b"/>
              <a:pathLst>
                <a:path w="1777364" h="2653029">
                  <a:moveTo>
                    <a:pt x="1777342" y="2652637"/>
                  </a:moveTo>
                  <a:lnTo>
                    <a:pt x="0" y="2652637"/>
                  </a:lnTo>
                  <a:lnTo>
                    <a:pt x="0" y="1043657"/>
                  </a:lnTo>
                  <a:lnTo>
                    <a:pt x="53317" y="827781"/>
                  </a:lnTo>
                  <a:lnTo>
                    <a:pt x="71102" y="757274"/>
                  </a:lnTo>
                  <a:lnTo>
                    <a:pt x="88887" y="688032"/>
                  </a:lnTo>
                  <a:lnTo>
                    <a:pt x="106672" y="620352"/>
                  </a:lnTo>
                  <a:lnTo>
                    <a:pt x="124420" y="554607"/>
                  </a:lnTo>
                  <a:lnTo>
                    <a:pt x="142205" y="491132"/>
                  </a:lnTo>
                  <a:lnTo>
                    <a:pt x="159990" y="430224"/>
                  </a:lnTo>
                  <a:lnTo>
                    <a:pt x="177737" y="372219"/>
                  </a:lnTo>
                  <a:lnTo>
                    <a:pt x="195522" y="317450"/>
                  </a:lnTo>
                  <a:lnTo>
                    <a:pt x="213307" y="266216"/>
                  </a:lnTo>
                  <a:lnTo>
                    <a:pt x="231055" y="218740"/>
                  </a:lnTo>
                  <a:lnTo>
                    <a:pt x="248840" y="175393"/>
                  </a:lnTo>
                  <a:lnTo>
                    <a:pt x="266625" y="136326"/>
                  </a:lnTo>
                  <a:lnTo>
                    <a:pt x="284373" y="101835"/>
                  </a:lnTo>
                  <a:lnTo>
                    <a:pt x="319943" y="47327"/>
                  </a:lnTo>
                  <a:lnTo>
                    <a:pt x="355475" y="13096"/>
                  </a:lnTo>
                  <a:lnTo>
                    <a:pt x="391008" y="0"/>
                  </a:lnTo>
                  <a:lnTo>
                    <a:pt x="408793" y="1488"/>
                  </a:lnTo>
                  <a:lnTo>
                    <a:pt x="444363" y="20538"/>
                  </a:lnTo>
                  <a:lnTo>
                    <a:pt x="479896" y="60498"/>
                  </a:lnTo>
                  <a:lnTo>
                    <a:pt x="515428" y="120439"/>
                  </a:lnTo>
                  <a:lnTo>
                    <a:pt x="533213" y="157497"/>
                  </a:lnTo>
                  <a:lnTo>
                    <a:pt x="550998" y="198945"/>
                  </a:lnTo>
                  <a:lnTo>
                    <a:pt x="568746" y="244636"/>
                  </a:lnTo>
                  <a:lnTo>
                    <a:pt x="586531" y="294233"/>
                  </a:lnTo>
                  <a:lnTo>
                    <a:pt x="604316" y="347476"/>
                  </a:lnTo>
                  <a:lnTo>
                    <a:pt x="622064" y="404068"/>
                  </a:lnTo>
                  <a:lnTo>
                    <a:pt x="639849" y="463748"/>
                  </a:lnTo>
                  <a:lnTo>
                    <a:pt x="657634" y="526107"/>
                  </a:lnTo>
                  <a:lnTo>
                    <a:pt x="675382" y="590884"/>
                  </a:lnTo>
                  <a:lnTo>
                    <a:pt x="693166" y="657745"/>
                  </a:lnTo>
                  <a:lnTo>
                    <a:pt x="710951" y="726318"/>
                  </a:lnTo>
                  <a:lnTo>
                    <a:pt x="728736" y="796342"/>
                  </a:lnTo>
                  <a:lnTo>
                    <a:pt x="764269" y="939217"/>
                  </a:lnTo>
                  <a:lnTo>
                    <a:pt x="817587" y="1156096"/>
                  </a:lnTo>
                  <a:lnTo>
                    <a:pt x="853119" y="1298971"/>
                  </a:lnTo>
                  <a:lnTo>
                    <a:pt x="870904" y="1369144"/>
                  </a:lnTo>
                  <a:lnTo>
                    <a:pt x="888689" y="1438088"/>
                  </a:lnTo>
                  <a:lnTo>
                    <a:pt x="906437" y="1505694"/>
                  </a:lnTo>
                  <a:lnTo>
                    <a:pt x="924222" y="1571736"/>
                  </a:lnTo>
                  <a:lnTo>
                    <a:pt x="942007" y="1635993"/>
                  </a:lnTo>
                  <a:lnTo>
                    <a:pt x="959755" y="1698389"/>
                  </a:lnTo>
                  <a:lnTo>
                    <a:pt x="977540" y="1758776"/>
                  </a:lnTo>
                  <a:lnTo>
                    <a:pt x="995325" y="1817005"/>
                  </a:lnTo>
                  <a:lnTo>
                    <a:pt x="1013072" y="1873039"/>
                  </a:lnTo>
                  <a:lnTo>
                    <a:pt x="1030857" y="1926803"/>
                  </a:lnTo>
                  <a:lnTo>
                    <a:pt x="1048642" y="1978223"/>
                  </a:lnTo>
                  <a:lnTo>
                    <a:pt x="1066427" y="2027262"/>
                  </a:lnTo>
                  <a:lnTo>
                    <a:pt x="1084175" y="2073882"/>
                  </a:lnTo>
                  <a:lnTo>
                    <a:pt x="1101960" y="2118121"/>
                  </a:lnTo>
                  <a:lnTo>
                    <a:pt x="1119745" y="2160016"/>
                  </a:lnTo>
                  <a:lnTo>
                    <a:pt x="1137493" y="2199493"/>
                  </a:lnTo>
                  <a:lnTo>
                    <a:pt x="1155278" y="2236700"/>
                  </a:lnTo>
                  <a:lnTo>
                    <a:pt x="1173063" y="2271600"/>
                  </a:lnTo>
                  <a:lnTo>
                    <a:pt x="1208595" y="2334778"/>
                  </a:lnTo>
                  <a:lnTo>
                    <a:pt x="1244128" y="2389621"/>
                  </a:lnTo>
                  <a:lnTo>
                    <a:pt x="1279698" y="2436762"/>
                  </a:lnTo>
                  <a:lnTo>
                    <a:pt x="1315231" y="2476909"/>
                  </a:lnTo>
                  <a:lnTo>
                    <a:pt x="1350763" y="2510730"/>
                  </a:lnTo>
                  <a:lnTo>
                    <a:pt x="1386333" y="2538970"/>
                  </a:lnTo>
                  <a:lnTo>
                    <a:pt x="1421866" y="2562299"/>
                  </a:lnTo>
                  <a:lnTo>
                    <a:pt x="1457436" y="2581423"/>
                  </a:lnTo>
                  <a:lnTo>
                    <a:pt x="1492969" y="2596976"/>
                  </a:lnTo>
                  <a:lnTo>
                    <a:pt x="1546286" y="2614723"/>
                  </a:lnTo>
                  <a:lnTo>
                    <a:pt x="1599604" y="2627299"/>
                  </a:lnTo>
                  <a:lnTo>
                    <a:pt x="1652922" y="2636006"/>
                  </a:lnTo>
                  <a:lnTo>
                    <a:pt x="1724024" y="2643410"/>
                  </a:lnTo>
                  <a:lnTo>
                    <a:pt x="1777342" y="2646833"/>
                  </a:lnTo>
                  <a:lnTo>
                    <a:pt x="1777342" y="265263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54732" y="636054"/>
              <a:ext cx="3041650" cy="2918460"/>
            </a:xfrm>
            <a:custGeom>
              <a:avLst/>
              <a:gdLst/>
              <a:ahLst/>
              <a:cxnLst/>
              <a:rect l="l" t="t" r="r" b="b"/>
              <a:pathLst>
                <a:path w="3041650" h="2918460">
                  <a:moveTo>
                    <a:pt x="0" y="2917886"/>
                  </a:moveTo>
                  <a:lnTo>
                    <a:pt x="3041190" y="2917886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29178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961" y="3391755"/>
            <a:ext cx="108964" cy="58973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794956" y="2726804"/>
            <a:ext cx="109220" cy="59690"/>
          </a:xfrm>
          <a:custGeom>
            <a:avLst/>
            <a:gdLst/>
            <a:ahLst/>
            <a:cxnLst/>
            <a:rect l="l" t="t" r="r" b="b"/>
            <a:pathLst>
              <a:path w="109219" h="59689">
                <a:moveTo>
                  <a:pt x="39128" y="37833"/>
                </a:moveTo>
                <a:lnTo>
                  <a:pt x="37947" y="14770"/>
                </a:lnTo>
                <a:lnTo>
                  <a:pt x="37401" y="12941"/>
                </a:lnTo>
                <a:lnTo>
                  <a:pt x="37299" y="12687"/>
                </a:lnTo>
                <a:lnTo>
                  <a:pt x="36614" y="10858"/>
                </a:lnTo>
                <a:lnTo>
                  <a:pt x="35687" y="8928"/>
                </a:lnTo>
                <a:lnTo>
                  <a:pt x="31737" y="3860"/>
                </a:lnTo>
                <a:lnTo>
                  <a:pt x="31737" y="21094"/>
                </a:lnTo>
                <a:lnTo>
                  <a:pt x="31699" y="37833"/>
                </a:lnTo>
                <a:lnTo>
                  <a:pt x="26936" y="50406"/>
                </a:lnTo>
                <a:lnTo>
                  <a:pt x="26568" y="50812"/>
                </a:lnTo>
                <a:lnTo>
                  <a:pt x="25717" y="51485"/>
                </a:lnTo>
                <a:lnTo>
                  <a:pt x="24333" y="52273"/>
                </a:lnTo>
                <a:lnTo>
                  <a:pt x="23368" y="52641"/>
                </a:lnTo>
                <a:lnTo>
                  <a:pt x="23545" y="52641"/>
                </a:lnTo>
                <a:lnTo>
                  <a:pt x="21805" y="53009"/>
                </a:lnTo>
                <a:lnTo>
                  <a:pt x="20688" y="53162"/>
                </a:lnTo>
                <a:lnTo>
                  <a:pt x="18376" y="53162"/>
                </a:lnTo>
                <a:lnTo>
                  <a:pt x="17272" y="53009"/>
                </a:lnTo>
                <a:lnTo>
                  <a:pt x="15532" y="52641"/>
                </a:lnTo>
                <a:lnTo>
                  <a:pt x="15709" y="52641"/>
                </a:lnTo>
                <a:lnTo>
                  <a:pt x="14693" y="52273"/>
                </a:lnTo>
                <a:lnTo>
                  <a:pt x="7518" y="38836"/>
                </a:lnTo>
                <a:lnTo>
                  <a:pt x="7518" y="20053"/>
                </a:lnTo>
                <a:lnTo>
                  <a:pt x="7823" y="18148"/>
                </a:lnTo>
                <a:lnTo>
                  <a:pt x="8382" y="15544"/>
                </a:lnTo>
                <a:lnTo>
                  <a:pt x="8509" y="15138"/>
                </a:lnTo>
                <a:lnTo>
                  <a:pt x="8610" y="14770"/>
                </a:lnTo>
                <a:lnTo>
                  <a:pt x="17221" y="6019"/>
                </a:lnTo>
                <a:lnTo>
                  <a:pt x="22136" y="6019"/>
                </a:lnTo>
                <a:lnTo>
                  <a:pt x="24041" y="6578"/>
                </a:lnTo>
                <a:lnTo>
                  <a:pt x="24333" y="6731"/>
                </a:lnTo>
                <a:lnTo>
                  <a:pt x="24968" y="6985"/>
                </a:lnTo>
                <a:lnTo>
                  <a:pt x="28359" y="10007"/>
                </a:lnTo>
                <a:lnTo>
                  <a:pt x="28917" y="10858"/>
                </a:lnTo>
                <a:lnTo>
                  <a:pt x="29464" y="11938"/>
                </a:lnTo>
                <a:lnTo>
                  <a:pt x="30060" y="13309"/>
                </a:lnTo>
                <a:lnTo>
                  <a:pt x="30543" y="14770"/>
                </a:lnTo>
                <a:lnTo>
                  <a:pt x="30632" y="15138"/>
                </a:lnTo>
                <a:lnTo>
                  <a:pt x="30734" y="15544"/>
                </a:lnTo>
                <a:lnTo>
                  <a:pt x="30949" y="16332"/>
                </a:lnTo>
                <a:lnTo>
                  <a:pt x="31191" y="17551"/>
                </a:lnTo>
                <a:lnTo>
                  <a:pt x="31292" y="18148"/>
                </a:lnTo>
                <a:lnTo>
                  <a:pt x="31483" y="19075"/>
                </a:lnTo>
                <a:lnTo>
                  <a:pt x="31597" y="20053"/>
                </a:lnTo>
                <a:lnTo>
                  <a:pt x="31737" y="21094"/>
                </a:lnTo>
                <a:lnTo>
                  <a:pt x="31737" y="3860"/>
                </a:lnTo>
                <a:lnTo>
                  <a:pt x="24485" y="406"/>
                </a:lnTo>
                <a:lnTo>
                  <a:pt x="23736" y="215"/>
                </a:lnTo>
                <a:lnTo>
                  <a:pt x="22174" y="0"/>
                </a:lnTo>
                <a:lnTo>
                  <a:pt x="17195" y="0"/>
                </a:lnTo>
                <a:lnTo>
                  <a:pt x="15557" y="215"/>
                </a:lnTo>
                <a:lnTo>
                  <a:pt x="14770" y="406"/>
                </a:lnTo>
                <a:lnTo>
                  <a:pt x="13995" y="546"/>
                </a:lnTo>
                <a:lnTo>
                  <a:pt x="0" y="21094"/>
                </a:lnTo>
                <a:lnTo>
                  <a:pt x="12" y="37833"/>
                </a:lnTo>
                <a:lnTo>
                  <a:pt x="18643" y="59232"/>
                </a:lnTo>
                <a:lnTo>
                  <a:pt x="20320" y="59232"/>
                </a:lnTo>
                <a:lnTo>
                  <a:pt x="33477" y="53009"/>
                </a:lnTo>
                <a:lnTo>
                  <a:pt x="34264" y="52006"/>
                </a:lnTo>
                <a:lnTo>
                  <a:pt x="38087" y="43307"/>
                </a:lnTo>
                <a:lnTo>
                  <a:pt x="38328" y="42367"/>
                </a:lnTo>
                <a:lnTo>
                  <a:pt x="38862" y="39801"/>
                </a:lnTo>
                <a:lnTo>
                  <a:pt x="39128" y="37833"/>
                </a:lnTo>
                <a:close/>
              </a:path>
              <a:path w="109219" h="59689">
                <a:moveTo>
                  <a:pt x="58534" y="49441"/>
                </a:moveTo>
                <a:lnTo>
                  <a:pt x="50533" y="49441"/>
                </a:lnTo>
                <a:lnTo>
                  <a:pt x="50533" y="58407"/>
                </a:lnTo>
                <a:lnTo>
                  <a:pt x="58534" y="58407"/>
                </a:lnTo>
                <a:lnTo>
                  <a:pt x="58534" y="49441"/>
                </a:lnTo>
                <a:close/>
              </a:path>
              <a:path w="109219" h="59689">
                <a:moveTo>
                  <a:pt x="108724" y="52158"/>
                </a:moveTo>
                <a:lnTo>
                  <a:pt x="94653" y="52158"/>
                </a:lnTo>
                <a:lnTo>
                  <a:pt x="94653" y="736"/>
                </a:lnTo>
                <a:lnTo>
                  <a:pt x="87884" y="736"/>
                </a:lnTo>
                <a:lnTo>
                  <a:pt x="74231" y="10109"/>
                </a:lnTo>
                <a:lnTo>
                  <a:pt x="74231" y="17068"/>
                </a:lnTo>
                <a:lnTo>
                  <a:pt x="87249" y="7772"/>
                </a:lnTo>
                <a:lnTo>
                  <a:pt x="87249" y="52158"/>
                </a:lnTo>
                <a:lnTo>
                  <a:pt x="72555" y="52158"/>
                </a:lnTo>
                <a:lnTo>
                  <a:pt x="72555" y="58407"/>
                </a:lnTo>
                <a:lnTo>
                  <a:pt x="108724" y="58407"/>
                </a:lnTo>
                <a:lnTo>
                  <a:pt x="108724" y="5215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960" y="1396789"/>
            <a:ext cx="109133" cy="59345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794956" y="731976"/>
            <a:ext cx="110489" cy="59055"/>
          </a:xfrm>
          <a:custGeom>
            <a:avLst/>
            <a:gdLst/>
            <a:ahLst/>
            <a:cxnLst/>
            <a:rect l="l" t="t" r="r" b="b"/>
            <a:pathLst>
              <a:path w="110490" h="59054">
                <a:moveTo>
                  <a:pt x="39141" y="37807"/>
                </a:moveTo>
                <a:lnTo>
                  <a:pt x="37287" y="12649"/>
                </a:lnTo>
                <a:lnTo>
                  <a:pt x="37020" y="11912"/>
                </a:lnTo>
                <a:lnTo>
                  <a:pt x="31737" y="3848"/>
                </a:lnTo>
                <a:lnTo>
                  <a:pt x="31737" y="21056"/>
                </a:lnTo>
                <a:lnTo>
                  <a:pt x="31699" y="37807"/>
                </a:lnTo>
                <a:lnTo>
                  <a:pt x="22326" y="52908"/>
                </a:lnTo>
                <a:lnTo>
                  <a:pt x="22644" y="52908"/>
                </a:lnTo>
                <a:lnTo>
                  <a:pt x="20688" y="53174"/>
                </a:lnTo>
                <a:lnTo>
                  <a:pt x="18376" y="53174"/>
                </a:lnTo>
                <a:lnTo>
                  <a:pt x="16433" y="52908"/>
                </a:lnTo>
                <a:lnTo>
                  <a:pt x="16751" y="52908"/>
                </a:lnTo>
                <a:lnTo>
                  <a:pt x="15709" y="52616"/>
                </a:lnTo>
                <a:lnTo>
                  <a:pt x="7518" y="38811"/>
                </a:lnTo>
                <a:lnTo>
                  <a:pt x="7518" y="20053"/>
                </a:lnTo>
                <a:lnTo>
                  <a:pt x="7823" y="18122"/>
                </a:lnTo>
                <a:lnTo>
                  <a:pt x="8382" y="15557"/>
                </a:lnTo>
                <a:lnTo>
                  <a:pt x="8509" y="15151"/>
                </a:lnTo>
                <a:lnTo>
                  <a:pt x="8610" y="14770"/>
                </a:lnTo>
                <a:lnTo>
                  <a:pt x="15735" y="6400"/>
                </a:lnTo>
                <a:lnTo>
                  <a:pt x="15519" y="6400"/>
                </a:lnTo>
                <a:lnTo>
                  <a:pt x="17335" y="6032"/>
                </a:lnTo>
                <a:lnTo>
                  <a:pt x="18529" y="5880"/>
                </a:lnTo>
                <a:lnTo>
                  <a:pt x="20878" y="5880"/>
                </a:lnTo>
                <a:lnTo>
                  <a:pt x="21996" y="6032"/>
                </a:lnTo>
                <a:lnTo>
                  <a:pt x="23723" y="6400"/>
                </a:lnTo>
                <a:lnTo>
                  <a:pt x="23482" y="6400"/>
                </a:lnTo>
                <a:lnTo>
                  <a:pt x="24041" y="6591"/>
                </a:lnTo>
                <a:lnTo>
                  <a:pt x="29768" y="12649"/>
                </a:lnTo>
                <a:lnTo>
                  <a:pt x="30060" y="13322"/>
                </a:lnTo>
                <a:lnTo>
                  <a:pt x="30543" y="14770"/>
                </a:lnTo>
                <a:lnTo>
                  <a:pt x="30632" y="15151"/>
                </a:lnTo>
                <a:lnTo>
                  <a:pt x="30734" y="15557"/>
                </a:lnTo>
                <a:lnTo>
                  <a:pt x="30937" y="16294"/>
                </a:lnTo>
                <a:lnTo>
                  <a:pt x="31191" y="17526"/>
                </a:lnTo>
                <a:lnTo>
                  <a:pt x="31292" y="18122"/>
                </a:lnTo>
                <a:lnTo>
                  <a:pt x="31483" y="19050"/>
                </a:lnTo>
                <a:lnTo>
                  <a:pt x="31597" y="20053"/>
                </a:lnTo>
                <a:lnTo>
                  <a:pt x="31737" y="21056"/>
                </a:lnTo>
                <a:lnTo>
                  <a:pt x="31737" y="3848"/>
                </a:lnTo>
                <a:lnTo>
                  <a:pt x="22174" y="0"/>
                </a:lnTo>
                <a:lnTo>
                  <a:pt x="17195" y="0"/>
                </a:lnTo>
                <a:lnTo>
                  <a:pt x="304" y="18834"/>
                </a:lnTo>
                <a:lnTo>
                  <a:pt x="266" y="19050"/>
                </a:lnTo>
                <a:lnTo>
                  <a:pt x="0" y="21056"/>
                </a:lnTo>
                <a:lnTo>
                  <a:pt x="0" y="37807"/>
                </a:lnTo>
                <a:lnTo>
                  <a:pt x="16192" y="58978"/>
                </a:lnTo>
                <a:lnTo>
                  <a:pt x="22733" y="58978"/>
                </a:lnTo>
                <a:lnTo>
                  <a:pt x="38862" y="39776"/>
                </a:lnTo>
                <a:lnTo>
                  <a:pt x="39141" y="37807"/>
                </a:lnTo>
                <a:close/>
              </a:path>
              <a:path w="110490" h="59054">
                <a:moveTo>
                  <a:pt x="58534" y="49453"/>
                </a:moveTo>
                <a:lnTo>
                  <a:pt x="50533" y="49453"/>
                </a:lnTo>
                <a:lnTo>
                  <a:pt x="50533" y="58420"/>
                </a:lnTo>
                <a:lnTo>
                  <a:pt x="58534" y="58420"/>
                </a:lnTo>
                <a:lnTo>
                  <a:pt x="58534" y="49453"/>
                </a:lnTo>
                <a:close/>
              </a:path>
              <a:path w="110490" h="59054">
                <a:moveTo>
                  <a:pt x="110363" y="39484"/>
                </a:moveTo>
                <a:lnTo>
                  <a:pt x="102247" y="39484"/>
                </a:lnTo>
                <a:lnTo>
                  <a:pt x="102247" y="9042"/>
                </a:lnTo>
                <a:lnTo>
                  <a:pt x="102247" y="749"/>
                </a:lnTo>
                <a:lnTo>
                  <a:pt x="95288" y="749"/>
                </a:lnTo>
                <a:lnTo>
                  <a:pt x="95288" y="9042"/>
                </a:lnTo>
                <a:lnTo>
                  <a:pt x="95288" y="39484"/>
                </a:lnTo>
                <a:lnTo>
                  <a:pt x="74942" y="39484"/>
                </a:lnTo>
                <a:lnTo>
                  <a:pt x="75044" y="39331"/>
                </a:lnTo>
                <a:lnTo>
                  <a:pt x="75387" y="38925"/>
                </a:lnTo>
                <a:lnTo>
                  <a:pt x="75565" y="38735"/>
                </a:lnTo>
                <a:lnTo>
                  <a:pt x="76390" y="37655"/>
                </a:lnTo>
                <a:lnTo>
                  <a:pt x="77127" y="36537"/>
                </a:lnTo>
                <a:lnTo>
                  <a:pt x="77317" y="36360"/>
                </a:lnTo>
                <a:lnTo>
                  <a:pt x="77431" y="36169"/>
                </a:lnTo>
                <a:lnTo>
                  <a:pt x="77685" y="35839"/>
                </a:lnTo>
                <a:lnTo>
                  <a:pt x="77762" y="35687"/>
                </a:lnTo>
                <a:lnTo>
                  <a:pt x="92532" y="13919"/>
                </a:lnTo>
                <a:lnTo>
                  <a:pt x="92798" y="13474"/>
                </a:lnTo>
                <a:lnTo>
                  <a:pt x="93129" y="12992"/>
                </a:lnTo>
                <a:lnTo>
                  <a:pt x="93357" y="12547"/>
                </a:lnTo>
                <a:lnTo>
                  <a:pt x="93472" y="12395"/>
                </a:lnTo>
                <a:lnTo>
                  <a:pt x="93535" y="12204"/>
                </a:lnTo>
                <a:lnTo>
                  <a:pt x="93611" y="12052"/>
                </a:lnTo>
                <a:lnTo>
                  <a:pt x="93726" y="11912"/>
                </a:lnTo>
                <a:lnTo>
                  <a:pt x="93878" y="11607"/>
                </a:lnTo>
                <a:lnTo>
                  <a:pt x="93992" y="11468"/>
                </a:lnTo>
                <a:lnTo>
                  <a:pt x="95288" y="9042"/>
                </a:lnTo>
                <a:lnTo>
                  <a:pt x="95288" y="749"/>
                </a:lnTo>
                <a:lnTo>
                  <a:pt x="94513" y="749"/>
                </a:lnTo>
                <a:lnTo>
                  <a:pt x="68186" y="39484"/>
                </a:lnTo>
                <a:lnTo>
                  <a:pt x="68097" y="45364"/>
                </a:lnTo>
                <a:lnTo>
                  <a:pt x="95288" y="45364"/>
                </a:lnTo>
                <a:lnTo>
                  <a:pt x="95288" y="58420"/>
                </a:lnTo>
                <a:lnTo>
                  <a:pt x="102247" y="58420"/>
                </a:lnTo>
                <a:lnTo>
                  <a:pt x="102247" y="45364"/>
                </a:lnTo>
                <a:lnTo>
                  <a:pt x="110363" y="45364"/>
                </a:lnTo>
                <a:lnTo>
                  <a:pt x="110363" y="39484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928650" y="342133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928650" y="275637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928650" y="209144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928650" y="1426480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928650" y="761553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290451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685403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2080356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2870299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3265251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3660204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256919" y="3600119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09" h="59689">
                <a:moveTo>
                  <a:pt x="20472" y="32931"/>
                </a:moveTo>
                <a:lnTo>
                  <a:pt x="0" y="32931"/>
                </a:lnTo>
                <a:lnTo>
                  <a:pt x="0" y="39484"/>
                </a:lnTo>
                <a:lnTo>
                  <a:pt x="20472" y="39484"/>
                </a:lnTo>
                <a:lnTo>
                  <a:pt x="20472" y="32931"/>
                </a:lnTo>
                <a:close/>
              </a:path>
              <a:path w="67309" h="59689">
                <a:moveTo>
                  <a:pt x="67119" y="42570"/>
                </a:moveTo>
                <a:lnTo>
                  <a:pt x="53428" y="29057"/>
                </a:lnTo>
                <a:lnTo>
                  <a:pt x="53428" y="28879"/>
                </a:lnTo>
                <a:lnTo>
                  <a:pt x="65481" y="16217"/>
                </a:lnTo>
                <a:lnTo>
                  <a:pt x="65455" y="13957"/>
                </a:lnTo>
                <a:lnTo>
                  <a:pt x="49072" y="0"/>
                </a:lnTo>
                <a:lnTo>
                  <a:pt x="45059" y="38"/>
                </a:lnTo>
                <a:lnTo>
                  <a:pt x="28359" y="14960"/>
                </a:lnTo>
                <a:lnTo>
                  <a:pt x="35763" y="15557"/>
                </a:lnTo>
                <a:lnTo>
                  <a:pt x="35864" y="14655"/>
                </a:lnTo>
                <a:lnTo>
                  <a:pt x="36283" y="12992"/>
                </a:lnTo>
                <a:lnTo>
                  <a:pt x="47142" y="5994"/>
                </a:lnTo>
                <a:lnTo>
                  <a:pt x="49149" y="6108"/>
                </a:lnTo>
                <a:lnTo>
                  <a:pt x="57937" y="16002"/>
                </a:lnTo>
                <a:lnTo>
                  <a:pt x="57746" y="18237"/>
                </a:lnTo>
                <a:lnTo>
                  <a:pt x="41186" y="25933"/>
                </a:lnTo>
                <a:lnTo>
                  <a:pt x="41186" y="32334"/>
                </a:lnTo>
                <a:lnTo>
                  <a:pt x="46215" y="32334"/>
                </a:lnTo>
                <a:lnTo>
                  <a:pt x="50901" y="32854"/>
                </a:lnTo>
                <a:lnTo>
                  <a:pt x="59423" y="43345"/>
                </a:lnTo>
                <a:lnTo>
                  <a:pt x="58940" y="46215"/>
                </a:lnTo>
                <a:lnTo>
                  <a:pt x="47548" y="53213"/>
                </a:lnTo>
                <a:lnTo>
                  <a:pt x="45250" y="53098"/>
                </a:lnTo>
                <a:lnTo>
                  <a:pt x="34975" y="42976"/>
                </a:lnTo>
                <a:lnTo>
                  <a:pt x="27355" y="43649"/>
                </a:lnTo>
                <a:lnTo>
                  <a:pt x="45466" y="59232"/>
                </a:lnTo>
                <a:lnTo>
                  <a:pt x="50266" y="59194"/>
                </a:lnTo>
                <a:lnTo>
                  <a:pt x="66789" y="46329"/>
                </a:lnTo>
                <a:lnTo>
                  <a:pt x="67119" y="425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651876" y="3600081"/>
            <a:ext cx="66675" cy="59055"/>
          </a:xfrm>
          <a:custGeom>
            <a:avLst/>
            <a:gdLst/>
            <a:ahLst/>
            <a:cxnLst/>
            <a:rect l="l" t="t" r="r" b="b"/>
            <a:pathLst>
              <a:path w="66675" h="59054">
                <a:moveTo>
                  <a:pt x="20459" y="32969"/>
                </a:moveTo>
                <a:lnTo>
                  <a:pt x="0" y="32969"/>
                </a:lnTo>
                <a:lnTo>
                  <a:pt x="0" y="39522"/>
                </a:lnTo>
                <a:lnTo>
                  <a:pt x="20459" y="39522"/>
                </a:lnTo>
                <a:lnTo>
                  <a:pt x="20459" y="32969"/>
                </a:lnTo>
                <a:close/>
              </a:path>
              <a:path w="66675" h="59054">
                <a:moveTo>
                  <a:pt x="66560" y="52235"/>
                </a:moveTo>
                <a:lnTo>
                  <a:pt x="36499" y="52235"/>
                </a:lnTo>
                <a:lnTo>
                  <a:pt x="36906" y="51308"/>
                </a:lnTo>
                <a:lnTo>
                  <a:pt x="38874" y="48221"/>
                </a:lnTo>
                <a:lnTo>
                  <a:pt x="43192" y="43535"/>
                </a:lnTo>
                <a:lnTo>
                  <a:pt x="48514" y="39001"/>
                </a:lnTo>
                <a:lnTo>
                  <a:pt x="59156" y="29540"/>
                </a:lnTo>
                <a:lnTo>
                  <a:pt x="65671" y="16370"/>
                </a:lnTo>
                <a:lnTo>
                  <a:pt x="65633" y="14287"/>
                </a:lnTo>
                <a:lnTo>
                  <a:pt x="46736" y="0"/>
                </a:lnTo>
                <a:lnTo>
                  <a:pt x="44234" y="190"/>
                </a:lnTo>
                <a:lnTo>
                  <a:pt x="28727" y="15113"/>
                </a:lnTo>
                <a:lnTo>
                  <a:pt x="36233" y="15773"/>
                </a:lnTo>
                <a:lnTo>
                  <a:pt x="36576" y="13957"/>
                </a:lnTo>
                <a:lnTo>
                  <a:pt x="37274" y="11950"/>
                </a:lnTo>
                <a:lnTo>
                  <a:pt x="47586" y="6032"/>
                </a:lnTo>
                <a:lnTo>
                  <a:pt x="50673" y="6362"/>
                </a:lnTo>
                <a:lnTo>
                  <a:pt x="58115" y="15557"/>
                </a:lnTo>
                <a:lnTo>
                  <a:pt x="57848" y="18719"/>
                </a:lnTo>
                <a:lnTo>
                  <a:pt x="37833" y="40068"/>
                </a:lnTo>
                <a:lnTo>
                  <a:pt x="34671" y="43459"/>
                </a:lnTo>
                <a:lnTo>
                  <a:pt x="32296" y="46405"/>
                </a:lnTo>
                <a:lnTo>
                  <a:pt x="29730" y="50533"/>
                </a:lnTo>
                <a:lnTo>
                  <a:pt x="28384" y="53314"/>
                </a:lnTo>
                <a:lnTo>
                  <a:pt x="28384" y="58534"/>
                </a:lnTo>
                <a:lnTo>
                  <a:pt x="66560" y="58534"/>
                </a:lnTo>
                <a:lnTo>
                  <a:pt x="66560" y="5223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046820" y="3600944"/>
            <a:ext cx="67310" cy="57785"/>
          </a:xfrm>
          <a:custGeom>
            <a:avLst/>
            <a:gdLst/>
            <a:ahLst/>
            <a:cxnLst/>
            <a:rect l="l" t="t" r="r" b="b"/>
            <a:pathLst>
              <a:path w="67310" h="57785">
                <a:moveTo>
                  <a:pt x="20472" y="32105"/>
                </a:moveTo>
                <a:lnTo>
                  <a:pt x="0" y="32105"/>
                </a:lnTo>
                <a:lnTo>
                  <a:pt x="0" y="38658"/>
                </a:lnTo>
                <a:lnTo>
                  <a:pt x="20472" y="38658"/>
                </a:lnTo>
                <a:lnTo>
                  <a:pt x="20472" y="32105"/>
                </a:lnTo>
                <a:close/>
              </a:path>
              <a:path w="67310" h="57785">
                <a:moveTo>
                  <a:pt x="66713" y="51371"/>
                </a:moveTo>
                <a:lnTo>
                  <a:pt x="52692" y="51371"/>
                </a:lnTo>
                <a:lnTo>
                  <a:pt x="52692" y="0"/>
                </a:lnTo>
                <a:lnTo>
                  <a:pt x="45885" y="0"/>
                </a:lnTo>
                <a:lnTo>
                  <a:pt x="32258" y="9372"/>
                </a:lnTo>
                <a:lnTo>
                  <a:pt x="32258" y="16332"/>
                </a:lnTo>
                <a:lnTo>
                  <a:pt x="45288" y="7023"/>
                </a:lnTo>
                <a:lnTo>
                  <a:pt x="45288" y="51371"/>
                </a:lnTo>
                <a:lnTo>
                  <a:pt x="30594" y="51371"/>
                </a:lnTo>
                <a:lnTo>
                  <a:pt x="30594" y="57670"/>
                </a:lnTo>
                <a:lnTo>
                  <a:pt x="66713" y="57670"/>
                </a:lnTo>
                <a:lnTo>
                  <a:pt x="66713" y="5137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2853369" y="3600933"/>
            <a:ext cx="36195" cy="57785"/>
          </a:xfrm>
          <a:custGeom>
            <a:avLst/>
            <a:gdLst/>
            <a:ahLst/>
            <a:cxnLst/>
            <a:rect l="l" t="t" r="r" b="b"/>
            <a:pathLst>
              <a:path w="36194" h="57785">
                <a:moveTo>
                  <a:pt x="36128" y="57670"/>
                </a:moveTo>
                <a:lnTo>
                  <a:pt x="0" y="57670"/>
                </a:lnTo>
                <a:lnTo>
                  <a:pt x="0" y="51382"/>
                </a:lnTo>
                <a:lnTo>
                  <a:pt x="14696" y="51382"/>
                </a:lnTo>
                <a:lnTo>
                  <a:pt x="14696" y="7032"/>
                </a:lnTo>
                <a:lnTo>
                  <a:pt x="1674" y="16333"/>
                </a:lnTo>
                <a:lnTo>
                  <a:pt x="1674" y="9376"/>
                </a:lnTo>
                <a:lnTo>
                  <a:pt x="15292" y="0"/>
                </a:lnTo>
                <a:lnTo>
                  <a:pt x="22100" y="0"/>
                </a:lnTo>
                <a:lnTo>
                  <a:pt x="22100" y="51382"/>
                </a:lnTo>
                <a:lnTo>
                  <a:pt x="36128" y="51382"/>
                </a:lnTo>
                <a:lnTo>
                  <a:pt x="36128" y="576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3246164" y="3600077"/>
            <a:ext cx="38735" cy="59055"/>
          </a:xfrm>
          <a:custGeom>
            <a:avLst/>
            <a:gdLst/>
            <a:ahLst/>
            <a:cxnLst/>
            <a:rect l="l" t="t" r="r" b="b"/>
            <a:pathLst>
              <a:path w="38735" h="59054">
                <a:moveTo>
                  <a:pt x="38174" y="58526"/>
                </a:moveTo>
                <a:lnTo>
                  <a:pt x="0" y="58526"/>
                </a:lnTo>
                <a:lnTo>
                  <a:pt x="0" y="53317"/>
                </a:lnTo>
                <a:lnTo>
                  <a:pt x="23328" y="28165"/>
                </a:lnTo>
                <a:lnTo>
                  <a:pt x="26640" y="24519"/>
                </a:lnTo>
                <a:lnTo>
                  <a:pt x="28388" y="21766"/>
                </a:lnTo>
                <a:lnTo>
                  <a:pt x="29319" y="19347"/>
                </a:lnTo>
                <a:lnTo>
                  <a:pt x="29728" y="16036"/>
                </a:lnTo>
                <a:lnTo>
                  <a:pt x="29542" y="13729"/>
                </a:lnTo>
                <a:lnTo>
                  <a:pt x="19198" y="6027"/>
                </a:lnTo>
                <a:lnTo>
                  <a:pt x="16631" y="6250"/>
                </a:lnTo>
                <a:lnTo>
                  <a:pt x="7850" y="15775"/>
                </a:lnTo>
                <a:lnTo>
                  <a:pt x="334" y="15106"/>
                </a:lnTo>
                <a:lnTo>
                  <a:pt x="18343" y="0"/>
                </a:lnTo>
                <a:lnTo>
                  <a:pt x="22472" y="148"/>
                </a:lnTo>
                <a:lnTo>
                  <a:pt x="37244" y="14287"/>
                </a:lnTo>
                <a:lnTo>
                  <a:pt x="37244" y="16929"/>
                </a:lnTo>
                <a:lnTo>
                  <a:pt x="14361" y="43941"/>
                </a:lnTo>
                <a:lnTo>
                  <a:pt x="10827" y="47773"/>
                </a:lnTo>
                <a:lnTo>
                  <a:pt x="9264" y="49969"/>
                </a:lnTo>
                <a:lnTo>
                  <a:pt x="8111" y="52238"/>
                </a:lnTo>
                <a:lnTo>
                  <a:pt x="38174" y="52238"/>
                </a:lnTo>
                <a:lnTo>
                  <a:pt x="38174" y="5852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3640112" y="3600114"/>
            <a:ext cx="40005" cy="59690"/>
          </a:xfrm>
          <a:custGeom>
            <a:avLst/>
            <a:gdLst/>
            <a:ahLst/>
            <a:cxnLst/>
            <a:rect l="l" t="t" r="r" b="b"/>
            <a:pathLst>
              <a:path w="40004" h="59689">
                <a:moveTo>
                  <a:pt x="20166" y="59308"/>
                </a:moveTo>
                <a:lnTo>
                  <a:pt x="0" y="43643"/>
                </a:lnTo>
                <a:lnTo>
                  <a:pt x="7590" y="42974"/>
                </a:lnTo>
                <a:lnTo>
                  <a:pt x="8780" y="47141"/>
                </a:lnTo>
                <a:lnTo>
                  <a:pt x="10083" y="49224"/>
                </a:lnTo>
                <a:lnTo>
                  <a:pt x="20166" y="53206"/>
                </a:lnTo>
                <a:lnTo>
                  <a:pt x="22287" y="53094"/>
                </a:lnTo>
                <a:lnTo>
                  <a:pt x="32035" y="41076"/>
                </a:lnTo>
                <a:lnTo>
                  <a:pt x="31849" y="39960"/>
                </a:lnTo>
                <a:lnTo>
                  <a:pt x="18863" y="32332"/>
                </a:lnTo>
                <a:lnTo>
                  <a:pt x="13803" y="32332"/>
                </a:lnTo>
                <a:lnTo>
                  <a:pt x="13803" y="25933"/>
                </a:lnTo>
                <a:lnTo>
                  <a:pt x="30546" y="16594"/>
                </a:lnTo>
                <a:lnTo>
                  <a:pt x="30546" y="15106"/>
                </a:lnTo>
                <a:lnTo>
                  <a:pt x="19756" y="5990"/>
                </a:lnTo>
                <a:lnTo>
                  <a:pt x="17003" y="6213"/>
                </a:lnTo>
                <a:lnTo>
                  <a:pt x="8371" y="15552"/>
                </a:lnTo>
                <a:lnTo>
                  <a:pt x="967" y="14957"/>
                </a:lnTo>
                <a:lnTo>
                  <a:pt x="21728" y="0"/>
                </a:lnTo>
                <a:lnTo>
                  <a:pt x="25933" y="558"/>
                </a:lnTo>
                <a:lnTo>
                  <a:pt x="38137" y="14585"/>
                </a:lnTo>
                <a:lnTo>
                  <a:pt x="38025" y="17189"/>
                </a:lnTo>
                <a:lnTo>
                  <a:pt x="26044" y="28872"/>
                </a:lnTo>
                <a:lnTo>
                  <a:pt x="26044" y="29058"/>
                </a:lnTo>
                <a:lnTo>
                  <a:pt x="39737" y="42044"/>
                </a:lnTo>
                <a:lnTo>
                  <a:pt x="39737" y="42564"/>
                </a:lnTo>
                <a:lnTo>
                  <a:pt x="22882" y="59196"/>
                </a:lnTo>
                <a:lnTo>
                  <a:pt x="20166" y="5930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494" y="1920515"/>
            <a:ext cx="236041" cy="340593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06091" y="3553940"/>
            <a:ext cx="336314" cy="221232"/>
          </a:xfrm>
          <a:prstGeom prst="rect">
            <a:avLst/>
          </a:prstGeom>
        </p:spPr>
      </p:pic>
      <p:grpSp>
        <p:nvGrpSpPr>
          <p:cNvPr id="54" name="object 54" descr=""/>
          <p:cNvGrpSpPr/>
          <p:nvPr/>
        </p:nvGrpSpPr>
        <p:grpSpPr>
          <a:xfrm>
            <a:off x="960425" y="466687"/>
            <a:ext cx="936625" cy="92710"/>
            <a:chOff x="960425" y="466687"/>
            <a:chExt cx="936625" cy="92710"/>
          </a:xfrm>
        </p:grpSpPr>
        <p:pic>
          <p:nvPicPr>
            <p:cNvPr id="55" name="object 5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425" y="466687"/>
              <a:ext cx="916781" cy="92347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885689" y="466687"/>
              <a:ext cx="11430" cy="91440"/>
            </a:xfrm>
            <a:custGeom>
              <a:avLst/>
              <a:gdLst/>
              <a:ahLst/>
              <a:cxnLst/>
              <a:rect l="l" t="t" r="r" b="b"/>
              <a:pathLst>
                <a:path w="11430" h="91440">
                  <a:moveTo>
                    <a:pt x="11050" y="91120"/>
                  </a:moveTo>
                  <a:lnTo>
                    <a:pt x="0" y="91120"/>
                  </a:lnTo>
                  <a:lnTo>
                    <a:pt x="0" y="0"/>
                  </a:lnTo>
                  <a:lnTo>
                    <a:pt x="11050" y="0"/>
                  </a:lnTo>
                  <a:lnTo>
                    <a:pt x="11050" y="911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7" name="object 5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50392" y="466687"/>
            <a:ext cx="229641" cy="92347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644524" y="4478326"/>
            <a:ext cx="1671320" cy="946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pnorm(q</a:t>
            </a:r>
            <a:endParaRPr sz="1500">
              <a:latin typeface="Lucida Console"/>
              <a:cs typeface="Lucida Console"/>
            </a:endParaRPr>
          </a:p>
          <a:p>
            <a:pPr marL="629285" marR="622935">
              <a:lnSpc>
                <a:spcPct val="100000"/>
              </a:lnSpc>
            </a:pP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mean 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endParaRPr sz="1500">
              <a:latin typeface="Lucida Console"/>
              <a:cs typeface="Lucida Console"/>
            </a:endParaRPr>
          </a:p>
          <a:p>
            <a:pPr marL="629285">
              <a:lnSpc>
                <a:spcPct val="100000"/>
              </a:lnSpc>
            </a:pPr>
            <a:r>
              <a:rPr dirty="0" sz="1500" spc="-90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2393312" y="4478326"/>
            <a:ext cx="746125" cy="946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-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35">
                <a:solidFill>
                  <a:srgbClr val="008080"/>
                </a:solidFill>
                <a:latin typeface="Courier New"/>
                <a:cs typeface="Courier New"/>
              </a:rPr>
              <a:t>TRUE</a:t>
            </a:r>
            <a:r>
              <a:rPr dirty="0" sz="1500" spc="-3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58800" y="5635818"/>
            <a:ext cx="136271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0.1586553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4552949" y="4429124"/>
            <a:ext cx="3524250" cy="857250"/>
          </a:xfrm>
          <a:custGeom>
            <a:avLst/>
            <a:gdLst/>
            <a:ahLst/>
            <a:cxnLst/>
            <a:rect l="l" t="t" r="r" b="b"/>
            <a:pathLst>
              <a:path w="3524250" h="857250">
                <a:moveTo>
                  <a:pt x="3524249" y="857249"/>
                </a:moveTo>
                <a:lnTo>
                  <a:pt x="0" y="857249"/>
                </a:lnTo>
                <a:lnTo>
                  <a:pt x="0" y="0"/>
                </a:lnTo>
                <a:lnTo>
                  <a:pt x="3524249" y="0"/>
                </a:lnTo>
                <a:lnTo>
                  <a:pt x="3524249" y="8572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 descr=""/>
          <p:cNvGrpSpPr/>
          <p:nvPr/>
        </p:nvGrpSpPr>
        <p:grpSpPr>
          <a:xfrm>
            <a:off x="4648944" y="630972"/>
            <a:ext cx="3333750" cy="3144520"/>
            <a:chOff x="4648944" y="630972"/>
            <a:chExt cx="3333750" cy="3144520"/>
          </a:xfrm>
        </p:grpSpPr>
        <p:sp>
          <p:nvSpPr>
            <p:cNvPr id="63" name="object 63" descr=""/>
            <p:cNvSpPr/>
            <p:nvPr/>
          </p:nvSpPr>
          <p:spPr>
            <a:xfrm>
              <a:off x="4936182" y="308044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936182" y="2398699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936182" y="1716918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936182" y="1035173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07440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46939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86434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25930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65425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04920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44419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7839149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936182" y="342133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936182" y="2739553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936182" y="2057809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936182" y="1376064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936182" y="694320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27190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66685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06180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45679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851749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24670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64165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074406" y="1850826"/>
              <a:ext cx="987425" cy="1570990"/>
            </a:xfrm>
            <a:custGeom>
              <a:avLst/>
              <a:gdLst/>
              <a:ahLst/>
              <a:cxnLst/>
              <a:rect l="l" t="t" r="r" b="b"/>
              <a:pathLst>
                <a:path w="987425" h="1570989">
                  <a:moveTo>
                    <a:pt x="987400" y="1570508"/>
                  </a:moveTo>
                  <a:lnTo>
                    <a:pt x="0" y="1570508"/>
                  </a:lnTo>
                  <a:lnTo>
                    <a:pt x="0" y="1537878"/>
                  </a:lnTo>
                  <a:lnTo>
                    <a:pt x="29616" y="1533376"/>
                  </a:lnTo>
                  <a:lnTo>
                    <a:pt x="59270" y="1528204"/>
                  </a:lnTo>
                  <a:lnTo>
                    <a:pt x="108644" y="1517935"/>
                  </a:lnTo>
                  <a:lnTo>
                    <a:pt x="148121" y="1507963"/>
                  </a:lnTo>
                  <a:lnTo>
                    <a:pt x="187635" y="1496057"/>
                  </a:lnTo>
                  <a:lnTo>
                    <a:pt x="227111" y="1481955"/>
                  </a:lnTo>
                  <a:lnTo>
                    <a:pt x="266625" y="1465249"/>
                  </a:lnTo>
                  <a:lnTo>
                    <a:pt x="315999" y="1439912"/>
                  </a:lnTo>
                  <a:lnTo>
                    <a:pt x="355475" y="1415541"/>
                  </a:lnTo>
                  <a:lnTo>
                    <a:pt x="394989" y="1386854"/>
                  </a:lnTo>
                  <a:lnTo>
                    <a:pt x="424606" y="1362074"/>
                  </a:lnTo>
                  <a:lnTo>
                    <a:pt x="454223" y="1334206"/>
                  </a:lnTo>
                  <a:lnTo>
                    <a:pt x="483840" y="1302952"/>
                  </a:lnTo>
                  <a:lnTo>
                    <a:pt x="513456" y="1267941"/>
                  </a:lnTo>
                  <a:lnTo>
                    <a:pt x="543073" y="1228836"/>
                  </a:lnTo>
                  <a:lnTo>
                    <a:pt x="572690" y="1185304"/>
                  </a:lnTo>
                  <a:lnTo>
                    <a:pt x="602344" y="1136972"/>
                  </a:lnTo>
                  <a:lnTo>
                    <a:pt x="622064" y="1101960"/>
                  </a:lnTo>
                  <a:lnTo>
                    <a:pt x="641821" y="1064567"/>
                  </a:lnTo>
                  <a:lnTo>
                    <a:pt x="661578" y="1024718"/>
                  </a:lnTo>
                  <a:lnTo>
                    <a:pt x="681335" y="982339"/>
                  </a:lnTo>
                  <a:lnTo>
                    <a:pt x="701054" y="937356"/>
                  </a:lnTo>
                  <a:lnTo>
                    <a:pt x="720811" y="889731"/>
                  </a:lnTo>
                  <a:lnTo>
                    <a:pt x="740568" y="839390"/>
                  </a:lnTo>
                  <a:lnTo>
                    <a:pt x="760325" y="786333"/>
                  </a:lnTo>
                  <a:lnTo>
                    <a:pt x="789942" y="701650"/>
                  </a:lnTo>
                  <a:lnTo>
                    <a:pt x="809699" y="641784"/>
                  </a:lnTo>
                  <a:lnTo>
                    <a:pt x="829419" y="579276"/>
                  </a:lnTo>
                  <a:lnTo>
                    <a:pt x="859035" y="480677"/>
                  </a:lnTo>
                  <a:lnTo>
                    <a:pt x="888689" y="376758"/>
                  </a:lnTo>
                  <a:lnTo>
                    <a:pt x="908409" y="304725"/>
                  </a:lnTo>
                  <a:lnTo>
                    <a:pt x="928166" y="230757"/>
                  </a:lnTo>
                  <a:lnTo>
                    <a:pt x="947923" y="155116"/>
                  </a:lnTo>
                  <a:lnTo>
                    <a:pt x="977540" y="39141"/>
                  </a:lnTo>
                  <a:lnTo>
                    <a:pt x="987400" y="0"/>
                  </a:lnTo>
                  <a:lnTo>
                    <a:pt x="987400" y="1570508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061806" y="768697"/>
              <a:ext cx="1777364" cy="2653030"/>
            </a:xfrm>
            <a:custGeom>
              <a:avLst/>
              <a:gdLst/>
              <a:ahLst/>
              <a:cxnLst/>
              <a:rect l="l" t="t" r="r" b="b"/>
              <a:pathLst>
                <a:path w="1777365" h="2653029">
                  <a:moveTo>
                    <a:pt x="1777342" y="2652637"/>
                  </a:moveTo>
                  <a:lnTo>
                    <a:pt x="0" y="2652637"/>
                  </a:lnTo>
                  <a:lnTo>
                    <a:pt x="0" y="1082129"/>
                  </a:lnTo>
                  <a:lnTo>
                    <a:pt x="71102" y="797979"/>
                  </a:lnTo>
                  <a:lnTo>
                    <a:pt x="88887" y="727881"/>
                  </a:lnTo>
                  <a:lnTo>
                    <a:pt x="106672" y="658824"/>
                  </a:lnTo>
                  <a:lnTo>
                    <a:pt x="124420" y="591182"/>
                  </a:lnTo>
                  <a:lnTo>
                    <a:pt x="142205" y="525400"/>
                  </a:lnTo>
                  <a:lnTo>
                    <a:pt x="159990" y="461850"/>
                  </a:lnTo>
                  <a:lnTo>
                    <a:pt x="177737" y="400905"/>
                  </a:lnTo>
                  <a:lnTo>
                    <a:pt x="195522" y="342974"/>
                  </a:lnTo>
                  <a:lnTo>
                    <a:pt x="213307" y="288428"/>
                  </a:lnTo>
                  <a:lnTo>
                    <a:pt x="231055" y="237678"/>
                  </a:lnTo>
                  <a:lnTo>
                    <a:pt x="248840" y="191020"/>
                  </a:lnTo>
                  <a:lnTo>
                    <a:pt x="266625" y="148828"/>
                  </a:lnTo>
                  <a:lnTo>
                    <a:pt x="284373" y="111397"/>
                  </a:lnTo>
                  <a:lnTo>
                    <a:pt x="319943" y="51903"/>
                  </a:lnTo>
                  <a:lnTo>
                    <a:pt x="355475" y="14399"/>
                  </a:lnTo>
                  <a:lnTo>
                    <a:pt x="391008" y="0"/>
                  </a:lnTo>
                  <a:lnTo>
                    <a:pt x="408793" y="1637"/>
                  </a:lnTo>
                  <a:lnTo>
                    <a:pt x="444363" y="22547"/>
                  </a:lnTo>
                  <a:lnTo>
                    <a:pt x="479896" y="66302"/>
                  </a:lnTo>
                  <a:lnTo>
                    <a:pt x="515428" y="131564"/>
                  </a:lnTo>
                  <a:lnTo>
                    <a:pt x="533213" y="171673"/>
                  </a:lnTo>
                  <a:lnTo>
                    <a:pt x="550998" y="216396"/>
                  </a:lnTo>
                  <a:lnTo>
                    <a:pt x="568746" y="265397"/>
                  </a:lnTo>
                  <a:lnTo>
                    <a:pt x="586531" y="318306"/>
                  </a:lnTo>
                  <a:lnTo>
                    <a:pt x="604316" y="374749"/>
                  </a:lnTo>
                  <a:lnTo>
                    <a:pt x="622064" y="434429"/>
                  </a:lnTo>
                  <a:lnTo>
                    <a:pt x="639849" y="496862"/>
                  </a:lnTo>
                  <a:lnTo>
                    <a:pt x="657634" y="561714"/>
                  </a:lnTo>
                  <a:lnTo>
                    <a:pt x="675382" y="628575"/>
                  </a:lnTo>
                  <a:lnTo>
                    <a:pt x="693166" y="697036"/>
                  </a:lnTo>
                  <a:lnTo>
                    <a:pt x="710951" y="766725"/>
                  </a:lnTo>
                  <a:lnTo>
                    <a:pt x="799802" y="1121271"/>
                  </a:lnTo>
                  <a:lnTo>
                    <a:pt x="817587" y="1191183"/>
                  </a:lnTo>
                  <a:lnTo>
                    <a:pt x="835372" y="1260127"/>
                  </a:lnTo>
                  <a:lnTo>
                    <a:pt x="853119" y="1327844"/>
                  </a:lnTo>
                  <a:lnTo>
                    <a:pt x="870904" y="1394147"/>
                  </a:lnTo>
                  <a:lnTo>
                    <a:pt x="888689" y="1458887"/>
                  </a:lnTo>
                  <a:lnTo>
                    <a:pt x="906437" y="1521879"/>
                  </a:lnTo>
                  <a:lnTo>
                    <a:pt x="924222" y="1582973"/>
                  </a:lnTo>
                  <a:lnTo>
                    <a:pt x="942007" y="1642132"/>
                  </a:lnTo>
                  <a:lnTo>
                    <a:pt x="959755" y="1699207"/>
                  </a:lnTo>
                  <a:lnTo>
                    <a:pt x="977540" y="1754162"/>
                  </a:lnTo>
                  <a:lnTo>
                    <a:pt x="995325" y="1806959"/>
                  </a:lnTo>
                  <a:lnTo>
                    <a:pt x="1013072" y="1857523"/>
                  </a:lnTo>
                  <a:lnTo>
                    <a:pt x="1030857" y="1905892"/>
                  </a:lnTo>
                  <a:lnTo>
                    <a:pt x="1048642" y="1952066"/>
                  </a:lnTo>
                  <a:lnTo>
                    <a:pt x="1066427" y="1996008"/>
                  </a:lnTo>
                  <a:lnTo>
                    <a:pt x="1084175" y="2037791"/>
                  </a:lnTo>
                  <a:lnTo>
                    <a:pt x="1101960" y="2077454"/>
                  </a:lnTo>
                  <a:lnTo>
                    <a:pt x="1119745" y="2114996"/>
                  </a:lnTo>
                  <a:lnTo>
                    <a:pt x="1137493" y="2150529"/>
                  </a:lnTo>
                  <a:lnTo>
                    <a:pt x="1173063" y="2215715"/>
                  </a:lnTo>
                  <a:lnTo>
                    <a:pt x="1208595" y="2273498"/>
                  </a:lnTo>
                  <a:lnTo>
                    <a:pt x="1244128" y="2324471"/>
                  </a:lnTo>
                  <a:lnTo>
                    <a:pt x="1279698" y="2369231"/>
                  </a:lnTo>
                  <a:lnTo>
                    <a:pt x="1315231" y="2408373"/>
                  </a:lnTo>
                  <a:lnTo>
                    <a:pt x="1350763" y="2442455"/>
                  </a:lnTo>
                  <a:lnTo>
                    <a:pt x="1386333" y="2472035"/>
                  </a:lnTo>
                  <a:lnTo>
                    <a:pt x="1421866" y="2497670"/>
                  </a:lnTo>
                  <a:lnTo>
                    <a:pt x="1457436" y="2519808"/>
                  </a:lnTo>
                  <a:lnTo>
                    <a:pt x="1492969" y="2538858"/>
                  </a:lnTo>
                  <a:lnTo>
                    <a:pt x="1528501" y="2555229"/>
                  </a:lnTo>
                  <a:lnTo>
                    <a:pt x="1564071" y="2569294"/>
                  </a:lnTo>
                  <a:lnTo>
                    <a:pt x="1617389" y="2586744"/>
                  </a:lnTo>
                  <a:lnTo>
                    <a:pt x="1670707" y="2600510"/>
                  </a:lnTo>
                  <a:lnTo>
                    <a:pt x="1724024" y="2611412"/>
                  </a:lnTo>
                  <a:lnTo>
                    <a:pt x="1777342" y="2620007"/>
                  </a:lnTo>
                  <a:lnTo>
                    <a:pt x="1777342" y="265263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936182" y="636054"/>
              <a:ext cx="3041650" cy="2918460"/>
            </a:xfrm>
            <a:custGeom>
              <a:avLst/>
              <a:gdLst/>
              <a:ahLst/>
              <a:cxnLst/>
              <a:rect l="l" t="t" r="r" b="b"/>
              <a:pathLst>
                <a:path w="3041650" h="2918460">
                  <a:moveTo>
                    <a:pt x="0" y="2917886"/>
                  </a:moveTo>
                  <a:lnTo>
                    <a:pt x="3041190" y="2917886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29178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76411" y="3391755"/>
              <a:ext cx="108964" cy="58973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4776406" y="2710090"/>
              <a:ext cx="109220" cy="59055"/>
            </a:xfrm>
            <a:custGeom>
              <a:avLst/>
              <a:gdLst/>
              <a:ahLst/>
              <a:cxnLst/>
              <a:rect l="l" t="t" r="r" b="b"/>
              <a:pathLst>
                <a:path w="109220" h="59055">
                  <a:moveTo>
                    <a:pt x="39141" y="37731"/>
                  </a:moveTo>
                  <a:lnTo>
                    <a:pt x="35687" y="8813"/>
                  </a:lnTo>
                  <a:lnTo>
                    <a:pt x="34823" y="7366"/>
                  </a:lnTo>
                  <a:lnTo>
                    <a:pt x="34264" y="6515"/>
                  </a:lnTo>
                  <a:lnTo>
                    <a:pt x="33743" y="5803"/>
                  </a:lnTo>
                  <a:lnTo>
                    <a:pt x="32702" y="4648"/>
                  </a:lnTo>
                  <a:lnTo>
                    <a:pt x="32118" y="4051"/>
                  </a:lnTo>
                  <a:lnTo>
                    <a:pt x="31737" y="3746"/>
                  </a:lnTo>
                  <a:lnTo>
                    <a:pt x="31737" y="20980"/>
                  </a:lnTo>
                  <a:lnTo>
                    <a:pt x="31699" y="37731"/>
                  </a:lnTo>
                  <a:lnTo>
                    <a:pt x="22326" y="52832"/>
                  </a:lnTo>
                  <a:lnTo>
                    <a:pt x="16751" y="52832"/>
                  </a:lnTo>
                  <a:lnTo>
                    <a:pt x="7518" y="38735"/>
                  </a:lnTo>
                  <a:lnTo>
                    <a:pt x="7518" y="19939"/>
                  </a:lnTo>
                  <a:lnTo>
                    <a:pt x="7823" y="18046"/>
                  </a:lnTo>
                  <a:lnTo>
                    <a:pt x="8382" y="15481"/>
                  </a:lnTo>
                  <a:lnTo>
                    <a:pt x="8496" y="15074"/>
                  </a:lnTo>
                  <a:lnTo>
                    <a:pt x="8623" y="14655"/>
                  </a:lnTo>
                  <a:lnTo>
                    <a:pt x="8839" y="13919"/>
                  </a:lnTo>
                  <a:lnTo>
                    <a:pt x="15735" y="6324"/>
                  </a:lnTo>
                  <a:lnTo>
                    <a:pt x="15608" y="6324"/>
                  </a:lnTo>
                  <a:lnTo>
                    <a:pt x="18034" y="5803"/>
                  </a:lnTo>
                  <a:lnTo>
                    <a:pt x="21297" y="5803"/>
                  </a:lnTo>
                  <a:lnTo>
                    <a:pt x="23723" y="6324"/>
                  </a:lnTo>
                  <a:lnTo>
                    <a:pt x="23482" y="6324"/>
                  </a:lnTo>
                  <a:lnTo>
                    <a:pt x="24041" y="6515"/>
                  </a:lnTo>
                  <a:lnTo>
                    <a:pt x="25412" y="7150"/>
                  </a:lnTo>
                  <a:lnTo>
                    <a:pt x="25793" y="7366"/>
                  </a:lnTo>
                  <a:lnTo>
                    <a:pt x="26301" y="7708"/>
                  </a:lnTo>
                  <a:lnTo>
                    <a:pt x="26720" y="8077"/>
                  </a:lnTo>
                  <a:lnTo>
                    <a:pt x="27127" y="8407"/>
                  </a:lnTo>
                  <a:lnTo>
                    <a:pt x="27495" y="8813"/>
                  </a:lnTo>
                  <a:lnTo>
                    <a:pt x="28244" y="9715"/>
                  </a:lnTo>
                  <a:lnTo>
                    <a:pt x="28359" y="9893"/>
                  </a:lnTo>
                  <a:lnTo>
                    <a:pt x="28917" y="10756"/>
                  </a:lnTo>
                  <a:lnTo>
                    <a:pt x="30734" y="15481"/>
                  </a:lnTo>
                  <a:lnTo>
                    <a:pt x="30937" y="16217"/>
                  </a:lnTo>
                  <a:lnTo>
                    <a:pt x="31191" y="17449"/>
                  </a:lnTo>
                  <a:lnTo>
                    <a:pt x="31292" y="18046"/>
                  </a:lnTo>
                  <a:lnTo>
                    <a:pt x="31483" y="18973"/>
                  </a:lnTo>
                  <a:lnTo>
                    <a:pt x="31584" y="19939"/>
                  </a:lnTo>
                  <a:lnTo>
                    <a:pt x="31737" y="20980"/>
                  </a:lnTo>
                  <a:lnTo>
                    <a:pt x="31737" y="3746"/>
                  </a:lnTo>
                  <a:lnTo>
                    <a:pt x="22961" y="0"/>
                  </a:lnTo>
                  <a:lnTo>
                    <a:pt x="16370" y="0"/>
                  </a:lnTo>
                  <a:lnTo>
                    <a:pt x="304" y="18757"/>
                  </a:lnTo>
                  <a:lnTo>
                    <a:pt x="266" y="18973"/>
                  </a:lnTo>
                  <a:lnTo>
                    <a:pt x="0" y="20980"/>
                  </a:lnTo>
                  <a:lnTo>
                    <a:pt x="12" y="37731"/>
                  </a:lnTo>
                  <a:lnTo>
                    <a:pt x="279" y="39700"/>
                  </a:lnTo>
                  <a:lnTo>
                    <a:pt x="16192" y="58902"/>
                  </a:lnTo>
                  <a:lnTo>
                    <a:pt x="22733" y="58902"/>
                  </a:lnTo>
                  <a:lnTo>
                    <a:pt x="33553" y="52832"/>
                  </a:lnTo>
                  <a:lnTo>
                    <a:pt x="34264" y="51904"/>
                  </a:lnTo>
                  <a:lnTo>
                    <a:pt x="38862" y="39700"/>
                  </a:lnTo>
                  <a:lnTo>
                    <a:pt x="39141" y="37731"/>
                  </a:lnTo>
                  <a:close/>
                </a:path>
                <a:path w="109220" h="59055">
                  <a:moveTo>
                    <a:pt x="58534" y="49339"/>
                  </a:moveTo>
                  <a:lnTo>
                    <a:pt x="50533" y="49339"/>
                  </a:lnTo>
                  <a:lnTo>
                    <a:pt x="50533" y="58305"/>
                  </a:lnTo>
                  <a:lnTo>
                    <a:pt x="58534" y="58305"/>
                  </a:lnTo>
                  <a:lnTo>
                    <a:pt x="58534" y="49339"/>
                  </a:lnTo>
                  <a:close/>
                </a:path>
                <a:path w="109220" h="59055">
                  <a:moveTo>
                    <a:pt x="108724" y="52057"/>
                  </a:moveTo>
                  <a:lnTo>
                    <a:pt x="94653" y="52057"/>
                  </a:lnTo>
                  <a:lnTo>
                    <a:pt x="94653" y="635"/>
                  </a:lnTo>
                  <a:lnTo>
                    <a:pt x="87884" y="635"/>
                  </a:lnTo>
                  <a:lnTo>
                    <a:pt x="74231" y="10007"/>
                  </a:lnTo>
                  <a:lnTo>
                    <a:pt x="74231" y="16967"/>
                  </a:lnTo>
                  <a:lnTo>
                    <a:pt x="87249" y="7708"/>
                  </a:lnTo>
                  <a:lnTo>
                    <a:pt x="87249" y="52057"/>
                  </a:lnTo>
                  <a:lnTo>
                    <a:pt x="72555" y="52057"/>
                  </a:lnTo>
                  <a:lnTo>
                    <a:pt x="72555" y="58305"/>
                  </a:lnTo>
                  <a:lnTo>
                    <a:pt x="108724" y="58305"/>
                  </a:lnTo>
                  <a:lnTo>
                    <a:pt x="108724" y="5205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6411" y="1346410"/>
              <a:ext cx="109132" cy="59307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4776406" y="664743"/>
              <a:ext cx="110489" cy="59055"/>
            </a:xfrm>
            <a:custGeom>
              <a:avLst/>
              <a:gdLst/>
              <a:ahLst/>
              <a:cxnLst/>
              <a:rect l="l" t="t" r="r" b="b"/>
              <a:pathLst>
                <a:path w="110489" h="59054">
                  <a:moveTo>
                    <a:pt x="39141" y="37807"/>
                  </a:moveTo>
                  <a:lnTo>
                    <a:pt x="31737" y="3848"/>
                  </a:lnTo>
                  <a:lnTo>
                    <a:pt x="31737" y="21069"/>
                  </a:lnTo>
                  <a:lnTo>
                    <a:pt x="31699" y="37807"/>
                  </a:lnTo>
                  <a:lnTo>
                    <a:pt x="31407" y="39776"/>
                  </a:lnTo>
                  <a:lnTo>
                    <a:pt x="30657" y="43281"/>
                  </a:lnTo>
                  <a:lnTo>
                    <a:pt x="30568" y="43535"/>
                  </a:lnTo>
                  <a:lnTo>
                    <a:pt x="30403" y="44056"/>
                  </a:lnTo>
                  <a:lnTo>
                    <a:pt x="22326" y="52908"/>
                  </a:lnTo>
                  <a:lnTo>
                    <a:pt x="22644" y="52908"/>
                  </a:lnTo>
                  <a:lnTo>
                    <a:pt x="20688" y="53174"/>
                  </a:lnTo>
                  <a:lnTo>
                    <a:pt x="18376" y="53174"/>
                  </a:lnTo>
                  <a:lnTo>
                    <a:pt x="16433" y="52908"/>
                  </a:lnTo>
                  <a:lnTo>
                    <a:pt x="16751" y="52908"/>
                  </a:lnTo>
                  <a:lnTo>
                    <a:pt x="15709" y="52616"/>
                  </a:lnTo>
                  <a:lnTo>
                    <a:pt x="7518" y="38811"/>
                  </a:lnTo>
                  <a:lnTo>
                    <a:pt x="7518" y="20053"/>
                  </a:lnTo>
                  <a:lnTo>
                    <a:pt x="7823" y="18122"/>
                  </a:lnTo>
                  <a:lnTo>
                    <a:pt x="8382" y="15557"/>
                  </a:lnTo>
                  <a:lnTo>
                    <a:pt x="8509" y="15151"/>
                  </a:lnTo>
                  <a:lnTo>
                    <a:pt x="8610" y="14770"/>
                  </a:lnTo>
                  <a:lnTo>
                    <a:pt x="15735" y="6400"/>
                  </a:lnTo>
                  <a:lnTo>
                    <a:pt x="15519" y="6400"/>
                  </a:lnTo>
                  <a:lnTo>
                    <a:pt x="17335" y="6032"/>
                  </a:lnTo>
                  <a:lnTo>
                    <a:pt x="18529" y="5880"/>
                  </a:lnTo>
                  <a:lnTo>
                    <a:pt x="20878" y="5880"/>
                  </a:lnTo>
                  <a:lnTo>
                    <a:pt x="21996" y="6032"/>
                  </a:lnTo>
                  <a:lnTo>
                    <a:pt x="23723" y="6400"/>
                  </a:lnTo>
                  <a:lnTo>
                    <a:pt x="23482" y="6400"/>
                  </a:lnTo>
                  <a:lnTo>
                    <a:pt x="24041" y="6591"/>
                  </a:lnTo>
                  <a:lnTo>
                    <a:pt x="30632" y="15151"/>
                  </a:lnTo>
                  <a:lnTo>
                    <a:pt x="30734" y="15557"/>
                  </a:lnTo>
                  <a:lnTo>
                    <a:pt x="30937" y="16306"/>
                  </a:lnTo>
                  <a:lnTo>
                    <a:pt x="31191" y="17526"/>
                  </a:lnTo>
                  <a:lnTo>
                    <a:pt x="31292" y="18122"/>
                  </a:lnTo>
                  <a:lnTo>
                    <a:pt x="31483" y="19050"/>
                  </a:lnTo>
                  <a:lnTo>
                    <a:pt x="31584" y="20053"/>
                  </a:lnTo>
                  <a:lnTo>
                    <a:pt x="31737" y="21069"/>
                  </a:lnTo>
                  <a:lnTo>
                    <a:pt x="31737" y="3848"/>
                  </a:lnTo>
                  <a:lnTo>
                    <a:pt x="22174" y="0"/>
                  </a:lnTo>
                  <a:lnTo>
                    <a:pt x="17195" y="0"/>
                  </a:lnTo>
                  <a:lnTo>
                    <a:pt x="304" y="18834"/>
                  </a:lnTo>
                  <a:lnTo>
                    <a:pt x="266" y="19050"/>
                  </a:lnTo>
                  <a:lnTo>
                    <a:pt x="0" y="21069"/>
                  </a:lnTo>
                  <a:lnTo>
                    <a:pt x="0" y="37807"/>
                  </a:lnTo>
                  <a:lnTo>
                    <a:pt x="16192" y="58978"/>
                  </a:lnTo>
                  <a:lnTo>
                    <a:pt x="22733" y="58978"/>
                  </a:lnTo>
                  <a:lnTo>
                    <a:pt x="38862" y="39776"/>
                  </a:lnTo>
                  <a:lnTo>
                    <a:pt x="39141" y="37807"/>
                  </a:lnTo>
                  <a:close/>
                </a:path>
                <a:path w="110489" h="59054">
                  <a:moveTo>
                    <a:pt x="58534" y="49453"/>
                  </a:moveTo>
                  <a:lnTo>
                    <a:pt x="50533" y="49453"/>
                  </a:lnTo>
                  <a:lnTo>
                    <a:pt x="50533" y="58420"/>
                  </a:lnTo>
                  <a:lnTo>
                    <a:pt x="58534" y="58420"/>
                  </a:lnTo>
                  <a:lnTo>
                    <a:pt x="58534" y="49453"/>
                  </a:lnTo>
                  <a:close/>
                </a:path>
                <a:path w="110489" h="59054">
                  <a:moveTo>
                    <a:pt x="110363" y="39522"/>
                  </a:moveTo>
                  <a:lnTo>
                    <a:pt x="102247" y="39522"/>
                  </a:lnTo>
                  <a:lnTo>
                    <a:pt x="102247" y="9042"/>
                  </a:lnTo>
                  <a:lnTo>
                    <a:pt x="102247" y="749"/>
                  </a:lnTo>
                  <a:lnTo>
                    <a:pt x="95288" y="749"/>
                  </a:lnTo>
                  <a:lnTo>
                    <a:pt x="95288" y="9042"/>
                  </a:lnTo>
                  <a:lnTo>
                    <a:pt x="95288" y="39522"/>
                  </a:lnTo>
                  <a:lnTo>
                    <a:pt x="74904" y="39522"/>
                  </a:lnTo>
                  <a:lnTo>
                    <a:pt x="75196" y="39179"/>
                  </a:lnTo>
                  <a:lnTo>
                    <a:pt x="75311" y="39001"/>
                  </a:lnTo>
                  <a:lnTo>
                    <a:pt x="75463" y="38811"/>
                  </a:lnTo>
                  <a:lnTo>
                    <a:pt x="75641" y="38620"/>
                  </a:lnTo>
                  <a:lnTo>
                    <a:pt x="76390" y="37655"/>
                  </a:lnTo>
                  <a:lnTo>
                    <a:pt x="77127" y="36537"/>
                  </a:lnTo>
                  <a:lnTo>
                    <a:pt x="77317" y="36360"/>
                  </a:lnTo>
                  <a:lnTo>
                    <a:pt x="77431" y="36169"/>
                  </a:lnTo>
                  <a:lnTo>
                    <a:pt x="77685" y="35839"/>
                  </a:lnTo>
                  <a:lnTo>
                    <a:pt x="77762" y="35687"/>
                  </a:lnTo>
                  <a:lnTo>
                    <a:pt x="92532" y="13919"/>
                  </a:lnTo>
                  <a:lnTo>
                    <a:pt x="92798" y="13474"/>
                  </a:lnTo>
                  <a:lnTo>
                    <a:pt x="93129" y="12992"/>
                  </a:lnTo>
                  <a:lnTo>
                    <a:pt x="93357" y="12547"/>
                  </a:lnTo>
                  <a:lnTo>
                    <a:pt x="93472" y="12395"/>
                  </a:lnTo>
                  <a:lnTo>
                    <a:pt x="93535" y="12204"/>
                  </a:lnTo>
                  <a:lnTo>
                    <a:pt x="93611" y="12065"/>
                  </a:lnTo>
                  <a:lnTo>
                    <a:pt x="93726" y="11912"/>
                  </a:lnTo>
                  <a:lnTo>
                    <a:pt x="93878" y="11607"/>
                  </a:lnTo>
                  <a:lnTo>
                    <a:pt x="93992" y="11468"/>
                  </a:lnTo>
                  <a:lnTo>
                    <a:pt x="94513" y="10464"/>
                  </a:lnTo>
                  <a:lnTo>
                    <a:pt x="94653" y="10236"/>
                  </a:lnTo>
                  <a:lnTo>
                    <a:pt x="94729" y="10083"/>
                  </a:lnTo>
                  <a:lnTo>
                    <a:pt x="95288" y="9042"/>
                  </a:lnTo>
                  <a:lnTo>
                    <a:pt x="95288" y="749"/>
                  </a:lnTo>
                  <a:lnTo>
                    <a:pt x="94513" y="749"/>
                  </a:lnTo>
                  <a:lnTo>
                    <a:pt x="68160" y="39522"/>
                  </a:lnTo>
                  <a:lnTo>
                    <a:pt x="68097" y="45364"/>
                  </a:lnTo>
                  <a:lnTo>
                    <a:pt x="95288" y="45364"/>
                  </a:lnTo>
                  <a:lnTo>
                    <a:pt x="95288" y="58420"/>
                  </a:lnTo>
                  <a:lnTo>
                    <a:pt x="102247" y="58420"/>
                  </a:lnTo>
                  <a:lnTo>
                    <a:pt x="102247" y="45364"/>
                  </a:lnTo>
                  <a:lnTo>
                    <a:pt x="110363" y="45364"/>
                  </a:lnTo>
                  <a:lnTo>
                    <a:pt x="110363" y="3952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910100" y="694320"/>
              <a:ext cx="2731770" cy="2886075"/>
            </a:xfrm>
            <a:custGeom>
              <a:avLst/>
              <a:gdLst/>
              <a:ahLst/>
              <a:cxnLst/>
              <a:rect l="l" t="t" r="r" b="b"/>
              <a:pathLst>
                <a:path w="2731770" h="2886075">
                  <a:moveTo>
                    <a:pt x="0" y="2727014"/>
                  </a:moveTo>
                  <a:lnTo>
                    <a:pt x="26082" y="2727014"/>
                  </a:lnTo>
                </a:path>
                <a:path w="2731770" h="2886075">
                  <a:moveTo>
                    <a:pt x="0" y="2045233"/>
                  </a:moveTo>
                  <a:lnTo>
                    <a:pt x="26082" y="2045233"/>
                  </a:lnTo>
                </a:path>
                <a:path w="2731770" h="2886075">
                  <a:moveTo>
                    <a:pt x="0" y="1363488"/>
                  </a:moveTo>
                  <a:lnTo>
                    <a:pt x="26082" y="1363488"/>
                  </a:lnTo>
                </a:path>
                <a:path w="2731770" h="2886075">
                  <a:moveTo>
                    <a:pt x="0" y="681744"/>
                  </a:moveTo>
                  <a:lnTo>
                    <a:pt x="26082" y="681744"/>
                  </a:lnTo>
                </a:path>
                <a:path w="2731770" h="2886075">
                  <a:moveTo>
                    <a:pt x="0" y="0"/>
                  </a:moveTo>
                  <a:lnTo>
                    <a:pt x="26082" y="0"/>
                  </a:lnTo>
                </a:path>
                <a:path w="2731770" h="2886075">
                  <a:moveTo>
                    <a:pt x="361801" y="2885739"/>
                  </a:moveTo>
                  <a:lnTo>
                    <a:pt x="361801" y="2859620"/>
                  </a:lnTo>
                </a:path>
                <a:path w="2731770" h="2886075">
                  <a:moveTo>
                    <a:pt x="756753" y="2885739"/>
                  </a:moveTo>
                  <a:lnTo>
                    <a:pt x="756753" y="2859620"/>
                  </a:lnTo>
                </a:path>
                <a:path w="2731770" h="2886075">
                  <a:moveTo>
                    <a:pt x="1151706" y="2885739"/>
                  </a:moveTo>
                  <a:lnTo>
                    <a:pt x="1151706" y="2859620"/>
                  </a:lnTo>
                </a:path>
                <a:path w="2731770" h="2886075">
                  <a:moveTo>
                    <a:pt x="1941648" y="2885739"/>
                  </a:moveTo>
                  <a:lnTo>
                    <a:pt x="1941648" y="2859620"/>
                  </a:lnTo>
                </a:path>
                <a:path w="2731770" h="2886075">
                  <a:moveTo>
                    <a:pt x="2336601" y="2885739"/>
                  </a:moveTo>
                  <a:lnTo>
                    <a:pt x="2336601" y="2859620"/>
                  </a:lnTo>
                </a:path>
                <a:path w="2731770" h="2886075">
                  <a:moveTo>
                    <a:pt x="2731554" y="2885739"/>
                  </a:moveTo>
                  <a:lnTo>
                    <a:pt x="2731554" y="2859620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238369" y="3600081"/>
              <a:ext cx="2423160" cy="59690"/>
            </a:xfrm>
            <a:custGeom>
              <a:avLst/>
              <a:gdLst/>
              <a:ahLst/>
              <a:cxnLst/>
              <a:rect l="l" t="t" r="r" b="b"/>
              <a:pathLst>
                <a:path w="2423159" h="59689">
                  <a:moveTo>
                    <a:pt x="20472" y="32969"/>
                  </a:moveTo>
                  <a:lnTo>
                    <a:pt x="0" y="32969"/>
                  </a:lnTo>
                  <a:lnTo>
                    <a:pt x="0" y="39522"/>
                  </a:lnTo>
                  <a:lnTo>
                    <a:pt x="20472" y="39522"/>
                  </a:lnTo>
                  <a:lnTo>
                    <a:pt x="20472" y="32969"/>
                  </a:lnTo>
                  <a:close/>
                </a:path>
                <a:path w="2423159" h="59689">
                  <a:moveTo>
                    <a:pt x="67119" y="42608"/>
                  </a:moveTo>
                  <a:lnTo>
                    <a:pt x="53428" y="29095"/>
                  </a:lnTo>
                  <a:lnTo>
                    <a:pt x="53428" y="28917"/>
                  </a:lnTo>
                  <a:lnTo>
                    <a:pt x="65481" y="16256"/>
                  </a:lnTo>
                  <a:lnTo>
                    <a:pt x="65455" y="13995"/>
                  </a:lnTo>
                  <a:lnTo>
                    <a:pt x="49072" y="38"/>
                  </a:lnTo>
                  <a:lnTo>
                    <a:pt x="45059" y="76"/>
                  </a:lnTo>
                  <a:lnTo>
                    <a:pt x="28359" y="14998"/>
                  </a:lnTo>
                  <a:lnTo>
                    <a:pt x="35763" y="15595"/>
                  </a:lnTo>
                  <a:lnTo>
                    <a:pt x="35864" y="14693"/>
                  </a:lnTo>
                  <a:lnTo>
                    <a:pt x="36283" y="13030"/>
                  </a:lnTo>
                  <a:lnTo>
                    <a:pt x="47142" y="6032"/>
                  </a:lnTo>
                  <a:lnTo>
                    <a:pt x="49149" y="6146"/>
                  </a:lnTo>
                  <a:lnTo>
                    <a:pt x="57937" y="16040"/>
                  </a:lnTo>
                  <a:lnTo>
                    <a:pt x="57746" y="18275"/>
                  </a:lnTo>
                  <a:lnTo>
                    <a:pt x="41186" y="25971"/>
                  </a:lnTo>
                  <a:lnTo>
                    <a:pt x="41186" y="32372"/>
                  </a:lnTo>
                  <a:lnTo>
                    <a:pt x="46215" y="32372"/>
                  </a:lnTo>
                  <a:lnTo>
                    <a:pt x="50901" y="32893"/>
                  </a:lnTo>
                  <a:lnTo>
                    <a:pt x="59423" y="43383"/>
                  </a:lnTo>
                  <a:lnTo>
                    <a:pt x="58940" y="46253"/>
                  </a:lnTo>
                  <a:lnTo>
                    <a:pt x="47548" y="53251"/>
                  </a:lnTo>
                  <a:lnTo>
                    <a:pt x="45250" y="53136"/>
                  </a:lnTo>
                  <a:lnTo>
                    <a:pt x="34975" y="43014"/>
                  </a:lnTo>
                  <a:lnTo>
                    <a:pt x="27355" y="43688"/>
                  </a:lnTo>
                  <a:lnTo>
                    <a:pt x="45466" y="59270"/>
                  </a:lnTo>
                  <a:lnTo>
                    <a:pt x="50266" y="59232"/>
                  </a:lnTo>
                  <a:lnTo>
                    <a:pt x="66789" y="46367"/>
                  </a:lnTo>
                  <a:lnTo>
                    <a:pt x="67119" y="42608"/>
                  </a:lnTo>
                  <a:close/>
                </a:path>
                <a:path w="2423159" h="59689">
                  <a:moveTo>
                    <a:pt x="415417" y="32969"/>
                  </a:moveTo>
                  <a:lnTo>
                    <a:pt x="394957" y="32969"/>
                  </a:lnTo>
                  <a:lnTo>
                    <a:pt x="394957" y="39522"/>
                  </a:lnTo>
                  <a:lnTo>
                    <a:pt x="415417" y="39522"/>
                  </a:lnTo>
                  <a:lnTo>
                    <a:pt x="415417" y="32969"/>
                  </a:lnTo>
                  <a:close/>
                </a:path>
                <a:path w="2423159" h="59689">
                  <a:moveTo>
                    <a:pt x="461518" y="52235"/>
                  </a:moveTo>
                  <a:lnTo>
                    <a:pt x="431457" y="52235"/>
                  </a:lnTo>
                  <a:lnTo>
                    <a:pt x="431863" y="51308"/>
                  </a:lnTo>
                  <a:lnTo>
                    <a:pt x="433832" y="48221"/>
                  </a:lnTo>
                  <a:lnTo>
                    <a:pt x="438150" y="43535"/>
                  </a:lnTo>
                  <a:lnTo>
                    <a:pt x="443471" y="39001"/>
                  </a:lnTo>
                  <a:lnTo>
                    <a:pt x="454113" y="29540"/>
                  </a:lnTo>
                  <a:lnTo>
                    <a:pt x="460629" y="16370"/>
                  </a:lnTo>
                  <a:lnTo>
                    <a:pt x="460590" y="14287"/>
                  </a:lnTo>
                  <a:lnTo>
                    <a:pt x="441693" y="0"/>
                  </a:lnTo>
                  <a:lnTo>
                    <a:pt x="439191" y="190"/>
                  </a:lnTo>
                  <a:lnTo>
                    <a:pt x="423684" y="15113"/>
                  </a:lnTo>
                  <a:lnTo>
                    <a:pt x="431190" y="15773"/>
                  </a:lnTo>
                  <a:lnTo>
                    <a:pt x="431533" y="13957"/>
                  </a:lnTo>
                  <a:lnTo>
                    <a:pt x="432231" y="11950"/>
                  </a:lnTo>
                  <a:lnTo>
                    <a:pt x="442544" y="6032"/>
                  </a:lnTo>
                  <a:lnTo>
                    <a:pt x="445630" y="6362"/>
                  </a:lnTo>
                  <a:lnTo>
                    <a:pt x="453072" y="15557"/>
                  </a:lnTo>
                  <a:lnTo>
                    <a:pt x="452805" y="18719"/>
                  </a:lnTo>
                  <a:lnTo>
                    <a:pt x="432790" y="40068"/>
                  </a:lnTo>
                  <a:lnTo>
                    <a:pt x="429628" y="43459"/>
                  </a:lnTo>
                  <a:lnTo>
                    <a:pt x="427253" y="46405"/>
                  </a:lnTo>
                  <a:lnTo>
                    <a:pt x="424688" y="50533"/>
                  </a:lnTo>
                  <a:lnTo>
                    <a:pt x="423341" y="53314"/>
                  </a:lnTo>
                  <a:lnTo>
                    <a:pt x="423341" y="58534"/>
                  </a:lnTo>
                  <a:lnTo>
                    <a:pt x="461518" y="58534"/>
                  </a:lnTo>
                  <a:lnTo>
                    <a:pt x="461518" y="52235"/>
                  </a:lnTo>
                  <a:close/>
                </a:path>
                <a:path w="2423159" h="59689">
                  <a:moveTo>
                    <a:pt x="810374" y="32969"/>
                  </a:moveTo>
                  <a:lnTo>
                    <a:pt x="789901" y="32969"/>
                  </a:lnTo>
                  <a:lnTo>
                    <a:pt x="789901" y="39522"/>
                  </a:lnTo>
                  <a:lnTo>
                    <a:pt x="810374" y="39522"/>
                  </a:lnTo>
                  <a:lnTo>
                    <a:pt x="810374" y="32969"/>
                  </a:lnTo>
                  <a:close/>
                </a:path>
                <a:path w="2423159" h="59689">
                  <a:moveTo>
                    <a:pt x="856615" y="52235"/>
                  </a:moveTo>
                  <a:lnTo>
                    <a:pt x="842594" y="52235"/>
                  </a:lnTo>
                  <a:lnTo>
                    <a:pt x="842594" y="863"/>
                  </a:lnTo>
                  <a:lnTo>
                    <a:pt x="835787" y="863"/>
                  </a:lnTo>
                  <a:lnTo>
                    <a:pt x="822159" y="10236"/>
                  </a:lnTo>
                  <a:lnTo>
                    <a:pt x="822159" y="17195"/>
                  </a:lnTo>
                  <a:lnTo>
                    <a:pt x="835190" y="7886"/>
                  </a:lnTo>
                  <a:lnTo>
                    <a:pt x="835190" y="52235"/>
                  </a:lnTo>
                  <a:lnTo>
                    <a:pt x="820496" y="52235"/>
                  </a:lnTo>
                  <a:lnTo>
                    <a:pt x="820496" y="58534"/>
                  </a:lnTo>
                  <a:lnTo>
                    <a:pt x="856615" y="58534"/>
                  </a:lnTo>
                  <a:lnTo>
                    <a:pt x="856615" y="52235"/>
                  </a:lnTo>
                  <a:close/>
                </a:path>
                <a:path w="2423159" h="59689">
                  <a:moveTo>
                    <a:pt x="1632572" y="52235"/>
                  </a:moveTo>
                  <a:lnTo>
                    <a:pt x="1618551" y="52235"/>
                  </a:lnTo>
                  <a:lnTo>
                    <a:pt x="1618551" y="863"/>
                  </a:lnTo>
                  <a:lnTo>
                    <a:pt x="1611731" y="863"/>
                  </a:lnTo>
                  <a:lnTo>
                    <a:pt x="1598117" y="10236"/>
                  </a:lnTo>
                  <a:lnTo>
                    <a:pt x="1598117" y="17195"/>
                  </a:lnTo>
                  <a:lnTo>
                    <a:pt x="1611147" y="7886"/>
                  </a:lnTo>
                  <a:lnTo>
                    <a:pt x="1611147" y="52235"/>
                  </a:lnTo>
                  <a:lnTo>
                    <a:pt x="1596440" y="52235"/>
                  </a:lnTo>
                  <a:lnTo>
                    <a:pt x="1596440" y="58534"/>
                  </a:lnTo>
                  <a:lnTo>
                    <a:pt x="1632572" y="58534"/>
                  </a:lnTo>
                  <a:lnTo>
                    <a:pt x="1632572" y="52235"/>
                  </a:lnTo>
                  <a:close/>
                </a:path>
                <a:path w="2423159" h="59689">
                  <a:moveTo>
                    <a:pt x="2027415" y="52235"/>
                  </a:moveTo>
                  <a:lnTo>
                    <a:pt x="1997354" y="52235"/>
                  </a:lnTo>
                  <a:lnTo>
                    <a:pt x="1998497" y="49974"/>
                  </a:lnTo>
                  <a:lnTo>
                    <a:pt x="2000072" y="47777"/>
                  </a:lnTo>
                  <a:lnTo>
                    <a:pt x="2003602" y="43942"/>
                  </a:lnTo>
                  <a:lnTo>
                    <a:pt x="2013381" y="35648"/>
                  </a:lnTo>
                  <a:lnTo>
                    <a:pt x="2021611" y="27724"/>
                  </a:lnTo>
                  <a:lnTo>
                    <a:pt x="2023948" y="24371"/>
                  </a:lnTo>
                  <a:lnTo>
                    <a:pt x="2025853" y="20243"/>
                  </a:lnTo>
                  <a:lnTo>
                    <a:pt x="2026488" y="16929"/>
                  </a:lnTo>
                  <a:lnTo>
                    <a:pt x="2026488" y="14287"/>
                  </a:lnTo>
                  <a:lnTo>
                    <a:pt x="2007577" y="0"/>
                  </a:lnTo>
                  <a:lnTo>
                    <a:pt x="2005088" y="190"/>
                  </a:lnTo>
                  <a:lnTo>
                    <a:pt x="1989569" y="15113"/>
                  </a:lnTo>
                  <a:lnTo>
                    <a:pt x="1997087" y="15773"/>
                  </a:lnTo>
                  <a:lnTo>
                    <a:pt x="1997532" y="13512"/>
                  </a:lnTo>
                  <a:lnTo>
                    <a:pt x="1998129" y="11950"/>
                  </a:lnTo>
                  <a:lnTo>
                    <a:pt x="2008441" y="6032"/>
                  </a:lnTo>
                  <a:lnTo>
                    <a:pt x="2011527" y="6362"/>
                  </a:lnTo>
                  <a:lnTo>
                    <a:pt x="2018969" y="16040"/>
                  </a:lnTo>
                  <a:lnTo>
                    <a:pt x="2018563" y="19354"/>
                  </a:lnTo>
                  <a:lnTo>
                    <a:pt x="2017623" y="21767"/>
                  </a:lnTo>
                  <a:lnTo>
                    <a:pt x="2015883" y="24523"/>
                  </a:lnTo>
                  <a:lnTo>
                    <a:pt x="2012569" y="28168"/>
                  </a:lnTo>
                  <a:lnTo>
                    <a:pt x="2006536" y="33223"/>
                  </a:lnTo>
                  <a:lnTo>
                    <a:pt x="1998687" y="40068"/>
                  </a:lnTo>
                  <a:lnTo>
                    <a:pt x="1994293" y="44869"/>
                  </a:lnTo>
                  <a:lnTo>
                    <a:pt x="1992591" y="47180"/>
                  </a:lnTo>
                  <a:lnTo>
                    <a:pt x="1990572" y="50533"/>
                  </a:lnTo>
                  <a:lnTo>
                    <a:pt x="1989239" y="53314"/>
                  </a:lnTo>
                  <a:lnTo>
                    <a:pt x="1989239" y="58534"/>
                  </a:lnTo>
                  <a:lnTo>
                    <a:pt x="2027415" y="58534"/>
                  </a:lnTo>
                  <a:lnTo>
                    <a:pt x="2027415" y="52235"/>
                  </a:lnTo>
                  <a:close/>
                </a:path>
                <a:path w="2423159" h="59689">
                  <a:moveTo>
                    <a:pt x="2422918" y="42087"/>
                  </a:moveTo>
                  <a:lnTo>
                    <a:pt x="2409228" y="29095"/>
                  </a:lnTo>
                  <a:lnTo>
                    <a:pt x="2409228" y="28917"/>
                  </a:lnTo>
                  <a:lnTo>
                    <a:pt x="2421318" y="14630"/>
                  </a:lnTo>
                  <a:lnTo>
                    <a:pt x="2420950" y="11607"/>
                  </a:lnTo>
                  <a:lnTo>
                    <a:pt x="2404910" y="38"/>
                  </a:lnTo>
                  <a:lnTo>
                    <a:pt x="2400858" y="76"/>
                  </a:lnTo>
                  <a:lnTo>
                    <a:pt x="2384158" y="14998"/>
                  </a:lnTo>
                  <a:lnTo>
                    <a:pt x="2391562" y="15595"/>
                  </a:lnTo>
                  <a:lnTo>
                    <a:pt x="2391664" y="14693"/>
                  </a:lnTo>
                  <a:lnTo>
                    <a:pt x="2392337" y="12280"/>
                  </a:lnTo>
                  <a:lnTo>
                    <a:pt x="2402941" y="6032"/>
                  </a:lnTo>
                  <a:lnTo>
                    <a:pt x="2404986" y="6146"/>
                  </a:lnTo>
                  <a:lnTo>
                    <a:pt x="2413736" y="15151"/>
                  </a:lnTo>
                  <a:lnTo>
                    <a:pt x="2413736" y="16637"/>
                  </a:lnTo>
                  <a:lnTo>
                    <a:pt x="2396985" y="25971"/>
                  </a:lnTo>
                  <a:lnTo>
                    <a:pt x="2396985" y="32372"/>
                  </a:lnTo>
                  <a:lnTo>
                    <a:pt x="2402052" y="32372"/>
                  </a:lnTo>
                  <a:lnTo>
                    <a:pt x="2406700" y="32893"/>
                  </a:lnTo>
                  <a:lnTo>
                    <a:pt x="2415222" y="41109"/>
                  </a:lnTo>
                  <a:lnTo>
                    <a:pt x="2415146" y="44386"/>
                  </a:lnTo>
                  <a:lnTo>
                    <a:pt x="2403348" y="53251"/>
                  </a:lnTo>
                  <a:lnTo>
                    <a:pt x="2401049" y="53136"/>
                  </a:lnTo>
                  <a:lnTo>
                    <a:pt x="2390775" y="43014"/>
                  </a:lnTo>
                  <a:lnTo>
                    <a:pt x="2383193" y="43688"/>
                  </a:lnTo>
                  <a:lnTo>
                    <a:pt x="2403348" y="59347"/>
                  </a:lnTo>
                  <a:lnTo>
                    <a:pt x="2406065" y="59232"/>
                  </a:lnTo>
                  <a:lnTo>
                    <a:pt x="2422918" y="42608"/>
                  </a:lnTo>
                  <a:lnTo>
                    <a:pt x="2422918" y="420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8944" y="1920515"/>
              <a:ext cx="236041" cy="340593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98257" y="3553941"/>
              <a:ext cx="313990" cy="221232"/>
            </a:xfrm>
            <a:prstGeom prst="rect">
              <a:avLst/>
            </a:prstGeom>
          </p:spPr>
        </p:pic>
      </p:grpSp>
      <p:pic>
        <p:nvPicPr>
          <p:cNvPr id="98" name="object 9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38079" y="466687"/>
            <a:ext cx="1135651" cy="107193"/>
          </a:xfrm>
          <a:prstGeom prst="rect">
            <a:avLst/>
          </a:prstGeom>
        </p:spPr>
      </p:pic>
      <p:sp>
        <p:nvSpPr>
          <p:cNvPr id="99" name="object 99" descr=""/>
          <p:cNvSpPr txBox="1"/>
          <p:nvPr/>
        </p:nvSpPr>
        <p:spPr>
          <a:xfrm>
            <a:off x="4622551" y="4478326"/>
            <a:ext cx="1362710" cy="717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20">
                <a:solidFill>
                  <a:srgbClr val="333333"/>
                </a:solidFill>
                <a:latin typeface="Lucida Console"/>
                <a:cs typeface="Lucida Console"/>
              </a:rPr>
              <a:t>pt(q</a:t>
            </a:r>
            <a:endParaRPr sz="1500">
              <a:latin typeface="Lucida Console"/>
              <a:cs typeface="Lucida Console"/>
            </a:endParaRPr>
          </a:p>
          <a:p>
            <a:pPr marL="320675" marR="5080">
              <a:lnSpc>
                <a:spcPct val="100000"/>
              </a:lnSpc>
            </a:pP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df </a:t>
            </a: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4" name="object 10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100" name="object 100" descr=""/>
          <p:cNvSpPr txBox="1"/>
          <p:nvPr/>
        </p:nvSpPr>
        <p:spPr>
          <a:xfrm>
            <a:off x="6062729" y="4478326"/>
            <a:ext cx="746125" cy="717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-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10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35">
                <a:solidFill>
                  <a:srgbClr val="008080"/>
                </a:solidFill>
                <a:latin typeface="Courier New"/>
                <a:cs typeface="Courier New"/>
              </a:rPr>
              <a:t>TRUE</a:t>
            </a:r>
            <a:r>
              <a:rPr dirty="0" sz="1500" spc="-3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4536826" y="5407218"/>
            <a:ext cx="136271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0.1704466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1761182" y="3981996"/>
            <a:ext cx="114871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20" i="1">
                <a:latin typeface="Arial"/>
                <a:cs typeface="Arial"/>
              </a:rPr>
              <a:t>P</a:t>
            </a:r>
            <a:r>
              <a:rPr dirty="0" sz="1550" spc="-275" i="1">
                <a:latin typeface="Arial"/>
                <a:cs typeface="Arial"/>
              </a:rPr>
              <a:t> </a:t>
            </a:r>
            <a:r>
              <a:rPr dirty="0" sz="1500" spc="-50">
                <a:latin typeface="Tahoma"/>
                <a:cs typeface="Tahoma"/>
              </a:rPr>
              <a:t>(</a:t>
            </a:r>
            <a:r>
              <a:rPr dirty="0" sz="1550" spc="-50" i="1">
                <a:latin typeface="Arial"/>
                <a:cs typeface="Arial"/>
              </a:rPr>
              <a:t>z</a:t>
            </a:r>
            <a:r>
              <a:rPr dirty="0" sz="1550" spc="-6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≤</a:t>
            </a:r>
            <a:r>
              <a:rPr dirty="0" sz="1500" spc="-20">
                <a:latin typeface="Tahoma"/>
                <a:cs typeface="Tahoma"/>
              </a:rPr>
              <a:t> −1)</a:t>
            </a:r>
            <a:r>
              <a:rPr dirty="0" sz="1500" spc="-10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5749031" y="3981996"/>
            <a:ext cx="112903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20" i="1">
                <a:latin typeface="Arial"/>
                <a:cs typeface="Arial"/>
              </a:rPr>
              <a:t>P</a:t>
            </a:r>
            <a:r>
              <a:rPr dirty="0" sz="1550" spc="-27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Arial"/>
                <a:cs typeface="Arial"/>
              </a:rPr>
              <a:t>t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≤</a:t>
            </a:r>
            <a:r>
              <a:rPr dirty="0" sz="1500" spc="9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−1)</a:t>
            </a:r>
            <a:r>
              <a:rPr dirty="0" sz="1500" spc="-9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66874" y="1038224"/>
            <a:ext cx="5314950" cy="9525"/>
          </a:xfrm>
          <a:custGeom>
            <a:avLst/>
            <a:gdLst/>
            <a:ahLst/>
            <a:cxnLst/>
            <a:rect l="l" t="t" r="r" b="b"/>
            <a:pathLst>
              <a:path w="5314950" h="9525">
                <a:moveTo>
                  <a:pt x="5314949" y="9524"/>
                </a:moveTo>
                <a:lnTo>
                  <a:pt x="0" y="9524"/>
                </a:lnTo>
                <a:lnTo>
                  <a:pt x="0" y="0"/>
                </a:lnTo>
                <a:lnTo>
                  <a:pt x="5314949" y="0"/>
                </a:lnTo>
                <a:lnTo>
                  <a:pt x="53149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66874" y="4143374"/>
            <a:ext cx="5314950" cy="9525"/>
          </a:xfrm>
          <a:custGeom>
            <a:avLst/>
            <a:gdLst/>
            <a:ahLst/>
            <a:cxnLst/>
            <a:rect l="l" t="t" r="r" b="b"/>
            <a:pathLst>
              <a:path w="5314950" h="9525">
                <a:moveTo>
                  <a:pt x="5314949" y="9524"/>
                </a:moveTo>
                <a:lnTo>
                  <a:pt x="0" y="9524"/>
                </a:lnTo>
                <a:lnTo>
                  <a:pt x="0" y="0"/>
                </a:lnTo>
                <a:lnTo>
                  <a:pt x="5314949" y="0"/>
                </a:lnTo>
                <a:lnTo>
                  <a:pt x="53149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685924" y="1066799"/>
          <a:ext cx="5353050" cy="3052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/>
                <a:gridCol w="762000"/>
                <a:gridCol w="1247775"/>
                <a:gridCol w="762000"/>
                <a:gridCol w="752475"/>
              </a:tblGrid>
              <a:tr h="3187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0" b="1">
                          <a:latin typeface="Trebuchet MS"/>
                          <a:cs typeface="Trebuchet MS"/>
                        </a:rPr>
                        <a:t>Normal</a:t>
                      </a:r>
                      <a:r>
                        <a:rPr dirty="0" sz="1450" spc="-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Distribution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t-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distribution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25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df</a:t>
                      </a:r>
                      <a:r>
                        <a:rPr dirty="0" sz="145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dirty="0" sz="145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30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df</a:t>
                      </a:r>
                      <a:r>
                        <a:rPr dirty="0" sz="145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dirty="0" sz="145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100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spc="-50" i="1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550" spc="-6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−3)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0.00135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550" spc="-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−3)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0.00269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2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0.00170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spc="-50" i="1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550" spc="-6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−2)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374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0.02275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550" spc="-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−2)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58419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0.02731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0.02411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spc="-50" i="1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550" spc="-6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−1)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0.15866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550" spc="-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−1)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0.16265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0.15986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spc="-50" i="1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550" spc="-6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0)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0.50000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550" spc="-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0)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0.50000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0.50000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spc="-50" i="1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550" spc="-6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1)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0.84134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550" spc="-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1)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0.83735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0.84014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spc="-50" i="1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550" spc="-6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2)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0.97725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550" spc="-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2)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064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0.97269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0.97589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0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spc="-50" i="1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550" spc="-6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-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3)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0.99865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12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550" spc="-27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5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550" spc="-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≤</a:t>
                      </a:r>
                      <a:r>
                        <a:rPr dirty="0" sz="1500" spc="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3)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90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0.99731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0.99830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58800" y="394970"/>
            <a:ext cx="7503159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comparison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normal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-distribution with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freedoms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30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100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1000.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8800" y="4309744"/>
            <a:ext cx="6557645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freedom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increases,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probabilities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converge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5" i="1">
                <a:latin typeface="Lucida Sans"/>
                <a:cs typeface="Lucida Sans"/>
              </a:rPr>
              <a:t>z</a:t>
            </a:r>
            <a:r>
              <a:rPr dirty="0" sz="1450" spc="-25">
                <a:latin typeface="Trebuchet MS"/>
                <a:cs typeface="Trebuchet MS"/>
              </a:rPr>
              <a:t>-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probabilities.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1314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20700" y="394970"/>
            <a:ext cx="4358005" cy="2264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Steps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in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One-</a:t>
            </a:r>
            <a:r>
              <a:rPr dirty="0" sz="1450" b="1">
                <a:latin typeface="Trebuchet MS"/>
                <a:cs typeface="Trebuchet MS"/>
              </a:rPr>
              <a:t>Sample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t-</a:t>
            </a:r>
            <a:r>
              <a:rPr dirty="0" sz="1450" spc="-20" b="1">
                <a:latin typeface="Trebuchet MS"/>
                <a:cs typeface="Trebuchet MS"/>
              </a:rPr>
              <a:t>Test</a:t>
            </a:r>
            <a:endParaRPr sz="1450">
              <a:latin typeface="Trebuchet MS"/>
              <a:cs typeface="Trebuchet MS"/>
            </a:endParaRPr>
          </a:p>
          <a:p>
            <a:pPr marL="173355" indent="-166370">
              <a:lnSpc>
                <a:spcPct val="100000"/>
              </a:lnSpc>
              <a:spcBef>
                <a:spcPts val="1410"/>
              </a:spcBef>
              <a:buSzPct val="93103"/>
              <a:buAutoNum type="arabicPeriod"/>
              <a:tabLst>
                <a:tab pos="173355" algn="l"/>
              </a:tabLst>
            </a:pPr>
            <a:r>
              <a:rPr dirty="0" sz="1450" spc="-10">
                <a:latin typeface="Trebuchet MS"/>
                <a:cs typeface="Trebuchet MS"/>
              </a:rPr>
              <a:t>State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hypotheses</a:t>
            </a:r>
            <a:endParaRPr sz="1450">
              <a:latin typeface="Trebuchet MS"/>
              <a:cs typeface="Trebuchet MS"/>
            </a:endParaRPr>
          </a:p>
          <a:p>
            <a:pPr marL="431165">
              <a:lnSpc>
                <a:spcPct val="100000"/>
              </a:lnSpc>
              <a:spcBef>
                <a:spcPts val="1385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7936" sz="1575">
                <a:latin typeface="Tahoma"/>
                <a:cs typeface="Tahoma"/>
              </a:rPr>
              <a:t>0</a:t>
            </a:r>
            <a:r>
              <a:rPr dirty="0" baseline="-7936" sz="1575" spc="209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65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sz="1550" spc="-3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85">
                <a:latin typeface="Tahoma"/>
                <a:cs typeface="Tahoma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value</a:t>
            </a:r>
            <a:endParaRPr sz="1450">
              <a:latin typeface="Trebuchet MS"/>
              <a:cs typeface="Trebuchet MS"/>
            </a:endParaRPr>
          </a:p>
          <a:p>
            <a:pPr marL="431165">
              <a:lnSpc>
                <a:spcPct val="100000"/>
              </a:lnSpc>
              <a:spcBef>
                <a:spcPts val="1290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12626" sz="1650" i="1">
                <a:latin typeface="Arial"/>
                <a:cs typeface="Arial"/>
              </a:rPr>
              <a:t>A</a:t>
            </a:r>
            <a:r>
              <a:rPr dirty="0" baseline="-12626" sz="1650" spc="277" i="1">
                <a:latin typeface="Arial"/>
                <a:cs typeface="Arial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sz="1550" spc="-15" i="1">
                <a:latin typeface="Arial"/>
                <a:cs typeface="Arial"/>
              </a:rPr>
              <a:t> </a:t>
            </a:r>
            <a:r>
              <a:rPr dirty="0" sz="1500" spc="-20">
                <a:latin typeface="Tahoma"/>
                <a:cs typeface="Tahoma"/>
              </a:rPr>
              <a:t>≠,</a:t>
            </a:r>
            <a:r>
              <a:rPr dirty="0" sz="1500" spc="-215">
                <a:latin typeface="Tahoma"/>
                <a:cs typeface="Tahoma"/>
              </a:rPr>
              <a:t> </a:t>
            </a:r>
            <a:r>
              <a:rPr dirty="0" sz="1500" spc="-190">
                <a:latin typeface="Tahoma"/>
                <a:cs typeface="Tahoma"/>
              </a:rPr>
              <a:t>&gt;</a:t>
            </a:r>
            <a:r>
              <a:rPr dirty="0" sz="1500" spc="-250">
                <a:latin typeface="Tahoma"/>
                <a:cs typeface="Tahoma"/>
              </a:rPr>
              <a:t> </a:t>
            </a:r>
            <a:r>
              <a:rPr dirty="0" sz="1500" spc="-60">
                <a:latin typeface="Tahoma"/>
                <a:cs typeface="Tahoma"/>
              </a:rPr>
              <a:t>,</a:t>
            </a:r>
            <a:r>
              <a:rPr dirty="0" sz="1500" spc="-21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&lt;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value</a:t>
            </a:r>
            <a:endParaRPr sz="1450">
              <a:latin typeface="Trebuchet MS"/>
              <a:cs typeface="Trebuchet MS"/>
            </a:endParaRPr>
          </a:p>
          <a:p>
            <a:pPr marL="184785" indent="-166370">
              <a:lnSpc>
                <a:spcPct val="100000"/>
              </a:lnSpc>
              <a:spcBef>
                <a:spcPts val="1465"/>
              </a:spcBef>
              <a:buSzPct val="93103"/>
              <a:buAutoNum type="arabicPeriod" startAt="2"/>
              <a:tabLst>
                <a:tab pos="184785" algn="l"/>
              </a:tabLst>
            </a:pPr>
            <a:r>
              <a:rPr dirty="0" sz="1450">
                <a:latin typeface="Trebuchet MS"/>
                <a:cs typeface="Trebuchet MS"/>
              </a:rPr>
              <a:t>Determine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(one-tailed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two-tailed)</a:t>
            </a:r>
            <a:endParaRPr sz="1450">
              <a:latin typeface="Trebuchet MS"/>
              <a:cs typeface="Trebuchet MS"/>
            </a:endParaRPr>
          </a:p>
          <a:p>
            <a:pPr marL="181610" indent="-166370">
              <a:lnSpc>
                <a:spcPct val="100000"/>
              </a:lnSpc>
              <a:spcBef>
                <a:spcPts val="1410"/>
              </a:spcBef>
              <a:buSzPct val="93103"/>
              <a:buAutoNum type="arabicPeriod" startAt="2"/>
              <a:tabLst>
                <a:tab pos="181610" algn="l"/>
              </a:tabLst>
            </a:pP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t-</a:t>
            </a:r>
            <a:r>
              <a:rPr dirty="0" sz="1450" spc="-10">
                <a:latin typeface="Trebuchet MS"/>
                <a:cs typeface="Trebuchet MS"/>
              </a:rPr>
              <a:t>statistic: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8800" y="3505746"/>
            <a:ext cx="7342505" cy="1277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3670" indent="-147955">
              <a:lnSpc>
                <a:spcPct val="100000"/>
              </a:lnSpc>
              <a:spcBef>
                <a:spcPts val="95"/>
              </a:spcBef>
              <a:buSzPct val="79310"/>
              <a:buAutoNum type="arabicPeriod" startAt="4"/>
              <a:tabLst>
                <a:tab pos="153670" algn="l"/>
              </a:tabLst>
            </a:pPr>
            <a:r>
              <a:rPr dirty="0" sz="1450">
                <a:latin typeface="Trebuchet MS"/>
                <a:cs typeface="Trebuchet MS"/>
              </a:rPr>
              <a:t>Find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p-value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sz="1550" spc="3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105">
                <a:latin typeface="Tahoma"/>
                <a:cs typeface="Tahoma"/>
              </a:rPr>
              <a:t>1</a:t>
            </a:r>
            <a:r>
              <a:rPr dirty="0" sz="1500" spc="-65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freedom.</a:t>
            </a:r>
            <a:endParaRPr sz="1450">
              <a:latin typeface="Trebuchet MS"/>
              <a:cs typeface="Trebuchet MS"/>
            </a:endParaRPr>
          </a:p>
          <a:p>
            <a:pPr marL="12700" marR="5080" indent="-11430">
              <a:lnSpc>
                <a:spcPts val="1730"/>
              </a:lnSpc>
              <a:spcBef>
                <a:spcPts val="1455"/>
              </a:spcBef>
              <a:buSzPct val="79310"/>
              <a:buAutoNum type="arabicPeriod" startAt="4"/>
              <a:tabLst>
                <a:tab pos="144145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Compare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550" i="1">
                <a:latin typeface="Arial"/>
                <a:cs typeface="Arial"/>
              </a:rPr>
              <a:t>α</a:t>
            </a:r>
            <a:r>
              <a:rPr dirty="0" sz="1550" spc="-25" i="1">
                <a:latin typeface="Arial"/>
                <a:cs typeface="Arial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(e.g.,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0.05)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reject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hypothesis.</a:t>
            </a:r>
            <a:endParaRPr sz="1450">
              <a:latin typeface="Trebuchet MS"/>
              <a:cs typeface="Trebuchet MS"/>
            </a:endParaRPr>
          </a:p>
          <a:p>
            <a:pPr marL="153670" indent="-142875">
              <a:lnSpc>
                <a:spcPct val="100000"/>
              </a:lnSpc>
              <a:spcBef>
                <a:spcPts val="1350"/>
              </a:spcBef>
              <a:buSzPct val="79310"/>
              <a:buAutoNum type="arabicPeriod" startAt="4"/>
              <a:tabLst>
                <a:tab pos="153670" algn="l"/>
              </a:tabLst>
            </a:pPr>
            <a:r>
              <a:rPr dirty="0" sz="1450" spc="-10">
                <a:latin typeface="Trebuchet MS"/>
                <a:cs typeface="Trebuchet MS"/>
              </a:rPr>
              <a:t>Interpret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context.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54251" y="2924721"/>
            <a:ext cx="28511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85" i="1">
                <a:latin typeface="Arial"/>
                <a:cs typeface="Arial"/>
              </a:rPr>
              <a:t>t</a:t>
            </a:r>
            <a:r>
              <a:rPr dirty="0" sz="1550" spc="-35" i="1">
                <a:latin typeface="Arial"/>
                <a:cs typeface="Arial"/>
              </a:rPr>
              <a:t> </a:t>
            </a:r>
            <a:r>
              <a:rPr dirty="0" sz="1500" spc="-6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84873" y="2927035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11947" y="3048546"/>
            <a:ext cx="2844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130" i="1">
                <a:latin typeface="Arial"/>
                <a:cs typeface="Arial"/>
              </a:rPr>
              <a:t>σ</a:t>
            </a:r>
            <a:r>
              <a:rPr dirty="0" baseline="-20202" sz="1650" spc="-195" i="1">
                <a:latin typeface="Arial"/>
                <a:cs typeface="Arial"/>
              </a:rPr>
              <a:t>X</a:t>
            </a:r>
            <a:r>
              <a:rPr dirty="0" baseline="-7936" sz="1575" spc="-195">
                <a:latin typeface="Tahoma"/>
                <a:cs typeface="Tahoma"/>
              </a:rPr>
              <a:t>¯</a:t>
            </a:r>
            <a:endParaRPr baseline="-7936" sz="1575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800474" y="3086099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523874" y="9524"/>
                </a:moveTo>
                <a:lnTo>
                  <a:pt x="0" y="9524"/>
                </a:lnTo>
                <a:lnTo>
                  <a:pt x="0" y="0"/>
                </a:lnTo>
                <a:lnTo>
                  <a:pt x="523874" y="0"/>
                </a:lnTo>
                <a:lnTo>
                  <a:pt x="5238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766343" y="2800896"/>
            <a:ext cx="141605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875030" algn="l"/>
              </a:tabLst>
            </a:pPr>
            <a:r>
              <a:rPr dirty="0" sz="1550" spc="-690" i="1">
                <a:latin typeface="Arial"/>
                <a:cs typeface="Arial"/>
              </a:rPr>
              <a:t>X</a:t>
            </a:r>
            <a:r>
              <a:rPr dirty="0" baseline="11111" sz="2250" spc="-30">
                <a:latin typeface="Tahoma"/>
                <a:cs typeface="Tahoma"/>
              </a:rPr>
              <a:t>¯</a:t>
            </a:r>
            <a:r>
              <a:rPr dirty="0" baseline="11111" sz="2250" spc="-89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50" spc="-50" i="1">
                <a:latin typeface="Arial"/>
                <a:cs typeface="Arial"/>
              </a:rPr>
              <a:t>μ</a:t>
            </a:r>
            <a:r>
              <a:rPr dirty="0" sz="1550" i="1">
                <a:latin typeface="Arial"/>
                <a:cs typeface="Arial"/>
              </a:rPr>
              <a:t>	</a:t>
            </a:r>
            <a:r>
              <a:rPr dirty="0" sz="1550" spc="-690" i="1">
                <a:latin typeface="Arial"/>
                <a:cs typeface="Arial"/>
              </a:rPr>
              <a:t>X</a:t>
            </a:r>
            <a:r>
              <a:rPr dirty="0" baseline="11111" sz="2250" spc="-30">
                <a:latin typeface="Tahoma"/>
                <a:cs typeface="Tahoma"/>
              </a:rPr>
              <a:t>¯</a:t>
            </a:r>
            <a:r>
              <a:rPr dirty="0" baseline="11111" sz="2250" spc="-89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50" spc="-50" i="1">
                <a:latin typeface="Arial"/>
                <a:cs typeface="Arial"/>
              </a:rPr>
              <a:t>μ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981574" y="3143249"/>
            <a:ext cx="161925" cy="9525"/>
          </a:xfrm>
          <a:custGeom>
            <a:avLst/>
            <a:gdLst/>
            <a:ahLst/>
            <a:cxnLst/>
            <a:rect l="l" t="t" r="r" b="b"/>
            <a:pathLst>
              <a:path w="161925" h="9525">
                <a:moveTo>
                  <a:pt x="161924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" y="0"/>
                </a:lnTo>
                <a:lnTo>
                  <a:pt x="1619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618087" y="3096171"/>
            <a:ext cx="521334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855" i="1">
                <a:latin typeface="Arial"/>
                <a:cs typeface="Arial"/>
              </a:rPr>
              <a:t>σ</a:t>
            </a:r>
            <a:r>
              <a:rPr dirty="0" baseline="1851" sz="2250">
                <a:latin typeface="Tahoma"/>
                <a:cs typeface="Tahoma"/>
              </a:rPr>
              <a:t>^</a:t>
            </a:r>
            <a:r>
              <a:rPr dirty="0" sz="1500" spc="-10">
                <a:latin typeface="Tahoma"/>
                <a:cs typeface="Tahoma"/>
              </a:rPr>
              <a:t>/</a:t>
            </a:r>
            <a:r>
              <a:rPr dirty="0" baseline="1851" sz="2250" spc="-15">
                <a:latin typeface="Tahoma"/>
                <a:cs typeface="Tahoma"/>
              </a:rPr>
              <a:t>√</a:t>
            </a:r>
            <a:r>
              <a:rPr dirty="0" sz="1550" spc="-10" i="1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610099" y="3086099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552449" y="9524"/>
                </a:moveTo>
                <a:lnTo>
                  <a:pt x="0" y="9524"/>
                </a:lnTo>
                <a:lnTo>
                  <a:pt x="0" y="0"/>
                </a:lnTo>
                <a:lnTo>
                  <a:pt x="552449" y="0"/>
                </a:lnTo>
                <a:lnTo>
                  <a:pt x="5524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5"/>
              <a:t>Example:</a:t>
            </a:r>
            <a:r>
              <a:rPr dirty="0" spc="-135"/>
              <a:t> </a:t>
            </a:r>
            <a:r>
              <a:rPr dirty="0" spc="-100"/>
              <a:t>Intervention</a:t>
            </a:r>
            <a:r>
              <a:rPr dirty="0" spc="-135"/>
              <a:t> </a:t>
            </a:r>
            <a:r>
              <a:rPr dirty="0" spc="-65"/>
              <a:t>and</a:t>
            </a:r>
            <a:r>
              <a:rPr dirty="0" spc="-135"/>
              <a:t> </a:t>
            </a:r>
            <a:r>
              <a:rPr dirty="0" spc="-105"/>
              <a:t>Infant</a:t>
            </a:r>
            <a:r>
              <a:rPr dirty="0" spc="-135"/>
              <a:t> </a:t>
            </a:r>
            <a:r>
              <a:rPr dirty="0" spc="-85"/>
              <a:t>Development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0700" y="795019"/>
            <a:ext cx="7562850" cy="46863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50800" marR="57150">
              <a:lnSpc>
                <a:spcPts val="1730"/>
              </a:lnSpc>
              <a:spcBef>
                <a:spcPts val="155"/>
              </a:spcBef>
            </a:pP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question: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specially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designed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low-</a:t>
            </a:r>
            <a:r>
              <a:rPr dirty="0" sz="1450" spc="-10">
                <a:latin typeface="Trebuchet MS"/>
                <a:cs typeface="Trebuchet MS"/>
              </a:rPr>
              <a:t>birthweight </a:t>
            </a:r>
            <a:r>
              <a:rPr dirty="0" sz="1450" spc="-35">
                <a:latin typeface="Trebuchet MS"/>
                <a:cs typeface="Trebuchet MS"/>
              </a:rPr>
              <a:t>(LBW)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infants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improve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infants’ </a:t>
            </a:r>
            <a:r>
              <a:rPr dirty="0" sz="1450" spc="-20">
                <a:latin typeface="Trebuchet MS"/>
                <a:cs typeface="Trebuchet MS"/>
              </a:rPr>
              <a:t>later </a:t>
            </a:r>
            <a:r>
              <a:rPr dirty="0" sz="1450">
                <a:latin typeface="Trebuchet MS"/>
                <a:cs typeface="Trebuchet MS"/>
              </a:rPr>
              <a:t>psychomotor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development?</a:t>
            </a:r>
            <a:endParaRPr sz="1450">
              <a:latin typeface="Trebuchet MS"/>
              <a:cs typeface="Trebuchet MS"/>
            </a:endParaRPr>
          </a:p>
          <a:p>
            <a:pPr marL="50800" marR="17780">
              <a:lnSpc>
                <a:spcPts val="1730"/>
              </a:lnSpc>
              <a:spcBef>
                <a:spcPts val="1415"/>
              </a:spcBef>
            </a:pPr>
            <a:r>
              <a:rPr dirty="0" sz="1450" spc="-30" b="1">
                <a:latin typeface="Trebuchet MS"/>
                <a:cs typeface="Trebuchet MS"/>
              </a:rPr>
              <a:t>Background: </a:t>
            </a:r>
            <a:r>
              <a:rPr dirty="0" sz="1450">
                <a:latin typeface="Trebuchet MS"/>
                <a:cs typeface="Trebuchet MS"/>
              </a:rPr>
              <a:t>Researchers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created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program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LBW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infants.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goal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become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aware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25">
                <a:latin typeface="Trebuchet MS"/>
                <a:cs typeface="Trebuchet MS"/>
              </a:rPr>
              <a:t> infants’ </a:t>
            </a:r>
            <a:r>
              <a:rPr dirty="0" sz="1450">
                <a:latin typeface="Trebuchet MS"/>
                <a:cs typeface="Trebuchet MS"/>
              </a:rPr>
              <a:t>cues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responsive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needs—behaviors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believed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developmental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difficulties</a:t>
            </a:r>
            <a:r>
              <a:rPr dirty="0" sz="1450" spc="-20">
                <a:latin typeface="Trebuchet MS"/>
                <a:cs typeface="Trebuchet MS"/>
              </a:rPr>
              <a:t> later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 marL="50800" marR="300355">
              <a:lnSpc>
                <a:spcPts val="1730"/>
              </a:lnSpc>
              <a:spcBef>
                <a:spcPts val="1485"/>
              </a:spcBef>
            </a:pPr>
            <a:r>
              <a:rPr dirty="0" sz="1450" spc="-30" b="1">
                <a:latin typeface="Trebuchet MS"/>
                <a:cs typeface="Trebuchet MS"/>
              </a:rPr>
              <a:t>Dependent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variable: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Psychomotor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development,</a:t>
            </a:r>
            <a:r>
              <a:rPr dirty="0" sz="1450">
                <a:latin typeface="Trebuchet MS"/>
                <a:cs typeface="Trebuchet MS"/>
              </a:rPr>
              <a:t> measured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 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Psychomotor </a:t>
            </a:r>
            <a:r>
              <a:rPr dirty="0" sz="1450">
                <a:latin typeface="Trebuchet MS"/>
                <a:cs typeface="Trebuchet MS"/>
              </a:rPr>
              <a:t>Development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Index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(PDI).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general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(normal-weight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infants),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PDI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scores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scaled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100.</a:t>
            </a:r>
            <a:endParaRPr sz="1450">
              <a:latin typeface="Trebuchet MS"/>
              <a:cs typeface="Trebuchet MS"/>
            </a:endParaRPr>
          </a:p>
          <a:p>
            <a:pPr marL="50800" marR="550545">
              <a:lnSpc>
                <a:spcPts val="1730"/>
              </a:lnSpc>
              <a:spcBef>
                <a:spcPts val="1410"/>
              </a:spcBef>
            </a:pPr>
            <a:r>
              <a:rPr dirty="0" sz="1450" spc="-20" b="1">
                <a:latin typeface="Trebuchet MS"/>
                <a:cs typeface="Trebuchet MS"/>
              </a:rPr>
              <a:t>Independent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variable: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status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participated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the </a:t>
            </a:r>
            <a:r>
              <a:rPr dirty="0" sz="1450" spc="-10">
                <a:latin typeface="Trebuchet MS"/>
                <a:cs typeface="Trebuchet MS"/>
              </a:rPr>
              <a:t>program.</a:t>
            </a:r>
            <a:endParaRPr sz="1450">
              <a:latin typeface="Trebuchet MS"/>
              <a:cs typeface="Trebuchet MS"/>
            </a:endParaRPr>
          </a:p>
          <a:p>
            <a:pPr algn="just" marL="50800" marR="88900">
              <a:lnSpc>
                <a:spcPts val="1730"/>
              </a:lnSpc>
              <a:spcBef>
                <a:spcPts val="1415"/>
              </a:spcBef>
            </a:pPr>
            <a:r>
              <a:rPr dirty="0" sz="1450" b="1">
                <a:latin typeface="Trebuchet MS"/>
                <a:cs typeface="Trebuchet MS"/>
              </a:rPr>
              <a:t>Sample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data: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collected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PDI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56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LBW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infants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6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months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old,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after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participated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shortly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birth.</a:t>
            </a:r>
            <a:r>
              <a:rPr dirty="0" sz="1450" spc="-10">
                <a:latin typeface="Trebuchet MS"/>
                <a:cs typeface="Trebuchet MS"/>
              </a:rPr>
              <a:t> 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summary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statistics:</a:t>
            </a:r>
            <a:endParaRPr sz="1450">
              <a:latin typeface="Trebuchet MS"/>
              <a:cs typeface="Trebuchet MS"/>
            </a:endParaRPr>
          </a:p>
          <a:p>
            <a:pPr algn="ctr" marL="43815">
              <a:lnSpc>
                <a:spcPct val="100000"/>
              </a:lnSpc>
              <a:spcBef>
                <a:spcPts val="1020"/>
              </a:spcBef>
            </a:pPr>
            <a:r>
              <a:rPr dirty="0" sz="1550" i="1">
                <a:latin typeface="Arial"/>
                <a:cs typeface="Arial"/>
              </a:rPr>
              <a:t>N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56</a:t>
            </a:r>
            <a:endParaRPr sz="1500">
              <a:latin typeface="Tahoma"/>
              <a:cs typeface="Tahoma"/>
            </a:endParaRPr>
          </a:p>
          <a:p>
            <a:pPr algn="ctr" marL="43815">
              <a:lnSpc>
                <a:spcPct val="100000"/>
              </a:lnSpc>
              <a:spcBef>
                <a:spcPts val="990"/>
              </a:spcBef>
            </a:pPr>
            <a:r>
              <a:rPr dirty="0" sz="1550" spc="-690" i="1">
                <a:latin typeface="Arial"/>
                <a:cs typeface="Arial"/>
              </a:rPr>
              <a:t>X</a:t>
            </a:r>
            <a:r>
              <a:rPr dirty="0" baseline="11111" sz="2250" spc="-30">
                <a:latin typeface="Tahoma"/>
                <a:cs typeface="Tahoma"/>
              </a:rPr>
              <a:t>¯</a:t>
            </a:r>
            <a:r>
              <a:rPr dirty="0" baseline="11111" sz="2250" spc="3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104.125</a:t>
            </a:r>
            <a:endParaRPr sz="1500">
              <a:latin typeface="Tahoma"/>
              <a:cs typeface="Tahoma"/>
            </a:endParaRPr>
          </a:p>
          <a:p>
            <a:pPr algn="ctr" marL="44450">
              <a:lnSpc>
                <a:spcPct val="100000"/>
              </a:lnSpc>
              <a:spcBef>
                <a:spcPts val="840"/>
              </a:spcBef>
            </a:pPr>
            <a:r>
              <a:rPr dirty="0" sz="1550" spc="-1135" i="1">
                <a:latin typeface="Arial"/>
                <a:cs typeface="Arial"/>
              </a:rPr>
              <a:t>σ</a:t>
            </a:r>
            <a:r>
              <a:rPr dirty="0" sz="1500" spc="-290">
                <a:latin typeface="Tahoma"/>
                <a:cs typeface="Tahoma"/>
              </a:rPr>
              <a:t>^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12.584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8000" y="394970"/>
            <a:ext cx="7573009" cy="3533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ts val="173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</a:t>
            </a:r>
            <a:r>
              <a:rPr dirty="0" sz="1450" spc="-25">
                <a:latin typeface="Trebuchet MS"/>
                <a:cs typeface="Trebuchet MS"/>
              </a:rPr>
              <a:t>: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effect.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PDI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LBW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infants</a:t>
            </a:r>
            <a:endParaRPr sz="1450">
              <a:latin typeface="Trebuchet MS"/>
              <a:cs typeface="Trebuchet MS"/>
            </a:endParaRPr>
          </a:p>
          <a:p>
            <a:pPr marL="63500">
              <a:lnSpc>
                <a:spcPts val="1730"/>
              </a:lnSpc>
            </a:pP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not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different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100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exposed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designed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intervention.</a:t>
            </a:r>
            <a:endParaRPr sz="1450">
              <a:latin typeface="Trebuchet MS"/>
              <a:cs typeface="Trebuchet MS"/>
            </a:endParaRPr>
          </a:p>
          <a:p>
            <a:pPr algn="ctr" marL="59690">
              <a:lnSpc>
                <a:spcPct val="100000"/>
              </a:lnSpc>
              <a:spcBef>
                <a:spcPts val="1085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25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sz="1550" spc="-2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6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100</a:t>
            </a:r>
            <a:endParaRPr sz="1500">
              <a:latin typeface="Tahoma"/>
              <a:cs typeface="Tahoma"/>
            </a:endParaRPr>
          </a:p>
          <a:p>
            <a:pPr marL="63500" marR="55880">
              <a:lnSpc>
                <a:spcPts val="1730"/>
              </a:lnSpc>
              <a:spcBef>
                <a:spcPts val="1455"/>
              </a:spcBef>
            </a:pPr>
            <a:r>
              <a:rPr dirty="0" sz="1450" spc="-40" b="1">
                <a:latin typeface="Trebuchet MS"/>
                <a:cs typeface="Trebuchet MS"/>
              </a:rPr>
              <a:t>Alternative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effect.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PDI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for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LBW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infants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higher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than</a:t>
            </a:r>
            <a:r>
              <a:rPr dirty="0" sz="1450" spc="-75" b="1">
                <a:latin typeface="Trebuchet MS"/>
                <a:cs typeface="Trebuchet MS"/>
              </a:rPr>
              <a:t> 100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exposed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designed intervention.</a:t>
            </a:r>
            <a:endParaRPr sz="1450">
              <a:latin typeface="Trebuchet MS"/>
              <a:cs typeface="Trebuchet MS"/>
            </a:endParaRPr>
          </a:p>
          <a:p>
            <a:pPr algn="ctr" marL="59690">
              <a:lnSpc>
                <a:spcPct val="100000"/>
              </a:lnSpc>
              <a:spcBef>
                <a:spcPts val="1019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12626" sz="1650" i="1">
                <a:latin typeface="Arial"/>
                <a:cs typeface="Arial"/>
              </a:rPr>
              <a:t>A</a:t>
            </a:r>
            <a:r>
              <a:rPr dirty="0" baseline="-12626" sz="1650" spc="187" i="1">
                <a:latin typeface="Arial"/>
                <a:cs typeface="Arial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sz="1550" spc="-5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114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100</a:t>
            </a:r>
            <a:endParaRPr sz="15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1465"/>
              </a:spcBef>
            </a:pPr>
            <a:r>
              <a:rPr dirty="0" sz="1450" spc="-10" b="1">
                <a:latin typeface="Trebuchet MS"/>
                <a:cs typeface="Trebuchet MS"/>
              </a:rPr>
              <a:t>Solution:</a:t>
            </a:r>
            <a:endParaRPr sz="1450">
              <a:latin typeface="Trebuchet MS"/>
              <a:cs typeface="Trebuchet MS"/>
            </a:endParaRPr>
          </a:p>
          <a:p>
            <a:pPr algn="ctr" marL="59690">
              <a:lnSpc>
                <a:spcPct val="100000"/>
              </a:lnSpc>
              <a:spcBef>
                <a:spcPts val="1010"/>
              </a:spcBef>
            </a:pPr>
            <a:r>
              <a:rPr dirty="0" sz="1550" i="1">
                <a:latin typeface="Arial"/>
                <a:cs typeface="Arial"/>
              </a:rPr>
              <a:t>N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56</a:t>
            </a:r>
            <a:endParaRPr sz="1500">
              <a:latin typeface="Tahoma"/>
              <a:cs typeface="Tahoma"/>
            </a:endParaRPr>
          </a:p>
          <a:p>
            <a:pPr algn="ctr" marL="59690">
              <a:lnSpc>
                <a:spcPct val="100000"/>
              </a:lnSpc>
              <a:spcBef>
                <a:spcPts val="1065"/>
              </a:spcBef>
            </a:pPr>
            <a:r>
              <a:rPr dirty="0" sz="1550" spc="-690" i="1">
                <a:latin typeface="Arial"/>
                <a:cs typeface="Arial"/>
              </a:rPr>
              <a:t>X</a:t>
            </a:r>
            <a:r>
              <a:rPr dirty="0" baseline="12962" sz="2250" spc="-30">
                <a:latin typeface="Tahoma"/>
                <a:cs typeface="Tahoma"/>
              </a:rPr>
              <a:t>¯</a:t>
            </a:r>
            <a:r>
              <a:rPr dirty="0" baseline="12962" sz="2250" spc="3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104.125</a:t>
            </a:r>
            <a:endParaRPr sz="1500">
              <a:latin typeface="Tahoma"/>
              <a:cs typeface="Tahoma"/>
            </a:endParaRPr>
          </a:p>
          <a:p>
            <a:pPr algn="ctr" marL="59690">
              <a:lnSpc>
                <a:spcPct val="100000"/>
              </a:lnSpc>
              <a:spcBef>
                <a:spcPts val="840"/>
              </a:spcBef>
            </a:pPr>
            <a:r>
              <a:rPr dirty="0" sz="1550" spc="-1135" i="1">
                <a:latin typeface="Arial"/>
                <a:cs typeface="Arial"/>
              </a:rPr>
              <a:t>σ</a:t>
            </a:r>
            <a:r>
              <a:rPr dirty="0" baseline="1851" sz="2250" spc="-434">
                <a:latin typeface="Tahoma"/>
                <a:cs typeface="Tahoma"/>
              </a:rPr>
              <a:t>^</a:t>
            </a:r>
            <a:r>
              <a:rPr dirty="0" baseline="1851" sz="2250" spc="-6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12.584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71524" y="52673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5667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8800" y="4757419"/>
            <a:ext cx="7124700" cy="1264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Due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direction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alternative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one-tailed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test.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  <a:spcBef>
                <a:spcPts val="1475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looking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upper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tail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t-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55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25">
                <a:latin typeface="Trebuchet MS"/>
                <a:cs typeface="Trebuchet MS"/>
              </a:rPr>
              <a:t> of </a:t>
            </a:r>
            <a:r>
              <a:rPr dirty="0" sz="1450" spc="-10">
                <a:latin typeface="Trebuchet MS"/>
                <a:cs typeface="Trebuchet MS"/>
              </a:rPr>
              <a:t>freedom.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30661" y="4162971"/>
            <a:ext cx="28511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85" i="1">
                <a:latin typeface="Arial"/>
                <a:cs typeface="Arial"/>
              </a:rPr>
              <a:t>t</a:t>
            </a:r>
            <a:r>
              <a:rPr dirty="0" sz="1550" spc="-35" i="1">
                <a:latin typeface="Arial"/>
                <a:cs typeface="Arial"/>
              </a:rPr>
              <a:t> </a:t>
            </a:r>
            <a:r>
              <a:rPr dirty="0" sz="1500" spc="-6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61283" y="4165284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25999" y="4165284"/>
            <a:ext cx="99250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6854" algn="l"/>
                <a:tab pos="368935" algn="l"/>
              </a:tabLst>
            </a:pPr>
            <a:r>
              <a:rPr dirty="0" u="sng" sz="14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450">
                <a:latin typeface="Times New Roman"/>
                <a:cs typeface="Times New Roman"/>
              </a:rPr>
              <a:t>	</a:t>
            </a:r>
            <a:r>
              <a:rPr dirty="0" u="none" sz="1500">
                <a:latin typeface="Tahoma"/>
                <a:cs typeface="Tahoma"/>
              </a:rPr>
              <a:t>=</a:t>
            </a:r>
            <a:r>
              <a:rPr dirty="0" u="none" sz="1500" spc="-40">
                <a:latin typeface="Tahoma"/>
                <a:cs typeface="Tahoma"/>
              </a:rPr>
              <a:t> </a:t>
            </a:r>
            <a:r>
              <a:rPr dirty="0" u="none" sz="1500" spc="-90">
                <a:latin typeface="Tahoma"/>
                <a:cs typeface="Tahoma"/>
              </a:rPr>
              <a:t>2.453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55453" y="4039146"/>
            <a:ext cx="56578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690" i="1">
                <a:latin typeface="Arial"/>
                <a:cs typeface="Arial"/>
              </a:rPr>
              <a:t>X</a:t>
            </a:r>
            <a:r>
              <a:rPr dirty="0" baseline="12962" sz="2250" spc="-30">
                <a:latin typeface="Tahoma"/>
                <a:cs typeface="Tahoma"/>
              </a:rPr>
              <a:t>¯</a:t>
            </a:r>
            <a:r>
              <a:rPr dirty="0" baseline="12962" sz="2250" spc="-89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50" spc="-50" i="1">
                <a:latin typeface="Arial"/>
                <a:cs typeface="Arial"/>
              </a:rPr>
              <a:t>μ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88357" y="4286796"/>
            <a:ext cx="2844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130" i="1">
                <a:latin typeface="Arial"/>
                <a:cs typeface="Arial"/>
              </a:rPr>
              <a:t>σ</a:t>
            </a:r>
            <a:r>
              <a:rPr dirty="0" baseline="-20202" sz="1650" spc="-195" i="1">
                <a:latin typeface="Arial"/>
                <a:cs typeface="Arial"/>
              </a:rPr>
              <a:t>X</a:t>
            </a:r>
            <a:r>
              <a:rPr dirty="0" baseline="-7936" sz="1575" spc="-195">
                <a:latin typeface="Tahoma"/>
                <a:cs typeface="Tahoma"/>
              </a:rPr>
              <a:t>¯</a:t>
            </a:r>
            <a:endParaRPr baseline="-7936" sz="1575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171824" y="4324349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994497" y="4041459"/>
            <a:ext cx="11233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0">
                <a:latin typeface="Tahoma"/>
                <a:cs typeface="Tahoma"/>
              </a:rPr>
              <a:t>104.125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10">
                <a:latin typeface="Tahoma"/>
                <a:cs typeface="Tahoma"/>
              </a:rPr>
              <a:t> 100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75757" y="4327209"/>
            <a:ext cx="96075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5">
                <a:latin typeface="Tahoma"/>
                <a:cs typeface="Tahoma"/>
              </a:rPr>
              <a:t>12.584/√56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990974" y="4324349"/>
            <a:ext cx="1133475" cy="9525"/>
          </a:xfrm>
          <a:custGeom>
            <a:avLst/>
            <a:gdLst/>
            <a:ahLst/>
            <a:cxnLst/>
            <a:rect l="l" t="t" r="r" b="b"/>
            <a:pathLst>
              <a:path w="1133475" h="9525">
                <a:moveTo>
                  <a:pt x="1133474" y="9524"/>
                </a:moveTo>
                <a:lnTo>
                  <a:pt x="0" y="9524"/>
                </a:lnTo>
                <a:lnTo>
                  <a:pt x="0" y="0"/>
                </a:lnTo>
                <a:lnTo>
                  <a:pt x="1133474" y="0"/>
                </a:lnTo>
                <a:lnTo>
                  <a:pt x="11334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4732" y="3087327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54732" y="2419349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54732" y="1751334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949650" y="630972"/>
            <a:ext cx="3051810" cy="2928620"/>
            <a:chOff x="949650" y="630972"/>
            <a:chExt cx="3051810" cy="2928620"/>
          </a:xfrm>
        </p:grpSpPr>
        <p:sp>
          <p:nvSpPr>
            <p:cNvPr id="6" name="object 6" descr=""/>
            <p:cNvSpPr/>
            <p:nvPr/>
          </p:nvSpPr>
          <p:spPr>
            <a:xfrm>
              <a:off x="954732" y="1083357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9295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8794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8289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27785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67280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6775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46274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57699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54732" y="342133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54732" y="2753320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4732" y="2085342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54732" y="1417327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54732" y="749349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9045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85403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08035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475346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870298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65251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660204" y="636091"/>
              <a:ext cx="0" cy="2918460"/>
            </a:xfrm>
            <a:custGeom>
              <a:avLst/>
              <a:gdLst/>
              <a:ahLst/>
              <a:cxnLst/>
              <a:rect l="l" t="t" r="r" b="b"/>
              <a:pathLst>
                <a:path w="0" h="2918460">
                  <a:moveTo>
                    <a:pt x="0" y="291784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92956" y="768697"/>
              <a:ext cx="2351405" cy="2653030"/>
            </a:xfrm>
            <a:custGeom>
              <a:avLst/>
              <a:gdLst/>
              <a:ahLst/>
              <a:cxnLst/>
              <a:rect l="l" t="t" r="r" b="b"/>
              <a:pathLst>
                <a:path w="2351404" h="2653029">
                  <a:moveTo>
                    <a:pt x="2351223" y="2652637"/>
                  </a:moveTo>
                  <a:lnTo>
                    <a:pt x="0" y="2652637"/>
                  </a:lnTo>
                  <a:lnTo>
                    <a:pt x="0" y="2643112"/>
                  </a:lnTo>
                  <a:lnTo>
                    <a:pt x="23514" y="2641326"/>
                  </a:lnTo>
                  <a:lnTo>
                    <a:pt x="47029" y="2639206"/>
                  </a:lnTo>
                  <a:lnTo>
                    <a:pt x="94059" y="2633848"/>
                  </a:lnTo>
                  <a:lnTo>
                    <a:pt x="141089" y="2626592"/>
                  </a:lnTo>
                  <a:lnTo>
                    <a:pt x="188118" y="2616844"/>
                  </a:lnTo>
                  <a:lnTo>
                    <a:pt x="235148" y="2603859"/>
                  </a:lnTo>
                  <a:lnTo>
                    <a:pt x="282140" y="2586744"/>
                  </a:lnTo>
                  <a:lnTo>
                    <a:pt x="329170" y="2564457"/>
                  </a:lnTo>
                  <a:lnTo>
                    <a:pt x="376200" y="2535844"/>
                  </a:lnTo>
                  <a:lnTo>
                    <a:pt x="423229" y="2499493"/>
                  </a:lnTo>
                  <a:lnTo>
                    <a:pt x="470259" y="2453877"/>
                  </a:lnTo>
                  <a:lnTo>
                    <a:pt x="517289" y="2397509"/>
                  </a:lnTo>
                  <a:lnTo>
                    <a:pt x="540804" y="2364804"/>
                  </a:lnTo>
                  <a:lnTo>
                    <a:pt x="564319" y="2328787"/>
                  </a:lnTo>
                  <a:lnTo>
                    <a:pt x="587796" y="2289311"/>
                  </a:lnTo>
                  <a:lnTo>
                    <a:pt x="611311" y="2246188"/>
                  </a:lnTo>
                  <a:lnTo>
                    <a:pt x="634826" y="2199307"/>
                  </a:lnTo>
                  <a:lnTo>
                    <a:pt x="658341" y="2148519"/>
                  </a:lnTo>
                  <a:lnTo>
                    <a:pt x="681855" y="2093676"/>
                  </a:lnTo>
                  <a:lnTo>
                    <a:pt x="705370" y="2034815"/>
                  </a:lnTo>
                  <a:lnTo>
                    <a:pt x="728885" y="1971823"/>
                  </a:lnTo>
                  <a:lnTo>
                    <a:pt x="752400" y="1904739"/>
                  </a:lnTo>
                  <a:lnTo>
                    <a:pt x="775915" y="1833636"/>
                  </a:lnTo>
                  <a:lnTo>
                    <a:pt x="799430" y="1758627"/>
                  </a:lnTo>
                  <a:lnTo>
                    <a:pt x="822945" y="1679822"/>
                  </a:lnTo>
                  <a:lnTo>
                    <a:pt x="846459" y="1597558"/>
                  </a:lnTo>
                  <a:lnTo>
                    <a:pt x="869974" y="1512019"/>
                  </a:lnTo>
                  <a:lnTo>
                    <a:pt x="893452" y="1423615"/>
                  </a:lnTo>
                  <a:lnTo>
                    <a:pt x="916967" y="1332755"/>
                  </a:lnTo>
                  <a:lnTo>
                    <a:pt x="940482" y="1239887"/>
                  </a:lnTo>
                  <a:lnTo>
                    <a:pt x="963996" y="1145604"/>
                  </a:lnTo>
                  <a:lnTo>
                    <a:pt x="1034541" y="860263"/>
                  </a:lnTo>
                  <a:lnTo>
                    <a:pt x="1058056" y="766650"/>
                  </a:lnTo>
                  <a:lnTo>
                    <a:pt x="1081571" y="675047"/>
                  </a:lnTo>
                  <a:lnTo>
                    <a:pt x="1105085" y="586271"/>
                  </a:lnTo>
                  <a:lnTo>
                    <a:pt x="1128600" y="501029"/>
                  </a:lnTo>
                  <a:lnTo>
                    <a:pt x="1152115" y="420178"/>
                  </a:lnTo>
                  <a:lnTo>
                    <a:pt x="1175630" y="344462"/>
                  </a:lnTo>
                  <a:lnTo>
                    <a:pt x="1199108" y="274662"/>
                  </a:lnTo>
                  <a:lnTo>
                    <a:pt x="1222622" y="211447"/>
                  </a:lnTo>
                  <a:lnTo>
                    <a:pt x="1246137" y="155525"/>
                  </a:lnTo>
                  <a:lnTo>
                    <a:pt x="1269652" y="107453"/>
                  </a:lnTo>
                  <a:lnTo>
                    <a:pt x="1293167" y="67791"/>
                  </a:lnTo>
                  <a:lnTo>
                    <a:pt x="1316682" y="36909"/>
                  </a:lnTo>
                  <a:lnTo>
                    <a:pt x="1363712" y="2827"/>
                  </a:lnTo>
                  <a:lnTo>
                    <a:pt x="1387226" y="0"/>
                  </a:lnTo>
                  <a:lnTo>
                    <a:pt x="1410741" y="6771"/>
                  </a:lnTo>
                  <a:lnTo>
                    <a:pt x="1457771" y="48517"/>
                  </a:lnTo>
                  <a:lnTo>
                    <a:pt x="1481286" y="83083"/>
                  </a:lnTo>
                  <a:lnTo>
                    <a:pt x="1504801" y="126280"/>
                  </a:lnTo>
                  <a:lnTo>
                    <a:pt x="1528278" y="177663"/>
                  </a:lnTo>
                  <a:lnTo>
                    <a:pt x="1551793" y="236673"/>
                  </a:lnTo>
                  <a:lnTo>
                    <a:pt x="1575308" y="302679"/>
                  </a:lnTo>
                  <a:lnTo>
                    <a:pt x="1598823" y="375009"/>
                  </a:lnTo>
                  <a:lnTo>
                    <a:pt x="1622338" y="452921"/>
                  </a:lnTo>
                  <a:lnTo>
                    <a:pt x="1645852" y="535669"/>
                  </a:lnTo>
                  <a:lnTo>
                    <a:pt x="1669367" y="622473"/>
                  </a:lnTo>
                  <a:lnTo>
                    <a:pt x="1692882" y="712514"/>
                  </a:lnTo>
                  <a:lnTo>
                    <a:pt x="1716397" y="805048"/>
                  </a:lnTo>
                  <a:lnTo>
                    <a:pt x="1739912" y="899256"/>
                  </a:lnTo>
                  <a:lnTo>
                    <a:pt x="1810456" y="1184597"/>
                  </a:lnTo>
                  <a:lnTo>
                    <a:pt x="1833934" y="1278359"/>
                  </a:lnTo>
                  <a:lnTo>
                    <a:pt x="1857449" y="1370483"/>
                  </a:lnTo>
                  <a:lnTo>
                    <a:pt x="1880964" y="1460375"/>
                  </a:lnTo>
                  <a:lnTo>
                    <a:pt x="1904478" y="1547626"/>
                  </a:lnTo>
                  <a:lnTo>
                    <a:pt x="1927993" y="1631863"/>
                  </a:lnTo>
                  <a:lnTo>
                    <a:pt x="1951508" y="1712751"/>
                  </a:lnTo>
                  <a:lnTo>
                    <a:pt x="1975023" y="1789992"/>
                  </a:lnTo>
                  <a:lnTo>
                    <a:pt x="1998538" y="1863439"/>
                  </a:lnTo>
                  <a:lnTo>
                    <a:pt x="2022053" y="1932905"/>
                  </a:lnTo>
                  <a:lnTo>
                    <a:pt x="2045568" y="1998277"/>
                  </a:lnTo>
                  <a:lnTo>
                    <a:pt x="2069082" y="2059595"/>
                  </a:lnTo>
                  <a:lnTo>
                    <a:pt x="2092597" y="2116782"/>
                  </a:lnTo>
                  <a:lnTo>
                    <a:pt x="2116112" y="2169913"/>
                  </a:lnTo>
                  <a:lnTo>
                    <a:pt x="2139590" y="2219101"/>
                  </a:lnTo>
                  <a:lnTo>
                    <a:pt x="2163105" y="2264419"/>
                  </a:lnTo>
                  <a:lnTo>
                    <a:pt x="2186619" y="2306017"/>
                  </a:lnTo>
                  <a:lnTo>
                    <a:pt x="2210134" y="2344042"/>
                  </a:lnTo>
                  <a:lnTo>
                    <a:pt x="2233649" y="2378682"/>
                  </a:lnTo>
                  <a:lnTo>
                    <a:pt x="2257164" y="2410085"/>
                  </a:lnTo>
                  <a:lnTo>
                    <a:pt x="2304194" y="2464109"/>
                  </a:lnTo>
                  <a:lnTo>
                    <a:pt x="2351223" y="2507679"/>
                  </a:lnTo>
                  <a:lnTo>
                    <a:pt x="2351223" y="265263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44180" y="3276376"/>
              <a:ext cx="414020" cy="145415"/>
            </a:xfrm>
            <a:custGeom>
              <a:avLst/>
              <a:gdLst/>
              <a:ahLst/>
              <a:cxnLst/>
              <a:rect l="l" t="t" r="r" b="b"/>
              <a:pathLst>
                <a:path w="414020" h="145414">
                  <a:moveTo>
                    <a:pt x="413518" y="144958"/>
                  </a:moveTo>
                  <a:lnTo>
                    <a:pt x="0" y="144958"/>
                  </a:lnTo>
                  <a:lnTo>
                    <a:pt x="0" y="0"/>
                  </a:lnTo>
                  <a:lnTo>
                    <a:pt x="16519" y="13134"/>
                  </a:lnTo>
                  <a:lnTo>
                    <a:pt x="33077" y="25226"/>
                  </a:lnTo>
                  <a:lnTo>
                    <a:pt x="70284" y="48964"/>
                  </a:lnTo>
                  <a:lnTo>
                    <a:pt x="115788" y="72293"/>
                  </a:lnTo>
                  <a:lnTo>
                    <a:pt x="157125" y="88999"/>
                  </a:lnTo>
                  <a:lnTo>
                    <a:pt x="206759" y="104440"/>
                  </a:lnTo>
                  <a:lnTo>
                    <a:pt x="260523" y="116718"/>
                  </a:lnTo>
                  <a:lnTo>
                    <a:pt x="318417" y="126057"/>
                  </a:lnTo>
                  <a:lnTo>
                    <a:pt x="388701" y="133536"/>
                  </a:lnTo>
                  <a:lnTo>
                    <a:pt x="413518" y="135433"/>
                  </a:lnTo>
                  <a:lnTo>
                    <a:pt x="413518" y="144958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54732" y="636054"/>
              <a:ext cx="3041650" cy="2918460"/>
            </a:xfrm>
            <a:custGeom>
              <a:avLst/>
              <a:gdLst/>
              <a:ahLst/>
              <a:cxnLst/>
              <a:rect l="l" t="t" r="r" b="b"/>
              <a:pathLst>
                <a:path w="3041650" h="2918460">
                  <a:moveTo>
                    <a:pt x="0" y="2917886"/>
                  </a:moveTo>
                  <a:lnTo>
                    <a:pt x="3041190" y="2917886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291788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" name="object 3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961" y="3391755"/>
            <a:ext cx="108964" cy="58973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794956" y="2723857"/>
            <a:ext cx="109220" cy="59055"/>
          </a:xfrm>
          <a:custGeom>
            <a:avLst/>
            <a:gdLst/>
            <a:ahLst/>
            <a:cxnLst/>
            <a:rect l="l" t="t" r="r" b="b"/>
            <a:pathLst>
              <a:path w="109219" h="59055">
                <a:moveTo>
                  <a:pt x="39128" y="37731"/>
                </a:moveTo>
                <a:lnTo>
                  <a:pt x="37299" y="12573"/>
                </a:lnTo>
                <a:lnTo>
                  <a:pt x="36614" y="10756"/>
                </a:lnTo>
                <a:lnTo>
                  <a:pt x="35801" y="9004"/>
                </a:lnTo>
                <a:lnTo>
                  <a:pt x="35687" y="8813"/>
                </a:lnTo>
                <a:lnTo>
                  <a:pt x="34823" y="7366"/>
                </a:lnTo>
                <a:lnTo>
                  <a:pt x="34239" y="6477"/>
                </a:lnTo>
                <a:lnTo>
                  <a:pt x="33743" y="5803"/>
                </a:lnTo>
                <a:lnTo>
                  <a:pt x="33261" y="5245"/>
                </a:lnTo>
                <a:lnTo>
                  <a:pt x="32702" y="4648"/>
                </a:lnTo>
                <a:lnTo>
                  <a:pt x="32118" y="4051"/>
                </a:lnTo>
                <a:lnTo>
                  <a:pt x="31737" y="3746"/>
                </a:lnTo>
                <a:lnTo>
                  <a:pt x="31737" y="20980"/>
                </a:lnTo>
                <a:lnTo>
                  <a:pt x="31699" y="37731"/>
                </a:lnTo>
                <a:lnTo>
                  <a:pt x="26936" y="50304"/>
                </a:lnTo>
                <a:lnTo>
                  <a:pt x="26568" y="50711"/>
                </a:lnTo>
                <a:lnTo>
                  <a:pt x="22326" y="52832"/>
                </a:lnTo>
                <a:lnTo>
                  <a:pt x="16751" y="52832"/>
                </a:lnTo>
                <a:lnTo>
                  <a:pt x="7518" y="38735"/>
                </a:lnTo>
                <a:lnTo>
                  <a:pt x="7518" y="19939"/>
                </a:lnTo>
                <a:lnTo>
                  <a:pt x="17614" y="5803"/>
                </a:lnTo>
                <a:lnTo>
                  <a:pt x="21755" y="5803"/>
                </a:lnTo>
                <a:lnTo>
                  <a:pt x="28359" y="9893"/>
                </a:lnTo>
                <a:lnTo>
                  <a:pt x="28917" y="10756"/>
                </a:lnTo>
                <a:lnTo>
                  <a:pt x="30759" y="15519"/>
                </a:lnTo>
                <a:lnTo>
                  <a:pt x="30937" y="16217"/>
                </a:lnTo>
                <a:lnTo>
                  <a:pt x="31191" y="17449"/>
                </a:lnTo>
                <a:lnTo>
                  <a:pt x="31292" y="18046"/>
                </a:lnTo>
                <a:lnTo>
                  <a:pt x="31483" y="18973"/>
                </a:lnTo>
                <a:lnTo>
                  <a:pt x="31597" y="19939"/>
                </a:lnTo>
                <a:lnTo>
                  <a:pt x="31737" y="20980"/>
                </a:lnTo>
                <a:lnTo>
                  <a:pt x="31737" y="3746"/>
                </a:lnTo>
                <a:lnTo>
                  <a:pt x="27457" y="1193"/>
                </a:lnTo>
                <a:lnTo>
                  <a:pt x="26758" y="889"/>
                </a:lnTo>
                <a:lnTo>
                  <a:pt x="26009" y="673"/>
                </a:lnTo>
                <a:lnTo>
                  <a:pt x="24485" y="304"/>
                </a:lnTo>
                <a:lnTo>
                  <a:pt x="22961" y="0"/>
                </a:lnTo>
                <a:lnTo>
                  <a:pt x="16370" y="0"/>
                </a:lnTo>
                <a:lnTo>
                  <a:pt x="14770" y="304"/>
                </a:lnTo>
                <a:lnTo>
                  <a:pt x="13208" y="673"/>
                </a:lnTo>
                <a:lnTo>
                  <a:pt x="12471" y="889"/>
                </a:lnTo>
                <a:lnTo>
                  <a:pt x="11722" y="1193"/>
                </a:lnTo>
                <a:lnTo>
                  <a:pt x="10972" y="1447"/>
                </a:lnTo>
                <a:lnTo>
                  <a:pt x="304" y="18757"/>
                </a:lnTo>
                <a:lnTo>
                  <a:pt x="266" y="18973"/>
                </a:lnTo>
                <a:lnTo>
                  <a:pt x="0" y="20980"/>
                </a:lnTo>
                <a:lnTo>
                  <a:pt x="12" y="37731"/>
                </a:lnTo>
                <a:lnTo>
                  <a:pt x="279" y="39700"/>
                </a:lnTo>
                <a:lnTo>
                  <a:pt x="16192" y="58902"/>
                </a:lnTo>
                <a:lnTo>
                  <a:pt x="22733" y="58902"/>
                </a:lnTo>
                <a:lnTo>
                  <a:pt x="38862" y="39700"/>
                </a:lnTo>
                <a:lnTo>
                  <a:pt x="39128" y="37731"/>
                </a:lnTo>
                <a:close/>
              </a:path>
              <a:path w="109219" h="59055">
                <a:moveTo>
                  <a:pt x="58534" y="49339"/>
                </a:moveTo>
                <a:lnTo>
                  <a:pt x="50533" y="49339"/>
                </a:lnTo>
                <a:lnTo>
                  <a:pt x="50533" y="58305"/>
                </a:lnTo>
                <a:lnTo>
                  <a:pt x="58534" y="58305"/>
                </a:lnTo>
                <a:lnTo>
                  <a:pt x="58534" y="49339"/>
                </a:lnTo>
                <a:close/>
              </a:path>
              <a:path w="109219" h="59055">
                <a:moveTo>
                  <a:pt x="108724" y="52057"/>
                </a:moveTo>
                <a:lnTo>
                  <a:pt x="94653" y="52057"/>
                </a:lnTo>
                <a:lnTo>
                  <a:pt x="94653" y="635"/>
                </a:lnTo>
                <a:lnTo>
                  <a:pt x="87884" y="635"/>
                </a:lnTo>
                <a:lnTo>
                  <a:pt x="74231" y="10007"/>
                </a:lnTo>
                <a:lnTo>
                  <a:pt x="74231" y="16967"/>
                </a:lnTo>
                <a:lnTo>
                  <a:pt x="87249" y="7670"/>
                </a:lnTo>
                <a:lnTo>
                  <a:pt x="87249" y="52057"/>
                </a:lnTo>
                <a:lnTo>
                  <a:pt x="72555" y="52057"/>
                </a:lnTo>
                <a:lnTo>
                  <a:pt x="72555" y="58305"/>
                </a:lnTo>
                <a:lnTo>
                  <a:pt x="108724" y="58305"/>
                </a:lnTo>
                <a:lnTo>
                  <a:pt x="108724" y="52057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961" y="1387636"/>
            <a:ext cx="109132" cy="59345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794956" y="719772"/>
            <a:ext cx="110489" cy="59690"/>
          </a:xfrm>
          <a:custGeom>
            <a:avLst/>
            <a:gdLst/>
            <a:ahLst/>
            <a:cxnLst/>
            <a:rect l="l" t="t" r="r" b="b"/>
            <a:pathLst>
              <a:path w="110490" h="59690">
                <a:moveTo>
                  <a:pt x="39128" y="37846"/>
                </a:moveTo>
                <a:lnTo>
                  <a:pt x="37299" y="12687"/>
                </a:lnTo>
                <a:lnTo>
                  <a:pt x="36614" y="10871"/>
                </a:lnTo>
                <a:lnTo>
                  <a:pt x="31737" y="3848"/>
                </a:lnTo>
                <a:lnTo>
                  <a:pt x="31737" y="21094"/>
                </a:lnTo>
                <a:lnTo>
                  <a:pt x="31699" y="37846"/>
                </a:lnTo>
                <a:lnTo>
                  <a:pt x="26936" y="50419"/>
                </a:lnTo>
                <a:lnTo>
                  <a:pt x="26568" y="50825"/>
                </a:lnTo>
                <a:lnTo>
                  <a:pt x="25717" y="51498"/>
                </a:lnTo>
                <a:lnTo>
                  <a:pt x="24815" y="52019"/>
                </a:lnTo>
                <a:lnTo>
                  <a:pt x="23850" y="52463"/>
                </a:lnTo>
                <a:lnTo>
                  <a:pt x="23368" y="52654"/>
                </a:lnTo>
                <a:lnTo>
                  <a:pt x="23545" y="52654"/>
                </a:lnTo>
                <a:lnTo>
                  <a:pt x="21805" y="53022"/>
                </a:lnTo>
                <a:lnTo>
                  <a:pt x="20688" y="53174"/>
                </a:lnTo>
                <a:lnTo>
                  <a:pt x="18376" y="53174"/>
                </a:lnTo>
                <a:lnTo>
                  <a:pt x="17272" y="53022"/>
                </a:lnTo>
                <a:lnTo>
                  <a:pt x="15532" y="52654"/>
                </a:lnTo>
                <a:lnTo>
                  <a:pt x="15709" y="52654"/>
                </a:lnTo>
                <a:lnTo>
                  <a:pt x="14693" y="52247"/>
                </a:lnTo>
                <a:lnTo>
                  <a:pt x="7518" y="38849"/>
                </a:lnTo>
                <a:lnTo>
                  <a:pt x="7518" y="20053"/>
                </a:lnTo>
                <a:lnTo>
                  <a:pt x="7823" y="18161"/>
                </a:lnTo>
                <a:lnTo>
                  <a:pt x="8382" y="15557"/>
                </a:lnTo>
                <a:lnTo>
                  <a:pt x="8509" y="15151"/>
                </a:lnTo>
                <a:lnTo>
                  <a:pt x="8610" y="14770"/>
                </a:lnTo>
                <a:lnTo>
                  <a:pt x="17221" y="6032"/>
                </a:lnTo>
                <a:lnTo>
                  <a:pt x="22136" y="6032"/>
                </a:lnTo>
                <a:lnTo>
                  <a:pt x="24041" y="6591"/>
                </a:lnTo>
                <a:lnTo>
                  <a:pt x="24333" y="6743"/>
                </a:lnTo>
                <a:lnTo>
                  <a:pt x="24968" y="6997"/>
                </a:lnTo>
                <a:lnTo>
                  <a:pt x="28359" y="10007"/>
                </a:lnTo>
                <a:lnTo>
                  <a:pt x="28917" y="10871"/>
                </a:lnTo>
                <a:lnTo>
                  <a:pt x="29464" y="11950"/>
                </a:lnTo>
                <a:lnTo>
                  <a:pt x="30060" y="13322"/>
                </a:lnTo>
                <a:lnTo>
                  <a:pt x="30543" y="14770"/>
                </a:lnTo>
                <a:lnTo>
                  <a:pt x="30632" y="15151"/>
                </a:lnTo>
                <a:lnTo>
                  <a:pt x="30734" y="15557"/>
                </a:lnTo>
                <a:lnTo>
                  <a:pt x="30949" y="16332"/>
                </a:lnTo>
                <a:lnTo>
                  <a:pt x="31140" y="17233"/>
                </a:lnTo>
                <a:lnTo>
                  <a:pt x="31203" y="17564"/>
                </a:lnTo>
                <a:lnTo>
                  <a:pt x="31292" y="18161"/>
                </a:lnTo>
                <a:lnTo>
                  <a:pt x="31483" y="19088"/>
                </a:lnTo>
                <a:lnTo>
                  <a:pt x="22174" y="0"/>
                </a:lnTo>
                <a:lnTo>
                  <a:pt x="17195" y="0"/>
                </a:lnTo>
                <a:lnTo>
                  <a:pt x="0" y="21094"/>
                </a:lnTo>
                <a:lnTo>
                  <a:pt x="12" y="37846"/>
                </a:lnTo>
                <a:lnTo>
                  <a:pt x="18643" y="59232"/>
                </a:lnTo>
                <a:lnTo>
                  <a:pt x="20320" y="59232"/>
                </a:lnTo>
                <a:lnTo>
                  <a:pt x="33477" y="53022"/>
                </a:lnTo>
                <a:lnTo>
                  <a:pt x="34264" y="52019"/>
                </a:lnTo>
                <a:lnTo>
                  <a:pt x="38087" y="43307"/>
                </a:lnTo>
                <a:lnTo>
                  <a:pt x="38328" y="42379"/>
                </a:lnTo>
                <a:lnTo>
                  <a:pt x="38862" y="39814"/>
                </a:lnTo>
                <a:lnTo>
                  <a:pt x="39128" y="37846"/>
                </a:lnTo>
                <a:close/>
              </a:path>
              <a:path w="110490" h="59690">
                <a:moveTo>
                  <a:pt x="58534" y="49453"/>
                </a:moveTo>
                <a:lnTo>
                  <a:pt x="50533" y="49453"/>
                </a:lnTo>
                <a:lnTo>
                  <a:pt x="50533" y="58420"/>
                </a:lnTo>
                <a:lnTo>
                  <a:pt x="58534" y="58420"/>
                </a:lnTo>
                <a:lnTo>
                  <a:pt x="58534" y="49453"/>
                </a:lnTo>
                <a:close/>
              </a:path>
              <a:path w="110490" h="59690">
                <a:moveTo>
                  <a:pt x="110363" y="39560"/>
                </a:moveTo>
                <a:lnTo>
                  <a:pt x="102247" y="39560"/>
                </a:lnTo>
                <a:lnTo>
                  <a:pt x="102247" y="9042"/>
                </a:lnTo>
                <a:lnTo>
                  <a:pt x="102247" y="749"/>
                </a:lnTo>
                <a:lnTo>
                  <a:pt x="95288" y="749"/>
                </a:lnTo>
                <a:lnTo>
                  <a:pt x="95288" y="9042"/>
                </a:lnTo>
                <a:lnTo>
                  <a:pt x="95288" y="39560"/>
                </a:lnTo>
                <a:lnTo>
                  <a:pt x="74904" y="39560"/>
                </a:lnTo>
                <a:lnTo>
                  <a:pt x="75387" y="38925"/>
                </a:lnTo>
                <a:lnTo>
                  <a:pt x="75565" y="38735"/>
                </a:lnTo>
                <a:lnTo>
                  <a:pt x="75984" y="38214"/>
                </a:lnTo>
                <a:lnTo>
                  <a:pt x="77063" y="36690"/>
                </a:lnTo>
                <a:lnTo>
                  <a:pt x="77393" y="36283"/>
                </a:lnTo>
                <a:lnTo>
                  <a:pt x="77508" y="36093"/>
                </a:lnTo>
                <a:lnTo>
                  <a:pt x="77622" y="35902"/>
                </a:lnTo>
                <a:lnTo>
                  <a:pt x="77762" y="35725"/>
                </a:lnTo>
                <a:lnTo>
                  <a:pt x="92608" y="13843"/>
                </a:lnTo>
                <a:lnTo>
                  <a:pt x="92875" y="13360"/>
                </a:lnTo>
                <a:lnTo>
                  <a:pt x="93129" y="12992"/>
                </a:lnTo>
                <a:lnTo>
                  <a:pt x="93357" y="12547"/>
                </a:lnTo>
                <a:lnTo>
                  <a:pt x="93472" y="12395"/>
                </a:lnTo>
                <a:lnTo>
                  <a:pt x="93611" y="12090"/>
                </a:lnTo>
                <a:lnTo>
                  <a:pt x="93726" y="11950"/>
                </a:lnTo>
                <a:lnTo>
                  <a:pt x="93878" y="11645"/>
                </a:lnTo>
                <a:lnTo>
                  <a:pt x="93992" y="11506"/>
                </a:lnTo>
                <a:lnTo>
                  <a:pt x="94576" y="10350"/>
                </a:lnTo>
                <a:lnTo>
                  <a:pt x="94805" y="10007"/>
                </a:lnTo>
                <a:lnTo>
                  <a:pt x="94881" y="9867"/>
                </a:lnTo>
                <a:lnTo>
                  <a:pt x="94996" y="9639"/>
                </a:lnTo>
                <a:lnTo>
                  <a:pt x="95097" y="9448"/>
                </a:lnTo>
                <a:lnTo>
                  <a:pt x="95288" y="9042"/>
                </a:lnTo>
                <a:lnTo>
                  <a:pt x="95288" y="749"/>
                </a:lnTo>
                <a:lnTo>
                  <a:pt x="94513" y="749"/>
                </a:lnTo>
                <a:lnTo>
                  <a:pt x="68148" y="39560"/>
                </a:lnTo>
                <a:lnTo>
                  <a:pt x="68097" y="45364"/>
                </a:lnTo>
                <a:lnTo>
                  <a:pt x="95288" y="45364"/>
                </a:lnTo>
                <a:lnTo>
                  <a:pt x="95288" y="58420"/>
                </a:lnTo>
                <a:lnTo>
                  <a:pt x="102247" y="58420"/>
                </a:lnTo>
                <a:lnTo>
                  <a:pt x="102247" y="45364"/>
                </a:lnTo>
                <a:lnTo>
                  <a:pt x="110363" y="45364"/>
                </a:lnTo>
                <a:lnTo>
                  <a:pt x="110363" y="3956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928650" y="342133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928650" y="2753320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928650" y="2085342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928650" y="1417327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928650" y="749349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290451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685403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2080356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2870299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3265251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3660204" y="35539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256919" y="3600119"/>
            <a:ext cx="67310" cy="59690"/>
          </a:xfrm>
          <a:custGeom>
            <a:avLst/>
            <a:gdLst/>
            <a:ahLst/>
            <a:cxnLst/>
            <a:rect l="l" t="t" r="r" b="b"/>
            <a:pathLst>
              <a:path w="67309" h="59689">
                <a:moveTo>
                  <a:pt x="20472" y="32931"/>
                </a:moveTo>
                <a:lnTo>
                  <a:pt x="0" y="32931"/>
                </a:lnTo>
                <a:lnTo>
                  <a:pt x="0" y="39484"/>
                </a:lnTo>
                <a:lnTo>
                  <a:pt x="20472" y="39484"/>
                </a:lnTo>
                <a:lnTo>
                  <a:pt x="20472" y="32931"/>
                </a:lnTo>
                <a:close/>
              </a:path>
              <a:path w="67309" h="59689">
                <a:moveTo>
                  <a:pt x="67119" y="42570"/>
                </a:moveTo>
                <a:lnTo>
                  <a:pt x="53428" y="29057"/>
                </a:lnTo>
                <a:lnTo>
                  <a:pt x="53428" y="28879"/>
                </a:lnTo>
                <a:lnTo>
                  <a:pt x="65481" y="16217"/>
                </a:lnTo>
                <a:lnTo>
                  <a:pt x="65455" y="13957"/>
                </a:lnTo>
                <a:lnTo>
                  <a:pt x="49072" y="0"/>
                </a:lnTo>
                <a:lnTo>
                  <a:pt x="45059" y="38"/>
                </a:lnTo>
                <a:lnTo>
                  <a:pt x="28359" y="14960"/>
                </a:lnTo>
                <a:lnTo>
                  <a:pt x="35763" y="15557"/>
                </a:lnTo>
                <a:lnTo>
                  <a:pt x="35864" y="14655"/>
                </a:lnTo>
                <a:lnTo>
                  <a:pt x="36283" y="12992"/>
                </a:lnTo>
                <a:lnTo>
                  <a:pt x="47142" y="5994"/>
                </a:lnTo>
                <a:lnTo>
                  <a:pt x="49149" y="6108"/>
                </a:lnTo>
                <a:lnTo>
                  <a:pt x="57937" y="16002"/>
                </a:lnTo>
                <a:lnTo>
                  <a:pt x="57746" y="18237"/>
                </a:lnTo>
                <a:lnTo>
                  <a:pt x="41186" y="25933"/>
                </a:lnTo>
                <a:lnTo>
                  <a:pt x="41186" y="32334"/>
                </a:lnTo>
                <a:lnTo>
                  <a:pt x="46215" y="32334"/>
                </a:lnTo>
                <a:lnTo>
                  <a:pt x="50901" y="32854"/>
                </a:lnTo>
                <a:lnTo>
                  <a:pt x="59423" y="43345"/>
                </a:lnTo>
                <a:lnTo>
                  <a:pt x="58940" y="46215"/>
                </a:lnTo>
                <a:lnTo>
                  <a:pt x="47548" y="53213"/>
                </a:lnTo>
                <a:lnTo>
                  <a:pt x="45250" y="53098"/>
                </a:lnTo>
                <a:lnTo>
                  <a:pt x="34975" y="42976"/>
                </a:lnTo>
                <a:lnTo>
                  <a:pt x="27355" y="43649"/>
                </a:lnTo>
                <a:lnTo>
                  <a:pt x="45466" y="59232"/>
                </a:lnTo>
                <a:lnTo>
                  <a:pt x="50266" y="59194"/>
                </a:lnTo>
                <a:lnTo>
                  <a:pt x="66789" y="46329"/>
                </a:lnTo>
                <a:lnTo>
                  <a:pt x="67119" y="425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651876" y="3600081"/>
            <a:ext cx="66675" cy="59055"/>
          </a:xfrm>
          <a:custGeom>
            <a:avLst/>
            <a:gdLst/>
            <a:ahLst/>
            <a:cxnLst/>
            <a:rect l="l" t="t" r="r" b="b"/>
            <a:pathLst>
              <a:path w="66675" h="59054">
                <a:moveTo>
                  <a:pt x="20459" y="32969"/>
                </a:moveTo>
                <a:lnTo>
                  <a:pt x="0" y="32969"/>
                </a:lnTo>
                <a:lnTo>
                  <a:pt x="0" y="39522"/>
                </a:lnTo>
                <a:lnTo>
                  <a:pt x="20459" y="39522"/>
                </a:lnTo>
                <a:lnTo>
                  <a:pt x="20459" y="32969"/>
                </a:lnTo>
                <a:close/>
              </a:path>
              <a:path w="66675" h="59054">
                <a:moveTo>
                  <a:pt x="66560" y="52235"/>
                </a:moveTo>
                <a:lnTo>
                  <a:pt x="36499" y="52235"/>
                </a:lnTo>
                <a:lnTo>
                  <a:pt x="36906" y="51308"/>
                </a:lnTo>
                <a:lnTo>
                  <a:pt x="38874" y="48221"/>
                </a:lnTo>
                <a:lnTo>
                  <a:pt x="43192" y="43535"/>
                </a:lnTo>
                <a:lnTo>
                  <a:pt x="48514" y="39001"/>
                </a:lnTo>
                <a:lnTo>
                  <a:pt x="59156" y="29540"/>
                </a:lnTo>
                <a:lnTo>
                  <a:pt x="65671" y="16370"/>
                </a:lnTo>
                <a:lnTo>
                  <a:pt x="65633" y="14287"/>
                </a:lnTo>
                <a:lnTo>
                  <a:pt x="46736" y="0"/>
                </a:lnTo>
                <a:lnTo>
                  <a:pt x="44234" y="190"/>
                </a:lnTo>
                <a:lnTo>
                  <a:pt x="28727" y="15113"/>
                </a:lnTo>
                <a:lnTo>
                  <a:pt x="36233" y="15773"/>
                </a:lnTo>
                <a:lnTo>
                  <a:pt x="36576" y="13957"/>
                </a:lnTo>
                <a:lnTo>
                  <a:pt x="37274" y="11950"/>
                </a:lnTo>
                <a:lnTo>
                  <a:pt x="47586" y="6032"/>
                </a:lnTo>
                <a:lnTo>
                  <a:pt x="50673" y="6362"/>
                </a:lnTo>
                <a:lnTo>
                  <a:pt x="58115" y="15557"/>
                </a:lnTo>
                <a:lnTo>
                  <a:pt x="57848" y="18719"/>
                </a:lnTo>
                <a:lnTo>
                  <a:pt x="37833" y="40068"/>
                </a:lnTo>
                <a:lnTo>
                  <a:pt x="34671" y="43459"/>
                </a:lnTo>
                <a:lnTo>
                  <a:pt x="32296" y="46405"/>
                </a:lnTo>
                <a:lnTo>
                  <a:pt x="29730" y="50533"/>
                </a:lnTo>
                <a:lnTo>
                  <a:pt x="28384" y="53314"/>
                </a:lnTo>
                <a:lnTo>
                  <a:pt x="28384" y="58534"/>
                </a:lnTo>
                <a:lnTo>
                  <a:pt x="66560" y="58534"/>
                </a:lnTo>
                <a:lnTo>
                  <a:pt x="66560" y="5223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2046820" y="3600944"/>
            <a:ext cx="67310" cy="57785"/>
          </a:xfrm>
          <a:custGeom>
            <a:avLst/>
            <a:gdLst/>
            <a:ahLst/>
            <a:cxnLst/>
            <a:rect l="l" t="t" r="r" b="b"/>
            <a:pathLst>
              <a:path w="67310" h="57785">
                <a:moveTo>
                  <a:pt x="20472" y="32105"/>
                </a:moveTo>
                <a:lnTo>
                  <a:pt x="0" y="32105"/>
                </a:lnTo>
                <a:lnTo>
                  <a:pt x="0" y="38658"/>
                </a:lnTo>
                <a:lnTo>
                  <a:pt x="20472" y="38658"/>
                </a:lnTo>
                <a:lnTo>
                  <a:pt x="20472" y="32105"/>
                </a:lnTo>
                <a:close/>
              </a:path>
              <a:path w="67310" h="57785">
                <a:moveTo>
                  <a:pt x="66713" y="51371"/>
                </a:moveTo>
                <a:lnTo>
                  <a:pt x="52692" y="51371"/>
                </a:lnTo>
                <a:lnTo>
                  <a:pt x="52692" y="0"/>
                </a:lnTo>
                <a:lnTo>
                  <a:pt x="45885" y="0"/>
                </a:lnTo>
                <a:lnTo>
                  <a:pt x="32258" y="9372"/>
                </a:lnTo>
                <a:lnTo>
                  <a:pt x="32258" y="16332"/>
                </a:lnTo>
                <a:lnTo>
                  <a:pt x="45288" y="7023"/>
                </a:lnTo>
                <a:lnTo>
                  <a:pt x="45288" y="51371"/>
                </a:lnTo>
                <a:lnTo>
                  <a:pt x="30594" y="51371"/>
                </a:lnTo>
                <a:lnTo>
                  <a:pt x="30594" y="57670"/>
                </a:lnTo>
                <a:lnTo>
                  <a:pt x="66713" y="57670"/>
                </a:lnTo>
                <a:lnTo>
                  <a:pt x="66713" y="5137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853369" y="3600933"/>
            <a:ext cx="36195" cy="57785"/>
          </a:xfrm>
          <a:custGeom>
            <a:avLst/>
            <a:gdLst/>
            <a:ahLst/>
            <a:cxnLst/>
            <a:rect l="l" t="t" r="r" b="b"/>
            <a:pathLst>
              <a:path w="36194" h="57785">
                <a:moveTo>
                  <a:pt x="36128" y="57670"/>
                </a:moveTo>
                <a:lnTo>
                  <a:pt x="0" y="57670"/>
                </a:lnTo>
                <a:lnTo>
                  <a:pt x="0" y="51382"/>
                </a:lnTo>
                <a:lnTo>
                  <a:pt x="14696" y="51382"/>
                </a:lnTo>
                <a:lnTo>
                  <a:pt x="14696" y="7032"/>
                </a:lnTo>
                <a:lnTo>
                  <a:pt x="1674" y="16333"/>
                </a:lnTo>
                <a:lnTo>
                  <a:pt x="1674" y="9376"/>
                </a:lnTo>
                <a:lnTo>
                  <a:pt x="15292" y="0"/>
                </a:lnTo>
                <a:lnTo>
                  <a:pt x="22100" y="0"/>
                </a:lnTo>
                <a:lnTo>
                  <a:pt x="22100" y="51382"/>
                </a:lnTo>
                <a:lnTo>
                  <a:pt x="36128" y="51382"/>
                </a:lnTo>
                <a:lnTo>
                  <a:pt x="36128" y="5767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3246164" y="3600077"/>
            <a:ext cx="38735" cy="59055"/>
          </a:xfrm>
          <a:custGeom>
            <a:avLst/>
            <a:gdLst/>
            <a:ahLst/>
            <a:cxnLst/>
            <a:rect l="l" t="t" r="r" b="b"/>
            <a:pathLst>
              <a:path w="38735" h="59054">
                <a:moveTo>
                  <a:pt x="38174" y="58526"/>
                </a:moveTo>
                <a:lnTo>
                  <a:pt x="0" y="58526"/>
                </a:lnTo>
                <a:lnTo>
                  <a:pt x="0" y="53317"/>
                </a:lnTo>
                <a:lnTo>
                  <a:pt x="23328" y="28165"/>
                </a:lnTo>
                <a:lnTo>
                  <a:pt x="26640" y="24519"/>
                </a:lnTo>
                <a:lnTo>
                  <a:pt x="28388" y="21766"/>
                </a:lnTo>
                <a:lnTo>
                  <a:pt x="29319" y="19347"/>
                </a:lnTo>
                <a:lnTo>
                  <a:pt x="29728" y="16036"/>
                </a:lnTo>
                <a:lnTo>
                  <a:pt x="29542" y="13729"/>
                </a:lnTo>
                <a:lnTo>
                  <a:pt x="19198" y="6027"/>
                </a:lnTo>
                <a:lnTo>
                  <a:pt x="16631" y="6250"/>
                </a:lnTo>
                <a:lnTo>
                  <a:pt x="7850" y="15775"/>
                </a:lnTo>
                <a:lnTo>
                  <a:pt x="334" y="15106"/>
                </a:lnTo>
                <a:lnTo>
                  <a:pt x="18343" y="0"/>
                </a:lnTo>
                <a:lnTo>
                  <a:pt x="22472" y="148"/>
                </a:lnTo>
                <a:lnTo>
                  <a:pt x="37244" y="14287"/>
                </a:lnTo>
                <a:lnTo>
                  <a:pt x="37244" y="16929"/>
                </a:lnTo>
                <a:lnTo>
                  <a:pt x="14361" y="43941"/>
                </a:lnTo>
                <a:lnTo>
                  <a:pt x="10827" y="47773"/>
                </a:lnTo>
                <a:lnTo>
                  <a:pt x="9264" y="49969"/>
                </a:lnTo>
                <a:lnTo>
                  <a:pt x="8111" y="52238"/>
                </a:lnTo>
                <a:lnTo>
                  <a:pt x="38174" y="52238"/>
                </a:lnTo>
                <a:lnTo>
                  <a:pt x="38174" y="5852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3640112" y="3600114"/>
            <a:ext cx="40005" cy="59690"/>
          </a:xfrm>
          <a:custGeom>
            <a:avLst/>
            <a:gdLst/>
            <a:ahLst/>
            <a:cxnLst/>
            <a:rect l="l" t="t" r="r" b="b"/>
            <a:pathLst>
              <a:path w="40004" h="59689">
                <a:moveTo>
                  <a:pt x="20166" y="59308"/>
                </a:moveTo>
                <a:lnTo>
                  <a:pt x="0" y="43643"/>
                </a:lnTo>
                <a:lnTo>
                  <a:pt x="7590" y="42974"/>
                </a:lnTo>
                <a:lnTo>
                  <a:pt x="8780" y="47141"/>
                </a:lnTo>
                <a:lnTo>
                  <a:pt x="10083" y="49224"/>
                </a:lnTo>
                <a:lnTo>
                  <a:pt x="20166" y="53206"/>
                </a:lnTo>
                <a:lnTo>
                  <a:pt x="22287" y="53094"/>
                </a:lnTo>
                <a:lnTo>
                  <a:pt x="32035" y="41076"/>
                </a:lnTo>
                <a:lnTo>
                  <a:pt x="31849" y="39960"/>
                </a:lnTo>
                <a:lnTo>
                  <a:pt x="18863" y="32332"/>
                </a:lnTo>
                <a:lnTo>
                  <a:pt x="13803" y="32332"/>
                </a:lnTo>
                <a:lnTo>
                  <a:pt x="13803" y="25933"/>
                </a:lnTo>
                <a:lnTo>
                  <a:pt x="30546" y="16594"/>
                </a:lnTo>
                <a:lnTo>
                  <a:pt x="30546" y="15106"/>
                </a:lnTo>
                <a:lnTo>
                  <a:pt x="19756" y="5990"/>
                </a:lnTo>
                <a:lnTo>
                  <a:pt x="17003" y="6213"/>
                </a:lnTo>
                <a:lnTo>
                  <a:pt x="8371" y="15552"/>
                </a:lnTo>
                <a:lnTo>
                  <a:pt x="967" y="14957"/>
                </a:lnTo>
                <a:lnTo>
                  <a:pt x="21728" y="0"/>
                </a:lnTo>
                <a:lnTo>
                  <a:pt x="25933" y="558"/>
                </a:lnTo>
                <a:lnTo>
                  <a:pt x="38137" y="14585"/>
                </a:lnTo>
                <a:lnTo>
                  <a:pt x="38025" y="17189"/>
                </a:lnTo>
                <a:lnTo>
                  <a:pt x="26044" y="28872"/>
                </a:lnTo>
                <a:lnTo>
                  <a:pt x="26044" y="29058"/>
                </a:lnTo>
                <a:lnTo>
                  <a:pt x="39737" y="42044"/>
                </a:lnTo>
                <a:lnTo>
                  <a:pt x="39737" y="42564"/>
                </a:lnTo>
                <a:lnTo>
                  <a:pt x="22882" y="59196"/>
                </a:lnTo>
                <a:lnTo>
                  <a:pt x="20166" y="5930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1" name="object 5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494" y="1920515"/>
            <a:ext cx="236041" cy="340593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6807" y="3553940"/>
            <a:ext cx="313990" cy="221232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6629" y="466687"/>
            <a:ext cx="1135521" cy="107193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571499" y="4429124"/>
            <a:ext cx="3524250" cy="8572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6675" rIns="0" bIns="0" rtlCol="0" vert="horz">
            <a:spAutoFit/>
          </a:bodyPr>
          <a:lstStyle/>
          <a:p>
            <a:pPr algn="ctr" marR="1081405">
              <a:lnSpc>
                <a:spcPct val="100000"/>
              </a:lnSpc>
              <a:spcBef>
                <a:spcPts val="525"/>
              </a:spcBef>
              <a:tabLst>
                <a:tab pos="1439545" algn="l"/>
              </a:tabLst>
            </a:pPr>
            <a:r>
              <a:rPr dirty="0" sz="1500" spc="-20">
                <a:solidFill>
                  <a:srgbClr val="333333"/>
                </a:solidFill>
                <a:latin typeface="Lucida Console"/>
                <a:cs typeface="Lucida Console"/>
              </a:rPr>
              <a:t>pt(q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2.453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algn="ctr" marR="1081405">
              <a:lnSpc>
                <a:spcPct val="100000"/>
              </a:lnSpc>
              <a:tabLst>
                <a:tab pos="1130935" algn="l"/>
              </a:tabLst>
            </a:pP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55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393700">
              <a:lnSpc>
                <a:spcPct val="100000"/>
              </a:lnSpc>
            </a:pP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1500" spc="-5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7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558800" y="5407218"/>
            <a:ext cx="156845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30">
                <a:solidFill>
                  <a:srgbClr val="007834"/>
                </a:solidFill>
                <a:latin typeface="Courier New"/>
                <a:cs typeface="Courier New"/>
              </a:rPr>
              <a:t>0.008682876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4295774" y="50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4467473" y="394970"/>
            <a:ext cx="3146425" cy="40836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187325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t- </a:t>
            </a:r>
            <a:r>
              <a:rPr dirty="0" sz="1450" spc="-10">
                <a:latin typeface="Trebuchet MS"/>
                <a:cs typeface="Trebuchet MS"/>
              </a:rPr>
              <a:t>statistic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90">
                <a:latin typeface="Trebuchet MS"/>
                <a:cs typeface="Trebuchet MS"/>
              </a:rPr>
              <a:t>2.453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extreme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0.009.</a:t>
            </a:r>
            <a:endParaRPr sz="1450">
              <a:latin typeface="Trebuchet MS"/>
              <a:cs typeface="Trebuchet MS"/>
            </a:endParaRPr>
          </a:p>
          <a:p>
            <a:pPr marL="12700" marR="163195">
              <a:lnSpc>
                <a:spcPts val="173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 hypothesis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were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true,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observing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sample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0">
                <a:latin typeface="Trebuchet MS"/>
                <a:cs typeface="Trebuchet MS"/>
              </a:rPr>
              <a:t>104.125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 </a:t>
            </a:r>
            <a:r>
              <a:rPr dirty="0" sz="1450">
                <a:latin typeface="Trebuchet MS"/>
                <a:cs typeface="Trebuchet MS"/>
              </a:rPr>
              <a:t>56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infants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be </a:t>
            </a:r>
            <a:r>
              <a:rPr dirty="0" sz="1450" spc="-10">
                <a:latin typeface="Trebuchet MS"/>
                <a:cs typeface="Trebuchet MS"/>
              </a:rPr>
              <a:t>0.009.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significance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0.05 </a:t>
            </a:r>
            <a:r>
              <a:rPr dirty="0" sz="1450" spc="-85">
                <a:latin typeface="Trebuchet MS"/>
                <a:cs typeface="Trebuchet MS"/>
              </a:rPr>
              <a:t>(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550" i="1">
                <a:latin typeface="Arial"/>
                <a:cs typeface="Arial"/>
              </a:rPr>
              <a:t>α</a:t>
            </a:r>
            <a:r>
              <a:rPr dirty="0" sz="1550" spc="-2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0.05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450" spc="-140">
                <a:latin typeface="Trebuchet MS"/>
                <a:cs typeface="Trebuchet MS"/>
              </a:rPr>
              <a:t>),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reject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null </a:t>
            </a:r>
            <a:r>
              <a:rPr dirty="0" sz="1450">
                <a:latin typeface="Trebuchet MS"/>
                <a:cs typeface="Trebuchet MS"/>
              </a:rPr>
              <a:t>hypothesis,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0.009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&lt;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0.05.</a:t>
            </a:r>
            <a:endParaRPr sz="1450">
              <a:latin typeface="Trebuchet MS"/>
              <a:cs typeface="Trebuchet MS"/>
            </a:endParaRPr>
          </a:p>
          <a:p>
            <a:pPr marL="12700" marR="59055">
              <a:lnSpc>
                <a:spcPts val="1730"/>
              </a:lnSpc>
              <a:spcBef>
                <a:spcPts val="1410"/>
              </a:spcBef>
            </a:pPr>
            <a:r>
              <a:rPr dirty="0" sz="1450" spc="-45">
                <a:latin typeface="Trebuchet MS"/>
                <a:cs typeface="Trebuchet MS"/>
              </a:rPr>
              <a:t>Therefore,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decide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enough </a:t>
            </a:r>
            <a:r>
              <a:rPr dirty="0" sz="1450">
                <a:latin typeface="Trebuchet MS"/>
                <a:cs typeface="Trebuchet MS"/>
              </a:rPr>
              <a:t>evidence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argue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designed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improved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psychomotor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ability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low- </a:t>
            </a:r>
            <a:r>
              <a:rPr dirty="0" sz="1450">
                <a:latin typeface="Trebuchet MS"/>
                <a:cs typeface="Trebuchet MS"/>
              </a:rPr>
              <a:t>birthweight</a:t>
            </a:r>
            <a:r>
              <a:rPr dirty="0" sz="1450" spc="-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infants.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4295774" y="1343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4295774" y="2628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4295774" y="3467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1679624" y="3981996"/>
            <a:ext cx="131191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20" i="1">
                <a:latin typeface="Arial"/>
                <a:cs typeface="Arial"/>
              </a:rPr>
              <a:t>P</a:t>
            </a:r>
            <a:r>
              <a:rPr dirty="0" sz="1550" spc="-27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Arial"/>
                <a:cs typeface="Arial"/>
              </a:rPr>
              <a:t>t</a:t>
            </a:r>
            <a:r>
              <a:rPr dirty="0" sz="1550" spc="-7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≥</a:t>
            </a:r>
            <a:r>
              <a:rPr dirty="0" sz="1500" spc="120">
                <a:latin typeface="Tahoma"/>
                <a:cs typeface="Tahoma"/>
              </a:rPr>
              <a:t> </a:t>
            </a:r>
            <a:r>
              <a:rPr dirty="0" sz="1500" spc="-85">
                <a:latin typeface="Tahoma"/>
                <a:cs typeface="Tahoma"/>
              </a:rPr>
              <a:t>2.453)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2" name="object 6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141414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0"/>
              <a:t>Effect</a:t>
            </a:r>
            <a:r>
              <a:rPr dirty="0" spc="-140"/>
              <a:t> </a:t>
            </a:r>
            <a:r>
              <a:rPr dirty="0" spc="-65"/>
              <a:t>Size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9800" y="795019"/>
            <a:ext cx="6493510" cy="14928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9017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strongly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recommended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effect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along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statistically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result.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effect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tests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Cohen’s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d</a:t>
            </a:r>
            <a:endParaRPr sz="1450">
              <a:latin typeface="Lucida Sans"/>
              <a:cs typeface="Lucida Sans"/>
            </a:endParaRPr>
          </a:p>
          <a:p>
            <a:pPr marL="12700" marR="5080">
              <a:lnSpc>
                <a:spcPts val="1730"/>
              </a:lnSpc>
              <a:spcBef>
                <a:spcPts val="1550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context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one-sample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Cohen's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d</a:t>
            </a:r>
            <a:r>
              <a:rPr dirty="0" sz="1450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much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standard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further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away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986781" y="2536243"/>
            <a:ext cx="609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′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458591" y="2553246"/>
            <a:ext cx="102870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95" i="1">
                <a:latin typeface="Arial"/>
                <a:cs typeface="Arial"/>
              </a:rPr>
              <a:t>Cohen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sD</a:t>
            </a:r>
            <a:r>
              <a:rPr dirty="0" sz="1550" spc="-60" i="1">
                <a:latin typeface="Arial"/>
                <a:cs typeface="Arial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3353" y="2555560"/>
            <a:ext cx="2056764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33830" algn="l"/>
              </a:tabLst>
            </a:pPr>
            <a:r>
              <a:rPr dirty="0" sz="1500" spc="-50">
                <a:latin typeface="Tahoma"/>
                <a:cs typeface="Tahoma"/>
              </a:rPr>
              <a:t>=</a:t>
            </a:r>
            <a:r>
              <a:rPr dirty="0" sz="1500">
                <a:latin typeface="Tahoma"/>
                <a:cs typeface="Tahoma"/>
              </a:rPr>
              <a:t>	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0.328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543299" y="2705099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533399" y="9524"/>
                </a:moveTo>
                <a:lnTo>
                  <a:pt x="0" y="9524"/>
                </a:lnTo>
                <a:lnTo>
                  <a:pt x="0" y="0"/>
                </a:lnTo>
                <a:lnTo>
                  <a:pt x="533399" y="0"/>
                </a:lnTo>
                <a:lnTo>
                  <a:pt x="5333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514824" y="2429421"/>
            <a:ext cx="200025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864235" algn="l"/>
              </a:tabLst>
            </a:pPr>
            <a:r>
              <a:rPr dirty="0" baseline="1792" sz="2325" spc="-1035" i="1">
                <a:latin typeface="Arial"/>
                <a:cs typeface="Arial"/>
              </a:rPr>
              <a:t>X</a:t>
            </a:r>
            <a:r>
              <a:rPr dirty="0" baseline="12962" sz="2250" spc="-30">
                <a:latin typeface="Tahoma"/>
                <a:cs typeface="Tahoma"/>
              </a:rPr>
              <a:t>¯</a:t>
            </a:r>
            <a:r>
              <a:rPr dirty="0" baseline="12962" sz="2250" spc="-89">
                <a:latin typeface="Tahoma"/>
                <a:cs typeface="Tahoma"/>
              </a:rPr>
              <a:t> </a:t>
            </a:r>
            <a:r>
              <a:rPr dirty="0" baseline="1851" sz="2250">
                <a:latin typeface="Tahoma"/>
                <a:cs typeface="Tahoma"/>
              </a:rPr>
              <a:t>−</a:t>
            </a:r>
            <a:r>
              <a:rPr dirty="0" baseline="1851" sz="2250" spc="-202">
                <a:latin typeface="Tahoma"/>
                <a:cs typeface="Tahoma"/>
              </a:rPr>
              <a:t> </a:t>
            </a:r>
            <a:r>
              <a:rPr dirty="0" baseline="1792" sz="2325" spc="-75" i="1">
                <a:latin typeface="Arial"/>
                <a:cs typeface="Arial"/>
              </a:rPr>
              <a:t>μ</a:t>
            </a:r>
            <a:r>
              <a:rPr dirty="0" baseline="1792" sz="2325" i="1">
                <a:latin typeface="Arial"/>
                <a:cs typeface="Arial"/>
              </a:rPr>
              <a:t>	</a:t>
            </a:r>
            <a:r>
              <a:rPr dirty="0" sz="1500" spc="-100">
                <a:latin typeface="Tahoma"/>
                <a:cs typeface="Tahoma"/>
              </a:rPr>
              <a:t>104.125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 spc="-40">
                <a:latin typeface="Tahoma"/>
                <a:cs typeface="Tahoma"/>
              </a:rPr>
              <a:t>100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45358" y="2677071"/>
            <a:ext cx="144970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8369" algn="l"/>
              </a:tabLst>
            </a:pPr>
            <a:r>
              <a:rPr dirty="0" sz="1550" spc="-1090" i="1">
                <a:latin typeface="Arial"/>
                <a:cs typeface="Arial"/>
              </a:rPr>
              <a:t>σ</a:t>
            </a:r>
            <a:r>
              <a:rPr dirty="0" baseline="1851" sz="2250" spc="-367">
                <a:latin typeface="Tahoma"/>
                <a:cs typeface="Tahoma"/>
              </a:rPr>
              <a:t>^</a:t>
            </a:r>
            <a:r>
              <a:rPr dirty="0" baseline="1851" sz="2250">
                <a:latin typeface="Tahoma"/>
                <a:cs typeface="Tahoma"/>
              </a:rPr>
              <a:t>	</a:t>
            </a:r>
            <a:r>
              <a:rPr dirty="0" sz="1500" spc="-95">
                <a:latin typeface="Tahoma"/>
                <a:cs typeface="Tahoma"/>
              </a:rPr>
              <a:t>12.584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362449" y="2705099"/>
            <a:ext cx="1133475" cy="9525"/>
          </a:xfrm>
          <a:custGeom>
            <a:avLst/>
            <a:gdLst/>
            <a:ahLst/>
            <a:cxnLst/>
            <a:rect l="l" t="t" r="r" b="b"/>
            <a:pathLst>
              <a:path w="1133475" h="9525">
                <a:moveTo>
                  <a:pt x="1133474" y="9524"/>
                </a:moveTo>
                <a:lnTo>
                  <a:pt x="0" y="9524"/>
                </a:lnTo>
                <a:lnTo>
                  <a:pt x="0" y="0"/>
                </a:lnTo>
                <a:lnTo>
                  <a:pt x="1133474" y="0"/>
                </a:lnTo>
                <a:lnTo>
                  <a:pt x="11334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4"/>
              <a:t>APA</a:t>
            </a:r>
            <a:r>
              <a:rPr dirty="0" spc="-130"/>
              <a:t> </a:t>
            </a:r>
            <a:r>
              <a:rPr dirty="0" spc="-100"/>
              <a:t>Style</a:t>
            </a:r>
            <a:r>
              <a:rPr dirty="0" spc="-130"/>
              <a:t> </a:t>
            </a:r>
            <a:r>
              <a:rPr dirty="0" spc="-140"/>
              <a:t>Write-</a:t>
            </a:r>
            <a:r>
              <a:rPr dirty="0" spc="-25"/>
              <a:t>Up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795019"/>
            <a:ext cx="7481570" cy="13462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average </a:t>
            </a:r>
            <a:r>
              <a:rPr dirty="0" sz="1450">
                <a:latin typeface="Trebuchet MS"/>
                <a:cs typeface="Trebuchet MS"/>
              </a:rPr>
              <a:t>PDI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56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infants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whose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trained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during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designed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45" b="1">
                <a:latin typeface="Trebuchet MS"/>
                <a:cs typeface="Trebuchet MS"/>
              </a:rPr>
              <a:t>104.13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30" b="1">
                <a:latin typeface="Trebuchet MS"/>
                <a:cs typeface="Trebuchet MS"/>
              </a:rPr>
              <a:t>12.58</a:t>
            </a:r>
            <a:r>
              <a:rPr dirty="0" sz="1450" spc="-130">
                <a:latin typeface="Trebuchet MS"/>
                <a:cs typeface="Trebuchet MS"/>
              </a:rPr>
              <a:t>.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one-sample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-test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was </a:t>
            </a:r>
            <a:r>
              <a:rPr dirty="0" sz="1450">
                <a:latin typeface="Trebuchet MS"/>
                <a:cs typeface="Trebuchet MS"/>
              </a:rPr>
              <a:t>conducted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PDI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significantly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than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100,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PDI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normative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population.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</a:t>
            </a:r>
            <a:r>
              <a:rPr dirty="0" sz="1450" spc="-10">
                <a:latin typeface="Trebuchet MS"/>
                <a:cs typeface="Trebuchet MS"/>
              </a:rPr>
              <a:t>sample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effect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designed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mothers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psychometric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ability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low-birth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infants,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650" spc="-114" i="1">
                <a:latin typeface="Georgia"/>
                <a:cs typeface="Georgia"/>
              </a:rPr>
              <a:t>t</a:t>
            </a:r>
            <a:r>
              <a:rPr dirty="0" sz="1450" spc="-114" b="1">
                <a:latin typeface="Trebuchet MS"/>
                <a:cs typeface="Trebuchet MS"/>
              </a:rPr>
              <a:t>(55)=2.453,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650" spc="-130" i="1">
                <a:latin typeface="Georgia"/>
                <a:cs typeface="Georgia"/>
              </a:rPr>
              <a:t>p</a:t>
            </a:r>
            <a:r>
              <a:rPr dirty="0" sz="1650" spc="-35" i="1">
                <a:latin typeface="Georgia"/>
                <a:cs typeface="Georgia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=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90" b="1">
                <a:latin typeface="Trebuchet MS"/>
                <a:cs typeface="Trebuchet MS"/>
              </a:rPr>
              <a:t>0.009,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Cohen’s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650" spc="-120" i="1">
                <a:latin typeface="Georgia"/>
                <a:cs typeface="Georgia"/>
              </a:rPr>
              <a:t>d</a:t>
            </a:r>
            <a:r>
              <a:rPr dirty="0" sz="1650" spc="-35" i="1">
                <a:latin typeface="Georgia"/>
                <a:cs typeface="Georgia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=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0.33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978149"/>
            <a:ext cx="598043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40">
                <a:solidFill>
                  <a:srgbClr val="FFFFFF"/>
                </a:solidFill>
              </a:rPr>
              <a:t>Independent</a:t>
            </a:r>
            <a:r>
              <a:rPr dirty="0" sz="4100" spc="-225">
                <a:solidFill>
                  <a:srgbClr val="FFFFFF"/>
                </a:solidFill>
              </a:rPr>
              <a:t> </a:t>
            </a:r>
            <a:r>
              <a:rPr dirty="0" sz="4100" spc="-105">
                <a:solidFill>
                  <a:srgbClr val="FFFFFF"/>
                </a:solidFill>
              </a:rPr>
              <a:t>samples</a:t>
            </a:r>
            <a:r>
              <a:rPr dirty="0" sz="4100" spc="-220">
                <a:solidFill>
                  <a:srgbClr val="FFFFFF"/>
                </a:solidFill>
              </a:rPr>
              <a:t> </a:t>
            </a:r>
            <a:r>
              <a:rPr dirty="0" sz="4100" spc="-25" i="1">
                <a:solidFill>
                  <a:srgbClr val="FFFFFF"/>
                </a:solidFill>
                <a:latin typeface="Book Antiqua"/>
                <a:cs typeface="Book Antiqua"/>
              </a:rPr>
              <a:t>t</a:t>
            </a:r>
            <a:r>
              <a:rPr dirty="0" sz="4100" spc="-25">
                <a:solidFill>
                  <a:srgbClr val="FFFFFF"/>
                </a:solidFill>
              </a:rPr>
              <a:t>-</a:t>
            </a:r>
            <a:r>
              <a:rPr dirty="0" sz="4100" spc="-120">
                <a:solidFill>
                  <a:srgbClr val="FFFFFF"/>
                </a:solidFill>
              </a:rPr>
              <a:t>test</a:t>
            </a:r>
            <a:endParaRPr sz="41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385762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Independent</a:t>
            </a:r>
            <a:r>
              <a:rPr dirty="0" spc="-120"/>
              <a:t> </a:t>
            </a:r>
            <a:r>
              <a:rPr dirty="0" spc="-60"/>
              <a:t>Samples</a:t>
            </a:r>
            <a:r>
              <a:rPr dirty="0" spc="-114"/>
              <a:t> </a:t>
            </a:r>
            <a:r>
              <a:rPr dirty="0" spc="-75" i="1">
                <a:latin typeface="Book Antiqua"/>
                <a:cs typeface="Book Antiqua"/>
              </a:rPr>
              <a:t>t</a:t>
            </a:r>
            <a:r>
              <a:rPr dirty="0" spc="-75"/>
              <a:t>-</a:t>
            </a:r>
            <a:r>
              <a:rPr dirty="0" spc="-130"/>
              <a:t>Test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1428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828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447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3819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4438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5057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58800" y="861694"/>
            <a:ext cx="7319009" cy="4550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5" b="1">
                <a:latin typeface="Trebuchet MS"/>
                <a:cs typeface="Trebuchet MS"/>
              </a:rPr>
              <a:t>When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85" b="1">
                <a:latin typeface="Trebuchet MS"/>
                <a:cs typeface="Trebuchet MS"/>
              </a:rPr>
              <a:t>to</a:t>
            </a:r>
            <a:r>
              <a:rPr dirty="0" sz="1450" spc="-114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Use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</a:pP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distinct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representing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populations.</a:t>
            </a:r>
            <a:endParaRPr sz="1450">
              <a:latin typeface="Trebuchet MS"/>
              <a:cs typeface="Trebuchet MS"/>
            </a:endParaRPr>
          </a:p>
          <a:p>
            <a:pPr marL="393065" marR="133985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Each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participant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belongs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only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one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group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each </a:t>
            </a:r>
            <a:r>
              <a:rPr dirty="0" sz="1450" spc="-10">
                <a:latin typeface="Trebuchet MS"/>
                <a:cs typeface="Trebuchet MS"/>
              </a:rPr>
              <a:t>other.</a:t>
            </a:r>
            <a:endParaRPr sz="1450">
              <a:latin typeface="Trebuchet MS"/>
              <a:cs typeface="Trebuchet MS"/>
            </a:endParaRPr>
          </a:p>
          <a:p>
            <a:pPr marL="393065" marR="271145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goal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determine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outcome </a:t>
            </a:r>
            <a:r>
              <a:rPr dirty="0" sz="1450">
                <a:latin typeface="Trebuchet MS"/>
                <a:cs typeface="Trebuchet MS"/>
              </a:rPr>
              <a:t>variable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groups.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450" spc="-114" b="1">
                <a:latin typeface="Trebuchet MS"/>
                <a:cs typeface="Trebuchet MS"/>
              </a:rPr>
              <a:t>Example</a:t>
            </a:r>
            <a:r>
              <a:rPr dirty="0" sz="1450" spc="-105" b="1">
                <a:latin typeface="Trebuchet MS"/>
                <a:cs typeface="Trebuchet MS"/>
              </a:rPr>
              <a:t> </a:t>
            </a:r>
            <a:r>
              <a:rPr dirty="0" sz="1450" spc="-85" b="1">
                <a:latin typeface="Trebuchet MS"/>
                <a:cs typeface="Trebuchet MS"/>
              </a:rPr>
              <a:t>Scenario</a:t>
            </a:r>
            <a:r>
              <a:rPr dirty="0" sz="1450" spc="-100" b="1">
                <a:latin typeface="Trebuchet MS"/>
                <a:cs typeface="Trebuchet MS"/>
              </a:rPr>
              <a:t> ([Aronson </a:t>
            </a:r>
            <a:r>
              <a:rPr dirty="0" sz="1450" spc="-95" b="1">
                <a:latin typeface="Trebuchet MS"/>
                <a:cs typeface="Trebuchet MS"/>
              </a:rPr>
              <a:t>et</a:t>
            </a:r>
            <a:r>
              <a:rPr dirty="0" sz="1450" spc="-105" b="1">
                <a:latin typeface="Trebuchet MS"/>
                <a:cs typeface="Trebuchet MS"/>
              </a:rPr>
              <a:t> </a:t>
            </a:r>
            <a:r>
              <a:rPr dirty="0" sz="1450" spc="-140" b="1">
                <a:latin typeface="Trebuchet MS"/>
                <a:cs typeface="Trebuchet MS"/>
              </a:rPr>
              <a:t>al.,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1999]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450" spc="-90">
                <a:latin typeface="Trebuchet MS"/>
                <a:cs typeface="Trebuchet MS"/>
              </a:rPr>
              <a:t>(</a:t>
            </a:r>
            <a:r>
              <a:rPr dirty="0" sz="1450" spc="-9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https://www.sciencedirect.com/science/article/pii/S0022103198913713</a:t>
            </a:r>
            <a:r>
              <a:rPr dirty="0" sz="1450" spc="-90">
                <a:latin typeface="Trebuchet MS"/>
                <a:cs typeface="Trebuchet MS"/>
              </a:rPr>
              <a:t>))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450">
              <a:latin typeface="Trebuchet MS"/>
              <a:cs typeface="Trebuchet MS"/>
            </a:endParaRPr>
          </a:p>
          <a:p>
            <a:pPr marL="393065" marR="128905">
              <a:lnSpc>
                <a:spcPts val="1730"/>
              </a:lnSpc>
            </a:pPr>
            <a:r>
              <a:rPr dirty="0" sz="1450" spc="-65" i="1">
                <a:latin typeface="Lucida Sans"/>
                <a:cs typeface="Lucida Sans"/>
              </a:rPr>
              <a:t>Stereotype</a:t>
            </a:r>
            <a:r>
              <a:rPr dirty="0" sz="1450" spc="-50" i="1">
                <a:latin typeface="Lucida Sans"/>
                <a:cs typeface="Lucida Sans"/>
              </a:rPr>
              <a:t> </a:t>
            </a:r>
            <a:r>
              <a:rPr dirty="0" sz="1450" spc="-95" i="1">
                <a:latin typeface="Lucida Sans"/>
                <a:cs typeface="Lucida Sans"/>
              </a:rPr>
              <a:t>threat</a:t>
            </a:r>
            <a:r>
              <a:rPr dirty="0" sz="1450" spc="-95">
                <a:latin typeface="Trebuchet MS"/>
                <a:cs typeface="Trebuchet MS"/>
              </a:rPr>
              <a:t>: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stereotyped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experience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anxiety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situations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where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confirm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negative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stereotype.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pressure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impair</a:t>
            </a:r>
            <a:r>
              <a:rPr dirty="0" sz="1450" spc="-20">
                <a:latin typeface="Trebuchet MS"/>
                <a:cs typeface="Trebuchet MS"/>
              </a:rPr>
              <a:t> performance, </a:t>
            </a:r>
            <a:r>
              <a:rPr dirty="0" sz="1450">
                <a:latin typeface="Trebuchet MS"/>
                <a:cs typeface="Trebuchet MS"/>
              </a:rPr>
              <a:t>reducing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achievement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30">
                <a:latin typeface="Trebuchet MS"/>
                <a:cs typeface="Trebuchet MS"/>
              </a:rPr>
              <a:t>no </a:t>
            </a:r>
            <a:r>
              <a:rPr dirty="0" sz="1450" spc="-10">
                <a:latin typeface="Trebuchet MS"/>
                <a:cs typeface="Trebuchet MS"/>
              </a:rPr>
              <a:t>stereotype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threat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present.</a:t>
            </a:r>
            <a:endParaRPr sz="1450">
              <a:latin typeface="Trebuchet MS"/>
              <a:cs typeface="Trebuchet MS"/>
            </a:endParaRPr>
          </a:p>
          <a:p>
            <a:pPr marL="393065" marR="14414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Research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hypothesis: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White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male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college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worse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exam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exposed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stereotype threat.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1028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647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2266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3114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4257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4657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8800" y="461644"/>
            <a:ext cx="7514590" cy="4331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75" b="1">
                <a:latin typeface="Trebuchet MS"/>
                <a:cs typeface="Trebuchet MS"/>
              </a:rPr>
              <a:t>Study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Design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</a:pPr>
            <a:r>
              <a:rPr dirty="0" sz="1450" spc="-45">
                <a:latin typeface="Trebuchet MS"/>
                <a:cs typeface="Trebuchet MS"/>
              </a:rPr>
              <a:t>Two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college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excelled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mathematics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valued </a:t>
            </a:r>
            <a:r>
              <a:rPr dirty="0" sz="1450">
                <a:latin typeface="Trebuchet MS"/>
                <a:cs typeface="Trebuchet MS"/>
              </a:rPr>
              <a:t>high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performance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subject.</a:t>
            </a:r>
            <a:endParaRPr sz="1450">
              <a:latin typeface="Trebuchet MS"/>
              <a:cs typeface="Trebuchet MS"/>
            </a:endParaRPr>
          </a:p>
          <a:p>
            <a:pPr marL="393065" marR="1076325">
              <a:lnSpc>
                <a:spcPts val="1730"/>
              </a:lnSpc>
              <a:spcBef>
                <a:spcPts val="1415"/>
              </a:spcBef>
            </a:pPr>
            <a:r>
              <a:rPr dirty="0" sz="1450" spc="-40" b="1">
                <a:latin typeface="Trebuchet MS"/>
                <a:cs typeface="Trebuchet MS"/>
              </a:rPr>
              <a:t>Control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group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(n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=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75" b="1">
                <a:latin typeface="Trebuchet MS"/>
                <a:cs typeface="Trebuchet MS"/>
              </a:rPr>
              <a:t>11):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simply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asked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complete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difficult </a:t>
            </a:r>
            <a:r>
              <a:rPr dirty="0" sz="1450">
                <a:latin typeface="Trebuchet MS"/>
                <a:cs typeface="Trebuchet MS"/>
              </a:rPr>
              <a:t>mathematics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exam.</a:t>
            </a:r>
            <a:endParaRPr sz="1450">
              <a:latin typeface="Trebuchet MS"/>
              <a:cs typeface="Trebuchet MS"/>
            </a:endParaRPr>
          </a:p>
          <a:p>
            <a:pPr marL="393065" marR="87630">
              <a:lnSpc>
                <a:spcPts val="1730"/>
              </a:lnSpc>
              <a:spcBef>
                <a:spcPts val="1415"/>
              </a:spcBef>
            </a:pPr>
            <a:r>
              <a:rPr dirty="0" sz="1450" spc="-60" b="1">
                <a:latin typeface="Trebuchet MS"/>
                <a:cs typeface="Trebuchet MS"/>
              </a:rPr>
              <a:t>Threat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condition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(n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=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50" b="1">
                <a:latin typeface="Trebuchet MS"/>
                <a:cs typeface="Trebuchet MS"/>
              </a:rPr>
              <a:t>12):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were </a:t>
            </a:r>
            <a:r>
              <a:rPr dirty="0" sz="1450">
                <a:latin typeface="Trebuchet MS"/>
                <a:cs typeface="Trebuchet MS"/>
              </a:rPr>
              <a:t>told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85" i="1">
                <a:latin typeface="Lucida Sans"/>
                <a:cs typeface="Lucida Sans"/>
              </a:rPr>
              <a:t>Asian</a:t>
            </a:r>
            <a:r>
              <a:rPr dirty="0" sz="1450" spc="-55" i="1">
                <a:latin typeface="Lucida Sans"/>
                <a:cs typeface="Lucida Sans"/>
              </a:rPr>
              <a:t> students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65" i="1">
                <a:latin typeface="Lucida Sans"/>
                <a:cs typeface="Lucida Sans"/>
              </a:rPr>
              <a:t>typically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45" i="1">
                <a:latin typeface="Lucida Sans"/>
                <a:cs typeface="Lucida Sans"/>
              </a:rPr>
              <a:t>outperform</a:t>
            </a:r>
            <a:r>
              <a:rPr dirty="0" sz="1450" spc="-45" i="1">
                <a:latin typeface="Lucida Sans"/>
                <a:cs typeface="Lucida Sans"/>
              </a:rPr>
              <a:t> </a:t>
            </a:r>
            <a:r>
              <a:rPr dirty="0" sz="1450" spc="-60" i="1">
                <a:latin typeface="Lucida Sans"/>
                <a:cs typeface="Lucida Sans"/>
              </a:rPr>
              <a:t>others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tests,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understand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10" i="1">
                <a:latin typeface="Lucida Sans"/>
                <a:cs typeface="Lucida Sans"/>
              </a:rPr>
              <a:t>why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this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difference</a:t>
            </a:r>
            <a:r>
              <a:rPr dirty="0" sz="1450" spc="-10" i="1">
                <a:latin typeface="Lucida Sans"/>
                <a:cs typeface="Lucida Sans"/>
              </a:rPr>
              <a:t> exists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393065" marR="397510">
              <a:lnSpc>
                <a:spcPts val="1720"/>
              </a:lnSpc>
              <a:spcBef>
                <a:spcPts val="149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instruction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expected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trigger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stereotype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threat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white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students, </a:t>
            </a:r>
            <a:r>
              <a:rPr dirty="0" sz="1450">
                <a:latin typeface="Trebuchet MS"/>
                <a:cs typeface="Trebuchet MS"/>
              </a:rPr>
              <a:t>thereby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reducing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their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performance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spc="-20" b="1">
                <a:latin typeface="Trebuchet MS"/>
                <a:cs typeface="Trebuchet MS"/>
              </a:rPr>
              <a:t>Data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5"/>
              </a:spcBef>
            </a:pPr>
            <a:r>
              <a:rPr dirty="0" sz="1450" spc="-40" b="1">
                <a:latin typeface="Trebuchet MS"/>
                <a:cs typeface="Trebuchet MS"/>
              </a:rPr>
              <a:t>Control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condition: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4,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9,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40">
                <a:latin typeface="Trebuchet MS"/>
                <a:cs typeface="Trebuchet MS"/>
              </a:rPr>
              <a:t>12,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90">
                <a:latin typeface="Trebuchet MS"/>
                <a:cs typeface="Trebuchet MS"/>
              </a:rPr>
              <a:t>8,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9,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35">
                <a:latin typeface="Trebuchet MS"/>
                <a:cs typeface="Trebuchet MS"/>
              </a:rPr>
              <a:t>13,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40">
                <a:latin typeface="Trebuchet MS"/>
                <a:cs typeface="Trebuchet MS"/>
              </a:rPr>
              <a:t>12,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35">
                <a:latin typeface="Trebuchet MS"/>
                <a:cs typeface="Trebuchet MS"/>
              </a:rPr>
              <a:t>13,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35">
                <a:latin typeface="Trebuchet MS"/>
                <a:cs typeface="Trebuchet MS"/>
              </a:rPr>
              <a:t>13,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70">
                <a:latin typeface="Trebuchet MS"/>
                <a:cs typeface="Trebuchet MS"/>
              </a:rPr>
              <a:t>7,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6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 spc="-40" b="1">
                <a:latin typeface="Trebuchet MS"/>
                <a:cs typeface="Trebuchet MS"/>
              </a:rPr>
              <a:t>Experimental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condition: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 spc="-170">
                <a:latin typeface="Trebuchet MS"/>
                <a:cs typeface="Trebuchet MS"/>
              </a:rPr>
              <a:t>7,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90">
                <a:latin typeface="Trebuchet MS"/>
                <a:cs typeface="Trebuchet MS"/>
              </a:rPr>
              <a:t>8,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70">
                <a:latin typeface="Trebuchet MS"/>
                <a:cs typeface="Trebuchet MS"/>
              </a:rPr>
              <a:t>7,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30">
                <a:latin typeface="Trebuchet MS"/>
                <a:cs typeface="Trebuchet MS"/>
              </a:rPr>
              <a:t>2,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6,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9,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70">
                <a:latin typeface="Trebuchet MS"/>
                <a:cs typeface="Trebuchet MS"/>
              </a:rPr>
              <a:t>7,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10,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25">
                <a:latin typeface="Trebuchet MS"/>
                <a:cs typeface="Trebuchet MS"/>
              </a:rPr>
              <a:t>5,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85">
                <a:latin typeface="Trebuchet MS"/>
                <a:cs typeface="Trebuchet MS"/>
              </a:rPr>
              <a:t>0,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10,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8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8800" y="394970"/>
            <a:ext cx="7478395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55" b="1">
                <a:latin typeface="Trebuchet MS"/>
                <a:cs typeface="Trebuchet MS"/>
              </a:rPr>
              <a:t>White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male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college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students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perform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lower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in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math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exam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when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exposed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stereotype threat.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71524" y="1533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9800" y="1423669"/>
            <a:ext cx="17024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Dependent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2333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39800" y="2223770"/>
            <a:ext cx="18548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1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71524" y="3133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39800" y="3023870"/>
            <a:ext cx="138176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71524" y="3943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39800" y="3833494"/>
            <a:ext cx="1929764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>
                <a:latin typeface="Trebuchet MS"/>
                <a:cs typeface="Trebuchet MS"/>
              </a:rPr>
              <a:t>Alternative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190749" y="1219199"/>
            <a:ext cx="4267200" cy="9525"/>
          </a:xfrm>
          <a:custGeom>
            <a:avLst/>
            <a:gdLst/>
            <a:ahLst/>
            <a:cxnLst/>
            <a:rect l="l" t="t" r="r" b="b"/>
            <a:pathLst>
              <a:path w="4267200" h="9525">
                <a:moveTo>
                  <a:pt x="4267199" y="9524"/>
                </a:moveTo>
                <a:lnTo>
                  <a:pt x="0" y="9524"/>
                </a:lnTo>
                <a:lnTo>
                  <a:pt x="0" y="0"/>
                </a:lnTo>
                <a:lnTo>
                  <a:pt x="4267199" y="0"/>
                </a:lnTo>
                <a:lnTo>
                  <a:pt x="42671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190749" y="2257424"/>
            <a:ext cx="4267200" cy="9525"/>
          </a:xfrm>
          <a:custGeom>
            <a:avLst/>
            <a:gdLst/>
            <a:ahLst/>
            <a:cxnLst/>
            <a:rect l="l" t="t" r="r" b="b"/>
            <a:pathLst>
              <a:path w="4267200" h="9525">
                <a:moveTo>
                  <a:pt x="4267199" y="9524"/>
                </a:moveTo>
                <a:lnTo>
                  <a:pt x="0" y="9524"/>
                </a:lnTo>
                <a:lnTo>
                  <a:pt x="0" y="0"/>
                </a:lnTo>
                <a:lnTo>
                  <a:pt x="4267199" y="0"/>
                </a:lnTo>
                <a:lnTo>
                  <a:pt x="42671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209799" y="1247774"/>
          <a:ext cx="4305300" cy="989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/>
                <a:gridCol w="285750"/>
                <a:gridCol w="561975"/>
                <a:gridCol w="438150"/>
                <a:gridCol w="933450"/>
                <a:gridCol w="800100"/>
              </a:tblGrid>
              <a:tr h="318770"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Group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0" b="1">
                          <a:latin typeface="Trebuchet MS"/>
                          <a:cs typeface="Trebuchet MS"/>
                        </a:rPr>
                        <a:t>Mean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SD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Skewness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Kurtosis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Control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11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9.64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3.17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0.31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75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1.48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Experimental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12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6.58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3.03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0.86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0.39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0"/>
              <a:t>Descriptive</a:t>
            </a:r>
            <a:r>
              <a:rPr dirty="0" spc="-135"/>
              <a:t> </a:t>
            </a:r>
            <a:r>
              <a:rPr dirty="0" spc="-65"/>
              <a:t>Statistics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771524" y="2943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3432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39623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357687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767262"/>
            <a:ext cx="66675" cy="6667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39800" y="2833370"/>
            <a:ext cx="7132955" cy="26930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experimental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group.</a:t>
            </a:r>
            <a:endParaRPr sz="1450">
              <a:latin typeface="Trebuchet MS"/>
              <a:cs typeface="Trebuchet MS"/>
            </a:endParaRPr>
          </a:p>
          <a:p>
            <a:pPr marL="12700" marR="342265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reflect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effect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stereotype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threat,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due</a:t>
            </a:r>
            <a:r>
              <a:rPr dirty="0" sz="1450" spc="-25">
                <a:latin typeface="Trebuchet MS"/>
                <a:cs typeface="Trebuchet MS"/>
              </a:rPr>
              <a:t> to </a:t>
            </a:r>
            <a:r>
              <a:rPr dirty="0" sz="1450">
                <a:latin typeface="Trebuchet MS"/>
                <a:cs typeface="Trebuchet MS"/>
              </a:rPr>
              <a:t>random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chance?</a:t>
            </a:r>
            <a:endParaRPr sz="1450">
              <a:latin typeface="Trebuchet MS"/>
              <a:cs typeface="Trebuchet MS"/>
            </a:endParaRPr>
          </a:p>
          <a:p>
            <a:pPr marL="393065" marR="170180" indent="-381000">
              <a:lnSpc>
                <a:spcPts val="3150"/>
              </a:lnSpc>
              <a:spcBef>
                <a:spcPts val="280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another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replicated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similar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(N</a:t>
            </a:r>
            <a:r>
              <a:rPr dirty="0" sz="1450">
                <a:latin typeface="Times New Roman"/>
                <a:cs typeface="Times New Roman"/>
              </a:rPr>
              <a:t>₁</a:t>
            </a:r>
            <a:r>
              <a:rPr dirty="0" sz="1450" spc="35">
                <a:latin typeface="Times New Roman"/>
                <a:cs typeface="Times New Roman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75">
                <a:latin typeface="Trebuchet MS"/>
                <a:cs typeface="Trebuchet MS"/>
              </a:rPr>
              <a:t>11,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</a:t>
            </a:r>
            <a:r>
              <a:rPr dirty="0" sz="1450">
                <a:latin typeface="Times New Roman"/>
                <a:cs typeface="Times New Roman"/>
              </a:rPr>
              <a:t>₂</a:t>
            </a:r>
            <a:r>
              <a:rPr dirty="0" sz="1450" spc="35">
                <a:latin typeface="Times New Roman"/>
                <a:cs typeface="Times New Roman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40">
                <a:latin typeface="Trebuchet MS"/>
                <a:cs typeface="Trebuchet MS"/>
              </a:rPr>
              <a:t> 12),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find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difference?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145"/>
              </a:spcBef>
            </a:pP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direction?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visualize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process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sampling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from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two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populations</a:t>
            </a:r>
            <a:r>
              <a:rPr dirty="0" sz="1450" spc="-20">
                <a:latin typeface="Trebuchet MS"/>
                <a:cs typeface="Trebuchet MS"/>
              </a:rPr>
              <a:t>,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think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terms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sampling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distribution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means?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71524" y="5172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0"/>
              <a:t>Sampling</a:t>
            </a:r>
            <a:r>
              <a:rPr dirty="0" spc="-135"/>
              <a:t> </a:t>
            </a:r>
            <a:r>
              <a:rPr dirty="0" spc="-80"/>
              <a:t>Distribution</a:t>
            </a:r>
            <a:r>
              <a:rPr dirty="0" spc="-140"/>
              <a:t> </a:t>
            </a:r>
            <a:r>
              <a:rPr dirty="0" spc="-105"/>
              <a:t>of</a:t>
            </a:r>
            <a:r>
              <a:rPr dirty="0" spc="-135"/>
              <a:t> </a:t>
            </a:r>
            <a:r>
              <a:rPr dirty="0" spc="-114"/>
              <a:t>the</a:t>
            </a:r>
            <a:r>
              <a:rPr dirty="0" spc="-135"/>
              <a:t> </a:t>
            </a:r>
            <a:r>
              <a:rPr dirty="0" spc="-140"/>
              <a:t>Difference</a:t>
            </a:r>
            <a:r>
              <a:rPr dirty="0" spc="-135"/>
              <a:t> </a:t>
            </a:r>
            <a:r>
              <a:rPr dirty="0" spc="-70"/>
              <a:t>in</a:t>
            </a:r>
            <a:r>
              <a:rPr dirty="0" spc="-135"/>
              <a:t> </a:t>
            </a:r>
            <a:r>
              <a:rPr dirty="0" spc="-10"/>
              <a:t>Means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8000" y="795019"/>
            <a:ext cx="7237095" cy="34645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dirty="0" sz="1450" spc="50">
                <a:latin typeface="Trebuchet MS"/>
                <a:cs typeface="Trebuchet MS"/>
              </a:rPr>
              <a:t>Suppose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8.04:</a:t>
            </a:r>
            <a:endParaRPr sz="1450">
              <a:latin typeface="Trebuchet MS"/>
              <a:cs typeface="Trebuchet MS"/>
            </a:endParaRPr>
          </a:p>
          <a:p>
            <a:pPr marL="428625">
              <a:lnSpc>
                <a:spcPct val="100000"/>
              </a:lnSpc>
              <a:spcBef>
                <a:spcPts val="1310"/>
              </a:spcBef>
            </a:pP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3227" sz="1575">
                <a:latin typeface="Tahoma"/>
                <a:cs typeface="Tahoma"/>
              </a:rPr>
              <a:t>1</a:t>
            </a:r>
            <a:r>
              <a:rPr dirty="0" baseline="-13227" sz="1575" spc="18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85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3227" sz="1575">
                <a:latin typeface="Tahoma"/>
                <a:cs typeface="Tahoma"/>
              </a:rPr>
              <a:t>2</a:t>
            </a:r>
            <a:r>
              <a:rPr dirty="0" baseline="-13227" sz="1575" spc="18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8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8.04</a:t>
            </a:r>
            <a:endParaRPr sz="15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1465"/>
              </a:spcBef>
            </a:pPr>
            <a:r>
              <a:rPr dirty="0" sz="1450" spc="-10">
                <a:latin typeface="Trebuchet MS"/>
                <a:cs typeface="Trebuchet MS"/>
              </a:rPr>
              <a:t>Also,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3.4:</a:t>
            </a:r>
            <a:endParaRPr sz="1450">
              <a:latin typeface="Trebuchet MS"/>
              <a:cs typeface="Trebuchet MS"/>
            </a:endParaRPr>
          </a:p>
          <a:p>
            <a:pPr marL="428625">
              <a:lnSpc>
                <a:spcPct val="100000"/>
              </a:lnSpc>
              <a:spcBef>
                <a:spcPts val="1310"/>
              </a:spcBef>
            </a:pPr>
            <a:r>
              <a:rPr dirty="0" sz="1550" spc="-20" i="1">
                <a:latin typeface="Arial"/>
                <a:cs typeface="Arial"/>
              </a:rPr>
              <a:t>σ</a:t>
            </a:r>
            <a:r>
              <a:rPr dirty="0" baseline="-13227" sz="1575" spc="-30">
                <a:latin typeface="Tahoma"/>
                <a:cs typeface="Tahoma"/>
              </a:rPr>
              <a:t>1</a:t>
            </a:r>
            <a:r>
              <a:rPr dirty="0" baseline="-13227" sz="1575" spc="89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114">
                <a:latin typeface="Tahoma"/>
                <a:cs typeface="Tahoma"/>
              </a:rPr>
              <a:t> </a:t>
            </a:r>
            <a:r>
              <a:rPr dirty="0" sz="1550" spc="-20" i="1">
                <a:latin typeface="Arial"/>
                <a:cs typeface="Arial"/>
              </a:rPr>
              <a:t>σ</a:t>
            </a:r>
            <a:r>
              <a:rPr dirty="0" baseline="-13227" sz="1575" spc="-30">
                <a:latin typeface="Tahoma"/>
                <a:cs typeface="Tahoma"/>
              </a:rPr>
              <a:t>2</a:t>
            </a:r>
            <a:r>
              <a:rPr dirty="0" baseline="-13227" sz="1575" spc="112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3.4</a:t>
            </a:r>
            <a:endParaRPr sz="1500">
              <a:latin typeface="Tahoma"/>
              <a:cs typeface="Tahoma"/>
            </a:endParaRPr>
          </a:p>
          <a:p>
            <a:pPr marL="443865" indent="-194310">
              <a:lnSpc>
                <a:spcPct val="100000"/>
              </a:lnSpc>
              <a:spcBef>
                <a:spcPts val="1290"/>
              </a:spcBef>
              <a:buAutoNum type="arabicPeriod"/>
              <a:tabLst>
                <a:tab pos="443865" algn="l"/>
              </a:tabLst>
            </a:pPr>
            <a:r>
              <a:rPr dirty="0" sz="1450">
                <a:latin typeface="Trebuchet MS"/>
                <a:cs typeface="Trebuchet MS"/>
              </a:rPr>
              <a:t>Randomly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65">
                <a:latin typeface="Trebuchet MS"/>
                <a:cs typeface="Trebuchet MS"/>
              </a:rPr>
              <a:t>11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50">
                <a:latin typeface="Trebuchet MS"/>
                <a:cs typeface="Trebuchet MS"/>
              </a:rPr>
              <a:t>1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550" spc="-560" i="1">
                <a:latin typeface="Arial"/>
                <a:cs typeface="Arial"/>
              </a:rPr>
              <a:t>X</a:t>
            </a:r>
            <a:r>
              <a:rPr dirty="0" baseline="11111" sz="2250" spc="277">
                <a:latin typeface="Tahoma"/>
                <a:cs typeface="Tahoma"/>
              </a:rPr>
              <a:t>¯</a:t>
            </a:r>
            <a:r>
              <a:rPr dirty="0" baseline="-13227" sz="1575" spc="270">
                <a:latin typeface="Tahoma"/>
                <a:cs typeface="Tahoma"/>
              </a:rPr>
              <a:t>1</a:t>
            </a:r>
            <a:r>
              <a:rPr dirty="0" sz="1450" spc="1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ct val="100000"/>
              </a:lnSpc>
              <a:spcBef>
                <a:spcPts val="1290"/>
              </a:spcBef>
              <a:buAutoNum type="arabicPeriod"/>
              <a:tabLst>
                <a:tab pos="443865" algn="l"/>
              </a:tabLst>
            </a:pPr>
            <a:r>
              <a:rPr dirty="0" sz="1450">
                <a:latin typeface="Trebuchet MS"/>
                <a:cs typeface="Trebuchet MS"/>
              </a:rPr>
              <a:t>Randomly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12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2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550" spc="-560" i="1">
                <a:latin typeface="Arial"/>
                <a:cs typeface="Arial"/>
              </a:rPr>
              <a:t>X</a:t>
            </a:r>
            <a:r>
              <a:rPr dirty="0" baseline="11111" sz="2250" spc="277">
                <a:latin typeface="Tahoma"/>
                <a:cs typeface="Tahoma"/>
              </a:rPr>
              <a:t>¯</a:t>
            </a:r>
            <a:r>
              <a:rPr dirty="0" baseline="-13227" sz="1575" spc="270">
                <a:latin typeface="Tahoma"/>
                <a:cs typeface="Tahoma"/>
              </a:rPr>
              <a:t>2</a:t>
            </a:r>
            <a:r>
              <a:rPr dirty="0" sz="1450" spc="1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ct val="100000"/>
              </a:lnSpc>
              <a:spcBef>
                <a:spcPts val="1365"/>
              </a:spcBef>
              <a:buAutoNum type="arabicPeriod"/>
              <a:tabLst>
                <a:tab pos="443865" algn="l"/>
              </a:tabLst>
            </a:pP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means: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550" spc="-715" i="1">
                <a:latin typeface="Arial"/>
                <a:cs typeface="Arial"/>
              </a:rPr>
              <a:t>X</a:t>
            </a:r>
            <a:r>
              <a:rPr dirty="0" baseline="12962" sz="2250" spc="44">
                <a:latin typeface="Tahoma"/>
                <a:cs typeface="Tahoma"/>
              </a:rPr>
              <a:t>¯</a:t>
            </a:r>
            <a:r>
              <a:rPr dirty="0" baseline="-7936" sz="1575" spc="-67">
                <a:latin typeface="Tahoma"/>
                <a:cs typeface="Tahoma"/>
              </a:rPr>
              <a:t>1</a:t>
            </a:r>
            <a:r>
              <a:rPr dirty="0" baseline="-7936" sz="1575" spc="12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50" spc="-560" i="1">
                <a:latin typeface="Arial"/>
                <a:cs typeface="Arial"/>
              </a:rPr>
              <a:t>X</a:t>
            </a:r>
            <a:r>
              <a:rPr dirty="0" baseline="12962" sz="2250" spc="277">
                <a:latin typeface="Tahoma"/>
                <a:cs typeface="Tahoma"/>
              </a:rPr>
              <a:t>¯</a:t>
            </a:r>
            <a:r>
              <a:rPr dirty="0" baseline="-7936" sz="1575" spc="270">
                <a:latin typeface="Tahoma"/>
                <a:cs typeface="Tahoma"/>
              </a:rPr>
              <a:t>2</a:t>
            </a:r>
            <a:r>
              <a:rPr dirty="0" sz="1450" spc="1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ct val="100000"/>
              </a:lnSpc>
              <a:spcBef>
                <a:spcPts val="1390"/>
              </a:spcBef>
              <a:buAutoNum type="arabicPeriod"/>
              <a:tabLst>
                <a:tab pos="443865" algn="l"/>
              </a:tabLst>
            </a:pPr>
            <a:r>
              <a:rPr dirty="0" sz="1450">
                <a:latin typeface="Trebuchet MS"/>
                <a:cs typeface="Trebuchet MS"/>
              </a:rPr>
              <a:t>Repeat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Steps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1–3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times.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443865" algn="l"/>
              </a:tabLst>
            </a:pPr>
            <a:r>
              <a:rPr dirty="0" sz="1450">
                <a:latin typeface="Trebuchet MS"/>
                <a:cs typeface="Trebuchet MS"/>
              </a:rPr>
              <a:t>Plot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 sampling distribution of the </a:t>
            </a:r>
            <a:r>
              <a:rPr dirty="0" sz="1450" spc="-10">
                <a:latin typeface="Trebuchet MS"/>
                <a:cs typeface="Trebuchet MS"/>
              </a:rPr>
              <a:t>differences</a:t>
            </a:r>
            <a:r>
              <a:rPr dirty="0" sz="1450">
                <a:latin typeface="Trebuchet MS"/>
                <a:cs typeface="Trebuchet MS"/>
              </a:rPr>
              <a:t> in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 </a:t>
            </a:r>
            <a:r>
              <a:rPr dirty="0" sz="1450" spc="-10">
                <a:latin typeface="Trebuchet MS"/>
                <a:cs typeface="Trebuchet MS"/>
              </a:rPr>
              <a:t>means.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1499" y="390524"/>
            <a:ext cx="7505700" cy="20574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3175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250"/>
              </a:spcBef>
            </a:pP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25" i="1">
                <a:solidFill>
                  <a:srgbClr val="999987"/>
                </a:solidFill>
                <a:latin typeface="Courier New"/>
                <a:cs typeface="Courier New"/>
              </a:rPr>
              <a:t>Sample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11</a:t>
            </a:r>
            <a:r>
              <a:rPr dirty="0" sz="15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individuals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25" i="1">
                <a:solidFill>
                  <a:srgbClr val="999987"/>
                </a:solidFill>
                <a:latin typeface="Courier New"/>
                <a:cs typeface="Courier New"/>
              </a:rPr>
              <a:t>from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Population</a:t>
            </a:r>
            <a:r>
              <a:rPr dirty="0" sz="15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50" i="1">
                <a:solidFill>
                  <a:srgbClr val="999987"/>
                </a:solidFill>
                <a:latin typeface="Courier New"/>
                <a:cs typeface="Courier New"/>
              </a:rPr>
              <a:t>1</a:t>
            </a:r>
            <a:endParaRPr sz="1550">
              <a:latin typeface="Courier New"/>
              <a:cs typeface="Courier New"/>
            </a:endParaRPr>
          </a:p>
          <a:p>
            <a:pPr marL="85090" marR="3091180">
              <a:lnSpc>
                <a:spcPct val="147400"/>
              </a:lnSpc>
              <a:spcBef>
                <a:spcPts val="35"/>
              </a:spcBef>
            </a:pPr>
            <a:r>
              <a:rPr dirty="0" sz="1500" spc="-75">
                <a:solidFill>
                  <a:srgbClr val="333333"/>
                </a:solidFill>
                <a:latin typeface="Lucida Console"/>
                <a:cs typeface="Lucida Console"/>
              </a:rPr>
              <a:t>s1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&lt;-</a:t>
            </a:r>
            <a:r>
              <a:rPr dirty="0" sz="13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rnorm(n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08080"/>
                </a:solidFill>
                <a:latin typeface="Courier New"/>
                <a:cs typeface="Courier New"/>
              </a:rPr>
              <a:t>11</a:t>
            </a:r>
            <a:r>
              <a:rPr dirty="0" sz="1500" spc="-2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Lucida Console"/>
                <a:cs typeface="Lucida Console"/>
              </a:rPr>
              <a:t>mean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30">
                <a:solidFill>
                  <a:srgbClr val="008080"/>
                </a:solidFill>
                <a:latin typeface="Courier New"/>
                <a:cs typeface="Courier New"/>
              </a:rPr>
              <a:t>8.04</a:t>
            </a:r>
            <a:r>
              <a:rPr dirty="0" sz="1500" spc="-3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08080"/>
                </a:solidFill>
                <a:latin typeface="Courier New"/>
                <a:cs typeface="Courier New"/>
              </a:rPr>
              <a:t>3.4</a:t>
            </a:r>
            <a:r>
              <a:rPr dirty="0" sz="1500" spc="-20">
                <a:solidFill>
                  <a:srgbClr val="333333"/>
                </a:solidFill>
                <a:latin typeface="Lucida Console"/>
                <a:cs typeface="Lucida Console"/>
              </a:rPr>
              <a:t>)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25" i="1">
                <a:solidFill>
                  <a:srgbClr val="999987"/>
                </a:solidFill>
                <a:latin typeface="Courier New"/>
                <a:cs typeface="Courier New"/>
              </a:rPr>
              <a:t>Sample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12</a:t>
            </a:r>
            <a:r>
              <a:rPr dirty="0" sz="15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individuals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25" i="1">
                <a:solidFill>
                  <a:srgbClr val="999987"/>
                </a:solidFill>
                <a:latin typeface="Courier New"/>
                <a:cs typeface="Courier New"/>
              </a:rPr>
              <a:t>from</a:t>
            </a:r>
            <a:r>
              <a:rPr dirty="0" sz="15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Population</a:t>
            </a:r>
            <a:r>
              <a:rPr dirty="0" sz="15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50" i="1">
                <a:solidFill>
                  <a:srgbClr val="999987"/>
                </a:solidFill>
                <a:latin typeface="Courier New"/>
                <a:cs typeface="Courier New"/>
              </a:rPr>
              <a:t>2</a:t>
            </a:r>
            <a:r>
              <a:rPr dirty="0" sz="15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Lucida Console"/>
                <a:cs typeface="Lucida Console"/>
              </a:rPr>
              <a:t>s2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&lt;-</a:t>
            </a:r>
            <a:r>
              <a:rPr dirty="0" sz="13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rnorm(n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500" spc="-2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Lucida Console"/>
                <a:cs typeface="Lucida Console"/>
              </a:rPr>
              <a:t>mean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30">
                <a:solidFill>
                  <a:srgbClr val="008080"/>
                </a:solidFill>
                <a:latin typeface="Courier New"/>
                <a:cs typeface="Courier New"/>
              </a:rPr>
              <a:t>8.04</a:t>
            </a:r>
            <a:r>
              <a:rPr dirty="0" sz="1500" spc="-3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08080"/>
                </a:solidFill>
                <a:latin typeface="Courier New"/>
                <a:cs typeface="Courier New"/>
              </a:rPr>
              <a:t>3.4</a:t>
            </a:r>
            <a:r>
              <a:rPr dirty="0" sz="1500" spc="-20">
                <a:solidFill>
                  <a:srgbClr val="333333"/>
                </a:solidFill>
                <a:latin typeface="Lucida Console"/>
                <a:cs typeface="Lucida Console"/>
              </a:rPr>
              <a:t>)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5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Compute</a:t>
            </a:r>
            <a:r>
              <a:rPr dirty="0" sz="15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5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20" i="1">
                <a:solidFill>
                  <a:srgbClr val="999987"/>
                </a:solidFill>
                <a:latin typeface="Courier New"/>
                <a:cs typeface="Courier New"/>
              </a:rPr>
              <a:t>means</a:t>
            </a:r>
            <a:endParaRPr sz="155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890"/>
              </a:spcBef>
            </a:pP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mean(s1)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2540193"/>
            <a:ext cx="125984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6.746864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1499" y="2914649"/>
            <a:ext cx="7505700" cy="3429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3810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300"/>
              </a:spcBef>
            </a:pP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mean(s2)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8800" y="3349818"/>
            <a:ext cx="125984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7.517138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1499" y="3724274"/>
            <a:ext cx="7505700" cy="6858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3175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250"/>
              </a:spcBef>
            </a:pP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5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Difference</a:t>
            </a:r>
            <a:r>
              <a:rPr dirty="0" sz="15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in</a:t>
            </a:r>
            <a:r>
              <a:rPr dirty="0" sz="15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25" i="1">
                <a:solidFill>
                  <a:srgbClr val="999987"/>
                </a:solidFill>
                <a:latin typeface="Courier New"/>
                <a:cs typeface="Courier New"/>
              </a:rPr>
              <a:t>sample</a:t>
            </a:r>
            <a:r>
              <a:rPr dirty="0" sz="15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0" i="1">
                <a:solidFill>
                  <a:srgbClr val="999987"/>
                </a:solidFill>
                <a:latin typeface="Courier New"/>
                <a:cs typeface="Courier New"/>
              </a:rPr>
              <a:t>means</a:t>
            </a:r>
            <a:endParaRPr sz="155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890"/>
              </a:spcBef>
            </a:pP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mean(s1)</a:t>
            </a:r>
            <a:r>
              <a:rPr dirty="0" sz="15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-</a:t>
            </a:r>
            <a:r>
              <a:rPr dirty="0" sz="1500" spc="-1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mean(s2)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8800" y="4511868"/>
            <a:ext cx="136271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3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40">
                <a:solidFill>
                  <a:srgbClr val="007834"/>
                </a:solidFill>
                <a:latin typeface="Courier New"/>
                <a:cs typeface="Courier New"/>
              </a:rPr>
              <a:t>-</a:t>
            </a:r>
            <a:r>
              <a:rPr dirty="0" sz="1400" spc="-25">
                <a:solidFill>
                  <a:srgbClr val="007834"/>
                </a:solidFill>
                <a:latin typeface="Courier New"/>
                <a:cs typeface="Courier New"/>
              </a:rPr>
              <a:t>0.770274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1499" y="352425"/>
            <a:ext cx="7505700" cy="16383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2225" rIns="0" bIns="0" rtlCol="0" vert="horz">
            <a:spAutoFit/>
          </a:bodyPr>
          <a:lstStyle/>
          <a:p>
            <a:pPr algn="just" marL="50800">
              <a:lnSpc>
                <a:spcPct val="100000"/>
              </a:lnSpc>
              <a:spcBef>
                <a:spcPts val="175"/>
              </a:spcBef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Repeat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same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process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10,000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times</a:t>
            </a:r>
            <a:endParaRPr sz="950">
              <a:latin typeface="Courier New"/>
              <a:cs typeface="Courier New"/>
            </a:endParaRPr>
          </a:p>
          <a:p>
            <a:pPr algn="just" marL="50800">
              <a:lnSpc>
                <a:spcPts val="950"/>
              </a:lnSpc>
              <a:spcBef>
                <a:spcPts val="484"/>
              </a:spcBef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diff.in.means</a:t>
            </a:r>
            <a:r>
              <a:rPr dirty="0" sz="9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&lt;-</a:t>
            </a:r>
            <a:r>
              <a:rPr dirty="0" sz="800" spc="-1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replicate(n</a:t>
            </a:r>
            <a:r>
              <a:rPr dirty="0" sz="900" spc="235">
                <a:solidFill>
                  <a:srgbClr val="333333"/>
                </a:solidFill>
                <a:latin typeface="Lucida Console"/>
                <a:cs typeface="Lucida Console"/>
              </a:rPr>
              <a:t> 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-8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10000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 algn="just" marL="1709420">
              <a:lnSpc>
                <a:spcPts val="825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expr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333333"/>
                </a:solidFill>
                <a:latin typeface="Lucida Console"/>
                <a:cs typeface="Lucida Console"/>
              </a:rPr>
              <a:t>{</a:t>
            </a:r>
            <a:endParaRPr sz="900">
              <a:latin typeface="Lucida Console"/>
              <a:cs typeface="Lucida Console"/>
            </a:endParaRPr>
          </a:p>
          <a:p>
            <a:pPr algn="just" marL="1832610" marR="3084195">
              <a:lnSpc>
                <a:spcPct val="72900"/>
              </a:lnSpc>
              <a:spcBef>
                <a:spcPts val="165"/>
              </a:spcBef>
            </a:pPr>
            <a:r>
              <a:rPr dirty="0" sz="900" spc="-55">
                <a:solidFill>
                  <a:srgbClr val="333333"/>
                </a:solidFill>
                <a:latin typeface="Lucida Console"/>
                <a:cs typeface="Lucida Console"/>
              </a:rPr>
              <a:t>s1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&lt;-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900" spc="-70">
                <a:solidFill>
                  <a:srgbClr val="333333"/>
                </a:solidFill>
                <a:latin typeface="Lucida Console"/>
                <a:cs typeface="Lucida Console"/>
              </a:rPr>
              <a:t>rnorm(n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30">
                <a:solidFill>
                  <a:srgbClr val="008080"/>
                </a:solidFill>
                <a:latin typeface="Courier New"/>
                <a:cs typeface="Courier New"/>
              </a:rPr>
              <a:t>11</a:t>
            </a:r>
            <a:r>
              <a:rPr dirty="0" sz="900" spc="-3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mean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8.04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00" spc="-5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008080"/>
                </a:solidFill>
                <a:latin typeface="Courier New"/>
                <a:cs typeface="Courier New"/>
              </a:rPr>
              <a:t>3.4</a:t>
            </a:r>
            <a:r>
              <a:rPr dirty="0" sz="900" spc="-20">
                <a:solidFill>
                  <a:srgbClr val="333333"/>
                </a:solidFill>
                <a:latin typeface="Lucida Console"/>
                <a:cs typeface="Lucida Console"/>
              </a:rPr>
              <a:t>) </a:t>
            </a:r>
            <a:r>
              <a:rPr dirty="0" sz="900" spc="-55">
                <a:solidFill>
                  <a:srgbClr val="333333"/>
                </a:solidFill>
                <a:latin typeface="Lucida Console"/>
                <a:cs typeface="Lucida Console"/>
              </a:rPr>
              <a:t>s2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&lt;-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900" spc="-70">
                <a:solidFill>
                  <a:srgbClr val="333333"/>
                </a:solidFill>
                <a:latin typeface="Lucida Console"/>
                <a:cs typeface="Lucida Console"/>
              </a:rPr>
              <a:t>rnorm(n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30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900" spc="-3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mean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8.04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00" spc="-5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008080"/>
                </a:solidFill>
                <a:latin typeface="Courier New"/>
                <a:cs typeface="Courier New"/>
              </a:rPr>
              <a:t>3.4</a:t>
            </a:r>
            <a:r>
              <a:rPr dirty="0" sz="900" spc="-20">
                <a:solidFill>
                  <a:srgbClr val="333333"/>
                </a:solidFill>
                <a:latin typeface="Lucida Console"/>
                <a:cs typeface="Lucida Console"/>
              </a:rPr>
              <a:t>) 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mean(s1)</a:t>
            </a:r>
            <a:r>
              <a:rPr dirty="0" sz="9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00">
                <a:solidFill>
                  <a:srgbClr val="333333"/>
                </a:solidFill>
                <a:latin typeface="Lucida Console"/>
                <a:cs typeface="Lucida Console"/>
              </a:rPr>
              <a:t>-</a:t>
            </a:r>
            <a:r>
              <a:rPr dirty="0" sz="9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mean(s2)</a:t>
            </a:r>
            <a:endParaRPr sz="900">
              <a:latin typeface="Lucida Console"/>
              <a:cs typeface="Lucida Console"/>
            </a:endParaRPr>
          </a:p>
          <a:p>
            <a:pPr marL="1832610">
              <a:lnSpc>
                <a:spcPts val="695"/>
              </a:lnSpc>
            </a:pPr>
            <a:r>
              <a:rPr dirty="0" sz="900" spc="-50">
                <a:solidFill>
                  <a:srgbClr val="333333"/>
                </a:solidFill>
                <a:latin typeface="Lucida Console"/>
                <a:cs typeface="Lucida Console"/>
              </a:rPr>
              <a:t>}</a:t>
            </a:r>
            <a:endParaRPr sz="900">
              <a:latin typeface="Lucida Console"/>
              <a:cs typeface="Lucida Console"/>
            </a:endParaRPr>
          </a:p>
          <a:p>
            <a:pPr marL="1709420">
              <a:lnSpc>
                <a:spcPts val="955"/>
              </a:lnSpc>
            </a:pPr>
            <a:r>
              <a:rPr dirty="0" sz="900" spc="-5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  <a:p>
            <a:pPr algn="just" marL="50800">
              <a:lnSpc>
                <a:spcPct val="100000"/>
              </a:lnSpc>
              <a:spcBef>
                <a:spcPts val="445"/>
              </a:spcBef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Descriptive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statistics</a:t>
            </a:r>
            <a:endParaRPr sz="950">
              <a:latin typeface="Courier New"/>
              <a:cs typeface="Courier New"/>
            </a:endParaRPr>
          </a:p>
          <a:p>
            <a:pPr marL="50800" marR="6033770">
              <a:lnSpc>
                <a:spcPct val="142500"/>
              </a:lnSpc>
              <a:spcBef>
                <a:spcPts val="25"/>
              </a:spcBef>
            </a:pPr>
            <a:r>
              <a:rPr dirty="0" sz="950" spc="-10" b="1">
                <a:solidFill>
                  <a:srgbClr val="333333"/>
                </a:solidFill>
                <a:latin typeface="Courier New"/>
                <a:cs typeface="Courier New"/>
              </a:rPr>
              <a:t>require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(psych) 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describe(diff.in.means)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8800" y="2070953"/>
            <a:ext cx="4879340" cy="27051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 marR="5080" indent="184150">
              <a:lnSpc>
                <a:spcPct val="76400"/>
              </a:lnSpc>
              <a:spcBef>
                <a:spcPts val="370"/>
              </a:spcBef>
              <a:tabLst>
                <a:tab pos="381000" algn="l"/>
                <a:tab pos="749300" algn="l"/>
                <a:tab pos="1363980" algn="l"/>
                <a:tab pos="2101215" algn="l"/>
                <a:tab pos="2900045" algn="l"/>
                <a:tab pos="4251325" algn="l"/>
                <a:tab pos="4742815" algn="l"/>
              </a:tabLst>
            </a:pPr>
            <a:r>
              <a:rPr dirty="0" sz="900" spc="-20">
                <a:solidFill>
                  <a:srgbClr val="007834"/>
                </a:solidFill>
                <a:latin typeface="Lucida Console"/>
                <a:cs typeface="Lucida Console"/>
              </a:rPr>
              <a:t>vars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	n</a:t>
            </a:r>
            <a:r>
              <a:rPr dirty="0" sz="900" spc="35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20">
                <a:solidFill>
                  <a:srgbClr val="007834"/>
                </a:solidFill>
                <a:latin typeface="Lucida Console"/>
                <a:cs typeface="Lucida Console"/>
              </a:rPr>
              <a:t>mean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900" spc="-55">
                <a:solidFill>
                  <a:srgbClr val="007834"/>
                </a:solidFill>
                <a:latin typeface="Lucida Console"/>
                <a:cs typeface="Lucida Console"/>
              </a:rPr>
              <a:t>sd</a:t>
            </a:r>
            <a:r>
              <a:rPr dirty="0" sz="900" spc="-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median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25">
                <a:solidFill>
                  <a:srgbClr val="007834"/>
                </a:solidFill>
                <a:latin typeface="Lucida Console"/>
                <a:cs typeface="Lucida Console"/>
              </a:rPr>
              <a:t>trimmed</a:t>
            </a:r>
            <a:r>
              <a:rPr dirty="0" sz="900" spc="17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25">
                <a:solidFill>
                  <a:srgbClr val="007834"/>
                </a:solidFill>
                <a:latin typeface="Lucida Console"/>
                <a:cs typeface="Lucida Console"/>
              </a:rPr>
              <a:t>mad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900" spc="-60">
                <a:solidFill>
                  <a:srgbClr val="007834"/>
                </a:solidFill>
                <a:latin typeface="Lucida Console"/>
                <a:cs typeface="Lucida Console"/>
              </a:rPr>
              <a:t>min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60">
                <a:solidFill>
                  <a:srgbClr val="007834"/>
                </a:solidFill>
                <a:latin typeface="Lucida Console"/>
                <a:cs typeface="Lucida Console"/>
              </a:rPr>
              <a:t>max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 range skew </a:t>
            </a:r>
            <a:r>
              <a:rPr dirty="0" sz="900" spc="-10">
                <a:solidFill>
                  <a:srgbClr val="007834"/>
                </a:solidFill>
                <a:latin typeface="Lucida Console"/>
                <a:cs typeface="Lucida Console"/>
              </a:rPr>
              <a:t>kurtosis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se </a:t>
            </a:r>
            <a:r>
              <a:rPr dirty="0" sz="900" spc="-25">
                <a:solidFill>
                  <a:srgbClr val="007834"/>
                </a:solidFill>
                <a:latin typeface="Lucida Console"/>
                <a:cs typeface="Lucida Console"/>
              </a:rPr>
              <a:t>X1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	1</a:t>
            </a:r>
            <a:r>
              <a:rPr dirty="0" sz="900" spc="-13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10000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 -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0.02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1.42</a:t>
            </a:r>
            <a:r>
              <a:rPr dirty="0" sz="900" spc="2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900" spc="-20">
                <a:solidFill>
                  <a:srgbClr val="007834"/>
                </a:solidFill>
                <a:latin typeface="Lucida Console"/>
                <a:cs typeface="Lucida Console"/>
              </a:rPr>
              <a:t>0.02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0.02</a:t>
            </a:r>
            <a:r>
              <a:rPr dirty="0" sz="9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1.43</a:t>
            </a:r>
            <a:r>
              <a:rPr dirty="0" sz="9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4.93</a:t>
            </a:r>
            <a:r>
              <a:rPr dirty="0" sz="900" spc="-60">
                <a:solidFill>
                  <a:srgbClr val="007834"/>
                </a:solidFill>
                <a:latin typeface="Lucida Console"/>
                <a:cs typeface="Lucida Console"/>
              </a:rPr>
              <a:t> 5.4 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10.33</a:t>
            </a:r>
            <a:r>
              <a:rPr dirty="0" sz="900" spc="-5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20">
                <a:solidFill>
                  <a:srgbClr val="007834"/>
                </a:solidFill>
                <a:latin typeface="Lucida Console"/>
                <a:cs typeface="Lucida Console"/>
              </a:rPr>
              <a:t>0.01</a:t>
            </a:r>
            <a:r>
              <a:rPr dirty="0" sz="9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900" spc="-7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900" spc="-65">
                <a:solidFill>
                  <a:srgbClr val="007834"/>
                </a:solidFill>
                <a:latin typeface="Lucida Console"/>
                <a:cs typeface="Lucida Console"/>
              </a:rPr>
              <a:t>0.08</a:t>
            </a:r>
            <a:r>
              <a:rPr dirty="0" sz="900" spc="-55">
                <a:solidFill>
                  <a:srgbClr val="007834"/>
                </a:solidFill>
                <a:latin typeface="Lucida Console"/>
                <a:cs typeface="Lucida Console"/>
              </a:rPr>
              <a:t> 0.01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1499" y="2438399"/>
            <a:ext cx="7505700" cy="4095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Sampling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distribution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of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differences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in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sample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means</a:t>
            </a:r>
            <a:endParaRPr sz="95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560"/>
              </a:spcBef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hist(diff.in.means,col</a:t>
            </a:r>
            <a:r>
              <a:rPr dirty="0" sz="800" spc="-65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900" spc="-65">
                <a:solidFill>
                  <a:srgbClr val="DD1144"/>
                </a:solidFill>
                <a:latin typeface="Courier New"/>
                <a:cs typeface="Courier New"/>
              </a:rPr>
              <a:t>'white'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,xlab</a:t>
            </a:r>
            <a:r>
              <a:rPr dirty="0" sz="900" spc="2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8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DD1144"/>
                </a:solidFill>
                <a:latin typeface="Courier New"/>
                <a:cs typeface="Courier New"/>
              </a:rPr>
              <a:t>''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605733" y="3219821"/>
            <a:ext cx="1715135" cy="128905"/>
            <a:chOff x="3605733" y="3219821"/>
            <a:chExt cx="1715135" cy="12890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733" y="3219821"/>
              <a:ext cx="1088305" cy="12837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3080" y="3219821"/>
              <a:ext cx="617748" cy="100719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2560022" y="4366988"/>
            <a:ext cx="448945" cy="530860"/>
            <a:chOff x="2560022" y="4366988"/>
            <a:chExt cx="448945" cy="53086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0022" y="4366988"/>
              <a:ext cx="362857" cy="53042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8063" y="4672942"/>
              <a:ext cx="80348" cy="18014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8490" y="4380867"/>
              <a:ext cx="79920" cy="180960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3495116" y="5720320"/>
            <a:ext cx="1819275" cy="69215"/>
          </a:xfrm>
          <a:custGeom>
            <a:avLst/>
            <a:gdLst/>
            <a:ahLst/>
            <a:cxnLst/>
            <a:rect l="l" t="t" r="r" b="b"/>
            <a:pathLst>
              <a:path w="1819275" h="69214">
                <a:moveTo>
                  <a:pt x="0" y="0"/>
                </a:moveTo>
                <a:lnTo>
                  <a:pt x="1819088" y="0"/>
                </a:lnTo>
              </a:path>
              <a:path w="1819275" h="69214">
                <a:moveTo>
                  <a:pt x="0" y="0"/>
                </a:moveTo>
                <a:lnTo>
                  <a:pt x="0" y="68609"/>
                </a:lnTo>
              </a:path>
              <a:path w="1819275" h="69214">
                <a:moveTo>
                  <a:pt x="454781" y="0"/>
                </a:moveTo>
                <a:lnTo>
                  <a:pt x="454781" y="68609"/>
                </a:lnTo>
              </a:path>
              <a:path w="1819275" h="69214">
                <a:moveTo>
                  <a:pt x="909562" y="0"/>
                </a:moveTo>
                <a:lnTo>
                  <a:pt x="909562" y="68609"/>
                </a:lnTo>
              </a:path>
              <a:path w="1819275" h="69214">
                <a:moveTo>
                  <a:pt x="1364344" y="0"/>
                </a:moveTo>
                <a:lnTo>
                  <a:pt x="1364344" y="68609"/>
                </a:lnTo>
              </a:path>
              <a:path w="1819275" h="69214">
                <a:moveTo>
                  <a:pt x="1819088" y="0"/>
                </a:moveTo>
                <a:lnTo>
                  <a:pt x="1819088" y="68609"/>
                </a:lnTo>
              </a:path>
            </a:pathLst>
          </a:custGeom>
          <a:ln w="7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449345" y="5888570"/>
            <a:ext cx="93345" cy="78740"/>
          </a:xfrm>
          <a:custGeom>
            <a:avLst/>
            <a:gdLst/>
            <a:ahLst/>
            <a:cxnLst/>
            <a:rect l="l" t="t" r="r" b="b"/>
            <a:pathLst>
              <a:path w="93345" h="78739">
                <a:moveTo>
                  <a:pt x="27901" y="43840"/>
                </a:moveTo>
                <a:lnTo>
                  <a:pt x="0" y="43840"/>
                </a:lnTo>
                <a:lnTo>
                  <a:pt x="0" y="52768"/>
                </a:lnTo>
                <a:lnTo>
                  <a:pt x="27901" y="52768"/>
                </a:lnTo>
                <a:lnTo>
                  <a:pt x="27901" y="43840"/>
                </a:lnTo>
                <a:close/>
              </a:path>
              <a:path w="93345" h="78739">
                <a:moveTo>
                  <a:pt x="93205" y="52908"/>
                </a:moveTo>
                <a:lnTo>
                  <a:pt x="82156" y="52908"/>
                </a:lnTo>
                <a:lnTo>
                  <a:pt x="82156" y="11353"/>
                </a:lnTo>
                <a:lnTo>
                  <a:pt x="82156" y="0"/>
                </a:lnTo>
                <a:lnTo>
                  <a:pt x="72669" y="0"/>
                </a:lnTo>
                <a:lnTo>
                  <a:pt x="72669" y="11582"/>
                </a:lnTo>
                <a:lnTo>
                  <a:pt x="72669" y="52908"/>
                </a:lnTo>
                <a:lnTo>
                  <a:pt x="44869" y="52908"/>
                </a:lnTo>
                <a:lnTo>
                  <a:pt x="45580" y="52095"/>
                </a:lnTo>
                <a:lnTo>
                  <a:pt x="45656" y="51943"/>
                </a:lnTo>
                <a:lnTo>
                  <a:pt x="45986" y="51536"/>
                </a:lnTo>
                <a:lnTo>
                  <a:pt x="47663" y="49301"/>
                </a:lnTo>
                <a:lnTo>
                  <a:pt x="47739" y="49161"/>
                </a:lnTo>
                <a:lnTo>
                  <a:pt x="48374" y="48298"/>
                </a:lnTo>
                <a:lnTo>
                  <a:pt x="48780" y="47663"/>
                </a:lnTo>
                <a:lnTo>
                  <a:pt x="69126" y="17716"/>
                </a:lnTo>
                <a:lnTo>
                  <a:pt x="69202" y="17564"/>
                </a:lnTo>
                <a:lnTo>
                  <a:pt x="69316" y="17424"/>
                </a:lnTo>
                <a:lnTo>
                  <a:pt x="69430" y="17233"/>
                </a:lnTo>
                <a:lnTo>
                  <a:pt x="69507" y="17081"/>
                </a:lnTo>
                <a:lnTo>
                  <a:pt x="69837" y="16522"/>
                </a:lnTo>
                <a:lnTo>
                  <a:pt x="69951" y="16306"/>
                </a:lnTo>
                <a:lnTo>
                  <a:pt x="70065" y="16116"/>
                </a:lnTo>
                <a:lnTo>
                  <a:pt x="70167" y="15887"/>
                </a:lnTo>
                <a:lnTo>
                  <a:pt x="70434" y="15481"/>
                </a:lnTo>
                <a:lnTo>
                  <a:pt x="70548" y="15265"/>
                </a:lnTo>
                <a:lnTo>
                  <a:pt x="70662" y="15074"/>
                </a:lnTo>
                <a:lnTo>
                  <a:pt x="70764" y="14846"/>
                </a:lnTo>
                <a:lnTo>
                  <a:pt x="70878" y="14668"/>
                </a:lnTo>
                <a:lnTo>
                  <a:pt x="70993" y="14439"/>
                </a:lnTo>
                <a:lnTo>
                  <a:pt x="72110" y="12471"/>
                </a:lnTo>
                <a:lnTo>
                  <a:pt x="72224" y="12319"/>
                </a:lnTo>
                <a:lnTo>
                  <a:pt x="72478" y="11760"/>
                </a:lnTo>
                <a:lnTo>
                  <a:pt x="72669" y="11582"/>
                </a:lnTo>
                <a:lnTo>
                  <a:pt x="72669" y="0"/>
                </a:lnTo>
                <a:lnTo>
                  <a:pt x="71628" y="0"/>
                </a:lnTo>
                <a:lnTo>
                  <a:pt x="35687" y="52908"/>
                </a:lnTo>
                <a:lnTo>
                  <a:pt x="35610" y="60845"/>
                </a:lnTo>
                <a:lnTo>
                  <a:pt x="72669" y="60845"/>
                </a:lnTo>
                <a:lnTo>
                  <a:pt x="72669" y="78663"/>
                </a:lnTo>
                <a:lnTo>
                  <a:pt x="82156" y="78663"/>
                </a:lnTo>
                <a:lnTo>
                  <a:pt x="82156" y="60845"/>
                </a:lnTo>
                <a:lnTo>
                  <a:pt x="93205" y="60845"/>
                </a:lnTo>
                <a:lnTo>
                  <a:pt x="93205" y="52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904132" y="5887427"/>
            <a:ext cx="91440" cy="80010"/>
          </a:xfrm>
          <a:custGeom>
            <a:avLst/>
            <a:gdLst/>
            <a:ahLst/>
            <a:cxnLst/>
            <a:rect l="l" t="t" r="r" b="b"/>
            <a:pathLst>
              <a:path w="91439" h="80010">
                <a:moveTo>
                  <a:pt x="27901" y="44983"/>
                </a:moveTo>
                <a:lnTo>
                  <a:pt x="0" y="44983"/>
                </a:lnTo>
                <a:lnTo>
                  <a:pt x="0" y="53911"/>
                </a:lnTo>
                <a:lnTo>
                  <a:pt x="27901" y="53911"/>
                </a:lnTo>
                <a:lnTo>
                  <a:pt x="27901" y="44983"/>
                </a:lnTo>
                <a:close/>
              </a:path>
              <a:path w="91439" h="80010">
                <a:moveTo>
                  <a:pt x="90817" y="71247"/>
                </a:moveTo>
                <a:lnTo>
                  <a:pt x="49784" y="71247"/>
                </a:lnTo>
                <a:lnTo>
                  <a:pt x="50673" y="69392"/>
                </a:lnTo>
                <a:lnTo>
                  <a:pt x="54508" y="63995"/>
                </a:lnTo>
                <a:lnTo>
                  <a:pt x="58331" y="59931"/>
                </a:lnTo>
                <a:lnTo>
                  <a:pt x="78244" y="42748"/>
                </a:lnTo>
                <a:lnTo>
                  <a:pt x="83375" y="37160"/>
                </a:lnTo>
                <a:lnTo>
                  <a:pt x="86499" y="32550"/>
                </a:lnTo>
                <a:lnTo>
                  <a:pt x="88138" y="29057"/>
                </a:lnTo>
                <a:lnTo>
                  <a:pt x="89065" y="26149"/>
                </a:lnTo>
                <a:lnTo>
                  <a:pt x="89585" y="21539"/>
                </a:lnTo>
                <a:lnTo>
                  <a:pt x="89179" y="16586"/>
                </a:lnTo>
                <a:lnTo>
                  <a:pt x="63728" y="0"/>
                </a:lnTo>
                <a:lnTo>
                  <a:pt x="57213" y="774"/>
                </a:lnTo>
                <a:lnTo>
                  <a:pt x="39179" y="20574"/>
                </a:lnTo>
                <a:lnTo>
                  <a:pt x="49441" y="21539"/>
                </a:lnTo>
                <a:lnTo>
                  <a:pt x="50076" y="18453"/>
                </a:lnTo>
                <a:lnTo>
                  <a:pt x="51117" y="15773"/>
                </a:lnTo>
                <a:lnTo>
                  <a:pt x="53009" y="13055"/>
                </a:lnTo>
                <a:lnTo>
                  <a:pt x="55803" y="10668"/>
                </a:lnTo>
                <a:lnTo>
                  <a:pt x="59232" y="9067"/>
                </a:lnTo>
                <a:lnTo>
                  <a:pt x="64325" y="8255"/>
                </a:lnTo>
                <a:lnTo>
                  <a:pt x="66814" y="8331"/>
                </a:lnTo>
                <a:lnTo>
                  <a:pt x="79171" y="23736"/>
                </a:lnTo>
                <a:lnTo>
                  <a:pt x="78460" y="27266"/>
                </a:lnTo>
                <a:lnTo>
                  <a:pt x="57924" y="48996"/>
                </a:lnTo>
                <a:lnTo>
                  <a:pt x="50749" y="55549"/>
                </a:lnTo>
                <a:lnTo>
                  <a:pt x="47320" y="59232"/>
                </a:lnTo>
                <a:lnTo>
                  <a:pt x="44081" y="63246"/>
                </a:lnTo>
                <a:lnTo>
                  <a:pt x="40551" y="68935"/>
                </a:lnTo>
                <a:lnTo>
                  <a:pt x="38722" y="72694"/>
                </a:lnTo>
                <a:lnTo>
                  <a:pt x="38722" y="79806"/>
                </a:lnTo>
                <a:lnTo>
                  <a:pt x="90817" y="79806"/>
                </a:lnTo>
                <a:lnTo>
                  <a:pt x="90817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377939" y="5887565"/>
            <a:ext cx="53975" cy="80645"/>
          </a:xfrm>
          <a:custGeom>
            <a:avLst/>
            <a:gdLst/>
            <a:ahLst/>
            <a:cxnLst/>
            <a:rect l="l" t="t" r="r" b="b"/>
            <a:pathLst>
              <a:path w="53975" h="80645">
                <a:moveTo>
                  <a:pt x="29940" y="80590"/>
                </a:moveTo>
                <a:lnTo>
                  <a:pt x="23205" y="80590"/>
                </a:lnTo>
                <a:lnTo>
                  <a:pt x="22126" y="80441"/>
                </a:lnTo>
                <a:lnTo>
                  <a:pt x="0" y="28723"/>
                </a:lnTo>
                <a:lnTo>
                  <a:pt x="137" y="27533"/>
                </a:lnTo>
                <a:lnTo>
                  <a:pt x="350" y="26007"/>
                </a:lnTo>
                <a:lnTo>
                  <a:pt x="397" y="25672"/>
                </a:lnTo>
                <a:lnTo>
                  <a:pt x="23466" y="0"/>
                </a:lnTo>
                <a:lnTo>
                  <a:pt x="30237" y="0"/>
                </a:lnTo>
                <a:lnTo>
                  <a:pt x="46231" y="8371"/>
                </a:lnTo>
                <a:lnTo>
                  <a:pt x="22945" y="8371"/>
                </a:lnTo>
                <a:lnTo>
                  <a:pt x="21457" y="8743"/>
                </a:lnTo>
                <a:lnTo>
                  <a:pt x="10257" y="27384"/>
                </a:lnTo>
                <a:lnTo>
                  <a:pt x="10257" y="52945"/>
                </a:lnTo>
                <a:lnTo>
                  <a:pt x="22833" y="72181"/>
                </a:lnTo>
                <a:lnTo>
                  <a:pt x="30498" y="72181"/>
                </a:lnTo>
                <a:lnTo>
                  <a:pt x="26281" y="72814"/>
                </a:lnTo>
                <a:lnTo>
                  <a:pt x="45269" y="72814"/>
                </a:lnTo>
                <a:lnTo>
                  <a:pt x="44488" y="73707"/>
                </a:lnTo>
                <a:lnTo>
                  <a:pt x="31019" y="80441"/>
                </a:lnTo>
                <a:lnTo>
                  <a:pt x="29940" y="80590"/>
                </a:lnTo>
                <a:close/>
              </a:path>
              <a:path w="53975" h="80645">
                <a:moveTo>
                  <a:pt x="38781" y="72814"/>
                </a:moveTo>
                <a:lnTo>
                  <a:pt x="26281" y="72814"/>
                </a:lnTo>
                <a:lnTo>
                  <a:pt x="30461" y="72181"/>
                </a:lnTo>
                <a:lnTo>
                  <a:pt x="31512" y="71883"/>
                </a:lnTo>
                <a:lnTo>
                  <a:pt x="43498" y="48852"/>
                </a:lnTo>
                <a:lnTo>
                  <a:pt x="43409" y="30212"/>
                </a:lnTo>
                <a:lnTo>
                  <a:pt x="30721" y="8371"/>
                </a:lnTo>
                <a:lnTo>
                  <a:pt x="46231" y="8371"/>
                </a:lnTo>
                <a:lnTo>
                  <a:pt x="53427" y="28723"/>
                </a:lnTo>
                <a:lnTo>
                  <a:pt x="53529" y="29467"/>
                </a:lnTo>
                <a:lnTo>
                  <a:pt x="53598" y="30212"/>
                </a:lnTo>
                <a:lnTo>
                  <a:pt x="53715" y="31477"/>
                </a:lnTo>
                <a:lnTo>
                  <a:pt x="53832" y="47104"/>
                </a:lnTo>
                <a:lnTo>
                  <a:pt x="53690" y="48629"/>
                </a:lnTo>
                <a:lnTo>
                  <a:pt x="53669" y="48852"/>
                </a:lnTo>
                <a:lnTo>
                  <a:pt x="53551" y="50117"/>
                </a:lnTo>
                <a:lnTo>
                  <a:pt x="53492" y="50750"/>
                </a:lnTo>
                <a:lnTo>
                  <a:pt x="53394" y="51568"/>
                </a:lnTo>
                <a:lnTo>
                  <a:pt x="53268" y="52610"/>
                </a:lnTo>
                <a:lnTo>
                  <a:pt x="45775" y="72181"/>
                </a:lnTo>
                <a:lnTo>
                  <a:pt x="16434" y="72181"/>
                </a:lnTo>
                <a:lnTo>
                  <a:pt x="38781" y="72814"/>
                </a:lnTo>
                <a:close/>
              </a:path>
              <a:path w="53975" h="80645">
                <a:moveTo>
                  <a:pt x="45269" y="72814"/>
                </a:moveTo>
                <a:lnTo>
                  <a:pt x="38781" y="72814"/>
                </a:lnTo>
                <a:lnTo>
                  <a:pt x="16434" y="72181"/>
                </a:lnTo>
                <a:lnTo>
                  <a:pt x="45775" y="72181"/>
                </a:lnTo>
                <a:lnTo>
                  <a:pt x="45269" y="728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4833416" y="5887454"/>
            <a:ext cx="52069" cy="80010"/>
          </a:xfrm>
          <a:custGeom>
            <a:avLst/>
            <a:gdLst/>
            <a:ahLst/>
            <a:cxnLst/>
            <a:rect l="l" t="t" r="r" b="b"/>
            <a:pathLst>
              <a:path w="52070" h="80010">
                <a:moveTo>
                  <a:pt x="52052" y="79771"/>
                </a:moveTo>
                <a:lnTo>
                  <a:pt x="0" y="79771"/>
                </a:lnTo>
                <a:lnTo>
                  <a:pt x="0" y="72665"/>
                </a:lnTo>
                <a:lnTo>
                  <a:pt x="30323" y="39774"/>
                </a:lnTo>
                <a:lnTo>
                  <a:pt x="33895" y="36276"/>
                </a:lnTo>
                <a:lnTo>
                  <a:pt x="36314" y="33411"/>
                </a:lnTo>
                <a:lnTo>
                  <a:pt x="38695" y="29653"/>
                </a:lnTo>
                <a:lnTo>
                  <a:pt x="39960" y="26379"/>
                </a:lnTo>
                <a:lnTo>
                  <a:pt x="40518" y="21840"/>
                </a:lnTo>
                <a:lnTo>
                  <a:pt x="40034" y="17561"/>
                </a:lnTo>
                <a:lnTo>
                  <a:pt x="28054" y="8297"/>
                </a:lnTo>
                <a:lnTo>
                  <a:pt x="23812" y="8334"/>
                </a:lnTo>
                <a:lnTo>
                  <a:pt x="10715" y="21505"/>
                </a:lnTo>
                <a:lnTo>
                  <a:pt x="446" y="20538"/>
                </a:lnTo>
                <a:lnTo>
                  <a:pt x="28463" y="0"/>
                </a:lnTo>
                <a:lnTo>
                  <a:pt x="33746" y="632"/>
                </a:lnTo>
                <a:lnTo>
                  <a:pt x="50713" y="23849"/>
                </a:lnTo>
                <a:lnTo>
                  <a:pt x="49671" y="28314"/>
                </a:lnTo>
                <a:lnTo>
                  <a:pt x="48108" y="31849"/>
                </a:lnTo>
                <a:lnTo>
                  <a:pt x="45094" y="36500"/>
                </a:lnTo>
                <a:lnTo>
                  <a:pt x="39476" y="42713"/>
                </a:lnTo>
                <a:lnTo>
                  <a:pt x="19608" y="59903"/>
                </a:lnTo>
                <a:lnTo>
                  <a:pt x="13431" y="66898"/>
                </a:lnTo>
                <a:lnTo>
                  <a:pt x="11050" y="71214"/>
                </a:lnTo>
                <a:lnTo>
                  <a:pt x="52052" y="71214"/>
                </a:lnTo>
                <a:lnTo>
                  <a:pt x="52052" y="797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285072" y="5888570"/>
            <a:ext cx="57785" cy="78740"/>
          </a:xfrm>
          <a:custGeom>
            <a:avLst/>
            <a:gdLst/>
            <a:ahLst/>
            <a:cxnLst/>
            <a:rect l="l" t="t" r="r" b="b"/>
            <a:pathLst>
              <a:path w="57785" h="78739">
                <a:moveTo>
                  <a:pt x="57596" y="60833"/>
                </a:moveTo>
                <a:lnTo>
                  <a:pt x="0" y="60833"/>
                </a:lnTo>
                <a:lnTo>
                  <a:pt x="75" y="52908"/>
                </a:lnTo>
                <a:lnTo>
                  <a:pt x="35979" y="0"/>
                </a:lnTo>
                <a:lnTo>
                  <a:pt x="46546" y="0"/>
                </a:lnTo>
                <a:lnTo>
                  <a:pt x="46546" y="11348"/>
                </a:lnTo>
                <a:lnTo>
                  <a:pt x="37058" y="11348"/>
                </a:lnTo>
                <a:lnTo>
                  <a:pt x="37058" y="11571"/>
                </a:lnTo>
                <a:lnTo>
                  <a:pt x="36834" y="11757"/>
                </a:lnTo>
                <a:lnTo>
                  <a:pt x="36574" y="12315"/>
                </a:lnTo>
                <a:lnTo>
                  <a:pt x="36500" y="12464"/>
                </a:lnTo>
                <a:lnTo>
                  <a:pt x="36388" y="12613"/>
                </a:lnTo>
                <a:lnTo>
                  <a:pt x="36314" y="12799"/>
                </a:lnTo>
                <a:lnTo>
                  <a:pt x="36202" y="12947"/>
                </a:lnTo>
                <a:lnTo>
                  <a:pt x="36128" y="13134"/>
                </a:lnTo>
                <a:lnTo>
                  <a:pt x="36016" y="13282"/>
                </a:lnTo>
                <a:lnTo>
                  <a:pt x="35793" y="13654"/>
                </a:lnTo>
                <a:lnTo>
                  <a:pt x="35718" y="13840"/>
                </a:lnTo>
                <a:lnTo>
                  <a:pt x="35383" y="14436"/>
                </a:lnTo>
                <a:lnTo>
                  <a:pt x="35272" y="14659"/>
                </a:lnTo>
                <a:lnTo>
                  <a:pt x="35160" y="14845"/>
                </a:lnTo>
                <a:lnTo>
                  <a:pt x="35049" y="15068"/>
                </a:lnTo>
                <a:lnTo>
                  <a:pt x="34900" y="15254"/>
                </a:lnTo>
                <a:lnTo>
                  <a:pt x="34453" y="16110"/>
                </a:lnTo>
                <a:lnTo>
                  <a:pt x="34304" y="16296"/>
                </a:lnTo>
                <a:lnTo>
                  <a:pt x="34193" y="16519"/>
                </a:lnTo>
                <a:lnTo>
                  <a:pt x="34081" y="16705"/>
                </a:lnTo>
                <a:lnTo>
                  <a:pt x="34007" y="16891"/>
                </a:lnTo>
                <a:lnTo>
                  <a:pt x="33895" y="17078"/>
                </a:lnTo>
                <a:lnTo>
                  <a:pt x="33784" y="17226"/>
                </a:lnTo>
                <a:lnTo>
                  <a:pt x="33672" y="17412"/>
                </a:lnTo>
                <a:lnTo>
                  <a:pt x="33598" y="17561"/>
                </a:lnTo>
                <a:lnTo>
                  <a:pt x="33486" y="17710"/>
                </a:lnTo>
                <a:lnTo>
                  <a:pt x="33411" y="17859"/>
                </a:lnTo>
                <a:lnTo>
                  <a:pt x="13171" y="47662"/>
                </a:lnTo>
                <a:lnTo>
                  <a:pt x="13022" y="47848"/>
                </a:lnTo>
                <a:lnTo>
                  <a:pt x="12910" y="48071"/>
                </a:lnTo>
                <a:lnTo>
                  <a:pt x="12724" y="48294"/>
                </a:lnTo>
                <a:lnTo>
                  <a:pt x="12650" y="48443"/>
                </a:lnTo>
                <a:lnTo>
                  <a:pt x="12315" y="48852"/>
                </a:lnTo>
                <a:lnTo>
                  <a:pt x="12241" y="49001"/>
                </a:lnTo>
                <a:lnTo>
                  <a:pt x="11794" y="49596"/>
                </a:lnTo>
                <a:lnTo>
                  <a:pt x="11720" y="49745"/>
                </a:lnTo>
                <a:lnTo>
                  <a:pt x="9413" y="52759"/>
                </a:lnTo>
                <a:lnTo>
                  <a:pt x="9264" y="52908"/>
                </a:lnTo>
                <a:lnTo>
                  <a:pt x="57596" y="52908"/>
                </a:lnTo>
                <a:lnTo>
                  <a:pt x="57596" y="60833"/>
                </a:lnTo>
                <a:close/>
              </a:path>
              <a:path w="57785" h="78739">
                <a:moveTo>
                  <a:pt x="46546" y="52908"/>
                </a:moveTo>
                <a:lnTo>
                  <a:pt x="37058" y="52908"/>
                </a:lnTo>
                <a:lnTo>
                  <a:pt x="36946" y="11571"/>
                </a:lnTo>
                <a:lnTo>
                  <a:pt x="37080" y="11348"/>
                </a:lnTo>
                <a:lnTo>
                  <a:pt x="46546" y="11348"/>
                </a:lnTo>
                <a:lnTo>
                  <a:pt x="46546" y="52908"/>
                </a:lnTo>
                <a:close/>
              </a:path>
              <a:path w="57785" h="78739">
                <a:moveTo>
                  <a:pt x="46546" y="78655"/>
                </a:moveTo>
                <a:lnTo>
                  <a:pt x="37058" y="78655"/>
                </a:lnTo>
                <a:lnTo>
                  <a:pt x="37058" y="60833"/>
                </a:lnTo>
                <a:lnTo>
                  <a:pt x="46546" y="60833"/>
                </a:lnTo>
                <a:lnTo>
                  <a:pt x="46546" y="78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103624" y="3595501"/>
            <a:ext cx="68580" cy="2044700"/>
          </a:xfrm>
          <a:custGeom>
            <a:avLst/>
            <a:gdLst/>
            <a:ahLst/>
            <a:cxnLst/>
            <a:rect l="l" t="t" r="r" b="b"/>
            <a:pathLst>
              <a:path w="68580" h="2044700">
                <a:moveTo>
                  <a:pt x="68572" y="2044563"/>
                </a:moveTo>
                <a:lnTo>
                  <a:pt x="68572" y="0"/>
                </a:lnTo>
              </a:path>
              <a:path w="68580" h="2044700">
                <a:moveTo>
                  <a:pt x="68572" y="2044563"/>
                </a:moveTo>
                <a:lnTo>
                  <a:pt x="0" y="2044563"/>
                </a:lnTo>
              </a:path>
              <a:path w="68580" h="2044700">
                <a:moveTo>
                  <a:pt x="68572" y="1752488"/>
                </a:moveTo>
                <a:lnTo>
                  <a:pt x="0" y="1752488"/>
                </a:lnTo>
              </a:path>
              <a:path w="68580" h="2044700">
                <a:moveTo>
                  <a:pt x="68572" y="1460413"/>
                </a:moveTo>
                <a:lnTo>
                  <a:pt x="0" y="1460413"/>
                </a:lnTo>
              </a:path>
              <a:path w="68580" h="2044700">
                <a:moveTo>
                  <a:pt x="68572" y="1168337"/>
                </a:moveTo>
                <a:lnTo>
                  <a:pt x="0" y="1168337"/>
                </a:lnTo>
              </a:path>
              <a:path w="68580" h="2044700">
                <a:moveTo>
                  <a:pt x="68572" y="876225"/>
                </a:moveTo>
                <a:lnTo>
                  <a:pt x="0" y="876225"/>
                </a:lnTo>
              </a:path>
              <a:path w="68580" h="2044700">
                <a:moveTo>
                  <a:pt x="68572" y="584150"/>
                </a:moveTo>
                <a:lnTo>
                  <a:pt x="0" y="584150"/>
                </a:lnTo>
              </a:path>
              <a:path w="68580" h="2044700">
                <a:moveTo>
                  <a:pt x="68572" y="292075"/>
                </a:moveTo>
                <a:lnTo>
                  <a:pt x="0" y="292075"/>
                </a:lnTo>
              </a:path>
              <a:path w="68580" h="2044700">
                <a:moveTo>
                  <a:pt x="68572" y="0"/>
                </a:moveTo>
                <a:lnTo>
                  <a:pt x="0" y="0"/>
                </a:lnTo>
              </a:path>
            </a:pathLst>
          </a:custGeom>
          <a:ln w="7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928490" y="5612755"/>
            <a:ext cx="80010" cy="54610"/>
          </a:xfrm>
          <a:custGeom>
            <a:avLst/>
            <a:gdLst/>
            <a:ahLst/>
            <a:cxnLst/>
            <a:rect l="l" t="t" r="r" b="b"/>
            <a:pathLst>
              <a:path w="80010" h="54610">
                <a:moveTo>
                  <a:pt x="49025" y="334"/>
                </a:moveTo>
                <a:lnTo>
                  <a:pt x="30076" y="334"/>
                </a:lnTo>
                <a:lnTo>
                  <a:pt x="36660" y="0"/>
                </a:lnTo>
                <a:lnTo>
                  <a:pt x="42776" y="0"/>
                </a:lnTo>
                <a:lnTo>
                  <a:pt x="49025" y="334"/>
                </a:lnTo>
                <a:close/>
              </a:path>
              <a:path w="80010" h="54610">
                <a:moveTo>
                  <a:pt x="48294" y="54322"/>
                </a:moveTo>
                <a:lnTo>
                  <a:pt x="30919" y="54322"/>
                </a:lnTo>
                <a:lnTo>
                  <a:pt x="28909" y="54136"/>
                </a:lnTo>
                <a:lnTo>
                  <a:pt x="0" y="33895"/>
                </a:lnTo>
                <a:lnTo>
                  <a:pt x="104" y="20203"/>
                </a:lnTo>
                <a:lnTo>
                  <a:pt x="473" y="18752"/>
                </a:lnTo>
                <a:lnTo>
                  <a:pt x="793" y="17747"/>
                </a:lnTo>
                <a:lnTo>
                  <a:pt x="1361" y="16222"/>
                </a:lnTo>
                <a:lnTo>
                  <a:pt x="1445" y="15998"/>
                </a:lnTo>
                <a:lnTo>
                  <a:pt x="1543" y="15738"/>
                </a:lnTo>
                <a:lnTo>
                  <a:pt x="30919" y="334"/>
                </a:lnTo>
                <a:lnTo>
                  <a:pt x="48257" y="334"/>
                </a:lnTo>
                <a:lnTo>
                  <a:pt x="73781" y="10194"/>
                </a:lnTo>
                <a:lnTo>
                  <a:pt x="33645" y="10194"/>
                </a:lnTo>
                <a:lnTo>
                  <a:pt x="24936" y="11087"/>
                </a:lnTo>
                <a:lnTo>
                  <a:pt x="25258" y="11087"/>
                </a:lnTo>
                <a:lnTo>
                  <a:pt x="21803" y="11831"/>
                </a:lnTo>
                <a:lnTo>
                  <a:pt x="21631" y="11831"/>
                </a:lnTo>
                <a:lnTo>
                  <a:pt x="19608" y="12389"/>
                </a:lnTo>
                <a:lnTo>
                  <a:pt x="7850" y="31105"/>
                </a:lnTo>
                <a:lnTo>
                  <a:pt x="8222" y="32556"/>
                </a:lnTo>
                <a:lnTo>
                  <a:pt x="8305" y="32816"/>
                </a:lnTo>
                <a:lnTo>
                  <a:pt x="8363" y="33002"/>
                </a:lnTo>
                <a:lnTo>
                  <a:pt x="8445" y="33263"/>
                </a:lnTo>
                <a:lnTo>
                  <a:pt x="29728" y="44090"/>
                </a:lnTo>
                <a:lnTo>
                  <a:pt x="74358" y="44090"/>
                </a:lnTo>
                <a:lnTo>
                  <a:pt x="74038" y="44425"/>
                </a:lnTo>
                <a:lnTo>
                  <a:pt x="50266" y="54136"/>
                </a:lnTo>
                <a:lnTo>
                  <a:pt x="48294" y="54322"/>
                </a:lnTo>
                <a:close/>
              </a:path>
              <a:path w="80010" h="54610">
                <a:moveTo>
                  <a:pt x="74358" y="44090"/>
                </a:moveTo>
                <a:lnTo>
                  <a:pt x="49596" y="44090"/>
                </a:lnTo>
                <a:lnTo>
                  <a:pt x="51048" y="43941"/>
                </a:lnTo>
                <a:lnTo>
                  <a:pt x="53726" y="43569"/>
                </a:lnTo>
                <a:lnTo>
                  <a:pt x="71096" y="33002"/>
                </a:lnTo>
                <a:lnTo>
                  <a:pt x="71166" y="32816"/>
                </a:lnTo>
                <a:lnTo>
                  <a:pt x="71261" y="32556"/>
                </a:lnTo>
                <a:lnTo>
                  <a:pt x="71639" y="31105"/>
                </a:lnTo>
                <a:lnTo>
                  <a:pt x="71554" y="23328"/>
                </a:lnTo>
                <a:lnTo>
                  <a:pt x="53498" y="11087"/>
                </a:lnTo>
                <a:lnTo>
                  <a:pt x="52900" y="11087"/>
                </a:lnTo>
                <a:lnTo>
                  <a:pt x="46293" y="10194"/>
                </a:lnTo>
                <a:lnTo>
                  <a:pt x="73790" y="10194"/>
                </a:lnTo>
                <a:lnTo>
                  <a:pt x="74642" y="11087"/>
                </a:lnTo>
                <a:lnTo>
                  <a:pt x="79920" y="22993"/>
                </a:lnTo>
                <a:lnTo>
                  <a:pt x="79811" y="32556"/>
                </a:lnTo>
                <a:lnTo>
                  <a:pt x="74841" y="43569"/>
                </a:lnTo>
                <a:lnTo>
                  <a:pt x="74358" y="44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27821" y="5257092"/>
            <a:ext cx="80590" cy="180491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28490" y="4965017"/>
            <a:ext cx="79920" cy="183616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27821" y="3764905"/>
            <a:ext cx="80590" cy="241101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3267707" y="3633452"/>
            <a:ext cx="2388235" cy="2007235"/>
          </a:xfrm>
          <a:custGeom>
            <a:avLst/>
            <a:gdLst/>
            <a:ahLst/>
            <a:cxnLst/>
            <a:rect l="l" t="t" r="r" b="b"/>
            <a:pathLst>
              <a:path w="2388235" h="2007235">
                <a:moveTo>
                  <a:pt x="0" y="2006612"/>
                </a:moveTo>
                <a:lnTo>
                  <a:pt x="113704" y="2006612"/>
                </a:lnTo>
                <a:lnTo>
                  <a:pt x="113704" y="1999319"/>
                </a:lnTo>
                <a:lnTo>
                  <a:pt x="0" y="1999319"/>
                </a:lnTo>
                <a:lnTo>
                  <a:pt x="0" y="2006612"/>
                </a:lnTo>
                <a:close/>
              </a:path>
              <a:path w="2388235" h="2007235">
                <a:moveTo>
                  <a:pt x="113704" y="2006612"/>
                </a:moveTo>
                <a:lnTo>
                  <a:pt x="227409" y="2006612"/>
                </a:lnTo>
                <a:lnTo>
                  <a:pt x="227409" y="1981795"/>
                </a:lnTo>
                <a:lnTo>
                  <a:pt x="113704" y="1981795"/>
                </a:lnTo>
                <a:lnTo>
                  <a:pt x="113704" y="2006612"/>
                </a:lnTo>
                <a:close/>
              </a:path>
              <a:path w="2388235" h="2007235">
                <a:moveTo>
                  <a:pt x="227409" y="2006612"/>
                </a:moveTo>
                <a:lnTo>
                  <a:pt x="341114" y="2006612"/>
                </a:lnTo>
                <a:lnTo>
                  <a:pt x="341114" y="1948197"/>
                </a:lnTo>
                <a:lnTo>
                  <a:pt x="227409" y="1948197"/>
                </a:lnTo>
                <a:lnTo>
                  <a:pt x="227409" y="2006612"/>
                </a:lnTo>
                <a:close/>
              </a:path>
              <a:path w="2388235" h="2007235">
                <a:moveTo>
                  <a:pt x="341076" y="2006612"/>
                </a:moveTo>
                <a:lnTo>
                  <a:pt x="454781" y="2006612"/>
                </a:lnTo>
                <a:lnTo>
                  <a:pt x="454781" y="1843050"/>
                </a:lnTo>
                <a:lnTo>
                  <a:pt x="341076" y="1843050"/>
                </a:lnTo>
                <a:lnTo>
                  <a:pt x="341076" y="2006612"/>
                </a:lnTo>
                <a:close/>
              </a:path>
              <a:path w="2388235" h="2007235">
                <a:moveTo>
                  <a:pt x="454781" y="2006612"/>
                </a:moveTo>
                <a:lnTo>
                  <a:pt x="568486" y="2006612"/>
                </a:lnTo>
                <a:lnTo>
                  <a:pt x="568486" y="1672195"/>
                </a:lnTo>
                <a:lnTo>
                  <a:pt x="454781" y="1672195"/>
                </a:lnTo>
                <a:lnTo>
                  <a:pt x="454781" y="2006612"/>
                </a:lnTo>
                <a:close/>
              </a:path>
              <a:path w="2388235" h="2007235">
                <a:moveTo>
                  <a:pt x="568486" y="2006612"/>
                </a:moveTo>
                <a:lnTo>
                  <a:pt x="682190" y="2006612"/>
                </a:lnTo>
                <a:lnTo>
                  <a:pt x="682190" y="1404937"/>
                </a:lnTo>
                <a:lnTo>
                  <a:pt x="568486" y="1404937"/>
                </a:lnTo>
                <a:lnTo>
                  <a:pt x="568486" y="2006612"/>
                </a:lnTo>
                <a:close/>
              </a:path>
              <a:path w="2388235" h="2007235">
                <a:moveTo>
                  <a:pt x="682190" y="2006612"/>
                </a:moveTo>
                <a:lnTo>
                  <a:pt x="795895" y="2006612"/>
                </a:lnTo>
                <a:lnTo>
                  <a:pt x="795895" y="1026690"/>
                </a:lnTo>
                <a:lnTo>
                  <a:pt x="682190" y="1026690"/>
                </a:lnTo>
                <a:lnTo>
                  <a:pt x="682190" y="2006612"/>
                </a:lnTo>
                <a:close/>
              </a:path>
              <a:path w="2388235" h="2007235">
                <a:moveTo>
                  <a:pt x="795858" y="2006612"/>
                </a:moveTo>
                <a:lnTo>
                  <a:pt x="909563" y="2006612"/>
                </a:lnTo>
                <a:lnTo>
                  <a:pt x="909563" y="538906"/>
                </a:lnTo>
                <a:lnTo>
                  <a:pt x="795858" y="538906"/>
                </a:lnTo>
                <a:lnTo>
                  <a:pt x="795858" y="2006612"/>
                </a:lnTo>
                <a:close/>
              </a:path>
              <a:path w="2388235" h="2007235">
                <a:moveTo>
                  <a:pt x="909563" y="2006612"/>
                </a:moveTo>
                <a:lnTo>
                  <a:pt x="1023267" y="2006612"/>
                </a:lnTo>
                <a:lnTo>
                  <a:pt x="1023267" y="284782"/>
                </a:lnTo>
                <a:lnTo>
                  <a:pt x="909563" y="284782"/>
                </a:lnTo>
                <a:lnTo>
                  <a:pt x="909563" y="2006612"/>
                </a:lnTo>
                <a:close/>
              </a:path>
              <a:path w="2388235" h="2007235">
                <a:moveTo>
                  <a:pt x="1023267" y="2006612"/>
                </a:moveTo>
                <a:lnTo>
                  <a:pt x="1136972" y="2006612"/>
                </a:lnTo>
                <a:lnTo>
                  <a:pt x="1136972" y="0"/>
                </a:lnTo>
                <a:lnTo>
                  <a:pt x="1023267" y="0"/>
                </a:lnTo>
                <a:lnTo>
                  <a:pt x="1023267" y="2006612"/>
                </a:lnTo>
                <a:close/>
              </a:path>
              <a:path w="2388235" h="2007235">
                <a:moveTo>
                  <a:pt x="1136972" y="2006612"/>
                </a:moveTo>
                <a:lnTo>
                  <a:pt x="1250677" y="2006612"/>
                </a:lnTo>
                <a:lnTo>
                  <a:pt x="1250677" y="0"/>
                </a:lnTo>
                <a:lnTo>
                  <a:pt x="1136972" y="0"/>
                </a:lnTo>
                <a:lnTo>
                  <a:pt x="1136972" y="2006612"/>
                </a:lnTo>
                <a:close/>
              </a:path>
              <a:path w="2388235" h="2007235">
                <a:moveTo>
                  <a:pt x="1250639" y="2006612"/>
                </a:moveTo>
                <a:lnTo>
                  <a:pt x="1364344" y="2006612"/>
                </a:lnTo>
                <a:lnTo>
                  <a:pt x="1364344" y="219074"/>
                </a:lnTo>
                <a:lnTo>
                  <a:pt x="1250639" y="219074"/>
                </a:lnTo>
                <a:lnTo>
                  <a:pt x="1250639" y="2006612"/>
                </a:lnTo>
                <a:close/>
              </a:path>
              <a:path w="2388235" h="2007235">
                <a:moveTo>
                  <a:pt x="1364344" y="2006612"/>
                </a:moveTo>
                <a:lnTo>
                  <a:pt x="1478049" y="2006612"/>
                </a:lnTo>
                <a:lnTo>
                  <a:pt x="1478049" y="649895"/>
                </a:lnTo>
                <a:lnTo>
                  <a:pt x="1364344" y="649895"/>
                </a:lnTo>
                <a:lnTo>
                  <a:pt x="1364344" y="2006612"/>
                </a:lnTo>
                <a:close/>
              </a:path>
              <a:path w="2388235" h="2007235">
                <a:moveTo>
                  <a:pt x="1478049" y="2006612"/>
                </a:moveTo>
                <a:lnTo>
                  <a:pt x="1591753" y="2006612"/>
                </a:lnTo>
                <a:lnTo>
                  <a:pt x="1591753" y="1090947"/>
                </a:lnTo>
                <a:lnTo>
                  <a:pt x="1478049" y="1090947"/>
                </a:lnTo>
                <a:lnTo>
                  <a:pt x="1478049" y="2006612"/>
                </a:lnTo>
                <a:close/>
              </a:path>
              <a:path w="2388235" h="2007235">
                <a:moveTo>
                  <a:pt x="1591753" y="2006612"/>
                </a:moveTo>
                <a:lnTo>
                  <a:pt x="1705458" y="2006612"/>
                </a:lnTo>
                <a:lnTo>
                  <a:pt x="1705458" y="1391766"/>
                </a:lnTo>
                <a:lnTo>
                  <a:pt x="1591753" y="1391766"/>
                </a:lnTo>
                <a:lnTo>
                  <a:pt x="1591753" y="2006612"/>
                </a:lnTo>
                <a:close/>
              </a:path>
              <a:path w="2388235" h="2007235">
                <a:moveTo>
                  <a:pt x="1705421" y="2006612"/>
                </a:moveTo>
                <a:lnTo>
                  <a:pt x="1819126" y="2006612"/>
                </a:lnTo>
                <a:lnTo>
                  <a:pt x="1819126" y="1689719"/>
                </a:lnTo>
                <a:lnTo>
                  <a:pt x="1705421" y="1689719"/>
                </a:lnTo>
                <a:lnTo>
                  <a:pt x="1705421" y="2006612"/>
                </a:lnTo>
                <a:close/>
              </a:path>
              <a:path w="2388235" h="2007235">
                <a:moveTo>
                  <a:pt x="1819126" y="2006612"/>
                </a:moveTo>
                <a:lnTo>
                  <a:pt x="1932830" y="2006612"/>
                </a:lnTo>
                <a:lnTo>
                  <a:pt x="1932830" y="1859123"/>
                </a:lnTo>
                <a:lnTo>
                  <a:pt x="1819126" y="1859123"/>
                </a:lnTo>
                <a:lnTo>
                  <a:pt x="1819126" y="2006612"/>
                </a:lnTo>
                <a:close/>
              </a:path>
              <a:path w="2388235" h="2007235">
                <a:moveTo>
                  <a:pt x="1932830" y="2006612"/>
                </a:moveTo>
                <a:lnTo>
                  <a:pt x="2046535" y="2006612"/>
                </a:lnTo>
                <a:lnTo>
                  <a:pt x="2046535" y="1937965"/>
                </a:lnTo>
                <a:lnTo>
                  <a:pt x="1932830" y="1937965"/>
                </a:lnTo>
                <a:lnTo>
                  <a:pt x="1932830" y="2006612"/>
                </a:lnTo>
                <a:close/>
              </a:path>
              <a:path w="2388235" h="2007235">
                <a:moveTo>
                  <a:pt x="2046498" y="2006612"/>
                </a:moveTo>
                <a:lnTo>
                  <a:pt x="2160202" y="2006612"/>
                </a:lnTo>
                <a:lnTo>
                  <a:pt x="2160202" y="1989087"/>
                </a:lnTo>
                <a:lnTo>
                  <a:pt x="2046498" y="1989087"/>
                </a:lnTo>
                <a:lnTo>
                  <a:pt x="2046498" y="2006612"/>
                </a:lnTo>
                <a:close/>
              </a:path>
              <a:path w="2388235" h="2007235">
                <a:moveTo>
                  <a:pt x="2160202" y="2006612"/>
                </a:moveTo>
                <a:lnTo>
                  <a:pt x="2273907" y="2006612"/>
                </a:lnTo>
                <a:lnTo>
                  <a:pt x="2273907" y="2002221"/>
                </a:lnTo>
                <a:lnTo>
                  <a:pt x="2160202" y="2002221"/>
                </a:lnTo>
                <a:lnTo>
                  <a:pt x="2160202" y="2006612"/>
                </a:lnTo>
                <a:close/>
              </a:path>
              <a:path w="2388235" h="2007235">
                <a:moveTo>
                  <a:pt x="2273907" y="2006612"/>
                </a:moveTo>
                <a:lnTo>
                  <a:pt x="2387612" y="2006612"/>
                </a:lnTo>
                <a:lnTo>
                  <a:pt x="2387612" y="2005161"/>
                </a:lnTo>
                <a:lnTo>
                  <a:pt x="2273907" y="2005161"/>
                </a:lnTo>
                <a:lnTo>
                  <a:pt x="2273907" y="2006612"/>
                </a:lnTo>
                <a:close/>
              </a:path>
            </a:pathLst>
          </a:custGeom>
          <a:ln w="7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8800" y="394970"/>
            <a:ext cx="7384415" cy="6832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45" b="1">
                <a:latin typeface="Trebuchet MS"/>
                <a:cs typeface="Trebuchet MS"/>
              </a:rPr>
              <a:t>Given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that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observed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difference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in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our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experiment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3.06,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how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likely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it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observe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a difference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0" b="1">
                <a:latin typeface="Trebuchet MS"/>
                <a:cs typeface="Trebuchet MS"/>
              </a:rPr>
              <a:t>3.06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or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more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extreme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between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two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groups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assuming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population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mean </a:t>
            </a:r>
            <a:r>
              <a:rPr dirty="0" sz="1450" spc="-30" b="1">
                <a:latin typeface="Trebuchet MS"/>
                <a:cs typeface="Trebuchet MS"/>
              </a:rPr>
              <a:t>for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both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groups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are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equal?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605733" y="1486272"/>
            <a:ext cx="1715135" cy="128905"/>
            <a:chOff x="3605733" y="1486272"/>
            <a:chExt cx="1715135" cy="1289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733" y="1486272"/>
              <a:ext cx="1088305" cy="12837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3079" y="1486272"/>
              <a:ext cx="617748" cy="100719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2217122" y="2937978"/>
            <a:ext cx="448945" cy="568960"/>
            <a:chOff x="2217122" y="2937978"/>
            <a:chExt cx="448945" cy="56896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7122" y="2976339"/>
              <a:ext cx="362857" cy="53042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5523" y="3322513"/>
              <a:ext cx="79988" cy="17989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5590" y="2937978"/>
              <a:ext cx="79920" cy="180743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3238090" y="4672570"/>
            <a:ext cx="2303145" cy="69215"/>
          </a:xfrm>
          <a:custGeom>
            <a:avLst/>
            <a:gdLst/>
            <a:ahLst/>
            <a:cxnLst/>
            <a:rect l="l" t="t" r="r" b="b"/>
            <a:pathLst>
              <a:path w="2303145" h="69214">
                <a:moveTo>
                  <a:pt x="0" y="0"/>
                </a:moveTo>
                <a:lnTo>
                  <a:pt x="2302929" y="0"/>
                </a:lnTo>
              </a:path>
              <a:path w="2303145" h="69214">
                <a:moveTo>
                  <a:pt x="0" y="0"/>
                </a:moveTo>
                <a:lnTo>
                  <a:pt x="0" y="68609"/>
                </a:lnTo>
              </a:path>
              <a:path w="2303145" h="69214">
                <a:moveTo>
                  <a:pt x="575704" y="0"/>
                </a:moveTo>
                <a:lnTo>
                  <a:pt x="575704" y="68609"/>
                </a:lnTo>
              </a:path>
              <a:path w="2303145" h="69214">
                <a:moveTo>
                  <a:pt x="1151445" y="0"/>
                </a:moveTo>
                <a:lnTo>
                  <a:pt x="1151445" y="68609"/>
                </a:lnTo>
              </a:path>
              <a:path w="2303145" h="69214">
                <a:moveTo>
                  <a:pt x="1727187" y="0"/>
                </a:moveTo>
                <a:lnTo>
                  <a:pt x="1727187" y="68609"/>
                </a:lnTo>
              </a:path>
              <a:path w="2303145" h="69214">
                <a:moveTo>
                  <a:pt x="2302929" y="0"/>
                </a:moveTo>
                <a:lnTo>
                  <a:pt x="2302929" y="68609"/>
                </a:lnTo>
              </a:path>
            </a:pathLst>
          </a:custGeom>
          <a:ln w="7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192322" y="4840820"/>
            <a:ext cx="93345" cy="78740"/>
          </a:xfrm>
          <a:custGeom>
            <a:avLst/>
            <a:gdLst/>
            <a:ahLst/>
            <a:cxnLst/>
            <a:rect l="l" t="t" r="r" b="b"/>
            <a:pathLst>
              <a:path w="93345" h="78739">
                <a:moveTo>
                  <a:pt x="27901" y="43840"/>
                </a:moveTo>
                <a:lnTo>
                  <a:pt x="0" y="43840"/>
                </a:lnTo>
                <a:lnTo>
                  <a:pt x="0" y="52768"/>
                </a:lnTo>
                <a:lnTo>
                  <a:pt x="27901" y="52768"/>
                </a:lnTo>
                <a:lnTo>
                  <a:pt x="27901" y="43840"/>
                </a:lnTo>
                <a:close/>
              </a:path>
              <a:path w="93345" h="78739">
                <a:moveTo>
                  <a:pt x="93205" y="52908"/>
                </a:moveTo>
                <a:lnTo>
                  <a:pt x="82143" y="52908"/>
                </a:lnTo>
                <a:lnTo>
                  <a:pt x="82143" y="11353"/>
                </a:lnTo>
                <a:lnTo>
                  <a:pt x="82143" y="0"/>
                </a:lnTo>
                <a:lnTo>
                  <a:pt x="72656" y="0"/>
                </a:lnTo>
                <a:lnTo>
                  <a:pt x="72656" y="11582"/>
                </a:lnTo>
                <a:lnTo>
                  <a:pt x="72656" y="52908"/>
                </a:lnTo>
                <a:lnTo>
                  <a:pt x="44869" y="52908"/>
                </a:lnTo>
                <a:lnTo>
                  <a:pt x="45199" y="52578"/>
                </a:lnTo>
                <a:lnTo>
                  <a:pt x="45351" y="52362"/>
                </a:lnTo>
                <a:lnTo>
                  <a:pt x="45580" y="52095"/>
                </a:lnTo>
                <a:lnTo>
                  <a:pt x="45643" y="51943"/>
                </a:lnTo>
                <a:lnTo>
                  <a:pt x="45986" y="51536"/>
                </a:lnTo>
                <a:lnTo>
                  <a:pt x="47663" y="49301"/>
                </a:lnTo>
                <a:lnTo>
                  <a:pt x="47739" y="49161"/>
                </a:lnTo>
                <a:lnTo>
                  <a:pt x="48361" y="48298"/>
                </a:lnTo>
                <a:lnTo>
                  <a:pt x="48780" y="47663"/>
                </a:lnTo>
                <a:lnTo>
                  <a:pt x="69126" y="17716"/>
                </a:lnTo>
                <a:lnTo>
                  <a:pt x="69202" y="17564"/>
                </a:lnTo>
                <a:lnTo>
                  <a:pt x="69316" y="17424"/>
                </a:lnTo>
                <a:lnTo>
                  <a:pt x="69430" y="17233"/>
                </a:lnTo>
                <a:lnTo>
                  <a:pt x="69494" y="17081"/>
                </a:lnTo>
                <a:lnTo>
                  <a:pt x="69837" y="16522"/>
                </a:lnTo>
                <a:lnTo>
                  <a:pt x="69951" y="16306"/>
                </a:lnTo>
                <a:lnTo>
                  <a:pt x="70053" y="16116"/>
                </a:lnTo>
                <a:lnTo>
                  <a:pt x="70167" y="15887"/>
                </a:lnTo>
                <a:lnTo>
                  <a:pt x="70434" y="15481"/>
                </a:lnTo>
                <a:lnTo>
                  <a:pt x="70535" y="15265"/>
                </a:lnTo>
                <a:lnTo>
                  <a:pt x="70650" y="15074"/>
                </a:lnTo>
                <a:lnTo>
                  <a:pt x="70764" y="14846"/>
                </a:lnTo>
                <a:lnTo>
                  <a:pt x="70878" y="14668"/>
                </a:lnTo>
                <a:lnTo>
                  <a:pt x="70993" y="14439"/>
                </a:lnTo>
                <a:lnTo>
                  <a:pt x="72097" y="12471"/>
                </a:lnTo>
                <a:lnTo>
                  <a:pt x="72212" y="12319"/>
                </a:lnTo>
                <a:lnTo>
                  <a:pt x="72478" y="11760"/>
                </a:lnTo>
                <a:lnTo>
                  <a:pt x="72656" y="11582"/>
                </a:lnTo>
                <a:lnTo>
                  <a:pt x="72656" y="0"/>
                </a:lnTo>
                <a:lnTo>
                  <a:pt x="71615" y="0"/>
                </a:lnTo>
                <a:lnTo>
                  <a:pt x="35674" y="52908"/>
                </a:lnTo>
                <a:lnTo>
                  <a:pt x="35598" y="60845"/>
                </a:lnTo>
                <a:lnTo>
                  <a:pt x="72656" y="60845"/>
                </a:lnTo>
                <a:lnTo>
                  <a:pt x="72656" y="78663"/>
                </a:lnTo>
                <a:lnTo>
                  <a:pt x="82143" y="78663"/>
                </a:lnTo>
                <a:lnTo>
                  <a:pt x="82143" y="60845"/>
                </a:lnTo>
                <a:lnTo>
                  <a:pt x="93205" y="60845"/>
                </a:lnTo>
                <a:lnTo>
                  <a:pt x="93205" y="52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768064" y="4839677"/>
            <a:ext cx="91440" cy="80010"/>
          </a:xfrm>
          <a:custGeom>
            <a:avLst/>
            <a:gdLst/>
            <a:ahLst/>
            <a:cxnLst/>
            <a:rect l="l" t="t" r="r" b="b"/>
            <a:pathLst>
              <a:path w="91439" h="80010">
                <a:moveTo>
                  <a:pt x="27901" y="44983"/>
                </a:moveTo>
                <a:lnTo>
                  <a:pt x="0" y="44983"/>
                </a:lnTo>
                <a:lnTo>
                  <a:pt x="0" y="53911"/>
                </a:lnTo>
                <a:lnTo>
                  <a:pt x="27901" y="53911"/>
                </a:lnTo>
                <a:lnTo>
                  <a:pt x="27901" y="44983"/>
                </a:lnTo>
                <a:close/>
              </a:path>
              <a:path w="91439" h="80010">
                <a:moveTo>
                  <a:pt x="90817" y="71247"/>
                </a:moveTo>
                <a:lnTo>
                  <a:pt x="49784" y="71247"/>
                </a:lnTo>
                <a:lnTo>
                  <a:pt x="50673" y="69392"/>
                </a:lnTo>
                <a:lnTo>
                  <a:pt x="54508" y="63995"/>
                </a:lnTo>
                <a:lnTo>
                  <a:pt x="58331" y="59931"/>
                </a:lnTo>
                <a:lnTo>
                  <a:pt x="80060" y="40919"/>
                </a:lnTo>
                <a:lnTo>
                  <a:pt x="83375" y="37160"/>
                </a:lnTo>
                <a:lnTo>
                  <a:pt x="85686" y="33896"/>
                </a:lnTo>
                <a:lnTo>
                  <a:pt x="88138" y="29057"/>
                </a:lnTo>
                <a:lnTo>
                  <a:pt x="89065" y="26149"/>
                </a:lnTo>
                <a:lnTo>
                  <a:pt x="89585" y="21539"/>
                </a:lnTo>
                <a:lnTo>
                  <a:pt x="89446" y="18491"/>
                </a:lnTo>
                <a:lnTo>
                  <a:pt x="63728" y="0"/>
                </a:lnTo>
                <a:lnTo>
                  <a:pt x="57226" y="774"/>
                </a:lnTo>
                <a:lnTo>
                  <a:pt x="39179" y="20574"/>
                </a:lnTo>
                <a:lnTo>
                  <a:pt x="49441" y="21539"/>
                </a:lnTo>
                <a:lnTo>
                  <a:pt x="50228" y="17894"/>
                </a:lnTo>
                <a:lnTo>
                  <a:pt x="51676" y="14808"/>
                </a:lnTo>
                <a:lnTo>
                  <a:pt x="65557" y="8255"/>
                </a:lnTo>
                <a:lnTo>
                  <a:pt x="69684" y="8813"/>
                </a:lnTo>
                <a:lnTo>
                  <a:pt x="79171" y="23736"/>
                </a:lnTo>
                <a:lnTo>
                  <a:pt x="78460" y="27266"/>
                </a:lnTo>
                <a:lnTo>
                  <a:pt x="60566" y="46761"/>
                </a:lnTo>
                <a:lnTo>
                  <a:pt x="53390" y="52984"/>
                </a:lnTo>
                <a:lnTo>
                  <a:pt x="47320" y="59232"/>
                </a:lnTo>
                <a:lnTo>
                  <a:pt x="43307" y="64325"/>
                </a:lnTo>
                <a:lnTo>
                  <a:pt x="40551" y="68935"/>
                </a:lnTo>
                <a:lnTo>
                  <a:pt x="38735" y="72694"/>
                </a:lnTo>
                <a:lnTo>
                  <a:pt x="38735" y="79806"/>
                </a:lnTo>
                <a:lnTo>
                  <a:pt x="90817" y="79806"/>
                </a:lnTo>
                <a:lnTo>
                  <a:pt x="90817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362747" y="4839816"/>
            <a:ext cx="53975" cy="80645"/>
          </a:xfrm>
          <a:custGeom>
            <a:avLst/>
            <a:gdLst/>
            <a:ahLst/>
            <a:cxnLst/>
            <a:rect l="l" t="t" r="r" b="b"/>
            <a:pathLst>
              <a:path w="53975" h="80645">
                <a:moveTo>
                  <a:pt x="30026" y="80590"/>
                </a:moveTo>
                <a:lnTo>
                  <a:pt x="23291" y="80590"/>
                </a:lnTo>
                <a:lnTo>
                  <a:pt x="22175" y="80441"/>
                </a:lnTo>
                <a:lnTo>
                  <a:pt x="0" y="29467"/>
                </a:lnTo>
                <a:lnTo>
                  <a:pt x="223" y="27533"/>
                </a:lnTo>
                <a:lnTo>
                  <a:pt x="23514" y="0"/>
                </a:lnTo>
                <a:lnTo>
                  <a:pt x="30323" y="0"/>
                </a:lnTo>
                <a:lnTo>
                  <a:pt x="45987" y="7999"/>
                </a:lnTo>
                <a:lnTo>
                  <a:pt x="24444" y="7999"/>
                </a:lnTo>
                <a:lnTo>
                  <a:pt x="21542" y="8743"/>
                </a:lnTo>
                <a:lnTo>
                  <a:pt x="9916" y="48815"/>
                </a:lnTo>
                <a:lnTo>
                  <a:pt x="10116" y="50750"/>
                </a:lnTo>
                <a:lnTo>
                  <a:pt x="10201" y="51568"/>
                </a:lnTo>
                <a:lnTo>
                  <a:pt x="10312" y="52647"/>
                </a:lnTo>
                <a:lnTo>
                  <a:pt x="10529" y="54285"/>
                </a:lnTo>
                <a:lnTo>
                  <a:pt x="10756" y="55550"/>
                </a:lnTo>
                <a:lnTo>
                  <a:pt x="10862" y="56145"/>
                </a:lnTo>
                <a:lnTo>
                  <a:pt x="24407" y="72404"/>
                </a:lnTo>
                <a:lnTo>
                  <a:pt x="45639" y="72404"/>
                </a:lnTo>
                <a:lnTo>
                  <a:pt x="45318" y="72814"/>
                </a:lnTo>
                <a:lnTo>
                  <a:pt x="31105" y="80441"/>
                </a:lnTo>
                <a:lnTo>
                  <a:pt x="30026" y="80590"/>
                </a:lnTo>
                <a:close/>
              </a:path>
              <a:path w="53975" h="80645">
                <a:moveTo>
                  <a:pt x="45639" y="72404"/>
                </a:moveTo>
                <a:lnTo>
                  <a:pt x="29058" y="72404"/>
                </a:lnTo>
                <a:lnTo>
                  <a:pt x="30546" y="72181"/>
                </a:lnTo>
                <a:lnTo>
                  <a:pt x="31588" y="71883"/>
                </a:lnTo>
                <a:lnTo>
                  <a:pt x="43587" y="48815"/>
                </a:lnTo>
                <a:lnTo>
                  <a:pt x="43495" y="30212"/>
                </a:lnTo>
                <a:lnTo>
                  <a:pt x="29356" y="7999"/>
                </a:lnTo>
                <a:lnTo>
                  <a:pt x="46002" y="7999"/>
                </a:lnTo>
                <a:lnTo>
                  <a:pt x="53764" y="48815"/>
                </a:lnTo>
                <a:lnTo>
                  <a:pt x="53578" y="50750"/>
                </a:lnTo>
                <a:lnTo>
                  <a:pt x="46806" y="70916"/>
                </a:lnTo>
                <a:lnTo>
                  <a:pt x="45639" y="724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939233" y="4839666"/>
            <a:ext cx="52705" cy="80010"/>
          </a:xfrm>
          <a:custGeom>
            <a:avLst/>
            <a:gdLst/>
            <a:ahLst/>
            <a:cxnLst/>
            <a:rect l="l" t="t" r="r" b="b"/>
            <a:pathLst>
              <a:path w="52704" h="80010">
                <a:moveTo>
                  <a:pt x="52089" y="79809"/>
                </a:moveTo>
                <a:lnTo>
                  <a:pt x="0" y="79809"/>
                </a:lnTo>
                <a:lnTo>
                  <a:pt x="0" y="72702"/>
                </a:lnTo>
                <a:lnTo>
                  <a:pt x="30323" y="39811"/>
                </a:lnTo>
                <a:lnTo>
                  <a:pt x="33932" y="36314"/>
                </a:lnTo>
                <a:lnTo>
                  <a:pt x="36872" y="32705"/>
                </a:lnTo>
                <a:lnTo>
                  <a:pt x="39104" y="28909"/>
                </a:lnTo>
                <a:lnTo>
                  <a:pt x="39737" y="27272"/>
                </a:lnTo>
                <a:lnTo>
                  <a:pt x="40444" y="23738"/>
                </a:lnTo>
                <a:lnTo>
                  <a:pt x="40369" y="19310"/>
                </a:lnTo>
                <a:lnTo>
                  <a:pt x="26826" y="8259"/>
                </a:lnTo>
                <a:lnTo>
                  <a:pt x="22696" y="8557"/>
                </a:lnTo>
                <a:lnTo>
                  <a:pt x="10715" y="21542"/>
                </a:lnTo>
                <a:lnTo>
                  <a:pt x="446" y="20575"/>
                </a:lnTo>
                <a:lnTo>
                  <a:pt x="25003" y="0"/>
                </a:lnTo>
                <a:lnTo>
                  <a:pt x="29579" y="111"/>
                </a:lnTo>
                <a:lnTo>
                  <a:pt x="50861" y="21542"/>
                </a:lnTo>
                <a:lnTo>
                  <a:pt x="50341" y="26156"/>
                </a:lnTo>
                <a:lnTo>
                  <a:pt x="19608" y="59940"/>
                </a:lnTo>
                <a:lnTo>
                  <a:pt x="15775" y="63996"/>
                </a:lnTo>
                <a:lnTo>
                  <a:pt x="11943" y="69391"/>
                </a:lnTo>
                <a:lnTo>
                  <a:pt x="11050" y="71251"/>
                </a:lnTo>
                <a:lnTo>
                  <a:pt x="52089" y="71251"/>
                </a:lnTo>
                <a:lnTo>
                  <a:pt x="52089" y="79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511849" y="4840820"/>
            <a:ext cx="57785" cy="78740"/>
          </a:xfrm>
          <a:custGeom>
            <a:avLst/>
            <a:gdLst/>
            <a:ahLst/>
            <a:cxnLst/>
            <a:rect l="l" t="t" r="r" b="b"/>
            <a:pathLst>
              <a:path w="57785" h="78739">
                <a:moveTo>
                  <a:pt x="57596" y="60833"/>
                </a:moveTo>
                <a:lnTo>
                  <a:pt x="0" y="60833"/>
                </a:lnTo>
                <a:lnTo>
                  <a:pt x="75" y="52908"/>
                </a:lnTo>
                <a:lnTo>
                  <a:pt x="35979" y="0"/>
                </a:lnTo>
                <a:lnTo>
                  <a:pt x="46545" y="0"/>
                </a:lnTo>
                <a:lnTo>
                  <a:pt x="46545" y="11292"/>
                </a:lnTo>
                <a:lnTo>
                  <a:pt x="37058" y="11292"/>
                </a:lnTo>
                <a:lnTo>
                  <a:pt x="37058" y="11571"/>
                </a:lnTo>
                <a:lnTo>
                  <a:pt x="36872" y="11757"/>
                </a:lnTo>
                <a:lnTo>
                  <a:pt x="36425" y="12613"/>
                </a:lnTo>
                <a:lnTo>
                  <a:pt x="36314" y="12799"/>
                </a:lnTo>
                <a:lnTo>
                  <a:pt x="36239" y="12947"/>
                </a:lnTo>
                <a:lnTo>
                  <a:pt x="36127" y="13134"/>
                </a:lnTo>
                <a:lnTo>
                  <a:pt x="36016" y="13282"/>
                </a:lnTo>
                <a:lnTo>
                  <a:pt x="35941" y="13468"/>
                </a:lnTo>
                <a:lnTo>
                  <a:pt x="35383" y="14436"/>
                </a:lnTo>
                <a:lnTo>
                  <a:pt x="35272" y="14659"/>
                </a:lnTo>
                <a:lnTo>
                  <a:pt x="35160" y="14845"/>
                </a:lnTo>
                <a:lnTo>
                  <a:pt x="35048" y="15068"/>
                </a:lnTo>
                <a:lnTo>
                  <a:pt x="34788" y="15478"/>
                </a:lnTo>
                <a:lnTo>
                  <a:pt x="34453" y="16110"/>
                </a:lnTo>
                <a:lnTo>
                  <a:pt x="34304" y="16296"/>
                </a:lnTo>
                <a:lnTo>
                  <a:pt x="34230" y="16519"/>
                </a:lnTo>
                <a:lnTo>
                  <a:pt x="33895" y="17078"/>
                </a:lnTo>
                <a:lnTo>
                  <a:pt x="33783" y="17226"/>
                </a:lnTo>
                <a:lnTo>
                  <a:pt x="33709" y="17412"/>
                </a:lnTo>
                <a:lnTo>
                  <a:pt x="33486" y="17710"/>
                </a:lnTo>
                <a:lnTo>
                  <a:pt x="33411" y="17859"/>
                </a:lnTo>
                <a:lnTo>
                  <a:pt x="12650" y="48443"/>
                </a:lnTo>
                <a:lnTo>
                  <a:pt x="12315" y="48852"/>
                </a:lnTo>
                <a:lnTo>
                  <a:pt x="12241" y="49001"/>
                </a:lnTo>
                <a:lnTo>
                  <a:pt x="11906" y="49448"/>
                </a:lnTo>
                <a:lnTo>
                  <a:pt x="11831" y="49596"/>
                </a:lnTo>
                <a:lnTo>
                  <a:pt x="9413" y="52759"/>
                </a:lnTo>
                <a:lnTo>
                  <a:pt x="9264" y="52908"/>
                </a:lnTo>
                <a:lnTo>
                  <a:pt x="57596" y="52908"/>
                </a:lnTo>
                <a:lnTo>
                  <a:pt x="57596" y="60833"/>
                </a:lnTo>
                <a:close/>
              </a:path>
              <a:path w="57785" h="78739">
                <a:moveTo>
                  <a:pt x="46545" y="52908"/>
                </a:moveTo>
                <a:lnTo>
                  <a:pt x="37058" y="52908"/>
                </a:lnTo>
                <a:lnTo>
                  <a:pt x="37058" y="11292"/>
                </a:lnTo>
                <a:lnTo>
                  <a:pt x="46545" y="11292"/>
                </a:lnTo>
                <a:lnTo>
                  <a:pt x="46545" y="52908"/>
                </a:lnTo>
                <a:close/>
              </a:path>
              <a:path w="57785" h="78739">
                <a:moveTo>
                  <a:pt x="46545" y="78655"/>
                </a:moveTo>
                <a:lnTo>
                  <a:pt x="37058" y="78655"/>
                </a:lnTo>
                <a:lnTo>
                  <a:pt x="37058" y="60833"/>
                </a:lnTo>
                <a:lnTo>
                  <a:pt x="46545" y="60833"/>
                </a:lnTo>
                <a:lnTo>
                  <a:pt x="46545" y="78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760724" y="1875345"/>
            <a:ext cx="68580" cy="2691765"/>
          </a:xfrm>
          <a:custGeom>
            <a:avLst/>
            <a:gdLst/>
            <a:ahLst/>
            <a:cxnLst/>
            <a:rect l="l" t="t" r="r" b="b"/>
            <a:pathLst>
              <a:path w="68580" h="2691765">
                <a:moveTo>
                  <a:pt x="68572" y="2691556"/>
                </a:moveTo>
                <a:lnTo>
                  <a:pt x="68572" y="0"/>
                </a:lnTo>
              </a:path>
              <a:path w="68580" h="2691765">
                <a:moveTo>
                  <a:pt x="68572" y="2691556"/>
                </a:moveTo>
                <a:lnTo>
                  <a:pt x="0" y="2691556"/>
                </a:lnTo>
              </a:path>
              <a:path w="68580" h="2691765">
                <a:moveTo>
                  <a:pt x="68572" y="2307059"/>
                </a:moveTo>
                <a:lnTo>
                  <a:pt x="0" y="2307059"/>
                </a:lnTo>
              </a:path>
              <a:path w="68580" h="2691765">
                <a:moveTo>
                  <a:pt x="68572" y="1922561"/>
                </a:moveTo>
                <a:lnTo>
                  <a:pt x="0" y="1922561"/>
                </a:lnTo>
              </a:path>
              <a:path w="68580" h="2691765">
                <a:moveTo>
                  <a:pt x="68572" y="1538026"/>
                </a:moveTo>
                <a:lnTo>
                  <a:pt x="0" y="1538026"/>
                </a:lnTo>
              </a:path>
              <a:path w="68580" h="2691765">
                <a:moveTo>
                  <a:pt x="68572" y="1153529"/>
                </a:moveTo>
                <a:lnTo>
                  <a:pt x="0" y="1153529"/>
                </a:lnTo>
              </a:path>
              <a:path w="68580" h="2691765">
                <a:moveTo>
                  <a:pt x="68572" y="768994"/>
                </a:moveTo>
                <a:lnTo>
                  <a:pt x="0" y="768994"/>
                </a:lnTo>
              </a:path>
              <a:path w="68580" h="2691765">
                <a:moveTo>
                  <a:pt x="68572" y="384497"/>
                </a:moveTo>
                <a:lnTo>
                  <a:pt x="0" y="384497"/>
                </a:lnTo>
              </a:path>
              <a:path w="68580" h="2691765">
                <a:moveTo>
                  <a:pt x="68572" y="0"/>
                </a:moveTo>
                <a:lnTo>
                  <a:pt x="0" y="0"/>
                </a:lnTo>
              </a:path>
            </a:pathLst>
          </a:custGeom>
          <a:ln w="7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585590" y="4539592"/>
            <a:ext cx="80010" cy="54610"/>
          </a:xfrm>
          <a:custGeom>
            <a:avLst/>
            <a:gdLst/>
            <a:ahLst/>
            <a:cxnLst/>
            <a:rect l="l" t="t" r="r" b="b"/>
            <a:pathLst>
              <a:path w="80010" h="54610">
                <a:moveTo>
                  <a:pt x="50415" y="334"/>
                </a:moveTo>
                <a:lnTo>
                  <a:pt x="30076" y="334"/>
                </a:lnTo>
                <a:lnTo>
                  <a:pt x="36660" y="0"/>
                </a:lnTo>
                <a:lnTo>
                  <a:pt x="41038" y="0"/>
                </a:lnTo>
                <a:lnTo>
                  <a:pt x="50415" y="334"/>
                </a:lnTo>
                <a:close/>
              </a:path>
              <a:path w="80010" h="54610">
                <a:moveTo>
                  <a:pt x="46285" y="54471"/>
                </a:moveTo>
                <a:lnTo>
                  <a:pt x="33002" y="54471"/>
                </a:lnTo>
                <a:lnTo>
                  <a:pt x="30919" y="54322"/>
                </a:lnTo>
                <a:lnTo>
                  <a:pt x="652" y="36425"/>
                </a:lnTo>
                <a:lnTo>
                  <a:pt x="568" y="36165"/>
                </a:lnTo>
                <a:lnTo>
                  <a:pt x="0" y="33895"/>
                </a:lnTo>
                <a:lnTo>
                  <a:pt x="104" y="20203"/>
                </a:lnTo>
                <a:lnTo>
                  <a:pt x="473" y="18752"/>
                </a:lnTo>
                <a:lnTo>
                  <a:pt x="30919" y="334"/>
                </a:lnTo>
                <a:lnTo>
                  <a:pt x="47840" y="334"/>
                </a:lnTo>
                <a:lnTo>
                  <a:pt x="73818" y="10231"/>
                </a:lnTo>
                <a:lnTo>
                  <a:pt x="34972" y="10231"/>
                </a:lnTo>
                <a:lnTo>
                  <a:pt x="23849" y="11087"/>
                </a:lnTo>
                <a:lnTo>
                  <a:pt x="25694" y="11087"/>
                </a:lnTo>
                <a:lnTo>
                  <a:pt x="22993" y="11571"/>
                </a:lnTo>
                <a:lnTo>
                  <a:pt x="21346" y="11943"/>
                </a:lnTo>
                <a:lnTo>
                  <a:pt x="7850" y="31105"/>
                </a:lnTo>
                <a:lnTo>
                  <a:pt x="8222" y="32593"/>
                </a:lnTo>
                <a:lnTo>
                  <a:pt x="8297" y="32816"/>
                </a:lnTo>
                <a:lnTo>
                  <a:pt x="8359" y="33002"/>
                </a:lnTo>
                <a:lnTo>
                  <a:pt x="8445" y="33263"/>
                </a:lnTo>
                <a:lnTo>
                  <a:pt x="18249" y="41857"/>
                </a:lnTo>
                <a:lnTo>
                  <a:pt x="18119" y="41857"/>
                </a:lnTo>
                <a:lnTo>
                  <a:pt x="21301" y="42750"/>
                </a:lnTo>
                <a:lnTo>
                  <a:pt x="21145" y="42750"/>
                </a:lnTo>
                <a:lnTo>
                  <a:pt x="24258" y="43383"/>
                </a:lnTo>
                <a:lnTo>
                  <a:pt x="25443" y="43569"/>
                </a:lnTo>
                <a:lnTo>
                  <a:pt x="24715" y="43569"/>
                </a:lnTo>
                <a:lnTo>
                  <a:pt x="29728" y="44090"/>
                </a:lnTo>
                <a:lnTo>
                  <a:pt x="74358" y="44090"/>
                </a:lnTo>
                <a:lnTo>
                  <a:pt x="73223" y="45243"/>
                </a:lnTo>
                <a:lnTo>
                  <a:pt x="48294" y="54322"/>
                </a:lnTo>
                <a:lnTo>
                  <a:pt x="46285" y="54471"/>
                </a:lnTo>
                <a:close/>
              </a:path>
              <a:path w="80010" h="54610">
                <a:moveTo>
                  <a:pt x="74358" y="44090"/>
                </a:moveTo>
                <a:lnTo>
                  <a:pt x="49596" y="44090"/>
                </a:lnTo>
                <a:lnTo>
                  <a:pt x="54544" y="43569"/>
                </a:lnTo>
                <a:lnTo>
                  <a:pt x="53726" y="43569"/>
                </a:lnTo>
                <a:lnTo>
                  <a:pt x="67047" y="38583"/>
                </a:lnTo>
                <a:lnTo>
                  <a:pt x="67679" y="38099"/>
                </a:lnTo>
                <a:lnTo>
                  <a:pt x="71106" y="33002"/>
                </a:lnTo>
                <a:lnTo>
                  <a:pt x="71179" y="32816"/>
                </a:lnTo>
                <a:lnTo>
                  <a:pt x="71261" y="32593"/>
                </a:lnTo>
                <a:lnTo>
                  <a:pt x="71645" y="31105"/>
                </a:lnTo>
                <a:lnTo>
                  <a:pt x="71555" y="23328"/>
                </a:lnTo>
                <a:lnTo>
                  <a:pt x="53151" y="11087"/>
                </a:lnTo>
                <a:lnTo>
                  <a:pt x="53619" y="11087"/>
                </a:lnTo>
                <a:lnTo>
                  <a:pt x="45169" y="10231"/>
                </a:lnTo>
                <a:lnTo>
                  <a:pt x="73825" y="10231"/>
                </a:lnTo>
                <a:lnTo>
                  <a:pt x="79920" y="23031"/>
                </a:lnTo>
                <a:lnTo>
                  <a:pt x="79805" y="32593"/>
                </a:lnTo>
                <a:lnTo>
                  <a:pt x="74841" y="43569"/>
                </a:lnTo>
                <a:lnTo>
                  <a:pt x="74358" y="44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84921" y="4091508"/>
            <a:ext cx="80590" cy="18049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85034" y="3707010"/>
            <a:ext cx="80477" cy="183616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85590" y="2521669"/>
            <a:ext cx="79920" cy="241101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84921" y="2137171"/>
            <a:ext cx="80590" cy="241101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85198" y="1752674"/>
            <a:ext cx="80313" cy="241101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2950219" y="1925315"/>
            <a:ext cx="3022600" cy="2641600"/>
          </a:xfrm>
          <a:custGeom>
            <a:avLst/>
            <a:gdLst/>
            <a:ahLst/>
            <a:cxnLst/>
            <a:rect l="l" t="t" r="r" b="b"/>
            <a:pathLst>
              <a:path w="3022600" h="2641600">
                <a:moveTo>
                  <a:pt x="0" y="2641587"/>
                </a:moveTo>
                <a:lnTo>
                  <a:pt x="143916" y="2641587"/>
                </a:lnTo>
                <a:lnTo>
                  <a:pt x="143916" y="2631987"/>
                </a:lnTo>
                <a:lnTo>
                  <a:pt x="0" y="2631987"/>
                </a:lnTo>
                <a:lnTo>
                  <a:pt x="0" y="2641587"/>
                </a:lnTo>
                <a:close/>
              </a:path>
              <a:path w="3022600" h="2641600">
                <a:moveTo>
                  <a:pt x="143916" y="2641587"/>
                </a:moveTo>
                <a:lnTo>
                  <a:pt x="287833" y="2641587"/>
                </a:lnTo>
                <a:lnTo>
                  <a:pt x="287833" y="2608919"/>
                </a:lnTo>
                <a:lnTo>
                  <a:pt x="143916" y="2608919"/>
                </a:lnTo>
                <a:lnTo>
                  <a:pt x="143916" y="2641587"/>
                </a:lnTo>
                <a:close/>
              </a:path>
              <a:path w="3022600" h="2641600">
                <a:moveTo>
                  <a:pt x="287870" y="2641587"/>
                </a:moveTo>
                <a:lnTo>
                  <a:pt x="431787" y="2641587"/>
                </a:lnTo>
                <a:lnTo>
                  <a:pt x="431787" y="2564680"/>
                </a:lnTo>
                <a:lnTo>
                  <a:pt x="287870" y="2564680"/>
                </a:lnTo>
                <a:lnTo>
                  <a:pt x="287870" y="2641587"/>
                </a:lnTo>
                <a:close/>
              </a:path>
              <a:path w="3022600" h="2641600">
                <a:moveTo>
                  <a:pt x="431787" y="2641587"/>
                </a:moveTo>
                <a:lnTo>
                  <a:pt x="575704" y="2641587"/>
                </a:lnTo>
                <a:lnTo>
                  <a:pt x="575704" y="2426270"/>
                </a:lnTo>
                <a:lnTo>
                  <a:pt x="431787" y="2426270"/>
                </a:lnTo>
                <a:lnTo>
                  <a:pt x="431787" y="2641587"/>
                </a:lnTo>
                <a:close/>
              </a:path>
              <a:path w="3022600" h="2641600">
                <a:moveTo>
                  <a:pt x="575741" y="2641587"/>
                </a:moveTo>
                <a:lnTo>
                  <a:pt x="719658" y="2641587"/>
                </a:lnTo>
                <a:lnTo>
                  <a:pt x="719658" y="2201316"/>
                </a:lnTo>
                <a:lnTo>
                  <a:pt x="575741" y="2201316"/>
                </a:lnTo>
                <a:lnTo>
                  <a:pt x="575741" y="2641587"/>
                </a:lnTo>
                <a:close/>
              </a:path>
              <a:path w="3022600" h="2641600">
                <a:moveTo>
                  <a:pt x="719658" y="2641587"/>
                </a:moveTo>
                <a:lnTo>
                  <a:pt x="863575" y="2641587"/>
                </a:lnTo>
                <a:lnTo>
                  <a:pt x="863575" y="1849486"/>
                </a:lnTo>
                <a:lnTo>
                  <a:pt x="719658" y="1849486"/>
                </a:lnTo>
                <a:lnTo>
                  <a:pt x="719658" y="2641587"/>
                </a:lnTo>
                <a:close/>
              </a:path>
              <a:path w="3022600" h="2641600">
                <a:moveTo>
                  <a:pt x="863575" y="2641587"/>
                </a:moveTo>
                <a:lnTo>
                  <a:pt x="1007491" y="2641587"/>
                </a:lnTo>
                <a:lnTo>
                  <a:pt x="1007491" y="1351545"/>
                </a:lnTo>
                <a:lnTo>
                  <a:pt x="863575" y="1351545"/>
                </a:lnTo>
                <a:lnTo>
                  <a:pt x="863575" y="2641587"/>
                </a:lnTo>
                <a:close/>
              </a:path>
              <a:path w="3022600" h="2641600">
                <a:moveTo>
                  <a:pt x="1007529" y="2641587"/>
                </a:moveTo>
                <a:lnTo>
                  <a:pt x="1151445" y="2641587"/>
                </a:lnTo>
                <a:lnTo>
                  <a:pt x="1151445" y="709426"/>
                </a:lnTo>
                <a:lnTo>
                  <a:pt x="1007529" y="709426"/>
                </a:lnTo>
                <a:lnTo>
                  <a:pt x="1007529" y="2641587"/>
                </a:lnTo>
                <a:close/>
              </a:path>
              <a:path w="3022600" h="2641600">
                <a:moveTo>
                  <a:pt x="1151445" y="2641587"/>
                </a:moveTo>
                <a:lnTo>
                  <a:pt x="1295362" y="2641587"/>
                </a:lnTo>
                <a:lnTo>
                  <a:pt x="1295362" y="374898"/>
                </a:lnTo>
                <a:lnTo>
                  <a:pt x="1151445" y="374898"/>
                </a:lnTo>
                <a:lnTo>
                  <a:pt x="1151445" y="2641587"/>
                </a:lnTo>
                <a:close/>
              </a:path>
              <a:path w="3022600" h="2641600">
                <a:moveTo>
                  <a:pt x="1295399" y="2641587"/>
                </a:moveTo>
                <a:lnTo>
                  <a:pt x="1439316" y="2641587"/>
                </a:lnTo>
                <a:lnTo>
                  <a:pt x="1439316" y="0"/>
                </a:lnTo>
                <a:lnTo>
                  <a:pt x="1295399" y="0"/>
                </a:lnTo>
                <a:lnTo>
                  <a:pt x="1295399" y="2641587"/>
                </a:lnTo>
                <a:close/>
              </a:path>
              <a:path w="3022600" h="2641600">
                <a:moveTo>
                  <a:pt x="1439316" y="2641587"/>
                </a:moveTo>
                <a:lnTo>
                  <a:pt x="1583233" y="2641587"/>
                </a:lnTo>
                <a:lnTo>
                  <a:pt x="1583233" y="0"/>
                </a:lnTo>
                <a:lnTo>
                  <a:pt x="1439316" y="0"/>
                </a:lnTo>
                <a:lnTo>
                  <a:pt x="1439316" y="2641587"/>
                </a:lnTo>
                <a:close/>
              </a:path>
              <a:path w="3022600" h="2641600">
                <a:moveTo>
                  <a:pt x="1583270" y="2641587"/>
                </a:moveTo>
                <a:lnTo>
                  <a:pt x="1727187" y="2641587"/>
                </a:lnTo>
                <a:lnTo>
                  <a:pt x="1727187" y="288354"/>
                </a:lnTo>
                <a:lnTo>
                  <a:pt x="1583270" y="288354"/>
                </a:lnTo>
                <a:lnTo>
                  <a:pt x="1583270" y="2641587"/>
                </a:lnTo>
                <a:close/>
              </a:path>
              <a:path w="3022600" h="2641600">
                <a:moveTo>
                  <a:pt x="1727187" y="2641587"/>
                </a:moveTo>
                <a:lnTo>
                  <a:pt x="1871104" y="2641587"/>
                </a:lnTo>
                <a:lnTo>
                  <a:pt x="1871104" y="855538"/>
                </a:lnTo>
                <a:lnTo>
                  <a:pt x="1727187" y="855538"/>
                </a:lnTo>
                <a:lnTo>
                  <a:pt x="1727187" y="2641587"/>
                </a:lnTo>
                <a:close/>
              </a:path>
              <a:path w="3022600" h="2641600">
                <a:moveTo>
                  <a:pt x="1871141" y="2641587"/>
                </a:moveTo>
                <a:lnTo>
                  <a:pt x="2015058" y="2641587"/>
                </a:lnTo>
                <a:lnTo>
                  <a:pt x="2015058" y="1436154"/>
                </a:lnTo>
                <a:lnTo>
                  <a:pt x="1871141" y="1436154"/>
                </a:lnTo>
                <a:lnTo>
                  <a:pt x="1871141" y="2641587"/>
                </a:lnTo>
                <a:close/>
              </a:path>
              <a:path w="3022600" h="2641600">
                <a:moveTo>
                  <a:pt x="2015058" y="2641587"/>
                </a:moveTo>
                <a:lnTo>
                  <a:pt x="2158975" y="2641587"/>
                </a:lnTo>
                <a:lnTo>
                  <a:pt x="2158975" y="1832185"/>
                </a:lnTo>
                <a:lnTo>
                  <a:pt x="2015058" y="1832185"/>
                </a:lnTo>
                <a:lnTo>
                  <a:pt x="2015058" y="2641587"/>
                </a:lnTo>
                <a:close/>
              </a:path>
              <a:path w="3022600" h="2641600">
                <a:moveTo>
                  <a:pt x="2158975" y="2641587"/>
                </a:moveTo>
                <a:lnTo>
                  <a:pt x="2302891" y="2641587"/>
                </a:lnTo>
                <a:lnTo>
                  <a:pt x="2302891" y="2224384"/>
                </a:lnTo>
                <a:lnTo>
                  <a:pt x="2158975" y="2224384"/>
                </a:lnTo>
                <a:lnTo>
                  <a:pt x="2158975" y="2641587"/>
                </a:lnTo>
                <a:close/>
              </a:path>
              <a:path w="3022600" h="2641600">
                <a:moveTo>
                  <a:pt x="2302929" y="2641587"/>
                </a:moveTo>
                <a:lnTo>
                  <a:pt x="2446845" y="2641587"/>
                </a:lnTo>
                <a:lnTo>
                  <a:pt x="2446845" y="2447403"/>
                </a:lnTo>
                <a:lnTo>
                  <a:pt x="2302929" y="2447403"/>
                </a:lnTo>
                <a:lnTo>
                  <a:pt x="2302929" y="2641587"/>
                </a:lnTo>
                <a:close/>
              </a:path>
              <a:path w="3022600" h="2641600">
                <a:moveTo>
                  <a:pt x="2446845" y="2641587"/>
                </a:moveTo>
                <a:lnTo>
                  <a:pt x="2590762" y="2641587"/>
                </a:lnTo>
                <a:lnTo>
                  <a:pt x="2590762" y="2551211"/>
                </a:lnTo>
                <a:lnTo>
                  <a:pt x="2446845" y="2551211"/>
                </a:lnTo>
                <a:lnTo>
                  <a:pt x="2446845" y="2641587"/>
                </a:lnTo>
                <a:close/>
              </a:path>
              <a:path w="3022600" h="2641600">
                <a:moveTo>
                  <a:pt x="2590799" y="2641587"/>
                </a:moveTo>
                <a:lnTo>
                  <a:pt x="2734716" y="2641587"/>
                </a:lnTo>
                <a:lnTo>
                  <a:pt x="2734716" y="2618519"/>
                </a:lnTo>
                <a:lnTo>
                  <a:pt x="2590799" y="2618519"/>
                </a:lnTo>
                <a:lnTo>
                  <a:pt x="2590799" y="2641587"/>
                </a:lnTo>
                <a:close/>
              </a:path>
              <a:path w="3022600" h="2641600">
                <a:moveTo>
                  <a:pt x="2734716" y="2641587"/>
                </a:moveTo>
                <a:lnTo>
                  <a:pt x="2878633" y="2641587"/>
                </a:lnTo>
                <a:lnTo>
                  <a:pt x="2878633" y="2635820"/>
                </a:lnTo>
                <a:lnTo>
                  <a:pt x="2734716" y="2635820"/>
                </a:lnTo>
                <a:lnTo>
                  <a:pt x="2734716" y="2641587"/>
                </a:lnTo>
                <a:close/>
              </a:path>
              <a:path w="3022600" h="2641600">
                <a:moveTo>
                  <a:pt x="2878670" y="2641587"/>
                </a:moveTo>
                <a:lnTo>
                  <a:pt x="3022587" y="2641587"/>
                </a:lnTo>
                <a:lnTo>
                  <a:pt x="3022587" y="2639652"/>
                </a:lnTo>
                <a:lnTo>
                  <a:pt x="2878670" y="2639652"/>
                </a:lnTo>
                <a:lnTo>
                  <a:pt x="2878670" y="2641587"/>
                </a:lnTo>
                <a:close/>
              </a:path>
            </a:pathLst>
          </a:custGeom>
          <a:ln w="71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828" y="569478"/>
            <a:ext cx="7269468" cy="5145109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5"/>
              <a:t>Central</a:t>
            </a:r>
            <a:r>
              <a:rPr dirty="0" spc="-155"/>
              <a:t> </a:t>
            </a:r>
            <a:r>
              <a:rPr dirty="0" spc="-130"/>
              <a:t>Limit</a:t>
            </a:r>
            <a:r>
              <a:rPr dirty="0" spc="-150"/>
              <a:t> </a:t>
            </a:r>
            <a:r>
              <a:rPr dirty="0" spc="-140"/>
              <a:t>Theorem</a:t>
            </a:r>
            <a:r>
              <a:rPr dirty="0" spc="-155"/>
              <a:t> </a:t>
            </a:r>
            <a:r>
              <a:rPr dirty="0" spc="-130"/>
              <a:t>(Again!)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2619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3552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8000" y="712360"/>
            <a:ext cx="7224395" cy="2975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687070">
              <a:lnSpc>
                <a:spcPct val="157300"/>
              </a:lnSpc>
              <a:spcBef>
                <a:spcPts val="100"/>
              </a:spcBef>
            </a:pPr>
            <a:r>
              <a:rPr dirty="0" sz="1450">
                <a:latin typeface="Trebuchet MS"/>
                <a:cs typeface="Trebuchet MS"/>
              </a:rPr>
              <a:t>Given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populations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 </a:t>
            </a:r>
            <a:r>
              <a:rPr dirty="0" sz="1450" spc="-150">
                <a:latin typeface="Trebuchet MS"/>
                <a:cs typeface="Trebuchet MS"/>
              </a:rPr>
              <a:t>1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>
                <a:latin typeface="Trebuchet MS"/>
                <a:cs typeface="Trebuchet MS"/>
              </a:rPr>
              <a:t> mean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3227" sz="1575">
                <a:latin typeface="Tahoma"/>
                <a:cs typeface="Tahoma"/>
              </a:rPr>
              <a:t>1</a:t>
            </a:r>
            <a:r>
              <a:rPr dirty="0" baseline="-13227" sz="1575" spc="284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and standard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Arial"/>
                <a:cs typeface="Arial"/>
              </a:rPr>
              <a:t>σ</a:t>
            </a:r>
            <a:r>
              <a:rPr dirty="0" sz="1450" spc="-25">
                <a:latin typeface="Trebuchet MS"/>
                <a:cs typeface="Trebuchet MS"/>
              </a:rPr>
              <a:t>,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 </a:t>
            </a:r>
            <a:r>
              <a:rPr dirty="0" sz="1450" spc="-60">
                <a:latin typeface="Trebuchet MS"/>
                <a:cs typeface="Trebuchet MS"/>
              </a:rPr>
              <a:t>2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>
                <a:latin typeface="Trebuchet MS"/>
                <a:cs typeface="Trebuchet MS"/>
              </a:rPr>
              <a:t> mean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7936" sz="1575">
                <a:latin typeface="Tahoma"/>
                <a:cs typeface="Tahoma"/>
              </a:rPr>
              <a:t>2</a:t>
            </a:r>
            <a:r>
              <a:rPr dirty="0" baseline="-7936" sz="1575" spc="284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and standard deviation </a:t>
            </a:r>
            <a:r>
              <a:rPr dirty="0" sz="1550" spc="-130" i="1">
                <a:latin typeface="Arial"/>
                <a:cs typeface="Arial"/>
              </a:rPr>
              <a:t>σ</a:t>
            </a:r>
            <a:r>
              <a:rPr dirty="0" sz="1550" spc="10" i="1">
                <a:latin typeface="Arial"/>
                <a:cs typeface="Arial"/>
              </a:rPr>
              <a:t> </a:t>
            </a:r>
            <a:r>
              <a:rPr dirty="0" sz="1450" spc="20">
                <a:latin typeface="Trebuchet MS"/>
                <a:cs typeface="Trebuchet MS"/>
              </a:rPr>
              <a:t>—</a:t>
            </a:r>
            <a:endParaRPr sz="1450">
              <a:latin typeface="Trebuchet MS"/>
              <a:cs typeface="Trebuchet MS"/>
            </a:endParaRPr>
          </a:p>
          <a:p>
            <a:pPr marL="63500" marR="55880">
              <a:lnSpc>
                <a:spcPts val="2850"/>
              </a:lnSpc>
              <a:spcBef>
                <a:spcPts val="26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sampling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distribution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difference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in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sample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means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approximately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normal, with: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450">
              <a:latin typeface="Trebuchet MS"/>
              <a:cs typeface="Trebuchet MS"/>
            </a:endParaRPr>
          </a:p>
          <a:p>
            <a:pPr marL="443865">
              <a:lnSpc>
                <a:spcPct val="100000"/>
              </a:lnSpc>
            </a:pPr>
            <a:r>
              <a:rPr dirty="0" sz="1450" spc="-10">
                <a:latin typeface="Trebuchet MS"/>
                <a:cs typeface="Trebuchet MS"/>
              </a:rPr>
              <a:t>Mean:</a:t>
            </a:r>
            <a:endParaRPr sz="1450">
              <a:latin typeface="Trebuchet MS"/>
              <a:cs typeface="Trebuchet MS"/>
            </a:endParaRPr>
          </a:p>
          <a:p>
            <a:pPr algn="ctr" marL="780415">
              <a:lnSpc>
                <a:spcPct val="100000"/>
              </a:lnSpc>
              <a:spcBef>
                <a:spcPts val="1610"/>
              </a:spcBef>
            </a:pP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5151" sz="1650" spc="-705" i="1">
                <a:latin typeface="Arial"/>
                <a:cs typeface="Arial"/>
              </a:rPr>
              <a:t>X</a:t>
            </a:r>
            <a:r>
              <a:rPr dirty="0" baseline="-7936" sz="1575" spc="75">
                <a:latin typeface="Tahoma"/>
                <a:cs typeface="Tahoma"/>
              </a:rPr>
              <a:t>¯</a:t>
            </a:r>
            <a:r>
              <a:rPr dirty="0" baseline="-33333" sz="1125" spc="75">
                <a:latin typeface="Tahoma"/>
                <a:cs typeface="Tahoma"/>
              </a:rPr>
              <a:t>1</a:t>
            </a:r>
            <a:r>
              <a:rPr dirty="0" baseline="-15873" sz="1575">
                <a:latin typeface="Tahoma"/>
                <a:cs typeface="Tahoma"/>
              </a:rPr>
              <a:t>−</a:t>
            </a:r>
            <a:r>
              <a:rPr dirty="0" baseline="-15151" sz="1650" spc="-705" i="1">
                <a:latin typeface="Arial"/>
                <a:cs typeface="Arial"/>
              </a:rPr>
              <a:t>X</a:t>
            </a:r>
            <a:r>
              <a:rPr dirty="0" baseline="-7936" sz="1575" spc="75">
                <a:latin typeface="Tahoma"/>
                <a:cs typeface="Tahoma"/>
              </a:rPr>
              <a:t>¯</a:t>
            </a:r>
            <a:r>
              <a:rPr dirty="0" baseline="-33333" sz="1125">
                <a:latin typeface="Tahoma"/>
                <a:cs typeface="Tahoma"/>
              </a:rPr>
              <a:t>2</a:t>
            </a:r>
            <a:r>
              <a:rPr dirty="0" baseline="-33333" sz="1125" spc="322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10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7936" sz="1575">
                <a:latin typeface="Tahoma"/>
                <a:cs typeface="Tahoma"/>
              </a:rPr>
              <a:t>1</a:t>
            </a:r>
            <a:r>
              <a:rPr dirty="0" baseline="-7936" sz="1575" spc="44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spc="-25" i="1">
                <a:latin typeface="Arial"/>
                <a:cs typeface="Arial"/>
              </a:rPr>
              <a:t>μ</a:t>
            </a:r>
            <a:r>
              <a:rPr dirty="0" baseline="-7936" sz="1575" spc="-37">
                <a:latin typeface="Tahoma"/>
                <a:cs typeface="Tahoma"/>
              </a:rPr>
              <a:t>2</a:t>
            </a:r>
            <a:endParaRPr baseline="-7936" sz="1575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000">
              <a:latin typeface="Tahoma"/>
              <a:cs typeface="Tahoma"/>
            </a:endParaRPr>
          </a:p>
          <a:p>
            <a:pPr marL="443865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Deviation: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3400" y="4753521"/>
            <a:ext cx="475932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450" spc="-10">
                <a:latin typeface="Trebuchet MS"/>
                <a:cs typeface="Trebuchet MS"/>
              </a:rPr>
              <a:t>where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baseline="-7936" sz="1575">
                <a:latin typeface="Tahoma"/>
                <a:cs typeface="Tahoma"/>
              </a:rPr>
              <a:t>1</a:t>
            </a:r>
            <a:r>
              <a:rPr dirty="0" baseline="-7936" sz="1575" spc="187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baseline="-7936" sz="1575">
                <a:latin typeface="Tahoma"/>
                <a:cs typeface="Tahoma"/>
              </a:rPr>
              <a:t>2</a:t>
            </a:r>
            <a:r>
              <a:rPr dirty="0" baseline="-7936" sz="1575" spc="187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sizes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groups.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21596" y="4191958"/>
            <a:ext cx="495300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59" i="1">
                <a:latin typeface="Arial"/>
                <a:cs typeface="Arial"/>
              </a:rPr>
              <a:t>X</a:t>
            </a:r>
            <a:r>
              <a:rPr dirty="0" baseline="10582" sz="1575" spc="89">
                <a:latin typeface="Tahoma"/>
                <a:cs typeface="Tahoma"/>
              </a:rPr>
              <a:t>¯</a:t>
            </a:r>
            <a:r>
              <a:rPr dirty="0" baseline="-11111" sz="1125" spc="89">
                <a:latin typeface="Tahoma"/>
                <a:cs typeface="Tahoma"/>
              </a:rPr>
              <a:t>1</a:t>
            </a:r>
            <a:r>
              <a:rPr dirty="0" sz="1050" spc="10">
                <a:latin typeface="Tahoma"/>
                <a:cs typeface="Tahoma"/>
              </a:rPr>
              <a:t>−</a:t>
            </a:r>
            <a:r>
              <a:rPr dirty="0" sz="1100" spc="-459" i="1">
                <a:latin typeface="Arial"/>
                <a:cs typeface="Arial"/>
              </a:rPr>
              <a:t>X</a:t>
            </a:r>
            <a:r>
              <a:rPr dirty="0" baseline="10582" sz="1575" spc="89">
                <a:latin typeface="Tahoma"/>
                <a:cs typeface="Tahoma"/>
              </a:rPr>
              <a:t>¯</a:t>
            </a:r>
            <a:r>
              <a:rPr dirty="0" baseline="-11111" sz="1125" spc="15">
                <a:latin typeface="Tahoma"/>
                <a:cs typeface="Tahoma"/>
              </a:rPr>
              <a:t>2</a:t>
            </a:r>
            <a:endParaRPr baseline="-11111" sz="1125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42518" y="3734434"/>
            <a:ext cx="991235" cy="683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01980" algn="l"/>
              </a:tabLst>
            </a:pPr>
            <a:r>
              <a:rPr dirty="0" sz="1550" spc="-50" i="1">
                <a:latin typeface="Arial"/>
                <a:cs typeface="Arial"/>
              </a:rPr>
              <a:t>σ</a:t>
            </a:r>
            <a:r>
              <a:rPr dirty="0" sz="1550" i="1">
                <a:latin typeface="Arial"/>
                <a:cs typeface="Arial"/>
              </a:rPr>
              <a:t>	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4300" spc="-1005">
                <a:latin typeface="Arial"/>
                <a:cs typeface="Arial"/>
              </a:rPr>
              <a:t>√</a:t>
            </a:r>
            <a:endParaRPr sz="43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619624" y="3971924"/>
            <a:ext cx="752475" cy="9525"/>
          </a:xfrm>
          <a:custGeom>
            <a:avLst/>
            <a:gdLst/>
            <a:ahLst/>
            <a:cxnLst/>
            <a:rect l="l" t="t" r="r" b="b"/>
            <a:pathLst>
              <a:path w="752475" h="9525">
                <a:moveTo>
                  <a:pt x="752474" y="9524"/>
                </a:moveTo>
                <a:lnTo>
                  <a:pt x="0" y="9524"/>
                </a:lnTo>
                <a:lnTo>
                  <a:pt x="0" y="0"/>
                </a:lnTo>
                <a:lnTo>
                  <a:pt x="752474" y="0"/>
                </a:lnTo>
                <a:lnTo>
                  <a:pt x="7524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646662" y="3962946"/>
            <a:ext cx="13017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70" i="1">
                <a:latin typeface="Arial"/>
                <a:cs typeface="Arial"/>
              </a:rPr>
              <a:t>σ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48745" y="4210596"/>
            <a:ext cx="13525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 i="1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638674" y="4248149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228599" y="9524"/>
                </a:moveTo>
                <a:lnTo>
                  <a:pt x="0" y="9524"/>
                </a:lnTo>
                <a:lnTo>
                  <a:pt x="0" y="0"/>
                </a:lnTo>
                <a:lnTo>
                  <a:pt x="228599" y="0"/>
                </a:lnTo>
                <a:lnTo>
                  <a:pt x="2285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735115" y="3905796"/>
            <a:ext cx="62992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12750" algn="l"/>
              </a:tabLst>
            </a:pPr>
            <a:r>
              <a:rPr dirty="0" sz="1050" spc="-50">
                <a:latin typeface="Tahoma"/>
                <a:cs typeface="Tahoma"/>
              </a:rPr>
              <a:t>2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-16129" sz="2325" spc="-37" i="1">
                <a:latin typeface="Arial"/>
                <a:cs typeface="Arial"/>
              </a:rPr>
              <a:t>σ</a:t>
            </a:r>
            <a:r>
              <a:rPr dirty="0" sz="1050" spc="-25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13659" y="4089084"/>
            <a:ext cx="359410" cy="382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365"/>
              </a:lnSpc>
              <a:spcBef>
                <a:spcPts val="125"/>
              </a:spcBef>
            </a:pPr>
            <a:r>
              <a:rPr dirty="0" sz="1500" spc="-50">
                <a:latin typeface="Tahoma"/>
                <a:cs typeface="Tahoma"/>
              </a:rPr>
              <a:t>+</a:t>
            </a:r>
            <a:endParaRPr sz="1500">
              <a:latin typeface="Tahoma"/>
              <a:cs typeface="Tahoma"/>
            </a:endParaRPr>
          </a:p>
          <a:p>
            <a:pPr marL="236220">
              <a:lnSpc>
                <a:spcPts val="1420"/>
              </a:lnSpc>
            </a:pPr>
            <a:r>
              <a:rPr dirty="0" sz="1550" spc="-50" i="1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758580" y="4298368"/>
            <a:ext cx="57912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1015" algn="l"/>
              </a:tabLst>
            </a:pPr>
            <a:r>
              <a:rPr dirty="0" sz="1050" spc="-50">
                <a:latin typeface="Tahoma"/>
                <a:cs typeface="Tahoma"/>
              </a:rPr>
              <a:t>1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sz="1050" spc="-50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133974" y="4248149"/>
            <a:ext cx="219075" cy="9525"/>
          </a:xfrm>
          <a:custGeom>
            <a:avLst/>
            <a:gdLst/>
            <a:ahLst/>
            <a:cxnLst/>
            <a:rect l="l" t="t" r="r" b="b"/>
            <a:pathLst>
              <a:path w="219075" h="9525">
                <a:moveTo>
                  <a:pt x="219074" y="9524"/>
                </a:moveTo>
                <a:lnTo>
                  <a:pt x="0" y="9524"/>
                </a:lnTo>
                <a:lnTo>
                  <a:pt x="0" y="0"/>
                </a:lnTo>
                <a:lnTo>
                  <a:pt x="219074" y="0"/>
                </a:lnTo>
                <a:lnTo>
                  <a:pt x="2190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Estimating</a:t>
            </a:r>
            <a:r>
              <a:rPr dirty="0" spc="-140"/>
              <a:t> </a:t>
            </a:r>
            <a:r>
              <a:rPr dirty="0" spc="-114"/>
              <a:t>the</a:t>
            </a:r>
            <a:r>
              <a:rPr dirty="0" spc="-135"/>
              <a:t> </a:t>
            </a:r>
            <a:r>
              <a:rPr dirty="0" spc="-85"/>
              <a:t>Population</a:t>
            </a:r>
            <a:r>
              <a:rPr dirty="0" spc="-135"/>
              <a:t> </a:t>
            </a:r>
            <a:r>
              <a:rPr dirty="0" spc="-80"/>
              <a:t>Standard</a:t>
            </a:r>
            <a:r>
              <a:rPr dirty="0" spc="-140"/>
              <a:t> </a:t>
            </a:r>
            <a:r>
              <a:rPr dirty="0" spc="-65"/>
              <a:t>Deviation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9800" y="795019"/>
            <a:ext cx="7142480" cy="864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In </a:t>
            </a:r>
            <a:r>
              <a:rPr dirty="0" sz="1450" spc="-45">
                <a:latin typeface="Trebuchet MS"/>
                <a:cs typeface="Trebuchet MS"/>
              </a:rPr>
              <a:t>practice,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rarely</a:t>
            </a:r>
            <a:r>
              <a:rPr dirty="0" sz="1450">
                <a:latin typeface="Trebuchet MS"/>
                <a:cs typeface="Trebuchet MS"/>
              </a:rPr>
              <a:t> know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 population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 </a:t>
            </a:r>
            <a:r>
              <a:rPr dirty="0" sz="1450" spc="-10">
                <a:latin typeface="Trebuchet MS"/>
                <a:cs typeface="Trebuchet MS"/>
              </a:rPr>
              <a:t>deviation.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 spc="-10">
                <a:latin typeface="Trebuchet MS"/>
                <a:cs typeface="Trebuchet MS"/>
              </a:rPr>
              <a:t>Instead,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estimate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pooled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standard </a:t>
            </a:r>
            <a:r>
              <a:rPr dirty="0" sz="1450" spc="-40" b="1">
                <a:latin typeface="Trebuchet MS"/>
                <a:cs typeface="Trebuchet MS"/>
              </a:rPr>
              <a:t>deviation</a:t>
            </a:r>
            <a:r>
              <a:rPr dirty="0" sz="1450" spc="-40">
                <a:latin typeface="Trebuchet MS"/>
                <a:cs typeface="Trebuchet MS"/>
              </a:rPr>
              <a:t>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approximation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deviation.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2695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01700" y="2585720"/>
            <a:ext cx="7044055" cy="1466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do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not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need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be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equal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calculation.</a:t>
            </a:r>
            <a:endParaRPr sz="1450">
              <a:latin typeface="Trebuchet MS"/>
              <a:cs typeface="Trebuchet MS"/>
            </a:endParaRPr>
          </a:p>
          <a:p>
            <a:pPr marL="50800">
              <a:lnSpc>
                <a:spcPts val="1730"/>
              </a:lnSpc>
              <a:spcBef>
                <a:spcPts val="1485"/>
              </a:spcBef>
            </a:pPr>
            <a:r>
              <a:rPr dirty="0" sz="1450">
                <a:latin typeface="Trebuchet MS"/>
                <a:cs typeface="Trebuchet MS"/>
              </a:rPr>
              <a:t>Because</a:t>
            </a:r>
            <a:r>
              <a:rPr dirty="0" sz="1450" spc="-10">
                <a:latin typeface="Trebuchet MS"/>
                <a:cs typeface="Trebuchet MS"/>
              </a:rPr>
              <a:t> we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replace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 </a:t>
            </a:r>
            <a:r>
              <a:rPr dirty="0" sz="1450">
                <a:latin typeface="Trebuchet MS"/>
                <a:cs typeface="Trebuchet MS"/>
              </a:rPr>
              <a:t>an </a:t>
            </a:r>
            <a:r>
              <a:rPr dirty="0" sz="1450" spc="-10" b="1">
                <a:latin typeface="Trebuchet MS"/>
                <a:cs typeface="Trebuchet MS"/>
              </a:rPr>
              <a:t>estimate</a:t>
            </a:r>
            <a:r>
              <a:rPr dirty="0" sz="1450" spc="-10">
                <a:latin typeface="Trebuchet MS"/>
                <a:cs typeface="Trebuchet MS"/>
              </a:rPr>
              <a:t>,</a:t>
            </a:r>
            <a:endParaRPr sz="1450">
              <a:latin typeface="Trebuchet MS"/>
              <a:cs typeface="Trebuchet MS"/>
            </a:endParaRPr>
          </a:p>
          <a:p>
            <a:pPr marL="50800" marR="43180">
              <a:lnSpc>
                <a:spcPts val="1730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-distribution with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freedom:</a:t>
            </a:r>
            <a:endParaRPr sz="1450">
              <a:latin typeface="Trebuchet MS"/>
              <a:cs typeface="Trebuchet MS"/>
            </a:endParaRPr>
          </a:p>
          <a:p>
            <a:pPr algn="ctr" marR="190500">
              <a:lnSpc>
                <a:spcPct val="100000"/>
              </a:lnSpc>
              <a:spcBef>
                <a:spcPts val="1025"/>
              </a:spcBef>
            </a:pPr>
            <a:r>
              <a:rPr dirty="0" sz="1550" spc="75" i="1">
                <a:latin typeface="Arial"/>
                <a:cs typeface="Arial"/>
              </a:rPr>
              <a:t>df</a:t>
            </a:r>
            <a:r>
              <a:rPr dirty="0" sz="1550" spc="2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5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baseline="-13227" sz="1575">
                <a:latin typeface="Tahoma"/>
                <a:cs typeface="Tahoma"/>
              </a:rPr>
              <a:t>1</a:t>
            </a:r>
            <a:r>
              <a:rPr dirty="0" baseline="-13227" sz="1575" spc="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+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baseline="-13227" sz="1575">
                <a:latin typeface="Tahoma"/>
                <a:cs typeface="Tahoma"/>
              </a:rPr>
              <a:t>2</a:t>
            </a:r>
            <a:r>
              <a:rPr dirty="0" baseline="-13227" sz="1575" spc="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71524" y="3105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080097" y="2000796"/>
            <a:ext cx="32321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135" i="1">
                <a:latin typeface="Arial"/>
                <a:cs typeface="Arial"/>
              </a:rPr>
              <a:t>σ</a:t>
            </a:r>
            <a:r>
              <a:rPr dirty="0" baseline="1851" sz="2250" spc="-434">
                <a:latin typeface="Tahoma"/>
                <a:cs typeface="Tahoma"/>
              </a:rPr>
              <a:t>^</a:t>
            </a:r>
            <a:r>
              <a:rPr dirty="0" baseline="1851" sz="2250" spc="-82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28652" y="1629410"/>
            <a:ext cx="208279" cy="683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300" spc="-994">
                <a:latin typeface="Arial"/>
                <a:cs typeface="Arial"/>
              </a:rPr>
              <a:t>√</a:t>
            </a:r>
            <a:endParaRPr sz="43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629024" y="1857374"/>
            <a:ext cx="1924050" cy="9525"/>
          </a:xfrm>
          <a:custGeom>
            <a:avLst/>
            <a:gdLst/>
            <a:ahLst/>
            <a:cxnLst/>
            <a:rect l="l" t="t" r="r" b="b"/>
            <a:pathLst>
              <a:path w="1924050" h="9525">
                <a:moveTo>
                  <a:pt x="1924049" y="9524"/>
                </a:moveTo>
                <a:lnTo>
                  <a:pt x="0" y="9524"/>
                </a:lnTo>
                <a:lnTo>
                  <a:pt x="0" y="0"/>
                </a:lnTo>
                <a:lnTo>
                  <a:pt x="1924049" y="0"/>
                </a:lnTo>
                <a:lnTo>
                  <a:pt x="19240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827065" y="1955218"/>
            <a:ext cx="901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645941" y="1867446"/>
            <a:ext cx="75882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sz="1550" spc="46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 spc="-65">
                <a:latin typeface="Tahoma"/>
                <a:cs typeface="Tahoma"/>
              </a:rPr>
              <a:t>1)</a:t>
            </a:r>
            <a:r>
              <a:rPr dirty="0" sz="1550" spc="-910" i="1">
                <a:latin typeface="Arial"/>
                <a:cs typeface="Arial"/>
              </a:rPr>
              <a:t>σ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91719" y="1840918"/>
            <a:ext cx="901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391719" y="1974268"/>
            <a:ext cx="901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298404" y="1867446"/>
            <a:ext cx="59753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370">
                <a:latin typeface="Tahoma"/>
                <a:cs typeface="Tahoma"/>
              </a:rPr>
              <a:t>^</a:t>
            </a:r>
            <a:r>
              <a:rPr dirty="0" sz="1500" spc="47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+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(</a:t>
            </a:r>
            <a:r>
              <a:rPr dirty="0" sz="1550" spc="-25" i="1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70052" y="1955218"/>
            <a:ext cx="901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84352" y="1867446"/>
            <a:ext cx="47434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145">
                <a:latin typeface="Tahoma"/>
                <a:cs typeface="Tahoma"/>
              </a:rPr>
              <a:t>1)</a:t>
            </a:r>
            <a:r>
              <a:rPr dirty="0" sz="1550" spc="-990" i="1">
                <a:latin typeface="Arial"/>
                <a:cs typeface="Arial"/>
              </a:rPr>
              <a:t>σ</a:t>
            </a:r>
            <a:r>
              <a:rPr dirty="0" sz="1500" spc="-145">
                <a:latin typeface="Tahoma"/>
                <a:cs typeface="Tahoma"/>
              </a:rPr>
              <a:t>^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434706" y="1840918"/>
            <a:ext cx="90170" cy="3238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155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ts val="1155"/>
              </a:lnSpc>
            </a:pPr>
            <a:r>
              <a:rPr dirty="0" sz="1050" spc="-50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099024" y="2124621"/>
            <a:ext cx="982344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Arial"/>
                <a:cs typeface="Arial"/>
              </a:rPr>
              <a:t>n</a:t>
            </a:r>
            <a:r>
              <a:rPr dirty="0" baseline="-13227" sz="1575">
                <a:latin typeface="Tahoma"/>
                <a:cs typeface="Tahoma"/>
              </a:rPr>
              <a:t>1</a:t>
            </a:r>
            <a:r>
              <a:rPr dirty="0" baseline="-13227" sz="1575" spc="-1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+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baseline="-13227" sz="1575">
                <a:latin typeface="Tahoma"/>
                <a:cs typeface="Tahoma"/>
              </a:rPr>
              <a:t>2</a:t>
            </a:r>
            <a:r>
              <a:rPr dirty="0" baseline="-13227" sz="1575" spc="6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648074" y="2162174"/>
            <a:ext cx="1885950" cy="9525"/>
          </a:xfrm>
          <a:custGeom>
            <a:avLst/>
            <a:gdLst/>
            <a:ahLst/>
            <a:cxnLst/>
            <a:rect l="l" t="t" r="r" b="b"/>
            <a:pathLst>
              <a:path w="1885950" h="9525">
                <a:moveTo>
                  <a:pt x="1885949" y="9524"/>
                </a:moveTo>
                <a:lnTo>
                  <a:pt x="0" y="9524"/>
                </a:lnTo>
                <a:lnTo>
                  <a:pt x="0" y="0"/>
                </a:lnTo>
                <a:lnTo>
                  <a:pt x="1885949" y="0"/>
                </a:lnTo>
                <a:lnTo>
                  <a:pt x="18859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0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b="1">
                <a:solidFill>
                  <a:srgbClr val="000000"/>
                </a:solidFill>
                <a:latin typeface="Trebuchet MS"/>
                <a:cs typeface="Trebuchet MS"/>
              </a:rPr>
              <a:t>Steps</a:t>
            </a:r>
            <a:r>
              <a:rPr dirty="0" sz="1450" spc="-7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1450" spc="-7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spc="-45" b="1">
                <a:solidFill>
                  <a:srgbClr val="000000"/>
                </a:solidFill>
                <a:latin typeface="Trebuchet MS"/>
                <a:cs typeface="Trebuchet MS"/>
              </a:rPr>
              <a:t>Compare</a:t>
            </a:r>
            <a:r>
              <a:rPr dirty="0" sz="1450" spc="-7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spc="-40" b="1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1450" spc="-7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0000"/>
                </a:solidFill>
                <a:latin typeface="Trebuchet MS"/>
                <a:cs typeface="Trebuchet MS"/>
              </a:rPr>
              <a:t>Means</a:t>
            </a:r>
            <a:r>
              <a:rPr dirty="0" sz="1450" spc="-7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sz="1450" spc="-7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spc="-80" b="1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dirty="0" sz="1450" spc="-7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000000"/>
                </a:solidFill>
                <a:latin typeface="Trebuchet MS"/>
                <a:cs typeface="Trebuchet MS"/>
              </a:rPr>
              <a:t>Independent</a:t>
            </a:r>
            <a:r>
              <a:rPr dirty="0" sz="1450" spc="-7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0000"/>
                </a:solidFill>
                <a:latin typeface="Trebuchet MS"/>
                <a:cs typeface="Trebuchet MS"/>
              </a:rPr>
              <a:t>Samples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09624" y="11810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58800" y="802259"/>
            <a:ext cx="1354455" cy="474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000" spc="-40">
                <a:latin typeface="Trebuchet MS"/>
                <a:cs typeface="Trebuchet MS"/>
              </a:rPr>
              <a:t>1.</a:t>
            </a:r>
            <a:r>
              <a:rPr dirty="0" sz="1000" spc="-40" b="1">
                <a:latin typeface="Trebuchet MS"/>
                <a:cs typeface="Trebuchet MS"/>
              </a:rPr>
              <a:t>State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the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hypotheses</a:t>
            </a:r>
            <a:endParaRPr sz="1000">
              <a:latin typeface="Trebuchet MS"/>
              <a:cs typeface="Trebuchet MS"/>
            </a:endParaRPr>
          </a:p>
          <a:p>
            <a:pPr algn="r" marR="12700">
              <a:lnSpc>
                <a:spcPct val="100000"/>
              </a:lnSpc>
              <a:spcBef>
                <a:spcPts val="1125"/>
              </a:spcBef>
            </a:pPr>
            <a:r>
              <a:rPr dirty="0" sz="1000" spc="-10" b="1">
                <a:latin typeface="Trebuchet MS"/>
                <a:cs typeface="Trebuchet MS"/>
              </a:rPr>
              <a:t>Null</a:t>
            </a:r>
            <a:r>
              <a:rPr dirty="0" sz="1000" spc="-45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hypothesis: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09624" y="17430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46100" y="1345312"/>
            <a:ext cx="5321300" cy="16268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2615565">
              <a:lnSpc>
                <a:spcPct val="100000"/>
              </a:lnSpc>
              <a:spcBef>
                <a:spcPts val="130"/>
              </a:spcBef>
              <a:tabLst>
                <a:tab pos="3437254" algn="l"/>
                <a:tab pos="3679825" algn="l"/>
              </a:tabLst>
            </a:pPr>
            <a:r>
              <a:rPr dirty="0" sz="1050" i="1">
                <a:latin typeface="Arial"/>
                <a:cs typeface="Arial"/>
              </a:rPr>
              <a:t>H</a:t>
            </a:r>
            <a:r>
              <a:rPr dirty="0" baseline="-11111" sz="1125">
                <a:latin typeface="Tahoma"/>
                <a:cs typeface="Tahoma"/>
              </a:rPr>
              <a:t>0</a:t>
            </a:r>
            <a:r>
              <a:rPr dirty="0" baseline="-11111" sz="1125" spc="142">
                <a:latin typeface="Tahoma"/>
                <a:cs typeface="Tahoma"/>
              </a:rPr>
              <a:t> </a:t>
            </a:r>
            <a:r>
              <a:rPr dirty="0" sz="1050" spc="-90">
                <a:latin typeface="Tahoma"/>
                <a:cs typeface="Tahoma"/>
              </a:rPr>
              <a:t>: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i="1">
                <a:latin typeface="Arial"/>
                <a:cs typeface="Arial"/>
              </a:rPr>
              <a:t>μ</a:t>
            </a:r>
            <a:r>
              <a:rPr dirty="0" baseline="-11111" sz="1125">
                <a:latin typeface="Tahoma"/>
                <a:cs typeface="Tahoma"/>
              </a:rPr>
              <a:t>1</a:t>
            </a:r>
            <a:r>
              <a:rPr dirty="0" baseline="-11111" sz="1125" spc="142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=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spc="-25" i="1">
                <a:latin typeface="Arial"/>
                <a:cs typeface="Arial"/>
              </a:rPr>
              <a:t>μ</a:t>
            </a:r>
            <a:r>
              <a:rPr dirty="0" baseline="-11111" sz="1125" spc="-37">
                <a:latin typeface="Tahoma"/>
                <a:cs typeface="Tahoma"/>
              </a:rPr>
              <a:t>2</a:t>
            </a:r>
            <a:r>
              <a:rPr dirty="0" baseline="-11111" sz="1125">
                <a:latin typeface="Tahoma"/>
                <a:cs typeface="Tahoma"/>
              </a:rPr>
              <a:t>	</a:t>
            </a:r>
            <a:r>
              <a:rPr dirty="0" sz="1050" spc="-25">
                <a:latin typeface="Tahoma"/>
                <a:cs typeface="Tahoma"/>
              </a:rPr>
              <a:t>or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sz="1050" i="1">
                <a:latin typeface="Arial"/>
                <a:cs typeface="Arial"/>
              </a:rPr>
              <a:t>H</a:t>
            </a:r>
            <a:r>
              <a:rPr dirty="0" baseline="-11111" sz="1125">
                <a:latin typeface="Tahoma"/>
                <a:cs typeface="Tahoma"/>
              </a:rPr>
              <a:t>0</a:t>
            </a:r>
            <a:r>
              <a:rPr dirty="0" baseline="-11111" sz="1125" spc="135">
                <a:latin typeface="Tahoma"/>
                <a:cs typeface="Tahoma"/>
              </a:rPr>
              <a:t> </a:t>
            </a:r>
            <a:r>
              <a:rPr dirty="0" sz="1050" spc="-90">
                <a:latin typeface="Tahoma"/>
                <a:cs typeface="Tahoma"/>
              </a:rPr>
              <a:t>: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i="1">
                <a:latin typeface="Arial"/>
                <a:cs typeface="Arial"/>
              </a:rPr>
              <a:t>μ</a:t>
            </a:r>
            <a:r>
              <a:rPr dirty="0" baseline="-11111" sz="1125">
                <a:latin typeface="Tahoma"/>
                <a:cs typeface="Tahoma"/>
              </a:rPr>
              <a:t>1</a:t>
            </a:r>
            <a:r>
              <a:rPr dirty="0" baseline="-11111" sz="1125" spc="52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−</a:t>
            </a:r>
            <a:r>
              <a:rPr dirty="0" sz="1050" spc="-105">
                <a:latin typeface="Tahoma"/>
                <a:cs typeface="Tahoma"/>
              </a:rPr>
              <a:t> </a:t>
            </a:r>
            <a:r>
              <a:rPr dirty="0" sz="1050" i="1">
                <a:latin typeface="Arial"/>
                <a:cs typeface="Arial"/>
              </a:rPr>
              <a:t>μ</a:t>
            </a:r>
            <a:r>
              <a:rPr dirty="0" baseline="-11111" sz="1125">
                <a:latin typeface="Tahoma"/>
                <a:cs typeface="Tahoma"/>
              </a:rPr>
              <a:t>2</a:t>
            </a:r>
            <a:r>
              <a:rPr dirty="0" baseline="-11111" sz="1125" spc="135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=</a:t>
            </a:r>
            <a:r>
              <a:rPr dirty="0" sz="1050" spc="-50">
                <a:latin typeface="Tahoma"/>
                <a:cs typeface="Tahoma"/>
              </a:rPr>
              <a:t> 0</a:t>
            </a:r>
            <a:endParaRPr sz="1050">
              <a:latin typeface="Tahoma"/>
              <a:cs typeface="Tahoma"/>
            </a:endParaRPr>
          </a:p>
          <a:p>
            <a:pPr marL="405765">
              <a:lnSpc>
                <a:spcPct val="100000"/>
              </a:lnSpc>
              <a:spcBef>
                <a:spcPts val="1190"/>
              </a:spcBef>
            </a:pPr>
            <a:r>
              <a:rPr dirty="0" sz="1000" spc="-25" b="1">
                <a:latin typeface="Trebuchet MS"/>
                <a:cs typeface="Trebuchet MS"/>
              </a:rPr>
              <a:t>Alternative</a:t>
            </a:r>
            <a:r>
              <a:rPr dirty="0" sz="1000" spc="-35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hypothesis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(depending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on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the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spc="-25" b="1">
                <a:latin typeface="Trebuchet MS"/>
                <a:cs typeface="Trebuchet MS"/>
              </a:rPr>
              <a:t>research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question):</a:t>
            </a:r>
            <a:endParaRPr sz="1000">
              <a:latin typeface="Trebuchet MS"/>
              <a:cs typeface="Trebuchet MS"/>
            </a:endParaRPr>
          </a:p>
          <a:p>
            <a:pPr algn="ctr" marL="2615565">
              <a:lnSpc>
                <a:spcPct val="100000"/>
              </a:lnSpc>
              <a:spcBef>
                <a:spcPts val="850"/>
              </a:spcBef>
              <a:tabLst>
                <a:tab pos="3460115" algn="l"/>
              </a:tabLst>
            </a:pPr>
            <a:r>
              <a:rPr dirty="0" sz="1050" spc="55" i="1">
                <a:latin typeface="Arial"/>
                <a:cs typeface="Arial"/>
              </a:rPr>
              <a:t>H</a:t>
            </a:r>
            <a:r>
              <a:rPr dirty="0" baseline="-11111" sz="1125" spc="82" i="1">
                <a:latin typeface="Arial"/>
                <a:cs typeface="Arial"/>
              </a:rPr>
              <a:t>A</a:t>
            </a:r>
            <a:r>
              <a:rPr dirty="0" baseline="-11111" sz="1125" spc="172" i="1">
                <a:latin typeface="Arial"/>
                <a:cs typeface="Arial"/>
              </a:rPr>
              <a:t> </a:t>
            </a:r>
            <a:r>
              <a:rPr dirty="0" sz="1050" spc="-90">
                <a:latin typeface="Tahoma"/>
                <a:cs typeface="Tahoma"/>
              </a:rPr>
              <a:t>: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i="1">
                <a:latin typeface="Arial"/>
                <a:cs typeface="Arial"/>
              </a:rPr>
              <a:t>μ</a:t>
            </a:r>
            <a:r>
              <a:rPr dirty="0" baseline="-11111" sz="1125">
                <a:latin typeface="Tahoma"/>
                <a:cs typeface="Tahoma"/>
              </a:rPr>
              <a:t>1</a:t>
            </a:r>
            <a:r>
              <a:rPr dirty="0" baseline="-11111" sz="1125" spc="135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≠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spc="-25" i="1">
                <a:latin typeface="Arial"/>
                <a:cs typeface="Arial"/>
              </a:rPr>
              <a:t>μ</a:t>
            </a:r>
            <a:r>
              <a:rPr dirty="0" baseline="-11111" sz="1125" spc="-37">
                <a:latin typeface="Tahoma"/>
                <a:cs typeface="Tahoma"/>
              </a:rPr>
              <a:t>2</a:t>
            </a:r>
            <a:r>
              <a:rPr dirty="0" baseline="-11111" sz="1125">
                <a:latin typeface="Tahoma"/>
                <a:cs typeface="Tahoma"/>
              </a:rPr>
              <a:t>	</a:t>
            </a:r>
            <a:r>
              <a:rPr dirty="0" sz="1050" spc="-35">
                <a:latin typeface="Tahoma"/>
                <a:cs typeface="Tahoma"/>
              </a:rPr>
              <a:t>(two-</a:t>
            </a:r>
            <a:r>
              <a:rPr dirty="0" sz="1050" spc="-10">
                <a:latin typeface="Tahoma"/>
                <a:cs typeface="Tahoma"/>
              </a:rPr>
              <a:t>tailed)</a:t>
            </a:r>
            <a:endParaRPr sz="1050">
              <a:latin typeface="Tahoma"/>
              <a:cs typeface="Tahoma"/>
            </a:endParaRPr>
          </a:p>
          <a:p>
            <a:pPr marL="405765">
              <a:lnSpc>
                <a:spcPct val="100000"/>
              </a:lnSpc>
              <a:spcBef>
                <a:spcPts val="1115"/>
              </a:spcBef>
            </a:pPr>
            <a:r>
              <a:rPr dirty="0" sz="1000" spc="-25">
                <a:latin typeface="Trebuchet MS"/>
                <a:cs typeface="Trebuchet MS"/>
              </a:rPr>
              <a:t>or</a:t>
            </a:r>
            <a:endParaRPr sz="1000">
              <a:latin typeface="Trebuchet MS"/>
              <a:cs typeface="Trebuchet MS"/>
            </a:endParaRPr>
          </a:p>
          <a:p>
            <a:pPr algn="ctr" marL="2616200">
              <a:lnSpc>
                <a:spcPct val="100000"/>
              </a:lnSpc>
              <a:spcBef>
                <a:spcPts val="850"/>
              </a:spcBef>
              <a:tabLst>
                <a:tab pos="3460115" algn="l"/>
                <a:tab pos="3702050" algn="l"/>
                <a:tab pos="4546600" algn="l"/>
              </a:tabLst>
            </a:pPr>
            <a:r>
              <a:rPr dirty="0" sz="1050" spc="55" i="1">
                <a:latin typeface="Arial"/>
                <a:cs typeface="Arial"/>
              </a:rPr>
              <a:t>H</a:t>
            </a:r>
            <a:r>
              <a:rPr dirty="0" baseline="-18518" sz="1125" spc="82" i="1">
                <a:latin typeface="Arial"/>
                <a:cs typeface="Arial"/>
              </a:rPr>
              <a:t>A</a:t>
            </a:r>
            <a:r>
              <a:rPr dirty="0" baseline="-18518" sz="1125" spc="67" i="1">
                <a:latin typeface="Arial"/>
                <a:cs typeface="Arial"/>
              </a:rPr>
              <a:t> </a:t>
            </a:r>
            <a:r>
              <a:rPr dirty="0" sz="1050" spc="-90">
                <a:latin typeface="Tahoma"/>
                <a:cs typeface="Tahoma"/>
              </a:rPr>
              <a:t>: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i="1">
                <a:latin typeface="Arial"/>
                <a:cs typeface="Arial"/>
              </a:rPr>
              <a:t>μ</a:t>
            </a:r>
            <a:r>
              <a:rPr dirty="0" baseline="-11111" sz="1125">
                <a:latin typeface="Tahoma"/>
                <a:cs typeface="Tahoma"/>
              </a:rPr>
              <a:t>1</a:t>
            </a:r>
            <a:r>
              <a:rPr dirty="0" baseline="-11111" sz="1125" spc="82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&gt;</a:t>
            </a:r>
            <a:r>
              <a:rPr dirty="0" sz="1050" spc="45">
                <a:latin typeface="Tahoma"/>
                <a:cs typeface="Tahoma"/>
              </a:rPr>
              <a:t> </a:t>
            </a:r>
            <a:r>
              <a:rPr dirty="0" sz="1050" spc="-25" i="1">
                <a:latin typeface="Arial"/>
                <a:cs typeface="Arial"/>
              </a:rPr>
              <a:t>μ</a:t>
            </a:r>
            <a:r>
              <a:rPr dirty="0" baseline="-11111" sz="1125" spc="-37">
                <a:latin typeface="Tahoma"/>
                <a:cs typeface="Tahoma"/>
              </a:rPr>
              <a:t>2</a:t>
            </a:r>
            <a:r>
              <a:rPr dirty="0" baseline="-11111" sz="1125">
                <a:latin typeface="Tahoma"/>
                <a:cs typeface="Tahoma"/>
              </a:rPr>
              <a:t>	</a:t>
            </a:r>
            <a:r>
              <a:rPr dirty="0" sz="1050" spc="-25">
                <a:latin typeface="Tahoma"/>
                <a:cs typeface="Tahoma"/>
              </a:rPr>
              <a:t>or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sz="1050" spc="55" i="1">
                <a:latin typeface="Arial"/>
                <a:cs typeface="Arial"/>
              </a:rPr>
              <a:t>H</a:t>
            </a:r>
            <a:r>
              <a:rPr dirty="0" baseline="-18518" sz="1125" spc="82" i="1">
                <a:latin typeface="Arial"/>
                <a:cs typeface="Arial"/>
              </a:rPr>
              <a:t>A</a:t>
            </a:r>
            <a:r>
              <a:rPr dirty="0" baseline="-18518" sz="1125" spc="172" i="1">
                <a:latin typeface="Arial"/>
                <a:cs typeface="Arial"/>
              </a:rPr>
              <a:t> </a:t>
            </a:r>
            <a:r>
              <a:rPr dirty="0" sz="1050" spc="-90">
                <a:latin typeface="Tahoma"/>
                <a:cs typeface="Tahoma"/>
              </a:rPr>
              <a:t>: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i="1">
                <a:latin typeface="Arial"/>
                <a:cs typeface="Arial"/>
              </a:rPr>
              <a:t>μ</a:t>
            </a:r>
            <a:r>
              <a:rPr dirty="0" baseline="-11111" sz="1125">
                <a:latin typeface="Tahoma"/>
                <a:cs typeface="Tahoma"/>
              </a:rPr>
              <a:t>1</a:t>
            </a:r>
            <a:r>
              <a:rPr dirty="0" baseline="-11111" sz="1125" spc="135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&lt;</a:t>
            </a:r>
            <a:r>
              <a:rPr dirty="0" sz="1050" spc="-50">
                <a:latin typeface="Tahoma"/>
                <a:cs typeface="Tahoma"/>
              </a:rPr>
              <a:t> </a:t>
            </a:r>
            <a:r>
              <a:rPr dirty="0" sz="1050" spc="-25" i="1">
                <a:latin typeface="Arial"/>
                <a:cs typeface="Arial"/>
              </a:rPr>
              <a:t>μ</a:t>
            </a:r>
            <a:r>
              <a:rPr dirty="0" baseline="-11111" sz="1125" spc="-37">
                <a:latin typeface="Tahoma"/>
                <a:cs typeface="Tahoma"/>
              </a:rPr>
              <a:t>2</a:t>
            </a:r>
            <a:r>
              <a:rPr dirty="0" baseline="-11111" sz="1125">
                <a:latin typeface="Tahoma"/>
                <a:cs typeface="Tahoma"/>
              </a:rPr>
              <a:t>	</a:t>
            </a:r>
            <a:r>
              <a:rPr dirty="0" sz="1050" spc="-60">
                <a:latin typeface="Tahoma"/>
                <a:cs typeface="Tahoma"/>
              </a:rPr>
              <a:t>(one-</a:t>
            </a:r>
            <a:r>
              <a:rPr dirty="0" sz="1050" spc="-10">
                <a:latin typeface="Tahoma"/>
                <a:cs typeface="Tahoma"/>
              </a:rPr>
              <a:t>tailed)</a:t>
            </a:r>
            <a:endParaRPr sz="10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190"/>
              </a:spcBef>
            </a:pPr>
            <a:r>
              <a:rPr dirty="0" sz="1000" spc="-35">
                <a:latin typeface="Trebuchet MS"/>
                <a:cs typeface="Trebuchet MS"/>
              </a:rPr>
              <a:t>2.</a:t>
            </a:r>
            <a:r>
              <a:rPr dirty="0" sz="1000" spc="-35" b="1">
                <a:latin typeface="Trebuchet MS"/>
                <a:cs typeface="Trebuchet MS"/>
              </a:rPr>
              <a:t>Compute</a:t>
            </a:r>
            <a:r>
              <a:rPr dirty="0" sz="1000" spc="-25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the</a:t>
            </a:r>
            <a:r>
              <a:rPr dirty="0" sz="1000" spc="-25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pooled</a:t>
            </a:r>
            <a:r>
              <a:rPr dirty="0" sz="1000" spc="-25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standard</a:t>
            </a:r>
            <a:r>
              <a:rPr dirty="0" sz="1000" spc="-20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deviation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8800" y="3612133"/>
            <a:ext cx="37553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35">
                <a:latin typeface="Trebuchet MS"/>
                <a:cs typeface="Trebuchet MS"/>
              </a:rPr>
              <a:t>3.</a:t>
            </a:r>
            <a:r>
              <a:rPr dirty="0" sz="1000" spc="-35" b="1">
                <a:latin typeface="Trebuchet MS"/>
                <a:cs typeface="Trebuchet MS"/>
              </a:rPr>
              <a:t>Compute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the</a:t>
            </a:r>
            <a:r>
              <a:rPr dirty="0" sz="1000" spc="-35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standard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spc="-25" b="1">
                <a:latin typeface="Trebuchet MS"/>
                <a:cs typeface="Trebuchet MS"/>
              </a:rPr>
              <a:t>error</a:t>
            </a:r>
            <a:r>
              <a:rPr dirty="0" sz="1000" spc="-35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of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the</a:t>
            </a:r>
            <a:r>
              <a:rPr dirty="0" sz="1000" spc="-35" b="1">
                <a:latin typeface="Trebuchet MS"/>
                <a:cs typeface="Trebuchet MS"/>
              </a:rPr>
              <a:t> </a:t>
            </a:r>
            <a:r>
              <a:rPr dirty="0" sz="1000" spc="-30" b="1">
                <a:latin typeface="Trebuchet MS"/>
                <a:cs typeface="Trebuchet MS"/>
              </a:rPr>
              <a:t>difference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in</a:t>
            </a:r>
            <a:r>
              <a:rPr dirty="0" sz="1000" spc="-35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sample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means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8800" y="4440808"/>
            <a:ext cx="14712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30">
                <a:latin typeface="Trebuchet MS"/>
                <a:cs typeface="Trebuchet MS"/>
              </a:rPr>
              <a:t>4.</a:t>
            </a:r>
            <a:r>
              <a:rPr dirty="0" sz="1000" spc="-30" b="1">
                <a:latin typeface="Trebuchet MS"/>
                <a:cs typeface="Trebuchet MS"/>
              </a:rPr>
              <a:t>Compute</a:t>
            </a:r>
            <a:r>
              <a:rPr dirty="0" sz="1000" spc="-35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the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t-statistic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98043" y="3212212"/>
            <a:ext cx="33655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050" spc="-705" i="1">
                <a:latin typeface="Arial"/>
                <a:cs typeface="Arial"/>
              </a:rPr>
              <a:t>σ</a:t>
            </a:r>
            <a:r>
              <a:rPr dirty="0" sz="1050" spc="-125">
                <a:latin typeface="Tahoma"/>
                <a:cs typeface="Tahoma"/>
              </a:rPr>
              <a:t>^</a:t>
            </a:r>
            <a:r>
              <a:rPr dirty="0" baseline="-11111" sz="1125" spc="-202" i="1">
                <a:latin typeface="Arial"/>
                <a:cs typeface="Arial"/>
              </a:rPr>
              <a:t>p</a:t>
            </a:r>
            <a:r>
              <a:rPr dirty="0" baseline="-11111" sz="1125" spc="202" i="1">
                <a:latin typeface="Arial"/>
                <a:cs typeface="Arial"/>
              </a:rPr>
              <a:t> </a:t>
            </a:r>
            <a:r>
              <a:rPr dirty="0" sz="1050" spc="-50">
                <a:latin typeface="Tahoma"/>
                <a:cs typeface="Tahoma"/>
              </a:rPr>
              <a:t>=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19462" y="2937001"/>
            <a:ext cx="153670" cy="4864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-695">
                <a:latin typeface="Arial"/>
                <a:cs typeface="Arial"/>
              </a:rPr>
              <a:t>√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857624" y="3114674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1352549" y="9524"/>
                </a:moveTo>
                <a:lnTo>
                  <a:pt x="0" y="9524"/>
                </a:lnTo>
                <a:lnTo>
                  <a:pt x="0" y="0"/>
                </a:lnTo>
                <a:lnTo>
                  <a:pt x="1352549" y="0"/>
                </a:lnTo>
                <a:lnTo>
                  <a:pt x="13525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998664" y="3167915"/>
            <a:ext cx="7112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Tahoma"/>
                <a:cs typeface="Tahoma"/>
              </a:rPr>
              <a:t>1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93803" y="3091715"/>
            <a:ext cx="7112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71862" y="3107437"/>
            <a:ext cx="88201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latin typeface="Tahoma"/>
                <a:cs typeface="Tahoma"/>
              </a:rPr>
              <a:t>(</a:t>
            </a:r>
            <a:r>
              <a:rPr dirty="0" sz="1050" i="1">
                <a:latin typeface="Arial"/>
                <a:cs typeface="Arial"/>
              </a:rPr>
              <a:t>n</a:t>
            </a:r>
            <a:r>
              <a:rPr dirty="0" sz="1050" spc="240" i="1">
                <a:latin typeface="Arial"/>
                <a:cs typeface="Arial"/>
              </a:rPr>
              <a:t> </a:t>
            </a:r>
            <a:r>
              <a:rPr dirty="0" sz="1050">
                <a:latin typeface="Tahoma"/>
                <a:cs typeface="Tahoma"/>
              </a:rPr>
              <a:t>−</a:t>
            </a:r>
            <a:r>
              <a:rPr dirty="0" sz="1050" spc="-105">
                <a:latin typeface="Tahoma"/>
                <a:cs typeface="Tahoma"/>
              </a:rPr>
              <a:t> </a:t>
            </a:r>
            <a:r>
              <a:rPr dirty="0" sz="1050" spc="-40">
                <a:latin typeface="Tahoma"/>
                <a:cs typeface="Tahoma"/>
              </a:rPr>
              <a:t>1)</a:t>
            </a:r>
            <a:r>
              <a:rPr dirty="0" sz="1050" spc="-610" i="1">
                <a:latin typeface="Arial"/>
                <a:cs typeface="Arial"/>
              </a:rPr>
              <a:t>σ</a:t>
            </a:r>
            <a:r>
              <a:rPr dirty="0" sz="1050" spc="-40">
                <a:latin typeface="Tahoma"/>
                <a:cs typeface="Tahoma"/>
              </a:rPr>
              <a:t>^</a:t>
            </a:r>
            <a:r>
              <a:rPr dirty="0" sz="1050" spc="254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+</a:t>
            </a:r>
            <a:r>
              <a:rPr dirty="0" sz="1050" spc="-105">
                <a:latin typeface="Tahoma"/>
                <a:cs typeface="Tahoma"/>
              </a:rPr>
              <a:t> </a:t>
            </a:r>
            <a:r>
              <a:rPr dirty="0" sz="1050" spc="-25">
                <a:latin typeface="Tahoma"/>
                <a:cs typeface="Tahoma"/>
              </a:rPr>
              <a:t>(</a:t>
            </a:r>
            <a:r>
              <a:rPr dirty="0" sz="1050" spc="-25" i="1"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393803" y="3177440"/>
            <a:ext cx="40576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47345" algn="l"/>
              </a:tabLst>
            </a:pPr>
            <a:r>
              <a:rPr dirty="0" sz="750" spc="-50">
                <a:latin typeface="Tahoma"/>
                <a:cs typeface="Tahoma"/>
              </a:rPr>
              <a:t>1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baseline="3703" sz="1125" spc="-75">
                <a:latin typeface="Tahoma"/>
                <a:cs typeface="Tahoma"/>
              </a:rPr>
              <a:t>2</a:t>
            </a:r>
            <a:endParaRPr baseline="3703" sz="1125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08437" y="3107437"/>
            <a:ext cx="33972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latin typeface="Tahoma"/>
                <a:cs typeface="Tahoma"/>
              </a:rPr>
              <a:t>−</a:t>
            </a:r>
            <a:r>
              <a:rPr dirty="0" sz="1050" spc="-85">
                <a:latin typeface="Tahoma"/>
                <a:cs typeface="Tahoma"/>
              </a:rPr>
              <a:t> </a:t>
            </a:r>
            <a:r>
              <a:rPr dirty="0" sz="1050" spc="-80">
                <a:latin typeface="Tahoma"/>
                <a:cs typeface="Tahoma"/>
              </a:rPr>
              <a:t>1)</a:t>
            </a:r>
            <a:r>
              <a:rPr dirty="0" sz="1050" spc="-650" i="1">
                <a:latin typeface="Arial"/>
                <a:cs typeface="Arial"/>
              </a:rPr>
              <a:t>σ</a:t>
            </a:r>
            <a:r>
              <a:rPr dirty="0" sz="1050" spc="-80">
                <a:latin typeface="Tahoma"/>
                <a:cs typeface="Tahoma"/>
              </a:rPr>
              <a:t>^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123655" y="3091715"/>
            <a:ext cx="71120" cy="226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785"/>
              </a:lnSpc>
              <a:spcBef>
                <a:spcPts val="105"/>
              </a:spcBef>
            </a:pPr>
            <a:r>
              <a:rPr dirty="0" sz="750" spc="-50"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  <a:p>
            <a:pPr marL="12700">
              <a:lnSpc>
                <a:spcPts val="785"/>
              </a:lnSpc>
            </a:pPr>
            <a:r>
              <a:rPr dirty="0" sz="750" spc="-50"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81326" y="3297937"/>
            <a:ext cx="70993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050" i="1">
                <a:latin typeface="Arial"/>
                <a:cs typeface="Arial"/>
              </a:rPr>
              <a:t>n</a:t>
            </a:r>
            <a:r>
              <a:rPr dirty="0" baseline="-11111" sz="1125">
                <a:latin typeface="Tahoma"/>
                <a:cs typeface="Tahoma"/>
              </a:rPr>
              <a:t>1</a:t>
            </a:r>
            <a:r>
              <a:rPr dirty="0" baseline="-11111" sz="1125" spc="15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+</a:t>
            </a:r>
            <a:r>
              <a:rPr dirty="0" sz="1050" spc="-105">
                <a:latin typeface="Tahoma"/>
                <a:cs typeface="Tahoma"/>
              </a:rPr>
              <a:t> </a:t>
            </a:r>
            <a:r>
              <a:rPr dirty="0" sz="1050" i="1">
                <a:latin typeface="Arial"/>
                <a:cs typeface="Arial"/>
              </a:rPr>
              <a:t>n</a:t>
            </a:r>
            <a:r>
              <a:rPr dirty="0" baseline="-11111" sz="1125">
                <a:latin typeface="Tahoma"/>
                <a:cs typeface="Tahoma"/>
              </a:rPr>
              <a:t>2</a:t>
            </a:r>
            <a:r>
              <a:rPr dirty="0" baseline="-11111" sz="1125" spc="37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−</a:t>
            </a:r>
            <a:r>
              <a:rPr dirty="0" sz="1050" spc="-105">
                <a:latin typeface="Tahoma"/>
                <a:cs typeface="Tahoma"/>
              </a:rPr>
              <a:t> </a:t>
            </a:r>
            <a:r>
              <a:rPr dirty="0" sz="1050" spc="-50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876674" y="3324224"/>
            <a:ext cx="1323975" cy="9525"/>
          </a:xfrm>
          <a:custGeom>
            <a:avLst/>
            <a:gdLst/>
            <a:ahLst/>
            <a:cxnLst/>
            <a:rect l="l" t="t" r="r" b="b"/>
            <a:pathLst>
              <a:path w="1323975" h="9525">
                <a:moveTo>
                  <a:pt x="1323974" y="9524"/>
                </a:moveTo>
                <a:lnTo>
                  <a:pt x="0" y="9524"/>
                </a:lnTo>
                <a:lnTo>
                  <a:pt x="0" y="0"/>
                </a:lnTo>
                <a:lnTo>
                  <a:pt x="1323974" y="0"/>
                </a:lnTo>
                <a:lnTo>
                  <a:pt x="13239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3635275" y="4059937"/>
            <a:ext cx="6927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2645" sz="1575" spc="-97" i="1">
                <a:latin typeface="Arial"/>
                <a:cs typeface="Arial"/>
              </a:rPr>
              <a:t>SE</a:t>
            </a:r>
            <a:r>
              <a:rPr dirty="0" baseline="-11111" sz="1125" spc="-97" i="1">
                <a:latin typeface="Arial"/>
                <a:cs typeface="Arial"/>
              </a:rPr>
              <a:t>X</a:t>
            </a:r>
            <a:r>
              <a:rPr dirty="0" sz="750" spc="-65">
                <a:latin typeface="Tahoma"/>
                <a:cs typeface="Tahoma"/>
              </a:rPr>
              <a:t>¯</a:t>
            </a:r>
            <a:r>
              <a:rPr dirty="0" baseline="-27777" sz="750" spc="-97">
                <a:latin typeface="Tahoma"/>
                <a:cs typeface="Tahoma"/>
              </a:rPr>
              <a:t>1</a:t>
            </a:r>
            <a:r>
              <a:rPr dirty="0" baseline="-11111" sz="1125" spc="-97">
                <a:latin typeface="Tahoma"/>
                <a:cs typeface="Tahoma"/>
              </a:rPr>
              <a:t>−</a:t>
            </a:r>
            <a:r>
              <a:rPr dirty="0" baseline="-11111" sz="1125" spc="-97" i="1">
                <a:latin typeface="Arial"/>
                <a:cs typeface="Arial"/>
              </a:rPr>
              <a:t>X</a:t>
            </a:r>
            <a:r>
              <a:rPr dirty="0" sz="750" spc="-65">
                <a:latin typeface="Tahoma"/>
                <a:cs typeface="Tahoma"/>
              </a:rPr>
              <a:t>¯</a:t>
            </a:r>
            <a:r>
              <a:rPr dirty="0" baseline="-27777" sz="750" spc="-97">
                <a:latin typeface="Tahoma"/>
                <a:cs typeface="Tahoma"/>
              </a:rPr>
              <a:t>2</a:t>
            </a:r>
            <a:r>
              <a:rPr dirty="0" baseline="-27777" sz="750" spc="209">
                <a:latin typeface="Tahoma"/>
                <a:cs typeface="Tahoma"/>
              </a:rPr>
              <a:t> </a:t>
            </a:r>
            <a:r>
              <a:rPr dirty="0" baseline="2645" sz="1575" spc="-75">
                <a:latin typeface="Tahoma"/>
                <a:cs typeface="Tahoma"/>
              </a:rPr>
              <a:t>=</a:t>
            </a:r>
            <a:endParaRPr baseline="2645" sz="1575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312691" y="3765676"/>
            <a:ext cx="153670" cy="4864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-695">
                <a:latin typeface="Arial"/>
                <a:cs typeface="Arial"/>
              </a:rPr>
              <a:t>√</a:t>
            </a:r>
            <a:endParaRPr sz="30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4457699" y="3943349"/>
            <a:ext cx="514350" cy="9525"/>
          </a:xfrm>
          <a:custGeom>
            <a:avLst/>
            <a:gdLst/>
            <a:ahLst/>
            <a:cxnLst/>
            <a:rect l="l" t="t" r="r" b="b"/>
            <a:pathLst>
              <a:path w="514350" h="9525">
                <a:moveTo>
                  <a:pt x="514349" y="9524"/>
                </a:moveTo>
                <a:lnTo>
                  <a:pt x="0" y="9524"/>
                </a:lnTo>
                <a:lnTo>
                  <a:pt x="0" y="0"/>
                </a:lnTo>
                <a:lnTo>
                  <a:pt x="514349" y="0"/>
                </a:lnTo>
                <a:lnTo>
                  <a:pt x="5143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469556" y="3926587"/>
            <a:ext cx="977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760" i="1">
                <a:latin typeface="Arial"/>
                <a:cs typeface="Arial"/>
              </a:rPr>
              <a:t>σ</a:t>
            </a:r>
            <a:r>
              <a:rPr dirty="0" baseline="2645" sz="1575" spc="-284">
                <a:latin typeface="Tahoma"/>
                <a:cs typeface="Tahoma"/>
              </a:rPr>
              <a:t>^</a:t>
            </a:r>
            <a:endParaRPr baseline="2645" sz="1575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542780" y="3910865"/>
            <a:ext cx="71120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50"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467919" y="4136137"/>
            <a:ext cx="10223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 i="1"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467224" y="4162424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152399" y="9524"/>
                </a:moveTo>
                <a:lnTo>
                  <a:pt x="0" y="9524"/>
                </a:lnTo>
                <a:lnTo>
                  <a:pt x="0" y="0"/>
                </a:lnTo>
                <a:lnTo>
                  <a:pt x="152399" y="0"/>
                </a:lnTo>
                <a:lnTo>
                  <a:pt x="1523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4783187" y="3926587"/>
            <a:ext cx="19494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050" spc="-705" i="1">
                <a:latin typeface="Arial"/>
                <a:cs typeface="Arial"/>
              </a:rPr>
              <a:t>σ</a:t>
            </a:r>
            <a:r>
              <a:rPr dirty="0" baseline="2645" sz="1575" spc="-187">
                <a:latin typeface="Tahoma"/>
                <a:cs typeface="Tahoma"/>
              </a:rPr>
              <a:t>^</a:t>
            </a:r>
            <a:r>
              <a:rPr dirty="0" baseline="33333" sz="1125" spc="-202">
                <a:latin typeface="Tahoma"/>
                <a:cs typeface="Tahoma"/>
              </a:rPr>
              <a:t>2</a:t>
            </a:r>
            <a:endParaRPr baseline="33333" sz="1125">
              <a:latin typeface="Tahoma"/>
              <a:cs typeface="Tahom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542780" y="3995445"/>
            <a:ext cx="410209" cy="1422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51155" algn="l"/>
              </a:tabLst>
            </a:pPr>
            <a:r>
              <a:rPr dirty="0" sz="750" spc="-50" i="1">
                <a:latin typeface="Arial"/>
                <a:cs typeface="Arial"/>
              </a:rPr>
              <a:t>p</a:t>
            </a:r>
            <a:r>
              <a:rPr dirty="0" sz="750" i="1">
                <a:latin typeface="Arial"/>
                <a:cs typeface="Arial"/>
              </a:rPr>
              <a:t>	</a:t>
            </a:r>
            <a:r>
              <a:rPr dirty="0" sz="750" spc="-50" i="1">
                <a:latin typeface="Arial"/>
                <a:cs typeface="Arial"/>
              </a:rPr>
              <a:t>p</a:t>
            </a:r>
            <a:endParaRPr sz="7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651870" y="4052031"/>
            <a:ext cx="257810" cy="2749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969"/>
              </a:lnSpc>
              <a:spcBef>
                <a:spcPts val="120"/>
              </a:spcBef>
            </a:pPr>
            <a:r>
              <a:rPr dirty="0" sz="1050" spc="-50">
                <a:latin typeface="Tahoma"/>
                <a:cs typeface="Tahoma"/>
              </a:rPr>
              <a:t>+</a:t>
            </a:r>
            <a:endParaRPr sz="1050">
              <a:latin typeface="Tahoma"/>
              <a:cs typeface="Tahoma"/>
            </a:endParaRPr>
          </a:p>
          <a:p>
            <a:pPr marL="167640">
              <a:lnSpc>
                <a:spcPts val="965"/>
              </a:lnSpc>
            </a:pPr>
            <a:r>
              <a:rPr dirty="0" sz="1050" spc="-50" i="1"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544863" y="4196615"/>
            <a:ext cx="410209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1155" algn="l"/>
              </a:tabLst>
            </a:pPr>
            <a:r>
              <a:rPr dirty="0" sz="750" spc="-50">
                <a:latin typeface="Tahoma"/>
                <a:cs typeface="Tahoma"/>
              </a:rPr>
              <a:t>1</a:t>
            </a:r>
            <a:r>
              <a:rPr dirty="0" sz="750">
                <a:latin typeface="Tahoma"/>
                <a:cs typeface="Tahoma"/>
              </a:rPr>
              <a:t>	</a:t>
            </a:r>
            <a:r>
              <a:rPr dirty="0" sz="750" spc="-50"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4810124" y="4162424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152399" y="9524"/>
                </a:moveTo>
                <a:lnTo>
                  <a:pt x="0" y="9524"/>
                </a:lnTo>
                <a:lnTo>
                  <a:pt x="0" y="0"/>
                </a:lnTo>
                <a:lnTo>
                  <a:pt x="152399" y="0"/>
                </a:lnTo>
                <a:lnTo>
                  <a:pt x="1523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3936603" y="4812412"/>
            <a:ext cx="2070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70" i="1">
                <a:latin typeface="Arial"/>
                <a:cs typeface="Arial"/>
              </a:rPr>
              <a:t>t</a:t>
            </a:r>
            <a:r>
              <a:rPr dirty="0" sz="1050" spc="-15" i="1">
                <a:latin typeface="Arial"/>
                <a:cs typeface="Arial"/>
              </a:rPr>
              <a:t> </a:t>
            </a:r>
            <a:r>
              <a:rPr dirty="0" sz="1050" spc="-60">
                <a:latin typeface="Tahoma"/>
                <a:cs typeface="Tahoma"/>
              </a:rPr>
              <a:t>=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46100" y="4945762"/>
            <a:ext cx="7477125" cy="90296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285750">
              <a:lnSpc>
                <a:spcPct val="100000"/>
              </a:lnSpc>
              <a:spcBef>
                <a:spcPts val="130"/>
              </a:spcBef>
            </a:pPr>
            <a:r>
              <a:rPr dirty="0" baseline="18518" sz="1575" spc="-15" i="1">
                <a:latin typeface="Arial"/>
                <a:cs typeface="Arial"/>
              </a:rPr>
              <a:t>SE</a:t>
            </a:r>
            <a:r>
              <a:rPr dirty="0" baseline="3703" sz="1125" spc="-15" i="1">
                <a:latin typeface="Arial"/>
                <a:cs typeface="Arial"/>
              </a:rPr>
              <a:t>X</a:t>
            </a:r>
            <a:r>
              <a:rPr dirty="0" baseline="14814" sz="1125" spc="-15">
                <a:latin typeface="Tahoma"/>
                <a:cs typeface="Tahoma"/>
              </a:rPr>
              <a:t>¯</a:t>
            </a:r>
            <a:r>
              <a:rPr dirty="0" sz="500" spc="-10">
                <a:latin typeface="Tahoma"/>
                <a:cs typeface="Tahoma"/>
              </a:rPr>
              <a:t>1</a:t>
            </a:r>
            <a:r>
              <a:rPr dirty="0" baseline="3703" sz="1125" spc="-15">
                <a:latin typeface="Tahoma"/>
                <a:cs typeface="Tahoma"/>
              </a:rPr>
              <a:t>−</a:t>
            </a:r>
            <a:r>
              <a:rPr dirty="0" baseline="3703" sz="1125" spc="-15" i="1">
                <a:latin typeface="Arial"/>
                <a:cs typeface="Arial"/>
              </a:rPr>
              <a:t>X</a:t>
            </a:r>
            <a:r>
              <a:rPr dirty="0" baseline="14814" sz="1125" spc="-15">
                <a:latin typeface="Tahoma"/>
                <a:cs typeface="Tahoma"/>
              </a:rPr>
              <a:t>¯</a:t>
            </a:r>
            <a:r>
              <a:rPr dirty="0" sz="500" spc="-10"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</a:pPr>
            <a:r>
              <a:rPr dirty="0" sz="1000" spc="-50">
                <a:latin typeface="Trebuchet MS"/>
                <a:cs typeface="Trebuchet MS"/>
              </a:rPr>
              <a:t>5.</a:t>
            </a:r>
            <a:r>
              <a:rPr dirty="0" sz="1000" spc="-50" b="1">
                <a:latin typeface="Trebuchet MS"/>
                <a:cs typeface="Trebuchet MS"/>
              </a:rPr>
              <a:t>Find</a:t>
            </a:r>
            <a:r>
              <a:rPr dirty="0" sz="1000" spc="-25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the</a:t>
            </a:r>
            <a:r>
              <a:rPr dirty="0" sz="1000" spc="-25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p-</a:t>
            </a:r>
            <a:r>
              <a:rPr dirty="0" sz="1000" spc="-20" b="1">
                <a:latin typeface="Trebuchet MS"/>
                <a:cs typeface="Trebuchet MS"/>
              </a:rPr>
              <a:t>value</a:t>
            </a:r>
            <a:endParaRPr sz="1000">
              <a:latin typeface="Trebuchet MS"/>
              <a:cs typeface="Trebuchet MS"/>
            </a:endParaRPr>
          </a:p>
          <a:p>
            <a:pPr marL="25400" marR="17780">
              <a:lnSpc>
                <a:spcPct val="106200"/>
              </a:lnSpc>
              <a:spcBef>
                <a:spcPts val="975"/>
              </a:spcBef>
            </a:pPr>
            <a:r>
              <a:rPr dirty="0" sz="1000">
                <a:latin typeface="Trebuchet MS"/>
                <a:cs typeface="Trebuchet MS"/>
              </a:rPr>
              <a:t>Determine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p-value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associated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with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computed</a:t>
            </a:r>
            <a:r>
              <a:rPr dirty="0" sz="1000" spc="20">
                <a:latin typeface="Trebuchet MS"/>
                <a:cs typeface="Trebuchet MS"/>
              </a:rPr>
              <a:t> </a:t>
            </a:r>
            <a:r>
              <a:rPr dirty="0" sz="1000" i="1">
                <a:latin typeface="Lucida Sans"/>
                <a:cs typeface="Lucida Sans"/>
              </a:rPr>
              <a:t>t</a:t>
            </a:r>
            <a:r>
              <a:rPr dirty="0" sz="1000">
                <a:latin typeface="Trebuchet MS"/>
                <a:cs typeface="Trebuchet MS"/>
              </a:rPr>
              <a:t>-statistic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decide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whether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observed</a:t>
            </a:r>
            <a:r>
              <a:rPr dirty="0" sz="1000" spc="2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difference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sample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means</a:t>
            </a:r>
            <a:r>
              <a:rPr dirty="0" sz="1000" spc="15">
                <a:latin typeface="Trebuchet MS"/>
                <a:cs typeface="Trebuchet MS"/>
              </a:rPr>
              <a:t> </a:t>
            </a:r>
            <a:r>
              <a:rPr dirty="0" sz="1000" spc="-25">
                <a:latin typeface="Trebuchet MS"/>
                <a:cs typeface="Trebuchet MS"/>
              </a:rPr>
              <a:t>is </a:t>
            </a:r>
            <a:r>
              <a:rPr dirty="0" sz="1000">
                <a:latin typeface="Trebuchet MS"/>
                <a:cs typeface="Trebuchet MS"/>
              </a:rPr>
              <a:t>compatible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with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null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hypothesis.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155876" y="4717162"/>
            <a:ext cx="54800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050" spc="-484" i="1">
                <a:latin typeface="Arial"/>
                <a:cs typeface="Arial"/>
              </a:rPr>
              <a:t>X</a:t>
            </a:r>
            <a:r>
              <a:rPr dirty="0" baseline="10582" sz="1575" spc="22">
                <a:latin typeface="Tahoma"/>
                <a:cs typeface="Tahoma"/>
              </a:rPr>
              <a:t>¯</a:t>
            </a:r>
            <a:r>
              <a:rPr dirty="0" baseline="-11111" sz="1125" spc="-52">
                <a:latin typeface="Tahoma"/>
                <a:cs typeface="Tahoma"/>
              </a:rPr>
              <a:t>1</a:t>
            </a:r>
            <a:r>
              <a:rPr dirty="0" baseline="-11111" sz="1125" spc="82">
                <a:latin typeface="Tahoma"/>
                <a:cs typeface="Tahoma"/>
              </a:rPr>
              <a:t> </a:t>
            </a:r>
            <a:r>
              <a:rPr dirty="0" sz="1050">
                <a:latin typeface="Tahoma"/>
                <a:cs typeface="Tahoma"/>
              </a:rPr>
              <a:t>−</a:t>
            </a:r>
            <a:r>
              <a:rPr dirty="0" sz="1050" spc="-90">
                <a:latin typeface="Tahoma"/>
                <a:cs typeface="Tahoma"/>
              </a:rPr>
              <a:t> </a:t>
            </a:r>
            <a:r>
              <a:rPr dirty="0" sz="1050" spc="-390" i="1">
                <a:latin typeface="Arial"/>
                <a:cs typeface="Arial"/>
              </a:rPr>
              <a:t>X</a:t>
            </a:r>
            <a:r>
              <a:rPr dirty="0" baseline="10582" sz="1575" spc="165">
                <a:latin typeface="Tahoma"/>
                <a:cs typeface="Tahoma"/>
              </a:rPr>
              <a:t>¯</a:t>
            </a:r>
            <a:r>
              <a:rPr dirty="0" baseline="-11111" sz="1125" spc="89">
                <a:latin typeface="Tahoma"/>
                <a:cs typeface="Tahoma"/>
              </a:rPr>
              <a:t>2</a:t>
            </a:r>
            <a:endParaRPr baseline="-11111" sz="1125">
              <a:latin typeface="Tahoma"/>
              <a:cs typeface="Tahoma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4181474" y="4924424"/>
            <a:ext cx="504825" cy="9525"/>
          </a:xfrm>
          <a:custGeom>
            <a:avLst/>
            <a:gdLst/>
            <a:ahLst/>
            <a:cxnLst/>
            <a:rect l="l" t="t" r="r" b="b"/>
            <a:pathLst>
              <a:path w="504825" h="9525">
                <a:moveTo>
                  <a:pt x="504824" y="9524"/>
                </a:moveTo>
                <a:lnTo>
                  <a:pt x="0" y="9524"/>
                </a:lnTo>
                <a:lnTo>
                  <a:pt x="0" y="0"/>
                </a:lnTo>
                <a:lnTo>
                  <a:pt x="504824" y="0"/>
                </a:lnTo>
                <a:lnTo>
                  <a:pt x="5048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3400" y="381546"/>
            <a:ext cx="7412990" cy="268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845"/>
              </a:lnSpc>
              <a:spcBef>
                <a:spcPts val="95"/>
              </a:spcBef>
            </a:pP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(</a:t>
            </a:r>
            <a:r>
              <a:rPr dirty="0" sz="1550" spc="-20" i="1">
                <a:latin typeface="Arial"/>
                <a:cs typeface="Arial"/>
              </a:rPr>
              <a:t>H</a:t>
            </a:r>
            <a:r>
              <a:rPr dirty="0" baseline="-13227" sz="1575" spc="-30">
                <a:latin typeface="Tahoma"/>
                <a:cs typeface="Tahoma"/>
              </a:rPr>
              <a:t>0</a:t>
            </a:r>
            <a:r>
              <a:rPr dirty="0" sz="1450" spc="-20" b="1"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  <a:p>
            <a:pPr marL="38100" marR="57785">
              <a:lnSpc>
                <a:spcPts val="1730"/>
              </a:lnSpc>
              <a:spcBef>
                <a:spcPts val="50"/>
              </a:spcBef>
            </a:pPr>
            <a:r>
              <a:rPr dirty="0" sz="1450" spc="-20">
                <a:latin typeface="Trebuchet MS"/>
                <a:cs typeface="Trebuchet MS"/>
              </a:rPr>
              <a:t>White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male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stereotype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threat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condition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math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condition.</a:t>
            </a:r>
            <a:endParaRPr sz="1450">
              <a:latin typeface="Trebuchet MS"/>
              <a:cs typeface="Trebuchet MS"/>
            </a:endParaRPr>
          </a:p>
          <a:p>
            <a:pPr algn="ctr" marL="168910">
              <a:lnSpc>
                <a:spcPct val="100000"/>
              </a:lnSpc>
              <a:spcBef>
                <a:spcPts val="1019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172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3227" sz="1575">
                <a:latin typeface="Tahoma"/>
                <a:cs typeface="Tahoma"/>
              </a:rPr>
              <a:t>1</a:t>
            </a:r>
            <a:r>
              <a:rPr dirty="0" baseline="-13227" sz="1575" spc="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3227" sz="1575">
                <a:latin typeface="Tahoma"/>
                <a:cs typeface="Tahoma"/>
              </a:rPr>
              <a:t>2</a:t>
            </a:r>
            <a:r>
              <a:rPr dirty="0" baseline="-13227" sz="1575" spc="19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5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  <a:p>
            <a:pPr marL="38100">
              <a:lnSpc>
                <a:spcPts val="1845"/>
              </a:lnSpc>
              <a:spcBef>
                <a:spcPts val="1290"/>
              </a:spcBef>
            </a:pPr>
            <a:r>
              <a:rPr dirty="0" sz="1450" spc="-40" b="1">
                <a:latin typeface="Trebuchet MS"/>
                <a:cs typeface="Trebuchet MS"/>
              </a:rPr>
              <a:t>Alternative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(</a:t>
            </a:r>
            <a:r>
              <a:rPr dirty="0" sz="1550" spc="-20" i="1">
                <a:latin typeface="Arial"/>
                <a:cs typeface="Arial"/>
              </a:rPr>
              <a:t>H</a:t>
            </a:r>
            <a:r>
              <a:rPr dirty="0" baseline="-15151" sz="1650" spc="-30" i="1">
                <a:latin typeface="Arial"/>
                <a:cs typeface="Arial"/>
              </a:rPr>
              <a:t>A</a:t>
            </a:r>
            <a:r>
              <a:rPr dirty="0" sz="1450" spc="-20" b="1"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  <a:p>
            <a:pPr marL="38100" marR="30480">
              <a:lnSpc>
                <a:spcPts val="1730"/>
              </a:lnSpc>
              <a:spcBef>
                <a:spcPts val="50"/>
              </a:spcBef>
            </a:pPr>
            <a:r>
              <a:rPr dirty="0" sz="1450" spc="-20">
                <a:latin typeface="Trebuchet MS"/>
                <a:cs typeface="Trebuchet MS"/>
              </a:rPr>
              <a:t>White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male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college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stereotype</a:t>
            </a:r>
            <a:r>
              <a:rPr dirty="0" sz="1450" spc="-20">
                <a:latin typeface="Trebuchet MS"/>
                <a:cs typeface="Trebuchet MS"/>
              </a:rPr>
              <a:t> threat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condition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worse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math </a:t>
            </a:r>
            <a:r>
              <a:rPr dirty="0" sz="1450">
                <a:latin typeface="Trebuchet MS"/>
                <a:cs typeface="Trebuchet MS"/>
              </a:rPr>
              <a:t>exam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condition.</a:t>
            </a:r>
            <a:endParaRPr sz="1450">
              <a:latin typeface="Trebuchet MS"/>
              <a:cs typeface="Trebuchet MS"/>
            </a:endParaRPr>
          </a:p>
          <a:p>
            <a:pPr algn="ctr" marL="168910">
              <a:lnSpc>
                <a:spcPct val="100000"/>
              </a:lnSpc>
              <a:spcBef>
                <a:spcPts val="1025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12626" sz="1650" i="1">
                <a:latin typeface="Arial"/>
                <a:cs typeface="Arial"/>
              </a:rPr>
              <a:t>A</a:t>
            </a:r>
            <a:r>
              <a:rPr dirty="0" baseline="-12626" sz="1650" spc="120" i="1">
                <a:latin typeface="Arial"/>
                <a:cs typeface="Arial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3227" sz="1575">
                <a:latin typeface="Tahoma"/>
                <a:cs typeface="Tahoma"/>
              </a:rPr>
              <a:t>1</a:t>
            </a:r>
            <a:r>
              <a:rPr dirty="0" baseline="-13227" sz="1575" spc="6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13227" sz="1575">
                <a:latin typeface="Tahoma"/>
                <a:cs typeface="Tahoma"/>
              </a:rPr>
              <a:t>2</a:t>
            </a:r>
            <a:r>
              <a:rPr dirty="0" baseline="-13227" sz="1575" spc="16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100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465"/>
              </a:spcBef>
            </a:pPr>
            <a:r>
              <a:rPr dirty="0" sz="1450" spc="-10" b="1">
                <a:latin typeface="Trebuchet MS"/>
                <a:cs typeface="Trebuchet MS"/>
              </a:rPr>
              <a:t>Pooled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Standard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Deviation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3968118"/>
            <a:ext cx="852169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40" i="1">
                <a:latin typeface="Georgia"/>
                <a:cs typeface="Georgia"/>
              </a:rPr>
              <a:t>t</a:t>
            </a:r>
            <a:r>
              <a:rPr dirty="0" sz="1450" spc="-40" b="1">
                <a:latin typeface="Trebuchet MS"/>
                <a:cs typeface="Trebuchet MS"/>
              </a:rPr>
              <a:t>-</a:t>
            </a:r>
            <a:r>
              <a:rPr dirty="0" sz="1450" spc="-10" b="1">
                <a:latin typeface="Trebuchet MS"/>
                <a:cs typeface="Trebuchet MS"/>
              </a:rPr>
              <a:t>Statistic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8800" y="5158743"/>
            <a:ext cx="65214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5" i="1">
                <a:latin typeface="Georgia"/>
                <a:cs typeface="Georgia"/>
              </a:rPr>
              <a:t>p</a:t>
            </a:r>
            <a:r>
              <a:rPr dirty="0" sz="1450" spc="-55" b="1">
                <a:latin typeface="Trebuchet MS"/>
                <a:cs typeface="Trebuchet MS"/>
              </a:rPr>
              <a:t>-</a:t>
            </a:r>
            <a:r>
              <a:rPr dirty="0" sz="1450" spc="-15" b="1">
                <a:latin typeface="Trebuchet MS"/>
                <a:cs typeface="Trebuchet MS"/>
              </a:rPr>
              <a:t>value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09762" y="3391446"/>
            <a:ext cx="473709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550" spc="-1045" i="1">
                <a:latin typeface="Arial"/>
                <a:cs typeface="Arial"/>
              </a:rPr>
              <a:t>σ</a:t>
            </a:r>
            <a:r>
              <a:rPr dirty="0" baseline="1851" sz="2250" spc="-284">
                <a:latin typeface="Tahoma"/>
                <a:cs typeface="Tahoma"/>
              </a:rPr>
              <a:t>^</a:t>
            </a:r>
            <a:r>
              <a:rPr dirty="0" baseline="-12626" sz="1650" spc="-300" i="1">
                <a:latin typeface="Arial"/>
                <a:cs typeface="Arial"/>
              </a:rPr>
              <a:t>p</a:t>
            </a:r>
            <a:r>
              <a:rPr dirty="0" baseline="-12626" sz="1650" spc="254" i="1">
                <a:latin typeface="Arial"/>
                <a:cs typeface="Arial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70534" y="3029584"/>
            <a:ext cx="208279" cy="683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300" spc="-994">
                <a:latin typeface="Arial"/>
                <a:cs typeface="Arial"/>
              </a:rPr>
              <a:t>√</a:t>
            </a:r>
            <a:endParaRPr sz="43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962274" y="3267074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2666999" y="9524"/>
                </a:moveTo>
                <a:lnTo>
                  <a:pt x="0" y="9524"/>
                </a:lnTo>
                <a:lnTo>
                  <a:pt x="0" y="0"/>
                </a:lnTo>
                <a:lnTo>
                  <a:pt x="2666999" y="0"/>
                </a:lnTo>
                <a:lnTo>
                  <a:pt x="26669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665390" y="3393759"/>
            <a:ext cx="6356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3.097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64953" y="3269934"/>
            <a:ext cx="26549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500" spc="-75">
                <a:latin typeface="Tahoma"/>
                <a:cs typeface="Tahoma"/>
              </a:rPr>
              <a:t>(11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55">
                <a:latin typeface="Tahoma"/>
                <a:cs typeface="Tahoma"/>
              </a:rPr>
              <a:t>1)(3.17)</a:t>
            </a:r>
            <a:r>
              <a:rPr dirty="0" baseline="23809" sz="1575" spc="-82">
                <a:latin typeface="Tahoma"/>
                <a:cs typeface="Tahoma"/>
              </a:rPr>
              <a:t>2</a:t>
            </a:r>
            <a:r>
              <a:rPr dirty="0" baseline="23809" sz="1575" spc="112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+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75">
                <a:latin typeface="Tahoma"/>
                <a:cs typeface="Tahoma"/>
              </a:rPr>
              <a:t>(12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1)(3.03)</a:t>
            </a:r>
            <a:r>
              <a:rPr dirty="0" baseline="23809" sz="1575" spc="-75">
                <a:latin typeface="Tahoma"/>
                <a:cs typeface="Tahoma"/>
              </a:rPr>
              <a:t>2</a:t>
            </a:r>
            <a:endParaRPr baseline="23809" sz="1575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31976" y="3517584"/>
            <a:ext cx="92964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5">
                <a:latin typeface="Tahoma"/>
                <a:cs typeface="Tahoma"/>
              </a:rPr>
              <a:t>11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+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105">
                <a:latin typeface="Tahoma"/>
                <a:cs typeface="Tahoma"/>
              </a:rPr>
              <a:t>12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105"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990849" y="3552824"/>
            <a:ext cx="2619375" cy="9525"/>
          </a:xfrm>
          <a:custGeom>
            <a:avLst/>
            <a:gdLst/>
            <a:ahLst/>
            <a:cxnLst/>
            <a:rect l="l" t="t" r="r" b="b"/>
            <a:pathLst>
              <a:path w="2619375" h="9525">
                <a:moveTo>
                  <a:pt x="2619374" y="9524"/>
                </a:moveTo>
                <a:lnTo>
                  <a:pt x="0" y="9524"/>
                </a:lnTo>
                <a:lnTo>
                  <a:pt x="0" y="0"/>
                </a:lnTo>
                <a:lnTo>
                  <a:pt x="2619374" y="0"/>
                </a:lnTo>
                <a:lnTo>
                  <a:pt x="26193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168352" y="4467771"/>
            <a:ext cx="231203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6100" algn="l"/>
                <a:tab pos="1637030" algn="l"/>
              </a:tabLst>
            </a:pPr>
            <a:r>
              <a:rPr dirty="0" sz="1550" spc="85" i="1">
                <a:latin typeface="Arial"/>
                <a:cs typeface="Arial"/>
              </a:rPr>
              <a:t>t</a:t>
            </a:r>
            <a:r>
              <a:rPr dirty="0" sz="1550" spc="-35" i="1">
                <a:latin typeface="Arial"/>
                <a:cs typeface="Arial"/>
              </a:rPr>
              <a:t> </a:t>
            </a:r>
            <a:r>
              <a:rPr dirty="0" sz="1500" spc="-60">
                <a:latin typeface="Tahoma"/>
                <a:cs typeface="Tahoma"/>
              </a:rPr>
              <a:t>=</a:t>
            </a:r>
            <a:r>
              <a:rPr dirty="0" sz="1500">
                <a:latin typeface="Tahoma"/>
                <a:cs typeface="Tahoma"/>
              </a:rPr>
              <a:t>	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450" spc="-10">
                <a:latin typeface="Times New Roman"/>
                <a:cs typeface="Times New Roman"/>
              </a:rPr>
              <a:t> </a:t>
            </a:r>
            <a:r>
              <a:rPr dirty="0" u="none" sz="1500">
                <a:latin typeface="Tahoma"/>
                <a:cs typeface="Tahoma"/>
              </a:rPr>
              <a:t>=</a:t>
            </a:r>
            <a:r>
              <a:rPr dirty="0" u="none" sz="1500" spc="-120">
                <a:latin typeface="Tahoma"/>
                <a:cs typeface="Tahoma"/>
              </a:rPr>
              <a:t> </a:t>
            </a:r>
            <a:r>
              <a:rPr dirty="0" u="none" sz="1500" spc="-65">
                <a:latin typeface="Tahoma"/>
                <a:cs typeface="Tahoma"/>
              </a:rPr>
              <a:t>2.361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699371" y="4355784"/>
            <a:ext cx="89916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95">
                <a:latin typeface="Tahoma"/>
                <a:cs typeface="Tahoma"/>
              </a:rPr>
              <a:t>9.64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6.58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518842" y="4544440"/>
            <a:ext cx="208279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-50">
                <a:latin typeface="Arial"/>
                <a:cs typeface="Arial"/>
              </a:rPr>
              <a:t>√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56571" y="4708209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Tahoma"/>
                <a:cs typeface="Tahoma"/>
              </a:rPr>
              <a:t>+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35536" y="4688893"/>
            <a:ext cx="3200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5">
                <a:latin typeface="Tahoma"/>
                <a:cs typeface="Tahoma"/>
              </a:rPr>
              <a:t>3.097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30067" y="4681480"/>
            <a:ext cx="7112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50"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44180" y="4831768"/>
            <a:ext cx="1549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40">
                <a:latin typeface="Tahoma"/>
                <a:cs typeface="Tahoma"/>
              </a:rPr>
              <a:t>11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733799" y="4867274"/>
            <a:ext cx="371475" cy="9525"/>
          </a:xfrm>
          <a:custGeom>
            <a:avLst/>
            <a:gdLst/>
            <a:ahLst/>
            <a:cxnLst/>
            <a:rect l="l" t="t" r="r" b="b"/>
            <a:pathLst>
              <a:path w="371475" h="9525">
                <a:moveTo>
                  <a:pt x="371474" y="9524"/>
                </a:moveTo>
                <a:lnTo>
                  <a:pt x="0" y="9524"/>
                </a:lnTo>
                <a:lnTo>
                  <a:pt x="0" y="0"/>
                </a:lnTo>
                <a:lnTo>
                  <a:pt x="371474" y="0"/>
                </a:lnTo>
                <a:lnTo>
                  <a:pt x="3714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373264" y="4688893"/>
            <a:ext cx="3200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5">
                <a:latin typeface="Tahoma"/>
                <a:cs typeface="Tahoma"/>
              </a:rPr>
              <a:t>3.097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667795" y="4681480"/>
            <a:ext cx="7112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50"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481909" y="4831768"/>
            <a:ext cx="1549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40">
                <a:latin typeface="Tahoma"/>
                <a:cs typeface="Tahoma"/>
              </a:rPr>
              <a:t>12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371974" y="4867274"/>
            <a:ext cx="371475" cy="9525"/>
          </a:xfrm>
          <a:custGeom>
            <a:avLst/>
            <a:gdLst/>
            <a:ahLst/>
            <a:cxnLst/>
            <a:rect l="l" t="t" r="r" b="b"/>
            <a:pathLst>
              <a:path w="371475" h="9525">
                <a:moveTo>
                  <a:pt x="371474" y="9524"/>
                </a:moveTo>
                <a:lnTo>
                  <a:pt x="0" y="9524"/>
                </a:lnTo>
                <a:lnTo>
                  <a:pt x="0" y="0"/>
                </a:lnTo>
                <a:lnTo>
                  <a:pt x="371474" y="0"/>
                </a:lnTo>
                <a:lnTo>
                  <a:pt x="3714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514724" y="4629149"/>
            <a:ext cx="1266825" cy="9525"/>
          </a:xfrm>
          <a:custGeom>
            <a:avLst/>
            <a:gdLst/>
            <a:ahLst/>
            <a:cxnLst/>
            <a:rect l="l" t="t" r="r" b="b"/>
            <a:pathLst>
              <a:path w="1266825" h="9525">
                <a:moveTo>
                  <a:pt x="1266824" y="9524"/>
                </a:moveTo>
                <a:lnTo>
                  <a:pt x="0" y="9524"/>
                </a:lnTo>
                <a:lnTo>
                  <a:pt x="0" y="0"/>
                </a:lnTo>
                <a:lnTo>
                  <a:pt x="1266824" y="0"/>
                </a:lnTo>
                <a:lnTo>
                  <a:pt x="12668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668563" y="5563146"/>
            <a:ext cx="131191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20" i="1">
                <a:latin typeface="Arial"/>
                <a:cs typeface="Arial"/>
              </a:rPr>
              <a:t>P</a:t>
            </a:r>
            <a:r>
              <a:rPr dirty="0" sz="1550" spc="-27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Arial"/>
                <a:cs typeface="Arial"/>
              </a:rPr>
              <a:t>t</a:t>
            </a:r>
            <a:r>
              <a:rPr dirty="0" sz="1550" spc="-7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≥</a:t>
            </a:r>
            <a:r>
              <a:rPr dirty="0" sz="1500" spc="120">
                <a:latin typeface="Tahoma"/>
                <a:cs typeface="Tahoma"/>
              </a:rPr>
              <a:t> </a:t>
            </a:r>
            <a:r>
              <a:rPr dirty="0" sz="1500" spc="-85">
                <a:latin typeface="Tahoma"/>
                <a:cs typeface="Tahoma"/>
              </a:rPr>
              <a:t>2.361)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3294" y="466687"/>
            <a:ext cx="1961910" cy="19368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71499" y="3057524"/>
            <a:ext cx="3524250" cy="8572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6675" rIns="0" bIns="0" rtlCol="0" vert="horz">
            <a:spAutoFit/>
          </a:bodyPr>
          <a:lstStyle/>
          <a:p>
            <a:pPr algn="ctr" marR="1081405">
              <a:lnSpc>
                <a:spcPct val="100000"/>
              </a:lnSpc>
              <a:spcBef>
                <a:spcPts val="525"/>
              </a:spcBef>
              <a:tabLst>
                <a:tab pos="1439545" algn="l"/>
              </a:tabLst>
            </a:pPr>
            <a:r>
              <a:rPr dirty="0" sz="1500" spc="-20">
                <a:solidFill>
                  <a:srgbClr val="333333"/>
                </a:solidFill>
                <a:latin typeface="Lucida Console"/>
                <a:cs typeface="Lucida Console"/>
              </a:rPr>
              <a:t>pt(q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2.361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algn="ctr" marR="1081405">
              <a:lnSpc>
                <a:spcPct val="100000"/>
              </a:lnSpc>
              <a:tabLst>
                <a:tab pos="1130935" algn="l"/>
              </a:tabLst>
            </a:pP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008080"/>
                </a:solidFill>
                <a:latin typeface="Courier New"/>
                <a:cs typeface="Courier New"/>
              </a:rPr>
              <a:t>21</a:t>
            </a:r>
            <a:r>
              <a:rPr dirty="0" sz="15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500">
              <a:latin typeface="Lucida Console"/>
              <a:cs typeface="Lucida Console"/>
            </a:endParaRPr>
          </a:p>
          <a:p>
            <a:pPr marL="393700">
              <a:lnSpc>
                <a:spcPct val="100000"/>
              </a:lnSpc>
            </a:pP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1500" spc="-5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3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300" spc="7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58800" y="4035618"/>
            <a:ext cx="146558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1400" spc="-14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007834"/>
                </a:solidFill>
                <a:latin typeface="Courier New"/>
                <a:cs typeface="Courier New"/>
              </a:rPr>
              <a:t>0.01398506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36826" y="394970"/>
            <a:ext cx="3423920" cy="15595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If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(the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white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male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college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stereotype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threat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condition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perform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well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control condition),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observing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3.06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points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more </a:t>
            </a:r>
            <a:r>
              <a:rPr dirty="0" sz="1450" spc="-25">
                <a:latin typeface="Trebuchet MS"/>
                <a:cs typeface="Trebuchet MS"/>
              </a:rPr>
              <a:t>extreme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0.014.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36826" y="2519045"/>
            <a:ext cx="3526154" cy="112141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165"/>
              </a:spcBef>
            </a:pPr>
            <a:r>
              <a:rPr dirty="0" sz="1450" spc="-35">
                <a:latin typeface="Trebuchet MS"/>
                <a:cs typeface="Trebuchet MS"/>
              </a:rPr>
              <a:t>At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significance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85">
                <a:latin typeface="Trebuchet MS"/>
                <a:cs typeface="Trebuchet MS"/>
              </a:rPr>
              <a:t>0.05,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reject </a:t>
            </a:r>
            <a:r>
              <a:rPr dirty="0" sz="1450">
                <a:latin typeface="Trebuchet MS"/>
                <a:cs typeface="Trebuchet MS"/>
              </a:rPr>
              <a:t>the null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hypothesis.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suggests that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compatible</a:t>
            </a:r>
            <a:r>
              <a:rPr dirty="0" sz="1450" spc="-20">
                <a:latin typeface="Trebuchet MS"/>
                <a:cs typeface="Trebuchet MS"/>
              </a:rPr>
              <a:t> with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perform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well.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79624" y="2610396"/>
            <a:ext cx="131191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20" i="1">
                <a:latin typeface="Arial"/>
                <a:cs typeface="Arial"/>
              </a:rPr>
              <a:t>P</a:t>
            </a:r>
            <a:r>
              <a:rPr dirty="0" sz="1550" spc="-27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Arial"/>
                <a:cs typeface="Arial"/>
              </a:rPr>
              <a:t>t</a:t>
            </a:r>
            <a:r>
              <a:rPr dirty="0" sz="1550" spc="-7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≥</a:t>
            </a:r>
            <a:r>
              <a:rPr dirty="0" sz="1500" spc="120">
                <a:latin typeface="Tahoma"/>
                <a:cs typeface="Tahoma"/>
              </a:rPr>
              <a:t> </a:t>
            </a:r>
            <a:r>
              <a:rPr dirty="0" sz="1500" spc="-85">
                <a:latin typeface="Tahoma"/>
                <a:cs typeface="Tahoma"/>
              </a:rPr>
              <a:t>2.361)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141414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0"/>
              <a:t>Effect</a:t>
            </a:r>
            <a:r>
              <a:rPr dirty="0" spc="-140"/>
              <a:t> </a:t>
            </a:r>
            <a:r>
              <a:rPr dirty="0" spc="-65"/>
              <a:t>Size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795019"/>
            <a:ext cx="7395845" cy="14928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As discussed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earlier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one-sample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statistically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alone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does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convey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magnitude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practical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importance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effect.</a:t>
            </a:r>
            <a:endParaRPr sz="1450">
              <a:latin typeface="Trebuchet MS"/>
              <a:cs typeface="Trebuchet MS"/>
            </a:endParaRPr>
          </a:p>
          <a:p>
            <a:pPr marL="12700" marR="15113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accompanied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appropriate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effect </a:t>
            </a:r>
            <a:r>
              <a:rPr dirty="0" sz="1450" spc="-30" b="1">
                <a:latin typeface="Trebuchet MS"/>
                <a:cs typeface="Trebuchet MS"/>
              </a:rPr>
              <a:t>size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measure.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450" spc="-10">
                <a:latin typeface="Trebuchet MS"/>
                <a:cs typeface="Trebuchet MS"/>
              </a:rPr>
              <a:t>For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Cohen’s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calculated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8800" y="3109594"/>
            <a:ext cx="7076440" cy="4641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Cohen’s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=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90" b="1">
                <a:latin typeface="Trebuchet MS"/>
                <a:cs typeface="Trebuchet MS"/>
              </a:rPr>
              <a:t>0.99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indicates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large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effect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size</a:t>
            </a:r>
            <a:r>
              <a:rPr dirty="0" sz="1450" spc="-10">
                <a:latin typeface="Trebuchet MS"/>
                <a:cs typeface="Trebuchet MS"/>
              </a:rPr>
              <a:t>,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5"/>
              </a:lnSpc>
            </a:pPr>
            <a:r>
              <a:rPr dirty="0" sz="1450">
                <a:latin typeface="Trebuchet MS"/>
                <a:cs typeface="Trebuchet MS"/>
              </a:rPr>
              <a:t>suggesting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difference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performance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substantial.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07902" y="2536243"/>
            <a:ext cx="609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′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79712" y="2553246"/>
            <a:ext cx="10185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95" i="1">
                <a:latin typeface="Arial"/>
                <a:cs typeface="Arial"/>
              </a:rPr>
              <a:t>Cohen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50" spc="-110" i="1">
                <a:latin typeface="Arial"/>
                <a:cs typeface="Arial"/>
              </a:rPr>
              <a:t>s</a:t>
            </a:r>
            <a:r>
              <a:rPr dirty="0" sz="1550" spc="-60" i="1">
                <a:latin typeface="Arial"/>
                <a:cs typeface="Arial"/>
              </a:rPr>
              <a:t> </a:t>
            </a:r>
            <a:r>
              <a:rPr dirty="0" sz="1550" spc="-130" i="1">
                <a:latin typeface="Arial"/>
                <a:cs typeface="Arial"/>
              </a:rPr>
              <a:t>d</a:t>
            </a:r>
            <a:r>
              <a:rPr dirty="0" sz="1550" spc="-20" i="1">
                <a:latin typeface="Arial"/>
                <a:cs typeface="Arial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33825" y="2555560"/>
            <a:ext cx="193548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11910" algn="l"/>
              </a:tabLst>
            </a:pPr>
            <a:r>
              <a:rPr dirty="0" sz="1500" spc="-50">
                <a:latin typeface="Tahoma"/>
                <a:cs typeface="Tahoma"/>
              </a:rPr>
              <a:t>=</a:t>
            </a:r>
            <a:r>
              <a:rPr dirty="0" sz="1500">
                <a:latin typeface="Tahoma"/>
                <a:cs typeface="Tahoma"/>
              </a:rPr>
              <a:t>	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0.988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63962" y="2677071"/>
            <a:ext cx="12827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90" i="1">
                <a:latin typeface="Arial"/>
                <a:cs typeface="Arial"/>
              </a:rPr>
              <a:t>σ</a:t>
            </a:r>
            <a:r>
              <a:rPr dirty="0" baseline="1851" sz="2250" spc="-367">
                <a:latin typeface="Tahoma"/>
                <a:cs typeface="Tahoma"/>
              </a:rPr>
              <a:t>^</a:t>
            </a:r>
            <a:endParaRPr baseline="1851" sz="22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68588" y="2763208"/>
            <a:ext cx="90805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457574" y="2714624"/>
            <a:ext cx="819150" cy="9525"/>
          </a:xfrm>
          <a:custGeom>
            <a:avLst/>
            <a:gdLst/>
            <a:ahLst/>
            <a:cxnLst/>
            <a:rect l="l" t="t" r="r" b="b"/>
            <a:pathLst>
              <a:path w="819150" h="9525">
                <a:moveTo>
                  <a:pt x="819149" y="9524"/>
                </a:moveTo>
                <a:lnTo>
                  <a:pt x="0" y="9524"/>
                </a:lnTo>
                <a:lnTo>
                  <a:pt x="0" y="0"/>
                </a:lnTo>
                <a:lnTo>
                  <a:pt x="819149" y="0"/>
                </a:lnTo>
                <a:lnTo>
                  <a:pt x="8191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422997" y="2429421"/>
            <a:ext cx="217043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156335" algn="l"/>
              </a:tabLst>
            </a:pPr>
            <a:r>
              <a:rPr dirty="0" baseline="1851" sz="2250" spc="-104">
                <a:latin typeface="Tahoma"/>
                <a:cs typeface="Tahoma"/>
              </a:rPr>
              <a:t>|</a:t>
            </a:r>
            <a:r>
              <a:rPr dirty="0" baseline="1792" sz="2325" spc="-1110" i="1">
                <a:latin typeface="Arial"/>
                <a:cs typeface="Arial"/>
              </a:rPr>
              <a:t>X</a:t>
            </a:r>
            <a:r>
              <a:rPr dirty="0" baseline="12962" sz="2250" spc="7">
                <a:latin typeface="Tahoma"/>
                <a:cs typeface="Tahoma"/>
              </a:rPr>
              <a:t>¯</a:t>
            </a:r>
            <a:r>
              <a:rPr dirty="0" baseline="-7936" sz="1575" spc="-104">
                <a:latin typeface="Tahoma"/>
                <a:cs typeface="Tahoma"/>
              </a:rPr>
              <a:t>1</a:t>
            </a:r>
            <a:r>
              <a:rPr dirty="0" baseline="-7936" sz="1575" spc="112">
                <a:latin typeface="Tahoma"/>
                <a:cs typeface="Tahoma"/>
              </a:rPr>
              <a:t> </a:t>
            </a:r>
            <a:r>
              <a:rPr dirty="0" baseline="1851" sz="2250">
                <a:latin typeface="Tahoma"/>
                <a:cs typeface="Tahoma"/>
              </a:rPr>
              <a:t>−</a:t>
            </a:r>
            <a:r>
              <a:rPr dirty="0" baseline="1851" sz="2250" spc="-202">
                <a:latin typeface="Tahoma"/>
                <a:cs typeface="Tahoma"/>
              </a:rPr>
              <a:t> </a:t>
            </a:r>
            <a:r>
              <a:rPr dirty="0" baseline="1792" sz="2325" spc="-839" i="1">
                <a:latin typeface="Arial"/>
                <a:cs typeface="Arial"/>
              </a:rPr>
              <a:t>X</a:t>
            </a:r>
            <a:r>
              <a:rPr dirty="0" baseline="12962" sz="2250" spc="277">
                <a:latin typeface="Tahoma"/>
                <a:cs typeface="Tahoma"/>
              </a:rPr>
              <a:t>¯</a:t>
            </a:r>
            <a:r>
              <a:rPr dirty="0" baseline="-7936" sz="1575" spc="270">
                <a:latin typeface="Tahoma"/>
                <a:cs typeface="Tahoma"/>
              </a:rPr>
              <a:t>2</a:t>
            </a:r>
            <a:r>
              <a:rPr dirty="0" baseline="1851" sz="2250" spc="165">
                <a:latin typeface="Tahoma"/>
                <a:cs typeface="Tahoma"/>
              </a:rPr>
              <a:t>|</a:t>
            </a:r>
            <a:r>
              <a:rPr dirty="0" baseline="1851" sz="2250">
                <a:latin typeface="Tahoma"/>
                <a:cs typeface="Tahoma"/>
              </a:rPr>
              <a:t>	</a:t>
            </a:r>
            <a:r>
              <a:rPr dirty="0" sz="1500" spc="-110">
                <a:latin typeface="Tahoma"/>
                <a:cs typeface="Tahoma"/>
              </a:rPr>
              <a:t>|9.64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20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6.58|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46537" y="2688910"/>
            <a:ext cx="4425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90">
                <a:latin typeface="Tahoma"/>
                <a:cs typeface="Tahoma"/>
              </a:rPr>
              <a:t>3.097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562474" y="2714624"/>
            <a:ext cx="1009650" cy="9525"/>
          </a:xfrm>
          <a:custGeom>
            <a:avLst/>
            <a:gdLst/>
            <a:ahLst/>
            <a:cxnLst/>
            <a:rect l="l" t="t" r="r" b="b"/>
            <a:pathLst>
              <a:path w="1009650" h="9525">
                <a:moveTo>
                  <a:pt x="1009649" y="9524"/>
                </a:moveTo>
                <a:lnTo>
                  <a:pt x="0" y="9524"/>
                </a:lnTo>
                <a:lnTo>
                  <a:pt x="0" y="0"/>
                </a:lnTo>
                <a:lnTo>
                  <a:pt x="1009649" y="0"/>
                </a:lnTo>
                <a:lnTo>
                  <a:pt x="10096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4"/>
              <a:t>APA</a:t>
            </a:r>
            <a:r>
              <a:rPr dirty="0" spc="-130"/>
              <a:t> </a:t>
            </a:r>
            <a:r>
              <a:rPr dirty="0" spc="-100"/>
              <a:t>Style</a:t>
            </a:r>
            <a:r>
              <a:rPr dirty="0" spc="-130"/>
              <a:t> </a:t>
            </a:r>
            <a:r>
              <a:rPr dirty="0" spc="-140"/>
              <a:t>Write-</a:t>
            </a:r>
            <a:r>
              <a:rPr dirty="0" spc="-25"/>
              <a:t>Up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795019"/>
            <a:ext cx="7517765" cy="25882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9.64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95">
                <a:latin typeface="Trebuchet MS"/>
                <a:cs typeface="Trebuchet MS"/>
              </a:rPr>
              <a:t>(</a:t>
            </a:r>
            <a:r>
              <a:rPr dirty="0" sz="1450" spc="-95" i="1">
                <a:latin typeface="Lucida Sans"/>
                <a:cs typeface="Lucida Sans"/>
              </a:rPr>
              <a:t>SD</a:t>
            </a:r>
            <a:r>
              <a:rPr dirty="0" sz="1450" spc="-55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55">
                <a:latin typeface="Trebuchet MS"/>
                <a:cs typeface="Trebuchet MS"/>
              </a:rPr>
              <a:t>3.17)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65">
                <a:latin typeface="Trebuchet MS"/>
                <a:cs typeface="Trebuchet MS"/>
              </a:rPr>
              <a:t>11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6.58 </a:t>
            </a:r>
            <a:r>
              <a:rPr dirty="0" sz="1450" spc="-95">
                <a:latin typeface="Trebuchet MS"/>
                <a:cs typeface="Trebuchet MS"/>
              </a:rPr>
              <a:t>(</a:t>
            </a:r>
            <a:r>
              <a:rPr dirty="0" sz="1450" spc="-95" i="1">
                <a:latin typeface="Lucida Sans"/>
                <a:cs typeface="Lucida Sans"/>
              </a:rPr>
              <a:t>SD</a:t>
            </a:r>
            <a:r>
              <a:rPr dirty="0" sz="1450" spc="-50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80">
                <a:latin typeface="Trebuchet MS"/>
                <a:cs typeface="Trebuchet MS"/>
              </a:rPr>
              <a:t>3.03)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12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experimental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25">
                <a:latin typeface="Trebuchet MS"/>
                <a:cs typeface="Trebuchet MS"/>
              </a:rPr>
              <a:t> were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exposed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stereotype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threat.</a:t>
            </a:r>
            <a:endParaRPr sz="1450">
              <a:latin typeface="Trebuchet MS"/>
              <a:cs typeface="Trebuchet MS"/>
            </a:endParaRPr>
          </a:p>
          <a:p>
            <a:pPr marL="12700" marR="22225">
              <a:lnSpc>
                <a:spcPts val="173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independent-samples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-test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conducted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examine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under stereotype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threat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performed</a:t>
            </a:r>
            <a:r>
              <a:rPr dirty="0" sz="1450" spc="-10">
                <a:latin typeface="Trebuchet MS"/>
                <a:cs typeface="Trebuchet MS"/>
              </a:rPr>
              <a:t> significantly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-10">
                <a:latin typeface="Trebuchet MS"/>
                <a:cs typeface="Trebuchet MS"/>
              </a:rPr>
              <a:t> condition. </a:t>
            </a:r>
            <a:r>
              <a:rPr dirty="0" sz="1450">
                <a:latin typeface="Trebuchet MS"/>
                <a:cs typeface="Trebuchet MS"/>
              </a:rPr>
              <a:t>Results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indicated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experimental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condition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3.06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points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lower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statistically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significant,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95" i="1">
                <a:latin typeface="Lucida Sans"/>
                <a:cs typeface="Lucida Sans"/>
              </a:rPr>
              <a:t>t</a:t>
            </a:r>
            <a:r>
              <a:rPr dirty="0" sz="1450" spc="-95">
                <a:latin typeface="Trebuchet MS"/>
                <a:cs typeface="Trebuchet MS"/>
              </a:rPr>
              <a:t>(21)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25">
                <a:latin typeface="Trebuchet MS"/>
                <a:cs typeface="Trebuchet MS"/>
              </a:rPr>
              <a:t>2.361,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p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=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655"/>
              </a:lnSpc>
            </a:pPr>
            <a:r>
              <a:rPr dirty="0" sz="1450" spc="-120">
                <a:latin typeface="Trebuchet MS"/>
                <a:cs typeface="Trebuchet MS"/>
              </a:rPr>
              <a:t>.014,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Cohen’s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d</a:t>
            </a:r>
            <a:r>
              <a:rPr dirty="0" sz="1450" spc="-80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0.99.</a:t>
            </a:r>
            <a:endParaRPr sz="1450">
              <a:latin typeface="Trebuchet MS"/>
              <a:cs typeface="Trebuchet MS"/>
            </a:endParaRPr>
          </a:p>
          <a:p>
            <a:pPr marL="12700" marR="510540">
              <a:lnSpc>
                <a:spcPts val="1720"/>
              </a:lnSpc>
              <a:spcBef>
                <a:spcPts val="1560"/>
              </a:spcBef>
            </a:pP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suggest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exposure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10">
                <a:latin typeface="Trebuchet MS"/>
                <a:cs typeface="Trebuchet MS"/>
              </a:rPr>
              <a:t> stereotype </a:t>
            </a:r>
            <a:r>
              <a:rPr dirty="0" sz="1450" spc="-20">
                <a:latin typeface="Trebuchet MS"/>
                <a:cs typeface="Trebuchet MS"/>
              </a:rPr>
              <a:t>threat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substantially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math </a:t>
            </a:r>
            <a:r>
              <a:rPr dirty="0" sz="1450">
                <a:latin typeface="Trebuchet MS"/>
                <a:cs typeface="Trebuchet MS"/>
              </a:rPr>
              <a:t>performance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white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college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students.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Equal</a:t>
            </a:r>
            <a:r>
              <a:rPr dirty="0" spc="-145"/>
              <a:t> </a:t>
            </a:r>
            <a:r>
              <a:rPr dirty="0" spc="-135"/>
              <a:t>Variance</a:t>
            </a:r>
            <a:r>
              <a:rPr dirty="0" spc="-140"/>
              <a:t> </a:t>
            </a:r>
            <a:r>
              <a:rPr dirty="0" spc="-55"/>
              <a:t>Assumption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171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790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405187"/>
            <a:ext cx="66675" cy="66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814762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433887"/>
            <a:ext cx="66675" cy="666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27100" y="795019"/>
            <a:ext cx="7131684" cy="39979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5400" marR="66040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One of the key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assumptions of the independent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-test</a:t>
            </a:r>
            <a:r>
              <a:rPr dirty="0" sz="1450">
                <a:latin typeface="Trebuchet MS"/>
                <a:cs typeface="Trebuchet MS"/>
              </a:rPr>
              <a:t> 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 the </a:t>
            </a:r>
            <a:r>
              <a:rPr dirty="0" sz="1450" spc="-25">
                <a:latin typeface="Trebuchet MS"/>
                <a:cs typeface="Trebuchet MS"/>
              </a:rPr>
              <a:t>two </a:t>
            </a:r>
            <a:r>
              <a:rPr dirty="0" sz="1450">
                <a:latin typeface="Trebuchet MS"/>
                <a:cs typeface="Trebuchet MS"/>
              </a:rPr>
              <a:t>populations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equal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variances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125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reason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pooled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estimate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55">
                <a:latin typeface="Trebuchet MS"/>
                <a:cs typeface="Trebuchet MS"/>
              </a:rPr>
              <a:t>(</a:t>
            </a:r>
            <a:r>
              <a:rPr dirty="0" sz="1550" spc="-1000" i="1">
                <a:latin typeface="Arial"/>
                <a:cs typeface="Arial"/>
              </a:rPr>
              <a:t>σ</a:t>
            </a:r>
            <a:r>
              <a:rPr dirty="0" sz="1500" spc="-145">
                <a:latin typeface="Tahoma"/>
                <a:cs typeface="Tahoma"/>
              </a:rPr>
              <a:t>^</a:t>
            </a:r>
            <a:r>
              <a:rPr dirty="0" baseline="-12626" sz="1650" spc="-232" i="1">
                <a:latin typeface="Arial"/>
                <a:cs typeface="Arial"/>
              </a:rPr>
              <a:t>p</a:t>
            </a:r>
            <a:endParaRPr baseline="-12626" sz="16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90"/>
              </a:spcBef>
            </a:pPr>
            <a:r>
              <a:rPr dirty="0" sz="1450" spc="-25">
                <a:latin typeface="Trebuchet MS"/>
                <a:cs typeface="Trebuchet MS"/>
              </a:rPr>
              <a:t>).</a:t>
            </a:r>
            <a:endParaRPr sz="1450">
              <a:latin typeface="Trebuchet MS"/>
              <a:cs typeface="Trebuchet MS"/>
            </a:endParaRPr>
          </a:p>
          <a:p>
            <a:pPr marL="25400" marR="32893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 equal variance assumption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 not </a:t>
            </a:r>
            <a:r>
              <a:rPr dirty="0" sz="1450" spc="-10">
                <a:latin typeface="Trebuchet MS"/>
                <a:cs typeface="Trebuchet MS"/>
              </a:rPr>
              <a:t>hold,</a:t>
            </a:r>
            <a:r>
              <a:rPr dirty="0" sz="1450">
                <a:latin typeface="Trebuchet MS"/>
                <a:cs typeface="Trebuchet MS"/>
              </a:rPr>
              <a:t> 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resulting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 i="1">
                <a:latin typeface="Lucida Sans"/>
                <a:cs typeface="Lucida Sans"/>
              </a:rPr>
              <a:t>p</a:t>
            </a:r>
            <a:r>
              <a:rPr dirty="0" sz="1450" spc="-25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value may </a:t>
            </a:r>
            <a:r>
              <a:rPr dirty="0" sz="1450" spc="-35">
                <a:latin typeface="Trebuchet MS"/>
                <a:cs typeface="Trebuchet MS"/>
              </a:rPr>
              <a:t>be inaccurate,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potentially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leading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incorrect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conclusions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hypothesis.</a:t>
            </a:r>
            <a:endParaRPr sz="1450">
              <a:latin typeface="Trebuchet MS"/>
              <a:cs typeface="Trebuchet MS"/>
            </a:endParaRPr>
          </a:p>
          <a:p>
            <a:pPr marL="25400" marR="179705">
              <a:lnSpc>
                <a:spcPts val="1730"/>
              </a:lnSpc>
              <a:spcBef>
                <a:spcPts val="1415"/>
              </a:spcBef>
            </a:pPr>
            <a:r>
              <a:rPr dirty="0" sz="1450" spc="-40">
                <a:latin typeface="Trebuchet MS"/>
                <a:cs typeface="Trebuchet MS"/>
              </a:rPr>
              <a:t>However,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possible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-test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without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assuming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variances:</a:t>
            </a:r>
            <a:endParaRPr sz="145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115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version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Welch’s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650" spc="-20" i="1">
                <a:latin typeface="Georgia"/>
                <a:cs typeface="Georgia"/>
              </a:rPr>
              <a:t>t</a:t>
            </a:r>
            <a:r>
              <a:rPr dirty="0" sz="1450" spc="-20" b="1">
                <a:latin typeface="Trebuchet MS"/>
                <a:cs typeface="Trebuchet MS"/>
              </a:rPr>
              <a:t>-test</a:t>
            </a:r>
            <a:r>
              <a:rPr dirty="0" sz="1450" spc="-2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05765" marR="777875">
              <a:lnSpc>
                <a:spcPts val="1730"/>
              </a:lnSpc>
              <a:spcBef>
                <a:spcPts val="151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formulas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freedom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slightly </a:t>
            </a:r>
            <a:r>
              <a:rPr dirty="0" sz="1450">
                <a:latin typeface="Trebuchet MS"/>
                <a:cs typeface="Trebuchet MS"/>
              </a:rPr>
              <a:t>(see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80">
                <a:solidFill>
                  <a:srgbClr val="3F97B4"/>
                </a:solidFill>
                <a:latin typeface="Trebuchet MS"/>
                <a:cs typeface="Trebuchet MS"/>
                <a:hlinkClick r:id="rId3"/>
              </a:rPr>
              <a:t>Ch.</a:t>
            </a:r>
            <a:r>
              <a:rPr dirty="0" sz="1450" spc="-35">
                <a:solidFill>
                  <a:srgbClr val="3F97B4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1450" spc="-114">
                <a:solidFill>
                  <a:srgbClr val="3F97B4"/>
                </a:solidFill>
                <a:latin typeface="Trebuchet MS"/>
                <a:cs typeface="Trebuchet MS"/>
                <a:hlinkClick r:id="rId3"/>
              </a:rPr>
              <a:t>13.4</a:t>
            </a:r>
            <a:r>
              <a:rPr dirty="0" sz="1450" spc="-40">
                <a:solidFill>
                  <a:srgbClr val="3F97B4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1450">
                <a:solidFill>
                  <a:srgbClr val="3F97B4"/>
                </a:solidFill>
                <a:latin typeface="Trebuchet MS"/>
                <a:cs typeface="Trebuchet MS"/>
                <a:hlinkClick r:id="rId3"/>
              </a:rPr>
              <a:t>in</a:t>
            </a:r>
            <a:r>
              <a:rPr dirty="0" sz="1450" spc="-25">
                <a:solidFill>
                  <a:srgbClr val="3F97B4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1450" spc="-80" i="1">
                <a:solidFill>
                  <a:srgbClr val="3F97B4"/>
                </a:solidFill>
                <a:latin typeface="Lucida Sans"/>
                <a:cs typeface="Lucida Sans"/>
                <a:hlinkClick r:id="rId3"/>
              </a:rPr>
              <a:t>Learning</a:t>
            </a:r>
            <a:r>
              <a:rPr dirty="0" sz="1450" spc="-70" i="1">
                <a:solidFill>
                  <a:srgbClr val="3F97B4"/>
                </a:solidFill>
                <a:latin typeface="Lucida Sans"/>
                <a:cs typeface="Lucida Sans"/>
                <a:hlinkClick r:id="rId3"/>
              </a:rPr>
              <a:t> </a:t>
            </a:r>
            <a:r>
              <a:rPr dirty="0" sz="1450" spc="-50" i="1">
                <a:solidFill>
                  <a:srgbClr val="3F97B4"/>
                </a:solidFill>
                <a:latin typeface="Lucida Sans"/>
                <a:cs typeface="Lucida Sans"/>
                <a:hlinkClick r:id="rId3"/>
              </a:rPr>
              <a:t>Statistics</a:t>
            </a:r>
            <a:r>
              <a:rPr dirty="0" sz="1450" spc="-65" i="1">
                <a:solidFill>
                  <a:srgbClr val="3F97B4"/>
                </a:solidFill>
                <a:latin typeface="Lucida Sans"/>
                <a:cs typeface="Lucida Sans"/>
                <a:hlinkClick r:id="rId3"/>
              </a:rPr>
              <a:t> with </a:t>
            </a:r>
            <a:r>
              <a:rPr dirty="0" sz="1450" spc="-25" i="1">
                <a:solidFill>
                  <a:srgbClr val="3F97B4"/>
                </a:solidFill>
                <a:latin typeface="Lucida Sans"/>
                <a:cs typeface="Lucida Sans"/>
                <a:hlinkClick r:id="rId3"/>
              </a:rPr>
              <a:t>R</a:t>
            </a:r>
            <a:r>
              <a:rPr dirty="0" sz="1450" spc="-25">
                <a:latin typeface="Trebuchet MS"/>
                <a:cs typeface="Trebuchet MS"/>
              </a:rPr>
              <a:t>).</a:t>
            </a:r>
            <a:endParaRPr sz="1450">
              <a:latin typeface="Trebuchet MS"/>
              <a:cs typeface="Trebuchet MS"/>
            </a:endParaRPr>
          </a:p>
          <a:p>
            <a:pPr marL="405765" marR="43180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Note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change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inferential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statistics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these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choose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variances.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8800" y="394970"/>
            <a:ext cx="7517765" cy="6832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9.64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95">
                <a:latin typeface="Trebuchet MS"/>
                <a:cs typeface="Trebuchet MS"/>
              </a:rPr>
              <a:t>(</a:t>
            </a:r>
            <a:r>
              <a:rPr dirty="0" sz="1450" spc="-95" i="1">
                <a:latin typeface="Lucida Sans"/>
                <a:cs typeface="Lucida Sans"/>
              </a:rPr>
              <a:t>SD</a:t>
            </a:r>
            <a:r>
              <a:rPr dirty="0" sz="1450" spc="-55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55">
                <a:latin typeface="Trebuchet MS"/>
                <a:cs typeface="Trebuchet MS"/>
              </a:rPr>
              <a:t>3.17)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65">
                <a:latin typeface="Trebuchet MS"/>
                <a:cs typeface="Trebuchet MS"/>
              </a:rPr>
              <a:t>11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control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6.58 </a:t>
            </a:r>
            <a:r>
              <a:rPr dirty="0" sz="1450" spc="-95">
                <a:latin typeface="Trebuchet MS"/>
                <a:cs typeface="Trebuchet MS"/>
              </a:rPr>
              <a:t>(</a:t>
            </a:r>
            <a:r>
              <a:rPr dirty="0" sz="1450" spc="-95" i="1">
                <a:latin typeface="Lucida Sans"/>
                <a:cs typeface="Lucida Sans"/>
              </a:rPr>
              <a:t>SD</a:t>
            </a:r>
            <a:r>
              <a:rPr dirty="0" sz="1450" spc="-50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80">
                <a:latin typeface="Trebuchet MS"/>
                <a:cs typeface="Trebuchet MS"/>
              </a:rPr>
              <a:t>3.03)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12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experimental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condition,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25">
                <a:latin typeface="Trebuchet MS"/>
                <a:cs typeface="Trebuchet MS"/>
              </a:rPr>
              <a:t> were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exposed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stereotype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threat.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1205868"/>
            <a:ext cx="7463155" cy="1148715"/>
          </a:xfrm>
          <a:prstGeom prst="rect"/>
        </p:spPr>
        <p:txBody>
          <a:bodyPr wrap="square" lIns="0" tIns="46990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70"/>
              </a:spcBef>
            </a:pPr>
            <a:r>
              <a:rPr dirty="0" sz="1450">
                <a:solidFill>
                  <a:srgbClr val="000000"/>
                </a:solidFill>
              </a:rPr>
              <a:t>An</a:t>
            </a:r>
            <a:r>
              <a:rPr dirty="0" sz="1450" spc="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independent-samples</a:t>
            </a:r>
            <a:r>
              <a:rPr dirty="0" sz="1450" spc="10">
                <a:solidFill>
                  <a:srgbClr val="000000"/>
                </a:solidFill>
              </a:rPr>
              <a:t> </a:t>
            </a:r>
            <a:r>
              <a:rPr dirty="0" sz="1450" spc="-60" b="1">
                <a:solidFill>
                  <a:srgbClr val="000000"/>
                </a:solidFill>
                <a:latin typeface="Trebuchet MS"/>
                <a:cs typeface="Trebuchet MS"/>
              </a:rPr>
              <a:t>Welch’s</a:t>
            </a:r>
            <a:r>
              <a:rPr dirty="0" sz="1450" spc="-40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650" spc="-20" i="1">
                <a:solidFill>
                  <a:srgbClr val="000000"/>
                </a:solidFill>
                <a:latin typeface="Georgia"/>
                <a:cs typeface="Georgia"/>
              </a:rPr>
              <a:t>t</a:t>
            </a:r>
            <a:r>
              <a:rPr dirty="0" sz="1450" spc="-20" b="1">
                <a:solidFill>
                  <a:srgbClr val="000000"/>
                </a:solidFill>
                <a:latin typeface="Trebuchet MS"/>
                <a:cs typeface="Trebuchet MS"/>
              </a:rPr>
              <a:t>-</a:t>
            </a:r>
            <a:r>
              <a:rPr dirty="0" sz="1450" spc="-10" b="1">
                <a:solidFill>
                  <a:srgbClr val="000000"/>
                </a:solidFill>
                <a:latin typeface="Trebuchet MS"/>
                <a:cs typeface="Trebuchet MS"/>
              </a:rPr>
              <a:t>test</a:t>
            </a:r>
            <a:r>
              <a:rPr dirty="0" sz="1450" spc="15" b="1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0000"/>
                </a:solidFill>
              </a:rPr>
              <a:t>was</a:t>
            </a:r>
            <a:r>
              <a:rPr dirty="0" sz="1450" spc="1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conducted</a:t>
            </a:r>
            <a:r>
              <a:rPr dirty="0" sz="1450" spc="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to</a:t>
            </a:r>
            <a:r>
              <a:rPr dirty="0" sz="1450" spc="1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examine</a:t>
            </a:r>
            <a:r>
              <a:rPr dirty="0" sz="1450" spc="1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whether</a:t>
            </a:r>
            <a:r>
              <a:rPr dirty="0" sz="1450" spc="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students</a:t>
            </a:r>
            <a:r>
              <a:rPr dirty="0" sz="1450" spc="10">
                <a:solidFill>
                  <a:srgbClr val="000000"/>
                </a:solidFill>
              </a:rPr>
              <a:t> </a:t>
            </a:r>
            <a:r>
              <a:rPr dirty="0" sz="1450" spc="-25">
                <a:solidFill>
                  <a:srgbClr val="000000"/>
                </a:solidFill>
              </a:rPr>
              <a:t>in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experimental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condition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scored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significantly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lower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than</a:t>
            </a:r>
            <a:r>
              <a:rPr dirty="0" sz="1450" spc="-1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those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in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control</a:t>
            </a:r>
            <a:r>
              <a:rPr dirty="0" sz="1450" spc="-20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condition. </a:t>
            </a:r>
            <a:r>
              <a:rPr dirty="0" sz="1450">
                <a:solidFill>
                  <a:srgbClr val="000000"/>
                </a:solidFill>
              </a:rPr>
              <a:t>Results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indicated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that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mean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test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score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in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experimental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condition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was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 spc="-60">
                <a:solidFill>
                  <a:srgbClr val="000000"/>
                </a:solidFill>
              </a:rPr>
              <a:t>3.06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points </a:t>
            </a:r>
            <a:r>
              <a:rPr dirty="0" sz="1450">
                <a:solidFill>
                  <a:srgbClr val="000000"/>
                </a:solidFill>
              </a:rPr>
              <a:t>lower</a:t>
            </a:r>
            <a:r>
              <a:rPr dirty="0" sz="1450" spc="-5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than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in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control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condition,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a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 spc="-20">
                <a:solidFill>
                  <a:srgbClr val="000000"/>
                </a:solidFill>
              </a:rPr>
              <a:t>difference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that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was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statistically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 spc="-20">
                <a:solidFill>
                  <a:srgbClr val="000000"/>
                </a:solidFill>
              </a:rPr>
              <a:t>significant,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 spc="-80" i="1">
                <a:solidFill>
                  <a:srgbClr val="000000"/>
                </a:solidFill>
                <a:latin typeface="Lucida Sans"/>
                <a:cs typeface="Lucida Sans"/>
              </a:rPr>
              <a:t>t</a:t>
            </a:r>
            <a:r>
              <a:rPr dirty="0" sz="1450" spc="-80">
                <a:solidFill>
                  <a:srgbClr val="000000"/>
                </a:solidFill>
              </a:rPr>
              <a:t>(20.61)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 spc="-50">
                <a:solidFill>
                  <a:srgbClr val="000000"/>
                </a:solidFill>
              </a:rPr>
              <a:t>= </a:t>
            </a:r>
            <a:r>
              <a:rPr dirty="0" sz="1450" spc="-95">
                <a:solidFill>
                  <a:srgbClr val="000000"/>
                </a:solidFill>
              </a:rPr>
              <a:t>2.356,</a:t>
            </a:r>
            <a:r>
              <a:rPr dirty="0" sz="1450" spc="-55">
                <a:solidFill>
                  <a:srgbClr val="000000"/>
                </a:solidFill>
              </a:rPr>
              <a:t> </a:t>
            </a:r>
            <a:r>
              <a:rPr dirty="0" sz="1450" spc="-70" i="1">
                <a:solidFill>
                  <a:srgbClr val="000000"/>
                </a:solidFill>
                <a:latin typeface="Lucida Sans"/>
                <a:cs typeface="Lucida Sans"/>
              </a:rPr>
              <a:t>p</a:t>
            </a:r>
            <a:r>
              <a:rPr dirty="0" sz="1450" spc="-80" i="1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450">
                <a:solidFill>
                  <a:srgbClr val="000000"/>
                </a:solidFill>
              </a:rPr>
              <a:t>=</a:t>
            </a:r>
            <a:r>
              <a:rPr dirty="0" sz="1450" spc="-60">
                <a:solidFill>
                  <a:srgbClr val="000000"/>
                </a:solidFill>
              </a:rPr>
              <a:t> </a:t>
            </a:r>
            <a:r>
              <a:rPr dirty="0" sz="1450" spc="-120">
                <a:solidFill>
                  <a:srgbClr val="000000"/>
                </a:solidFill>
              </a:rPr>
              <a:t>.014,</a:t>
            </a:r>
            <a:r>
              <a:rPr dirty="0" sz="1450" spc="-60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Cohen’s</a:t>
            </a:r>
            <a:r>
              <a:rPr dirty="0" sz="1450" spc="-55">
                <a:solidFill>
                  <a:srgbClr val="000000"/>
                </a:solidFill>
              </a:rPr>
              <a:t> </a:t>
            </a:r>
            <a:r>
              <a:rPr dirty="0" sz="1450" spc="-50" i="1">
                <a:solidFill>
                  <a:srgbClr val="000000"/>
                </a:solidFill>
                <a:latin typeface="Lucida Sans"/>
                <a:cs typeface="Lucida Sans"/>
              </a:rPr>
              <a:t>d</a:t>
            </a:r>
            <a:r>
              <a:rPr dirty="0" sz="1450" spc="-80" i="1">
                <a:solidFill>
                  <a:srgbClr val="000000"/>
                </a:solidFill>
                <a:latin typeface="Lucida Sans"/>
                <a:cs typeface="Lucida Sans"/>
              </a:rPr>
              <a:t> </a:t>
            </a:r>
            <a:r>
              <a:rPr dirty="0" sz="1450">
                <a:solidFill>
                  <a:srgbClr val="000000"/>
                </a:solidFill>
              </a:rPr>
              <a:t>=</a:t>
            </a:r>
            <a:r>
              <a:rPr dirty="0" sz="1450" spc="-60">
                <a:solidFill>
                  <a:srgbClr val="000000"/>
                </a:solidFill>
              </a:rPr>
              <a:t> </a:t>
            </a:r>
            <a:r>
              <a:rPr dirty="0" sz="1450" spc="-20">
                <a:solidFill>
                  <a:srgbClr val="000000"/>
                </a:solidFill>
              </a:rPr>
              <a:t>0.99.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8800" y="2519045"/>
            <a:ext cx="7011670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suggest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exposure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10">
                <a:latin typeface="Trebuchet MS"/>
                <a:cs typeface="Trebuchet MS"/>
              </a:rPr>
              <a:t> stereotype </a:t>
            </a:r>
            <a:r>
              <a:rPr dirty="0" sz="1450" spc="-20">
                <a:latin typeface="Trebuchet MS"/>
                <a:cs typeface="Trebuchet MS"/>
              </a:rPr>
              <a:t>threat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substantially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reduced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math </a:t>
            </a:r>
            <a:r>
              <a:rPr dirty="0" sz="1450">
                <a:latin typeface="Trebuchet MS"/>
                <a:cs typeface="Trebuchet MS"/>
              </a:rPr>
              <a:t>performance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white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college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students.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978149"/>
            <a:ext cx="55911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55">
                <a:solidFill>
                  <a:srgbClr val="FFFFFF"/>
                </a:solidFill>
              </a:rPr>
              <a:t>Dependent</a:t>
            </a:r>
            <a:r>
              <a:rPr dirty="0" sz="4100" spc="-240">
                <a:solidFill>
                  <a:srgbClr val="FFFFFF"/>
                </a:solidFill>
              </a:rPr>
              <a:t> </a:t>
            </a:r>
            <a:r>
              <a:rPr dirty="0" sz="4100" spc="-105">
                <a:solidFill>
                  <a:srgbClr val="FFFFFF"/>
                </a:solidFill>
              </a:rPr>
              <a:t>samples</a:t>
            </a:r>
            <a:r>
              <a:rPr dirty="0" sz="4100" spc="-235">
                <a:solidFill>
                  <a:srgbClr val="FFFFFF"/>
                </a:solidFill>
              </a:rPr>
              <a:t> </a:t>
            </a:r>
            <a:r>
              <a:rPr dirty="0" sz="4100" spc="-25" i="1">
                <a:solidFill>
                  <a:srgbClr val="FFFFFF"/>
                </a:solidFill>
                <a:latin typeface="Book Antiqua"/>
                <a:cs typeface="Book Antiqua"/>
              </a:rPr>
              <a:t>t</a:t>
            </a:r>
            <a:r>
              <a:rPr dirty="0" sz="4100" spc="-25">
                <a:solidFill>
                  <a:srgbClr val="FFFFFF"/>
                </a:solidFill>
              </a:rPr>
              <a:t>-</a:t>
            </a:r>
            <a:r>
              <a:rPr dirty="0" sz="4100" spc="-125">
                <a:solidFill>
                  <a:srgbClr val="FFFFFF"/>
                </a:solidFill>
              </a:rPr>
              <a:t>test</a:t>
            </a:r>
            <a:endParaRPr sz="41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314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733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3352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981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8800" y="394970"/>
            <a:ext cx="7515859" cy="3940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50" b="1">
                <a:latin typeface="Trebuchet MS"/>
                <a:cs typeface="Trebuchet MS"/>
              </a:rPr>
              <a:t>When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Use: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same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group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subjects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two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occasions</a:t>
            </a:r>
            <a:r>
              <a:rPr dirty="0" sz="1450" spc="-30">
                <a:latin typeface="Trebuchet MS"/>
                <a:cs typeface="Trebuchet MS"/>
              </a:rPr>
              <a:t>, </a:t>
            </a:r>
            <a:r>
              <a:rPr dirty="0" sz="1450" spc="-30" b="1">
                <a:latin typeface="Trebuchet MS"/>
                <a:cs typeface="Trebuchet MS"/>
              </a:rPr>
              <a:t>conditions</a:t>
            </a:r>
            <a:r>
              <a:rPr dirty="0" sz="1450" spc="-30">
                <a:latin typeface="Trebuchet MS"/>
                <a:cs typeface="Trebuchet MS"/>
              </a:rPr>
              <a:t>,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time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points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8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not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independent</a:t>
            </a:r>
            <a:r>
              <a:rPr dirty="0" sz="1450" spc="-40">
                <a:latin typeface="Trebuchet MS"/>
                <a:cs typeface="Trebuchet MS"/>
              </a:rPr>
              <a:t>,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since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collected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same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participants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393065" marR="309245">
              <a:lnSpc>
                <a:spcPts val="1730"/>
              </a:lnSpc>
              <a:spcBef>
                <a:spcPts val="147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determine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average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outcome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changes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between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conditions,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example,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before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intervention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treatment.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50" spc="-40" b="1">
                <a:latin typeface="Trebuchet MS"/>
                <a:cs typeface="Trebuchet MS"/>
              </a:rPr>
              <a:t>Example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Hypotheses:</a:t>
            </a:r>
            <a:endParaRPr sz="1450">
              <a:latin typeface="Trebuchet MS"/>
              <a:cs typeface="Trebuchet MS"/>
            </a:endParaRPr>
          </a:p>
          <a:p>
            <a:pPr marL="393065" marR="469265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track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athlete’s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400-</a:t>
            </a:r>
            <a:r>
              <a:rPr dirty="0" sz="1450" spc="-10">
                <a:latin typeface="Trebuchet MS"/>
                <a:cs typeface="Trebuchet MS"/>
              </a:rPr>
              <a:t>meter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time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significantly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shorter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6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weeks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high-altitude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training.</a:t>
            </a:r>
            <a:endParaRPr sz="1450">
              <a:latin typeface="Trebuchet MS"/>
              <a:cs typeface="Trebuchet MS"/>
            </a:endParaRPr>
          </a:p>
          <a:p>
            <a:pPr marL="393065" marR="17272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Participants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lose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amount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strict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keto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diet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4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weeks.</a:t>
            </a:r>
            <a:endParaRPr sz="1450">
              <a:latin typeface="Trebuchet MS"/>
              <a:cs typeface="Trebuchet MS"/>
            </a:endParaRPr>
          </a:p>
          <a:p>
            <a:pPr marL="393065" marR="592455">
              <a:lnSpc>
                <a:spcPts val="1730"/>
              </a:lnSpc>
              <a:spcBef>
                <a:spcPts val="1490"/>
              </a:spcBef>
            </a:pP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diagnosed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anorexia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gain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participating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newly </a:t>
            </a:r>
            <a:r>
              <a:rPr dirty="0" sz="1450">
                <a:latin typeface="Trebuchet MS"/>
                <a:cs typeface="Trebuchet MS"/>
              </a:rPr>
              <a:t>developed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family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therapy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program.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1123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58800" y="394970"/>
            <a:ext cx="7527925" cy="8642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25" b="1">
                <a:latin typeface="Trebuchet MS"/>
                <a:cs typeface="Trebuchet MS"/>
              </a:rPr>
              <a:t>Patients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diagnosed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with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anorexia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will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gain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weight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after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participating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in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newly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developed </a:t>
            </a:r>
            <a:r>
              <a:rPr dirty="0" sz="1450" spc="-35" b="1">
                <a:latin typeface="Trebuchet MS"/>
                <a:cs typeface="Trebuchet MS"/>
              </a:rPr>
              <a:t>family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therapy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program.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dirty="0" sz="1450">
                <a:latin typeface="Trebuchet MS"/>
                <a:cs typeface="Trebuchet MS"/>
              </a:rPr>
              <a:t>Dependent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39800" y="1823720"/>
            <a:ext cx="18548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1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71524" y="2733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39800" y="2623820"/>
            <a:ext cx="138176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71524" y="35432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39800" y="3433444"/>
            <a:ext cx="1929764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>
                <a:latin typeface="Trebuchet MS"/>
                <a:cs typeface="Trebuchet MS"/>
              </a:rPr>
              <a:t>Alternative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95449" y="1257299"/>
            <a:ext cx="1285875" cy="9525"/>
          </a:xfrm>
          <a:custGeom>
            <a:avLst/>
            <a:gdLst/>
            <a:ahLst/>
            <a:cxnLst/>
            <a:rect l="l" t="t" r="r" b="b"/>
            <a:pathLst>
              <a:path w="1285875" h="9525">
                <a:moveTo>
                  <a:pt x="1285874" y="9524"/>
                </a:moveTo>
                <a:lnTo>
                  <a:pt x="0" y="9524"/>
                </a:lnTo>
                <a:lnTo>
                  <a:pt x="0" y="0"/>
                </a:lnTo>
                <a:lnTo>
                  <a:pt x="1285874" y="0"/>
                </a:lnTo>
                <a:lnTo>
                  <a:pt x="1285874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704974" y="1281112"/>
          <a:ext cx="1343025" cy="4699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/>
                <a:gridCol w="552450"/>
                <a:gridCol w="457200"/>
              </a:tblGrid>
              <a:tr h="25209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 b="1">
                          <a:latin typeface="Trebuchet MS"/>
                          <a:cs typeface="Trebuchet MS"/>
                        </a:rPr>
                        <a:t>ID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 b="1">
                          <a:latin typeface="Trebuchet MS"/>
                          <a:cs typeface="Trebuchet MS"/>
                        </a:rPr>
                        <a:t>Before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 b="1">
                          <a:latin typeface="Trebuchet MS"/>
                          <a:cs typeface="Trebuchet MS"/>
                        </a:rPr>
                        <a:t>After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95.2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889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82.5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96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10">
                          <a:latin typeface="Trebuchet MS"/>
                          <a:cs typeface="Trebuchet MS"/>
                        </a:rPr>
                        <a:t>100.3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79.6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54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470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>
                          <a:latin typeface="Trebuchet MS"/>
                          <a:cs typeface="Trebuchet MS"/>
                        </a:rPr>
                        <a:t>101.6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73.4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42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80.5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75.2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81.6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77.8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82.1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95.5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77.6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90.7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470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953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92.5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89.9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93.8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87.3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98.0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4752974" y="1533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75297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75297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752974" y="3171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752974" y="3790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58800" y="394970"/>
            <a:ext cx="7531734" cy="39693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endParaRPr sz="1450">
              <a:latin typeface="Trebuchet MS"/>
              <a:cs typeface="Trebuchet MS"/>
            </a:endParaRPr>
          </a:p>
          <a:p>
            <a:pPr marL="12700" marR="66675">
              <a:lnSpc>
                <a:spcPts val="1730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diagnosed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anorexia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participating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newly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developed family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therapy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program.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450">
              <a:latin typeface="Trebuchet MS"/>
              <a:cs typeface="Trebuchet MS"/>
            </a:endParaRPr>
          </a:p>
          <a:p>
            <a:pPr marL="4371340">
              <a:lnSpc>
                <a:spcPct val="100000"/>
              </a:lnSpc>
            </a:pPr>
            <a:r>
              <a:rPr dirty="0" sz="1450" spc="-145">
                <a:latin typeface="Trebuchet MS"/>
                <a:cs typeface="Trebuchet MS"/>
              </a:rPr>
              <a:t>17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diagnosed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anorexia</a:t>
            </a:r>
            <a:endParaRPr sz="1450">
              <a:latin typeface="Trebuchet MS"/>
              <a:cs typeface="Trebuchet MS"/>
            </a:endParaRPr>
          </a:p>
          <a:p>
            <a:pPr marL="4371340" marR="326390">
              <a:lnSpc>
                <a:spcPts val="1730"/>
              </a:lnSpc>
              <a:spcBef>
                <a:spcPts val="1480"/>
              </a:spcBef>
            </a:pPr>
            <a:r>
              <a:rPr dirty="0" sz="1450" spc="-10">
                <a:latin typeface="Trebuchet MS"/>
                <a:cs typeface="Trebuchet MS"/>
              </a:rPr>
              <a:t>Weight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recorded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before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beginning family</a:t>
            </a:r>
            <a:r>
              <a:rPr dirty="0" sz="1450" spc="-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therapy</a:t>
            </a:r>
            <a:endParaRPr sz="1450">
              <a:latin typeface="Trebuchet MS"/>
              <a:cs typeface="Trebuchet MS"/>
            </a:endParaRPr>
          </a:p>
          <a:p>
            <a:pPr marL="4371340" marR="406400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Weight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recorded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after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4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weeks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therapy</a:t>
            </a:r>
            <a:endParaRPr sz="1450">
              <a:latin typeface="Trebuchet MS"/>
              <a:cs typeface="Trebuchet MS"/>
            </a:endParaRPr>
          </a:p>
          <a:p>
            <a:pPr marL="4371340" marR="5080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participants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measured twice.</a:t>
            </a:r>
            <a:endParaRPr sz="1450">
              <a:latin typeface="Trebuchet MS"/>
              <a:cs typeface="Trebuchet MS"/>
            </a:endParaRPr>
          </a:p>
          <a:p>
            <a:pPr marL="4371340" marR="268605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goal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average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increased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 spc="-10">
                <a:latin typeface="Trebuchet MS"/>
                <a:cs typeface="Trebuchet MS"/>
              </a:rPr>
              <a:t>intervention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95449" y="1257299"/>
            <a:ext cx="1285875" cy="9525"/>
          </a:xfrm>
          <a:custGeom>
            <a:avLst/>
            <a:gdLst/>
            <a:ahLst/>
            <a:cxnLst/>
            <a:rect l="l" t="t" r="r" b="b"/>
            <a:pathLst>
              <a:path w="1285875" h="9525">
                <a:moveTo>
                  <a:pt x="1285874" y="9524"/>
                </a:moveTo>
                <a:lnTo>
                  <a:pt x="0" y="9524"/>
                </a:lnTo>
                <a:lnTo>
                  <a:pt x="0" y="0"/>
                </a:lnTo>
                <a:lnTo>
                  <a:pt x="1285874" y="0"/>
                </a:lnTo>
                <a:lnTo>
                  <a:pt x="1285874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704974" y="1281112"/>
          <a:ext cx="1343025" cy="4699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/>
                <a:gridCol w="552450"/>
                <a:gridCol w="457200"/>
              </a:tblGrid>
              <a:tr h="25209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 b="1">
                          <a:latin typeface="Trebuchet MS"/>
                          <a:cs typeface="Trebuchet MS"/>
                        </a:rPr>
                        <a:t>ID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 b="1">
                          <a:latin typeface="Trebuchet MS"/>
                          <a:cs typeface="Trebuchet MS"/>
                        </a:rPr>
                        <a:t>Before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 b="1">
                          <a:latin typeface="Trebuchet MS"/>
                          <a:cs typeface="Trebuchet MS"/>
                        </a:rPr>
                        <a:t>After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95.2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889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82.5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96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10">
                          <a:latin typeface="Trebuchet MS"/>
                          <a:cs typeface="Trebuchet MS"/>
                        </a:rPr>
                        <a:t>100.3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79.6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54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470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>
                          <a:latin typeface="Trebuchet MS"/>
                          <a:cs typeface="Trebuchet MS"/>
                        </a:rPr>
                        <a:t>101.6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73.4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42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80.5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75.2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81.6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77.8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82.1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95.5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77.6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90.7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470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953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92.5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89.9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93.8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87.3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98.0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4752974" y="2152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917826" y="2042795"/>
            <a:ext cx="3077845" cy="21405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have </a:t>
            </a:r>
            <a:r>
              <a:rPr dirty="0" sz="1450">
                <a:latin typeface="Trebuchet MS"/>
                <a:cs typeface="Trebuchet MS"/>
              </a:rPr>
              <a:t>occurred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by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chance</a:t>
            </a:r>
            <a:r>
              <a:rPr dirty="0" sz="1450" spc="-10">
                <a:latin typeface="Trebuchet MS"/>
                <a:cs typeface="Trebuchet MS"/>
              </a:rPr>
              <a:t>?</a:t>
            </a:r>
            <a:endParaRPr sz="1450">
              <a:latin typeface="Trebuchet MS"/>
              <a:cs typeface="Trebuchet MS"/>
            </a:endParaRPr>
          </a:p>
          <a:p>
            <a:pPr marL="12700" marR="114300">
              <a:lnSpc>
                <a:spcPts val="1720"/>
              </a:lnSpc>
              <a:spcBef>
                <a:spcPts val="142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repeated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with </a:t>
            </a:r>
            <a:r>
              <a:rPr dirty="0" sz="1450">
                <a:latin typeface="Trebuchet MS"/>
                <a:cs typeface="Trebuchet MS"/>
              </a:rPr>
              <a:t>another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45">
                <a:latin typeface="Trebuchet MS"/>
                <a:cs typeface="Trebuchet MS"/>
              </a:rPr>
              <a:t>17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patients,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would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expect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similar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result?</a:t>
            </a:r>
            <a:endParaRPr sz="1450">
              <a:latin typeface="Trebuchet MS"/>
              <a:cs typeface="Trebuchet MS"/>
            </a:endParaRPr>
          </a:p>
          <a:p>
            <a:pPr marL="12700" marR="61594">
              <a:lnSpc>
                <a:spcPts val="1730"/>
              </a:lnSpc>
              <a:spcBef>
                <a:spcPts val="1430"/>
              </a:spcBef>
            </a:pP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sampling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distribution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mean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weight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difference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(After </a:t>
            </a:r>
            <a:r>
              <a:rPr dirty="0" sz="1450" spc="-50">
                <a:latin typeface="Trebuchet MS"/>
                <a:cs typeface="Trebuchet MS"/>
              </a:rPr>
              <a:t>− </a:t>
            </a:r>
            <a:r>
              <a:rPr dirty="0" sz="1450" spc="-10">
                <a:latin typeface="Trebuchet MS"/>
                <a:cs typeface="Trebuchet MS"/>
              </a:rPr>
              <a:t>Before)?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752974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752974" y="3609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8800" y="394970"/>
            <a:ext cx="7469505" cy="683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diagnosed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anorexia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participating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newly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developed family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therapy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program.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511426" y="1410246"/>
            <a:ext cx="1243330" cy="4800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795"/>
              </a:lnSpc>
              <a:spcBef>
                <a:spcPts val="95"/>
              </a:spcBef>
            </a:pPr>
            <a:r>
              <a:rPr dirty="0" sz="1550" spc="-700" i="1">
                <a:latin typeface="Arial"/>
                <a:cs typeface="Arial"/>
              </a:rPr>
              <a:t>X</a:t>
            </a:r>
            <a:r>
              <a:rPr dirty="0" baseline="12962" sz="2250" spc="67">
                <a:latin typeface="Tahoma"/>
                <a:cs typeface="Tahoma"/>
              </a:rPr>
              <a:t>¯</a:t>
            </a:r>
            <a:r>
              <a:rPr dirty="0" baseline="-13227" sz="1575" spc="-44">
                <a:latin typeface="Tahoma"/>
                <a:cs typeface="Tahoma"/>
              </a:rPr>
              <a:t>before</a:t>
            </a:r>
            <a:r>
              <a:rPr dirty="0" baseline="-13227" sz="1575" spc="15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95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83.23</a:t>
            </a:r>
            <a:endParaRPr sz="1500">
              <a:latin typeface="Tahoma"/>
              <a:cs typeface="Tahoma"/>
            </a:endParaRPr>
          </a:p>
          <a:p>
            <a:pPr marL="38100">
              <a:lnSpc>
                <a:spcPts val="1795"/>
              </a:lnSpc>
            </a:pPr>
            <a:r>
              <a:rPr dirty="0" sz="1550" spc="-675" i="1">
                <a:latin typeface="Arial"/>
                <a:cs typeface="Arial"/>
              </a:rPr>
              <a:t>X</a:t>
            </a:r>
            <a:r>
              <a:rPr dirty="0" baseline="12962" sz="2250" spc="104">
                <a:latin typeface="Tahoma"/>
                <a:cs typeface="Tahoma"/>
              </a:rPr>
              <a:t>¯</a:t>
            </a:r>
            <a:r>
              <a:rPr dirty="0" baseline="-13227" sz="1575" spc="-7">
                <a:latin typeface="Tahoma"/>
                <a:cs typeface="Tahoma"/>
              </a:rPr>
              <a:t>after</a:t>
            </a:r>
            <a:r>
              <a:rPr dirty="0" baseline="-13227" sz="1575" spc="142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90.49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69371" y="1410246"/>
            <a:ext cx="1101090" cy="4800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795"/>
              </a:lnSpc>
              <a:spcBef>
                <a:spcPts val="95"/>
              </a:spcBef>
            </a:pPr>
            <a:r>
              <a:rPr dirty="0" sz="1550" spc="-930" i="1">
                <a:latin typeface="Arial"/>
                <a:cs typeface="Arial"/>
              </a:rPr>
              <a:t>σ</a:t>
            </a:r>
            <a:r>
              <a:rPr dirty="0" baseline="1851" sz="2250" spc="-112">
                <a:latin typeface="Tahoma"/>
                <a:cs typeface="Tahoma"/>
              </a:rPr>
              <a:t>^</a:t>
            </a:r>
            <a:r>
              <a:rPr dirty="0" baseline="-13227" sz="1575" spc="-127">
                <a:latin typeface="Tahoma"/>
                <a:cs typeface="Tahoma"/>
              </a:rPr>
              <a:t>before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5.02</a:t>
            </a:r>
            <a:endParaRPr sz="1500">
              <a:latin typeface="Tahoma"/>
              <a:cs typeface="Tahoma"/>
            </a:endParaRPr>
          </a:p>
          <a:p>
            <a:pPr marL="38100">
              <a:lnSpc>
                <a:spcPts val="1795"/>
              </a:lnSpc>
            </a:pPr>
            <a:r>
              <a:rPr dirty="0" sz="1550" spc="-915" i="1">
                <a:latin typeface="Arial"/>
                <a:cs typeface="Arial"/>
              </a:rPr>
              <a:t>σ</a:t>
            </a:r>
            <a:r>
              <a:rPr dirty="0" baseline="1851" sz="2250" spc="-89">
                <a:latin typeface="Tahoma"/>
                <a:cs typeface="Tahoma"/>
              </a:rPr>
              <a:t>^</a:t>
            </a:r>
            <a:r>
              <a:rPr dirty="0" baseline="-13227" sz="1575" spc="-104">
                <a:latin typeface="Tahoma"/>
                <a:cs typeface="Tahoma"/>
              </a:rPr>
              <a:t>after</a:t>
            </a:r>
            <a:r>
              <a:rPr dirty="0" baseline="-13227" sz="1575" spc="232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6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8.48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684" y="565806"/>
            <a:ext cx="7378650" cy="4684840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95449" y="1257299"/>
            <a:ext cx="1285875" cy="9525"/>
          </a:xfrm>
          <a:custGeom>
            <a:avLst/>
            <a:gdLst/>
            <a:ahLst/>
            <a:cxnLst/>
            <a:rect l="l" t="t" r="r" b="b"/>
            <a:pathLst>
              <a:path w="1285875" h="9525">
                <a:moveTo>
                  <a:pt x="1285874" y="9524"/>
                </a:moveTo>
                <a:lnTo>
                  <a:pt x="0" y="9524"/>
                </a:lnTo>
                <a:lnTo>
                  <a:pt x="0" y="0"/>
                </a:lnTo>
                <a:lnTo>
                  <a:pt x="1285874" y="0"/>
                </a:lnTo>
                <a:lnTo>
                  <a:pt x="1285874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704974" y="1281112"/>
          <a:ext cx="1343025" cy="4699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/>
                <a:gridCol w="552450"/>
                <a:gridCol w="457200"/>
              </a:tblGrid>
              <a:tr h="25209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 b="1">
                          <a:latin typeface="Trebuchet MS"/>
                          <a:cs typeface="Trebuchet MS"/>
                        </a:rPr>
                        <a:t>ID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 b="1">
                          <a:latin typeface="Trebuchet MS"/>
                          <a:cs typeface="Trebuchet MS"/>
                        </a:rPr>
                        <a:t>Before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 b="1">
                          <a:latin typeface="Trebuchet MS"/>
                          <a:cs typeface="Trebuchet MS"/>
                        </a:rPr>
                        <a:t>After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95.2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937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889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82.5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96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10">
                          <a:latin typeface="Trebuchet MS"/>
                          <a:cs typeface="Trebuchet MS"/>
                        </a:rPr>
                        <a:t>100.3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79.6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54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80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76.8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470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10">
                          <a:latin typeface="Trebuchet MS"/>
                          <a:cs typeface="Trebuchet MS"/>
                        </a:rPr>
                        <a:t>101.6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50">
                          <a:latin typeface="Trebuchet MS"/>
                          <a:cs typeface="Trebuchet MS"/>
                        </a:rPr>
                        <a:t>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73.4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42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94.9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80.5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75.2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81.6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77.8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12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82.1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95.5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77.6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90.7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4701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14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83.5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953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92.5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15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89.9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93.8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/>
                </a:tc>
              </a:tr>
              <a:tr h="237490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16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86.0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91.7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15875">
                    <a:solidFill>
                      <a:srgbClr val="EDEDED"/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5">
                          <a:latin typeface="Trebuchet MS"/>
                          <a:cs typeface="Trebuchet MS"/>
                        </a:rPr>
                        <a:t>17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87.3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50" spc="-20">
                          <a:latin typeface="Trebuchet MS"/>
                          <a:cs typeface="Trebuchet MS"/>
                        </a:rPr>
                        <a:t>98.0</a:t>
                      </a:r>
                      <a:endParaRPr sz="11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4752974" y="1533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752974" y="2371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58800" y="394970"/>
            <a:ext cx="7469505" cy="2988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diagnosed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anorexia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participating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newly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developed family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therapy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program.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450">
              <a:latin typeface="Trebuchet MS"/>
              <a:cs typeface="Trebuchet MS"/>
            </a:endParaRPr>
          </a:p>
          <a:p>
            <a:pPr marL="4371340" marR="319405">
              <a:lnSpc>
                <a:spcPts val="173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dependent-</a:t>
            </a:r>
            <a:r>
              <a:rPr dirty="0" sz="1450" b="1">
                <a:latin typeface="Trebuchet MS"/>
                <a:cs typeface="Trebuchet MS"/>
              </a:rPr>
              <a:t>samples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650" spc="-20" i="1">
                <a:latin typeface="Georgia"/>
                <a:cs typeface="Georgia"/>
              </a:rPr>
              <a:t>t</a:t>
            </a:r>
            <a:r>
              <a:rPr dirty="0" sz="1450" spc="-20" b="1">
                <a:latin typeface="Trebuchet MS"/>
                <a:cs typeface="Trebuchet MS"/>
              </a:rPr>
              <a:t>-</a:t>
            </a:r>
            <a:r>
              <a:rPr dirty="0" sz="1450" spc="-10" b="1">
                <a:latin typeface="Trebuchet MS"/>
                <a:cs typeface="Trebuchet MS"/>
              </a:rPr>
              <a:t>test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conducted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analyzing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 spc="-50" b="1">
                <a:latin typeface="Trebuchet MS"/>
                <a:cs typeface="Trebuchet MS"/>
              </a:rPr>
              <a:t>difference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scores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(After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−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Before).</a:t>
            </a:r>
            <a:endParaRPr sz="1450">
              <a:latin typeface="Trebuchet MS"/>
              <a:cs typeface="Trebuchet MS"/>
            </a:endParaRPr>
          </a:p>
          <a:p>
            <a:pPr marL="4371340" marR="73660">
              <a:lnSpc>
                <a:spcPts val="1720"/>
              </a:lnSpc>
              <a:spcBef>
                <a:spcPts val="1415"/>
              </a:spcBef>
            </a:pPr>
            <a:r>
              <a:rPr dirty="0" sz="1450" spc="-25">
                <a:latin typeface="Trebuchet MS"/>
                <a:cs typeface="Trebuchet MS"/>
              </a:rPr>
              <a:t>Conceptually,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equivalent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performing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one-sample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650" spc="-20" i="1">
                <a:latin typeface="Georgia"/>
                <a:cs typeface="Georgia"/>
              </a:rPr>
              <a:t>t</a:t>
            </a:r>
            <a:r>
              <a:rPr dirty="0" sz="1450" spc="-20" b="1">
                <a:latin typeface="Trebuchet MS"/>
                <a:cs typeface="Trebuchet MS"/>
              </a:rPr>
              <a:t>-</a:t>
            </a:r>
            <a:r>
              <a:rPr dirty="0" sz="1450" spc="-10" b="1">
                <a:latin typeface="Trebuchet MS"/>
                <a:cs typeface="Trebuchet MS"/>
              </a:rPr>
              <a:t>test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 spc="30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scores,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where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null </a:t>
            </a:r>
            <a:r>
              <a:rPr dirty="0" sz="1450" spc="-10" b="1">
                <a:latin typeface="Trebuchet MS"/>
                <a:cs typeface="Trebuchet MS"/>
              </a:rPr>
              <a:t>hypothesis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states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mean difference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zero.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752974" y="4229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917826" y="4119244"/>
            <a:ext cx="3053080" cy="6832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summarize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average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change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variability </a:t>
            </a:r>
            <a:r>
              <a:rPr dirty="0" sz="1450">
                <a:latin typeface="Trebuchet MS"/>
                <a:cs typeface="Trebuchet MS"/>
              </a:rPr>
              <a:t>across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45">
                <a:latin typeface="Trebuchet MS"/>
                <a:cs typeface="Trebuchet MS"/>
              </a:rPr>
              <a:t>17</a:t>
            </a:r>
            <a:r>
              <a:rPr dirty="0" sz="1450" spc="-10">
                <a:latin typeface="Trebuchet MS"/>
                <a:cs typeface="Trebuchet MS"/>
              </a:rPr>
              <a:t> participants.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511426" y="3667671"/>
            <a:ext cx="22288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0752" sz="2325" spc="-1072" i="1">
                <a:latin typeface="Arial"/>
                <a:cs typeface="Arial"/>
              </a:rPr>
              <a:t>X</a:t>
            </a:r>
            <a:r>
              <a:rPr dirty="0" sz="1500" spc="-45">
                <a:latin typeface="Tahoma"/>
                <a:cs typeface="Tahoma"/>
              </a:rPr>
              <a:t>¯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92649" y="3791908"/>
            <a:ext cx="125730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59634" y="3705771"/>
            <a:ext cx="167513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9560" algn="l"/>
              </a:tabLst>
            </a:pP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7.26</a:t>
            </a:r>
            <a:r>
              <a:rPr dirty="0" sz="1500">
                <a:latin typeface="Tahoma"/>
                <a:cs typeface="Tahoma"/>
              </a:rPr>
              <a:t>	</a:t>
            </a:r>
            <a:r>
              <a:rPr dirty="0" sz="1550" spc="-1090" i="1">
                <a:latin typeface="Arial"/>
                <a:cs typeface="Arial"/>
              </a:rPr>
              <a:t>σ</a:t>
            </a:r>
            <a:r>
              <a:rPr dirty="0" baseline="1851" sz="2250" spc="-367">
                <a:latin typeface="Tahoma"/>
                <a:cs typeface="Tahoma"/>
              </a:rPr>
              <a:t>^</a:t>
            </a:r>
            <a:endParaRPr baseline="1851" sz="22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11180" y="3791908"/>
            <a:ext cx="125730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78166" y="3708084"/>
            <a:ext cx="5441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85">
                <a:latin typeface="Tahoma"/>
                <a:cs typeface="Tahoma"/>
              </a:rPr>
              <a:t>7.16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499" y="4495799"/>
            <a:ext cx="7505700" cy="409575"/>
          </a:xfrm>
          <a:custGeom>
            <a:avLst/>
            <a:gdLst/>
            <a:ahLst/>
            <a:cxnLst/>
            <a:rect l="l" t="t" r="r" b="b"/>
            <a:pathLst>
              <a:path w="7505700" h="409575">
                <a:moveTo>
                  <a:pt x="7505699" y="409574"/>
                </a:moveTo>
                <a:lnTo>
                  <a:pt x="0" y="409574"/>
                </a:lnTo>
                <a:lnTo>
                  <a:pt x="0" y="0"/>
                </a:lnTo>
                <a:lnTo>
                  <a:pt x="7505699" y="0"/>
                </a:lnTo>
                <a:lnTo>
                  <a:pt x="7505699" y="409574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22696" y="4499828"/>
            <a:ext cx="2584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900" spc="-50">
                <a:solidFill>
                  <a:srgbClr val="333333"/>
                </a:solidFill>
                <a:latin typeface="Lucida Console"/>
                <a:cs typeface="Lucida Console"/>
              </a:rPr>
              <a:t>pt(q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7005" y="4499828"/>
            <a:ext cx="1118870" cy="2705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75640">
              <a:lnSpc>
                <a:spcPts val="955"/>
              </a:lnSpc>
              <a:spcBef>
                <a:spcPts val="114"/>
              </a:spcBef>
            </a:pP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30">
                <a:solidFill>
                  <a:srgbClr val="008080"/>
                </a:solidFill>
                <a:latin typeface="Courier New"/>
                <a:cs typeface="Courier New"/>
              </a:rPr>
              <a:t>4.18</a:t>
            </a:r>
            <a:r>
              <a:rPr dirty="0" sz="900" spc="-3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ts val="955"/>
              </a:lnSpc>
              <a:tabLst>
                <a:tab pos="675640" algn="l"/>
              </a:tabLst>
            </a:pP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r>
              <a:rPr dirty="0" sz="9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16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7005" y="4699853"/>
            <a:ext cx="118046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8800" y="4976078"/>
            <a:ext cx="100838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60">
                <a:solidFill>
                  <a:srgbClr val="007834"/>
                </a:solidFill>
                <a:latin typeface="Lucida Console"/>
                <a:cs typeface="Lucida Console"/>
              </a:rPr>
              <a:t>[1]</a:t>
            </a:r>
            <a:r>
              <a:rPr dirty="0" sz="900" spc="-7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900" spc="-55">
                <a:solidFill>
                  <a:srgbClr val="007834"/>
                </a:solidFill>
                <a:latin typeface="Lucida Console"/>
                <a:cs typeface="Lucida Console"/>
              </a:rPr>
              <a:t>0.0003537404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30101" y="381546"/>
            <a:ext cx="160147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168" sz="2325" i="1">
                <a:latin typeface="Arial"/>
                <a:cs typeface="Arial"/>
              </a:rPr>
              <a:t>H</a:t>
            </a:r>
            <a:r>
              <a:rPr dirty="0" sz="1050">
                <a:latin typeface="Tahoma"/>
                <a:cs typeface="Tahoma"/>
              </a:rPr>
              <a:t>0</a:t>
            </a:r>
            <a:r>
              <a:rPr dirty="0" sz="1050" spc="200">
                <a:latin typeface="Tahoma"/>
                <a:cs typeface="Tahoma"/>
              </a:rPr>
              <a:t> </a:t>
            </a:r>
            <a:r>
              <a:rPr dirty="0" baseline="7407" sz="2250" spc="-209">
                <a:latin typeface="Tahoma"/>
                <a:cs typeface="Tahoma"/>
              </a:rPr>
              <a:t>:</a:t>
            </a:r>
            <a:r>
              <a:rPr dirty="0" baseline="7407" sz="2250" spc="-22">
                <a:latin typeface="Tahoma"/>
                <a:cs typeface="Tahoma"/>
              </a:rPr>
              <a:t> </a:t>
            </a:r>
            <a:r>
              <a:rPr dirty="0" baseline="7168" sz="2325" i="1">
                <a:latin typeface="Arial"/>
                <a:cs typeface="Arial"/>
              </a:rPr>
              <a:t>μ</a:t>
            </a:r>
            <a:r>
              <a:rPr dirty="0" sz="1100" i="1">
                <a:latin typeface="Arial"/>
                <a:cs typeface="Arial"/>
              </a:rPr>
              <a:t>after</a:t>
            </a:r>
            <a:r>
              <a:rPr dirty="0" sz="1100" spc="225" i="1">
                <a:latin typeface="Arial"/>
                <a:cs typeface="Arial"/>
              </a:rPr>
              <a:t> </a:t>
            </a:r>
            <a:r>
              <a:rPr dirty="0" baseline="7407" sz="2250">
                <a:latin typeface="Tahoma"/>
                <a:cs typeface="Tahoma"/>
              </a:rPr>
              <a:t>=</a:t>
            </a:r>
            <a:r>
              <a:rPr dirty="0" baseline="7407" sz="2250" spc="-22">
                <a:latin typeface="Tahoma"/>
                <a:cs typeface="Tahoma"/>
              </a:rPr>
              <a:t> </a:t>
            </a:r>
            <a:r>
              <a:rPr dirty="0" baseline="7168" sz="2325" spc="-15" i="1">
                <a:latin typeface="Arial"/>
                <a:cs typeface="Arial"/>
              </a:rPr>
              <a:t>μ</a:t>
            </a:r>
            <a:r>
              <a:rPr dirty="0" sz="1100" spc="-10" i="1">
                <a:latin typeface="Arial"/>
                <a:cs typeface="Arial"/>
              </a:rPr>
              <a:t>before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72641" y="772071"/>
            <a:ext cx="192532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168" sz="2325" i="1">
                <a:latin typeface="Arial"/>
                <a:cs typeface="Arial"/>
              </a:rPr>
              <a:t>H</a:t>
            </a:r>
            <a:r>
              <a:rPr dirty="0" sz="1050">
                <a:latin typeface="Tahoma"/>
                <a:cs typeface="Tahoma"/>
              </a:rPr>
              <a:t>0</a:t>
            </a:r>
            <a:r>
              <a:rPr dirty="0" sz="1050" spc="160">
                <a:latin typeface="Tahoma"/>
                <a:cs typeface="Tahoma"/>
              </a:rPr>
              <a:t> </a:t>
            </a:r>
            <a:r>
              <a:rPr dirty="0" baseline="7407" sz="2250" spc="-209">
                <a:latin typeface="Tahoma"/>
                <a:cs typeface="Tahoma"/>
              </a:rPr>
              <a:t>:</a:t>
            </a:r>
            <a:r>
              <a:rPr dirty="0" baseline="7407" sz="2250" spc="-67">
                <a:latin typeface="Tahoma"/>
                <a:cs typeface="Tahoma"/>
              </a:rPr>
              <a:t> </a:t>
            </a:r>
            <a:r>
              <a:rPr dirty="0" baseline="7168" sz="2325" i="1">
                <a:latin typeface="Arial"/>
                <a:cs typeface="Arial"/>
              </a:rPr>
              <a:t>μ</a:t>
            </a:r>
            <a:r>
              <a:rPr dirty="0" sz="1100" i="1">
                <a:latin typeface="Arial"/>
                <a:cs typeface="Arial"/>
              </a:rPr>
              <a:t>after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baseline="7407" sz="2250">
                <a:latin typeface="Tahoma"/>
                <a:cs typeface="Tahoma"/>
              </a:rPr>
              <a:t>−</a:t>
            </a:r>
            <a:r>
              <a:rPr dirty="0" baseline="7407" sz="2250" spc="-202">
                <a:latin typeface="Tahoma"/>
                <a:cs typeface="Tahoma"/>
              </a:rPr>
              <a:t> </a:t>
            </a:r>
            <a:r>
              <a:rPr dirty="0" baseline="7168" sz="2325" spc="-15" i="1">
                <a:latin typeface="Arial"/>
                <a:cs typeface="Arial"/>
              </a:rPr>
              <a:t>μ</a:t>
            </a:r>
            <a:r>
              <a:rPr dirty="0" sz="1100" spc="-10" i="1">
                <a:latin typeface="Arial"/>
                <a:cs typeface="Arial"/>
              </a:rPr>
              <a:t>before</a:t>
            </a:r>
            <a:r>
              <a:rPr dirty="0" sz="1100" spc="185" i="1">
                <a:latin typeface="Arial"/>
                <a:cs typeface="Arial"/>
              </a:rPr>
              <a:t> </a:t>
            </a:r>
            <a:r>
              <a:rPr dirty="0" baseline="7407" sz="2250">
                <a:latin typeface="Tahoma"/>
                <a:cs typeface="Tahoma"/>
              </a:rPr>
              <a:t>=</a:t>
            </a:r>
            <a:r>
              <a:rPr dirty="0" baseline="7407" sz="2250" spc="-75">
                <a:latin typeface="Tahoma"/>
                <a:cs typeface="Tahoma"/>
              </a:rPr>
              <a:t> 0</a:t>
            </a:r>
            <a:endParaRPr baseline="7407" sz="22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27014" y="1143546"/>
            <a:ext cx="101663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7936" sz="1575">
                <a:latin typeface="Tahoma"/>
                <a:cs typeface="Tahoma"/>
              </a:rPr>
              <a:t>0</a:t>
            </a:r>
            <a:r>
              <a:rPr dirty="0" baseline="-7936" sz="1575" spc="217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6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7575" sz="1650" i="1">
                <a:latin typeface="Arial"/>
                <a:cs typeface="Arial"/>
              </a:rPr>
              <a:t>D</a:t>
            </a:r>
            <a:r>
              <a:rPr dirty="0" baseline="-7575" sz="1650" spc="33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65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91906" y="381546"/>
            <a:ext cx="163385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7168" sz="2325" i="1">
                <a:latin typeface="Arial"/>
                <a:cs typeface="Arial"/>
              </a:rPr>
              <a:t>H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85" i="1">
                <a:latin typeface="Arial"/>
                <a:cs typeface="Arial"/>
              </a:rPr>
              <a:t> </a:t>
            </a:r>
            <a:r>
              <a:rPr dirty="0" baseline="7407" sz="2250" spc="-209">
                <a:latin typeface="Tahoma"/>
                <a:cs typeface="Tahoma"/>
              </a:rPr>
              <a:t>:</a:t>
            </a:r>
            <a:r>
              <a:rPr dirty="0" baseline="7407" sz="2250" spc="-67">
                <a:latin typeface="Tahoma"/>
                <a:cs typeface="Tahoma"/>
              </a:rPr>
              <a:t> </a:t>
            </a:r>
            <a:r>
              <a:rPr dirty="0" baseline="7168" sz="2325" i="1">
                <a:latin typeface="Arial"/>
                <a:cs typeface="Arial"/>
              </a:rPr>
              <a:t>μ</a:t>
            </a:r>
            <a:r>
              <a:rPr dirty="0" sz="1100" i="1">
                <a:latin typeface="Arial"/>
                <a:cs typeface="Arial"/>
              </a:rPr>
              <a:t>after</a:t>
            </a:r>
            <a:r>
              <a:rPr dirty="0" sz="1100" spc="190" i="1">
                <a:latin typeface="Arial"/>
                <a:cs typeface="Arial"/>
              </a:rPr>
              <a:t> </a:t>
            </a:r>
            <a:r>
              <a:rPr dirty="0" baseline="7407" sz="2250">
                <a:latin typeface="Tahoma"/>
                <a:cs typeface="Tahoma"/>
              </a:rPr>
              <a:t>&gt;</a:t>
            </a:r>
            <a:r>
              <a:rPr dirty="0" baseline="7407" sz="2250" spc="262">
                <a:latin typeface="Tahoma"/>
                <a:cs typeface="Tahoma"/>
              </a:rPr>
              <a:t> </a:t>
            </a:r>
            <a:r>
              <a:rPr dirty="0" baseline="7168" sz="2325" spc="-15" i="1">
                <a:latin typeface="Arial"/>
                <a:cs typeface="Arial"/>
              </a:rPr>
              <a:t>μ</a:t>
            </a:r>
            <a:r>
              <a:rPr dirty="0" sz="1100" spc="-10" i="1">
                <a:latin typeface="Arial"/>
                <a:cs typeface="Arial"/>
              </a:rPr>
              <a:t>before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21746" y="636160"/>
            <a:ext cx="198310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4825" marR="43180" indent="-454659">
              <a:lnSpc>
                <a:spcPct val="157300"/>
              </a:lnSpc>
              <a:spcBef>
                <a:spcPts val="100"/>
              </a:spcBef>
            </a:pPr>
            <a:r>
              <a:rPr dirty="0" baseline="7168" sz="2325" i="1">
                <a:latin typeface="Arial"/>
                <a:cs typeface="Arial"/>
              </a:rPr>
              <a:t>H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160" i="1">
                <a:latin typeface="Arial"/>
                <a:cs typeface="Arial"/>
              </a:rPr>
              <a:t> </a:t>
            </a:r>
            <a:r>
              <a:rPr dirty="0" baseline="7407" sz="2250" spc="-209">
                <a:latin typeface="Tahoma"/>
                <a:cs typeface="Tahoma"/>
              </a:rPr>
              <a:t>:</a:t>
            </a:r>
            <a:r>
              <a:rPr dirty="0" baseline="7407" sz="2250" spc="-104">
                <a:latin typeface="Tahoma"/>
                <a:cs typeface="Tahoma"/>
              </a:rPr>
              <a:t> </a:t>
            </a:r>
            <a:r>
              <a:rPr dirty="0" baseline="7168" sz="2325" i="1">
                <a:latin typeface="Arial"/>
                <a:cs typeface="Arial"/>
              </a:rPr>
              <a:t>μ</a:t>
            </a:r>
            <a:r>
              <a:rPr dirty="0" sz="1100" i="1">
                <a:latin typeface="Arial"/>
                <a:cs typeface="Arial"/>
              </a:rPr>
              <a:t>after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baseline="7407" sz="2250">
                <a:latin typeface="Tahoma"/>
                <a:cs typeface="Tahoma"/>
              </a:rPr>
              <a:t>−</a:t>
            </a:r>
            <a:r>
              <a:rPr dirty="0" baseline="7407" sz="2250" spc="-217">
                <a:latin typeface="Tahoma"/>
                <a:cs typeface="Tahoma"/>
              </a:rPr>
              <a:t> </a:t>
            </a:r>
            <a:r>
              <a:rPr dirty="0" baseline="7168" sz="2325" spc="-15" i="1">
                <a:latin typeface="Arial"/>
                <a:cs typeface="Arial"/>
              </a:rPr>
              <a:t>μ</a:t>
            </a:r>
            <a:r>
              <a:rPr dirty="0" sz="1100" spc="-10" i="1">
                <a:latin typeface="Arial"/>
                <a:cs typeface="Arial"/>
              </a:rPr>
              <a:t>before</a:t>
            </a:r>
            <a:r>
              <a:rPr dirty="0" sz="1100" spc="160" i="1">
                <a:latin typeface="Arial"/>
                <a:cs typeface="Arial"/>
              </a:rPr>
              <a:t> </a:t>
            </a:r>
            <a:r>
              <a:rPr dirty="0" baseline="7407" sz="2250">
                <a:latin typeface="Tahoma"/>
                <a:cs typeface="Tahoma"/>
              </a:rPr>
              <a:t>&gt;</a:t>
            </a:r>
            <a:r>
              <a:rPr dirty="0" baseline="7407" sz="2250" spc="209">
                <a:latin typeface="Tahoma"/>
                <a:cs typeface="Tahoma"/>
              </a:rPr>
              <a:t> </a:t>
            </a:r>
            <a:r>
              <a:rPr dirty="0" baseline="7407" sz="2250" spc="-97">
                <a:latin typeface="Tahoma"/>
                <a:cs typeface="Tahoma"/>
              </a:rPr>
              <a:t>0 </a:t>
            </a:r>
            <a:r>
              <a:rPr dirty="0" sz="1550" i="1">
                <a:latin typeface="Arial"/>
                <a:cs typeface="Arial"/>
              </a:rPr>
              <a:t>H</a:t>
            </a:r>
            <a:r>
              <a:rPr dirty="0" baseline="-12626" sz="1650" i="1">
                <a:latin typeface="Arial"/>
                <a:cs typeface="Arial"/>
              </a:rPr>
              <a:t>A</a:t>
            </a:r>
            <a:r>
              <a:rPr dirty="0" baseline="-12626" sz="1650" spc="179" i="1">
                <a:latin typeface="Arial"/>
                <a:cs typeface="Arial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μ</a:t>
            </a:r>
            <a:r>
              <a:rPr dirty="0" baseline="-7575" sz="1650" i="1">
                <a:latin typeface="Arial"/>
                <a:cs typeface="Arial"/>
              </a:rPr>
              <a:t>D</a:t>
            </a:r>
            <a:r>
              <a:rPr dirty="0" baseline="-7575" sz="1650" spc="284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110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0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65661" y="1807735"/>
            <a:ext cx="917575" cy="76835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65"/>
              </a:spcBef>
            </a:pPr>
            <a:r>
              <a:rPr dirty="0" sz="1550" spc="-660" i="1">
                <a:latin typeface="Arial"/>
                <a:cs typeface="Arial"/>
              </a:rPr>
              <a:t>X</a:t>
            </a:r>
            <a:r>
              <a:rPr dirty="0" baseline="12962" sz="2250" spc="127">
                <a:latin typeface="Tahoma"/>
                <a:cs typeface="Tahoma"/>
              </a:rPr>
              <a:t>¯</a:t>
            </a:r>
            <a:r>
              <a:rPr dirty="0" baseline="-7575" sz="1650" spc="15" i="1">
                <a:latin typeface="Arial"/>
                <a:cs typeface="Arial"/>
              </a:rPr>
              <a:t>D</a:t>
            </a:r>
            <a:r>
              <a:rPr dirty="0" baseline="-7575" sz="1650" spc="27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95">
                <a:latin typeface="Tahoma"/>
                <a:cs typeface="Tahoma"/>
              </a:rPr>
              <a:t> </a:t>
            </a:r>
            <a:r>
              <a:rPr dirty="0" sz="1500" spc="-30">
                <a:latin typeface="Tahoma"/>
                <a:cs typeface="Tahoma"/>
              </a:rPr>
              <a:t>7.26</a:t>
            </a:r>
            <a:endParaRPr sz="15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1065"/>
              </a:spcBef>
            </a:pPr>
            <a:r>
              <a:rPr dirty="0" sz="1550" spc="-1000" i="1">
                <a:latin typeface="Arial"/>
                <a:cs typeface="Arial"/>
              </a:rPr>
              <a:t>σ</a:t>
            </a:r>
            <a:r>
              <a:rPr dirty="0" baseline="1851" sz="2250" spc="-217">
                <a:latin typeface="Tahoma"/>
                <a:cs typeface="Tahoma"/>
              </a:rPr>
              <a:t>^</a:t>
            </a:r>
            <a:r>
              <a:rPr dirty="0" baseline="-12626" sz="1650" spc="-232" i="1">
                <a:latin typeface="Arial"/>
                <a:cs typeface="Arial"/>
              </a:rPr>
              <a:t>D</a:t>
            </a:r>
            <a:r>
              <a:rPr dirty="0" baseline="-12626" sz="1650" spc="34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 spc="-20">
                <a:latin typeface="Tahoma"/>
                <a:cs typeface="Tahoma"/>
              </a:rPr>
              <a:t>7.16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83842" y="2829471"/>
            <a:ext cx="28511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85" i="1">
                <a:latin typeface="Arial"/>
                <a:cs typeface="Arial"/>
              </a:rPr>
              <a:t>t</a:t>
            </a:r>
            <a:r>
              <a:rPr dirty="0" sz="1550" spc="-35" i="1">
                <a:latin typeface="Arial"/>
                <a:cs typeface="Arial"/>
              </a:rPr>
              <a:t> </a:t>
            </a:r>
            <a:r>
              <a:rPr dirty="0" sz="1500" spc="-6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40199" y="2831785"/>
            <a:ext cx="46926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7804" algn="l"/>
              </a:tabLst>
            </a:pPr>
            <a:r>
              <a:rPr dirty="0" u="sng" sz="14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450" spc="325">
                <a:latin typeface="Times New Roman"/>
                <a:cs typeface="Times New Roman"/>
              </a:rPr>
              <a:t> </a:t>
            </a:r>
            <a:r>
              <a:rPr dirty="0" u="none" sz="150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605956" y="2705646"/>
            <a:ext cx="78232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690" i="1">
                <a:latin typeface="Arial"/>
                <a:cs typeface="Arial"/>
              </a:rPr>
              <a:t>X</a:t>
            </a:r>
            <a:r>
              <a:rPr dirty="0" baseline="12962" sz="2250" spc="82">
                <a:latin typeface="Tahoma"/>
                <a:cs typeface="Tahoma"/>
              </a:rPr>
              <a:t>¯</a:t>
            </a:r>
            <a:r>
              <a:rPr dirty="0" baseline="-12626" sz="1650" spc="-30" i="1">
                <a:latin typeface="Arial"/>
                <a:cs typeface="Arial"/>
              </a:rPr>
              <a:t>D</a:t>
            </a:r>
            <a:r>
              <a:rPr dirty="0" baseline="-12626" sz="1650" spc="232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50" spc="-25" i="1">
                <a:latin typeface="Arial"/>
                <a:cs typeface="Arial"/>
              </a:rPr>
              <a:t>μ</a:t>
            </a:r>
            <a:r>
              <a:rPr dirty="0" baseline="-12626" sz="1650" spc="-37" i="1">
                <a:latin typeface="Arial"/>
                <a:cs typeface="Arial"/>
              </a:rPr>
              <a:t>D</a:t>
            </a:r>
            <a:endParaRPr baseline="-12626" sz="16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653283" y="3000921"/>
            <a:ext cx="6883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1000" i="1">
                <a:latin typeface="Arial"/>
                <a:cs typeface="Arial"/>
              </a:rPr>
              <a:t>σ</a:t>
            </a:r>
            <a:r>
              <a:rPr dirty="0" baseline="1851" sz="2250" spc="-217">
                <a:latin typeface="Tahoma"/>
                <a:cs typeface="Tahoma"/>
              </a:rPr>
              <a:t>^</a:t>
            </a:r>
            <a:r>
              <a:rPr dirty="0" baseline="-10101" sz="1650" spc="-232" i="1">
                <a:latin typeface="Arial"/>
                <a:cs typeface="Arial"/>
              </a:rPr>
              <a:t>D</a:t>
            </a:r>
            <a:r>
              <a:rPr dirty="0" baseline="-10101" sz="1650" spc="-270" i="1">
                <a:latin typeface="Arial"/>
                <a:cs typeface="Arial"/>
              </a:rPr>
              <a:t> </a:t>
            </a:r>
            <a:r>
              <a:rPr dirty="0" sz="1500" spc="70">
                <a:latin typeface="Tahoma"/>
                <a:cs typeface="Tahoma"/>
              </a:rPr>
              <a:t>/</a:t>
            </a:r>
            <a:r>
              <a:rPr dirty="0" baseline="1851" sz="2250" spc="104">
                <a:latin typeface="Tahoma"/>
                <a:cs typeface="Tahoma"/>
              </a:rPr>
              <a:t>√</a:t>
            </a:r>
            <a:r>
              <a:rPr dirty="0" sz="1550" spc="70" i="1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3629024" y="2990849"/>
            <a:ext cx="752475" cy="9525"/>
          </a:xfrm>
          <a:custGeom>
            <a:avLst/>
            <a:gdLst/>
            <a:ahLst/>
            <a:cxnLst/>
            <a:rect l="l" t="t" r="r" b="b"/>
            <a:pathLst>
              <a:path w="752475" h="9525">
                <a:moveTo>
                  <a:pt x="752474" y="9524"/>
                </a:moveTo>
                <a:lnTo>
                  <a:pt x="0" y="9524"/>
                </a:lnTo>
                <a:lnTo>
                  <a:pt x="0" y="0"/>
                </a:lnTo>
                <a:lnTo>
                  <a:pt x="752474" y="0"/>
                </a:lnTo>
                <a:lnTo>
                  <a:pt x="7524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4825602" y="2667546"/>
            <a:ext cx="3327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0752" sz="2325" spc="-914" i="1">
                <a:latin typeface="Arial"/>
                <a:cs typeface="Arial"/>
              </a:rPr>
              <a:t>X</a:t>
            </a:r>
            <a:r>
              <a:rPr dirty="0" sz="1500" spc="135">
                <a:latin typeface="Tahoma"/>
                <a:cs typeface="Tahoma"/>
              </a:rPr>
              <a:t>¯</a:t>
            </a:r>
            <a:r>
              <a:rPr dirty="0" baseline="-27777" sz="1650" spc="89" i="1">
                <a:latin typeface="Arial"/>
                <a:cs typeface="Arial"/>
              </a:rPr>
              <a:t>D</a:t>
            </a:r>
            <a:endParaRPr baseline="-27777" sz="16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153024" y="3047999"/>
            <a:ext cx="161925" cy="9525"/>
          </a:xfrm>
          <a:custGeom>
            <a:avLst/>
            <a:gdLst/>
            <a:ahLst/>
            <a:cxnLst/>
            <a:rect l="l" t="t" r="r" b="b"/>
            <a:pathLst>
              <a:path w="161925" h="9525">
                <a:moveTo>
                  <a:pt x="161924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" y="0"/>
                </a:lnTo>
                <a:lnTo>
                  <a:pt x="1619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648051" y="3000921"/>
            <a:ext cx="6883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1000" i="1">
                <a:latin typeface="Arial"/>
                <a:cs typeface="Arial"/>
              </a:rPr>
              <a:t>σ</a:t>
            </a:r>
            <a:r>
              <a:rPr dirty="0" baseline="1851" sz="2250" spc="-217">
                <a:latin typeface="Tahoma"/>
                <a:cs typeface="Tahoma"/>
              </a:rPr>
              <a:t>^</a:t>
            </a:r>
            <a:r>
              <a:rPr dirty="0" baseline="-10101" sz="1650" spc="-232" i="1">
                <a:latin typeface="Arial"/>
                <a:cs typeface="Arial"/>
              </a:rPr>
              <a:t>D</a:t>
            </a:r>
            <a:r>
              <a:rPr dirty="0" baseline="-10101" sz="1650" spc="-270" i="1">
                <a:latin typeface="Arial"/>
                <a:cs typeface="Arial"/>
              </a:rPr>
              <a:t> </a:t>
            </a:r>
            <a:r>
              <a:rPr dirty="0" sz="1500" spc="70">
                <a:latin typeface="Tahoma"/>
                <a:cs typeface="Tahoma"/>
              </a:rPr>
              <a:t>/</a:t>
            </a:r>
            <a:r>
              <a:rPr dirty="0" baseline="1851" sz="2250" spc="104">
                <a:latin typeface="Tahoma"/>
                <a:cs typeface="Tahoma"/>
              </a:rPr>
              <a:t>√</a:t>
            </a:r>
            <a:r>
              <a:rPr dirty="0" sz="1550" spc="70" i="1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667249" y="2990849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666749" y="9524"/>
                </a:moveTo>
                <a:lnTo>
                  <a:pt x="0" y="9524"/>
                </a:lnTo>
                <a:lnTo>
                  <a:pt x="0" y="0"/>
                </a:lnTo>
                <a:lnTo>
                  <a:pt x="666749" y="0"/>
                </a:lnTo>
                <a:lnTo>
                  <a:pt x="6667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3456037" y="3496221"/>
            <a:ext cx="173672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4719" algn="l"/>
                <a:tab pos="1158875" algn="l"/>
              </a:tabLst>
            </a:pPr>
            <a:r>
              <a:rPr dirty="0" sz="1550" spc="85" i="1">
                <a:latin typeface="Arial"/>
                <a:cs typeface="Arial"/>
              </a:rPr>
              <a:t>t</a:t>
            </a:r>
            <a:r>
              <a:rPr dirty="0" sz="1550" spc="-35" i="1">
                <a:latin typeface="Arial"/>
                <a:cs typeface="Arial"/>
              </a:rPr>
              <a:t> </a:t>
            </a:r>
            <a:r>
              <a:rPr dirty="0" sz="1500" spc="-60">
                <a:latin typeface="Tahoma"/>
                <a:cs typeface="Tahoma"/>
              </a:rPr>
              <a:t>=</a:t>
            </a:r>
            <a:r>
              <a:rPr dirty="0" sz="1500">
                <a:latin typeface="Tahoma"/>
                <a:cs typeface="Tahoma"/>
              </a:rPr>
              <a:t>	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450" spc="-30">
                <a:latin typeface="Times New Roman"/>
                <a:cs typeface="Times New Roman"/>
              </a:rPr>
              <a:t> </a:t>
            </a:r>
            <a:r>
              <a:rPr dirty="0" u="none" sz="1500">
                <a:latin typeface="Tahoma"/>
                <a:cs typeface="Tahoma"/>
              </a:rPr>
              <a:t>=</a:t>
            </a:r>
            <a:r>
              <a:rPr dirty="0" u="none" sz="1500" spc="-100">
                <a:latin typeface="Tahoma"/>
                <a:cs typeface="Tahoma"/>
              </a:rPr>
              <a:t> </a:t>
            </a:r>
            <a:r>
              <a:rPr dirty="0" u="none" sz="1500" spc="-65">
                <a:latin typeface="Tahoma"/>
                <a:cs typeface="Tahoma"/>
              </a:rPr>
              <a:t>4.18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019500" y="3384234"/>
            <a:ext cx="35115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85">
                <a:latin typeface="Tahoma"/>
                <a:cs typeface="Tahoma"/>
              </a:rPr>
              <a:t>7.26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3800474" y="3657599"/>
            <a:ext cx="790575" cy="9525"/>
          </a:xfrm>
          <a:custGeom>
            <a:avLst/>
            <a:gdLst/>
            <a:ahLst/>
            <a:cxnLst/>
            <a:rect l="l" t="t" r="r" b="b"/>
            <a:pathLst>
              <a:path w="790575" h="9525">
                <a:moveTo>
                  <a:pt x="790574" y="9524"/>
                </a:moveTo>
                <a:lnTo>
                  <a:pt x="0" y="9524"/>
                </a:lnTo>
                <a:lnTo>
                  <a:pt x="0" y="0"/>
                </a:lnTo>
                <a:lnTo>
                  <a:pt x="790574" y="0"/>
                </a:lnTo>
                <a:lnTo>
                  <a:pt x="7905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268662" y="3669984"/>
            <a:ext cx="2111375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4991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latin typeface="Tahoma"/>
                <a:cs typeface="Tahoma"/>
              </a:rPr>
              <a:t>7.16/</a:t>
            </a:r>
            <a:r>
              <a:rPr dirty="0" baseline="1851" sz="2250" spc="-15">
                <a:latin typeface="Tahoma"/>
                <a:cs typeface="Tahoma"/>
              </a:rPr>
              <a:t>√</a:t>
            </a:r>
            <a:r>
              <a:rPr dirty="0" sz="1500" spc="-10">
                <a:latin typeface="Tahoma"/>
                <a:cs typeface="Tahoma"/>
              </a:rPr>
              <a:t>17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550" spc="75" i="1">
                <a:latin typeface="Arial"/>
                <a:cs typeface="Arial"/>
              </a:rPr>
              <a:t>df</a:t>
            </a:r>
            <a:r>
              <a:rPr dirty="0" sz="1550" spc="80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5">
                <a:latin typeface="Tahoma"/>
                <a:cs typeface="Tahoma"/>
              </a:rPr>
              <a:t> </a:t>
            </a:r>
            <a:r>
              <a:rPr dirty="0" sz="1550" i="1">
                <a:latin typeface="Arial"/>
                <a:cs typeface="Arial"/>
              </a:rPr>
              <a:t>N</a:t>
            </a:r>
            <a:r>
              <a:rPr dirty="0" sz="1550" spc="35" i="1">
                <a:latin typeface="Arial"/>
                <a:cs typeface="Arial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 spc="-105">
                <a:latin typeface="Tahoma"/>
                <a:cs typeface="Tahoma"/>
              </a:rPr>
              <a:t>1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5">
                <a:latin typeface="Tahoma"/>
                <a:cs typeface="Tahoma"/>
              </a:rPr>
              <a:t> </a:t>
            </a:r>
            <a:r>
              <a:rPr dirty="0" sz="1500" spc="-105">
                <a:latin typeface="Tahoma"/>
                <a:cs typeface="Tahoma"/>
              </a:rPr>
              <a:t>17</a:t>
            </a:r>
            <a:r>
              <a:rPr dirty="0" sz="1500" spc="-13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35">
                <a:latin typeface="Tahoma"/>
                <a:cs typeface="Tahoma"/>
              </a:rPr>
              <a:t> </a:t>
            </a:r>
            <a:r>
              <a:rPr dirty="0" sz="1500" spc="-105">
                <a:latin typeface="Tahoma"/>
                <a:cs typeface="Tahoma"/>
              </a:rPr>
              <a:t>1</a:t>
            </a:r>
            <a:r>
              <a:rPr dirty="0" sz="1500" spc="-4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5">
                <a:latin typeface="Tahoma"/>
                <a:cs typeface="Tahoma"/>
              </a:rPr>
              <a:t> </a:t>
            </a:r>
            <a:r>
              <a:rPr dirty="0" sz="1500" spc="-105">
                <a:latin typeface="Tahoma"/>
                <a:cs typeface="Tahoma"/>
              </a:rPr>
              <a:t>16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141414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0"/>
              <a:t>Effect</a:t>
            </a:r>
            <a:r>
              <a:rPr dirty="0" spc="-140"/>
              <a:t> </a:t>
            </a:r>
            <a:r>
              <a:rPr dirty="0" spc="-65"/>
              <a:t>Size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795019"/>
            <a:ext cx="526097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Cohen’s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d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dependent-</a:t>
            </a:r>
            <a:r>
              <a:rPr dirty="0" sz="1450" b="1">
                <a:latin typeface="Trebuchet MS"/>
                <a:cs typeface="Trebuchet MS"/>
              </a:rPr>
              <a:t>samples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t-</a:t>
            </a:r>
            <a:r>
              <a:rPr dirty="0" sz="1450" spc="-10" b="1">
                <a:latin typeface="Trebuchet MS"/>
                <a:cs typeface="Trebuchet MS"/>
              </a:rPr>
              <a:t>test</a:t>
            </a:r>
            <a:r>
              <a:rPr dirty="0" sz="1450" spc="-3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calculated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71524" y="1952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 marR="226695">
              <a:lnSpc>
                <a:spcPts val="1730"/>
              </a:lnSpc>
              <a:spcBef>
                <a:spcPts val="155"/>
              </a:spcBef>
            </a:pPr>
            <a:r>
              <a:rPr dirty="0" spc="-60"/>
              <a:t>Here,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 b="1">
                <a:latin typeface="Trebuchet MS"/>
                <a:cs typeface="Trebuchet MS"/>
              </a:rPr>
              <a:t>standard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25" b="1">
                <a:latin typeface="Trebuchet MS"/>
                <a:cs typeface="Trebuchet MS"/>
              </a:rPr>
              <a:t>deviation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10" b="1">
                <a:latin typeface="Trebuchet MS"/>
                <a:cs typeface="Trebuchet MS"/>
              </a:rPr>
              <a:t>of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40" b="1">
                <a:latin typeface="Trebuchet MS"/>
                <a:cs typeface="Trebuchet MS"/>
              </a:rPr>
              <a:t>the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50" b="1">
                <a:latin typeface="Trebuchet MS"/>
                <a:cs typeface="Trebuchet MS"/>
              </a:rPr>
              <a:t>difference</a:t>
            </a:r>
            <a:r>
              <a:rPr dirty="0" spc="-70" b="1">
                <a:latin typeface="Trebuchet MS"/>
                <a:cs typeface="Trebuchet MS"/>
              </a:rPr>
              <a:t> </a:t>
            </a:r>
            <a:r>
              <a:rPr dirty="0" spc="-10" b="1">
                <a:latin typeface="Trebuchet MS"/>
                <a:cs typeface="Trebuchet MS"/>
              </a:rPr>
              <a:t>scores</a:t>
            </a:r>
            <a:r>
              <a:rPr dirty="0" spc="-25" b="1">
                <a:latin typeface="Trebuchet MS"/>
                <a:cs typeface="Trebuchet MS"/>
              </a:rPr>
              <a:t> </a:t>
            </a:r>
            <a:r>
              <a:rPr dirty="0"/>
              <a:t>was</a:t>
            </a:r>
            <a:r>
              <a:rPr dirty="0" spc="-25"/>
              <a:t> </a:t>
            </a:r>
            <a:r>
              <a:rPr dirty="0"/>
              <a:t>used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standardize</a:t>
            </a:r>
            <a:r>
              <a:rPr dirty="0" spc="-25"/>
              <a:t> the </a:t>
            </a:r>
            <a:r>
              <a:rPr dirty="0" spc="-40"/>
              <a:t>effect</a:t>
            </a:r>
            <a:r>
              <a:rPr dirty="0" spc="-65"/>
              <a:t> </a:t>
            </a:r>
            <a:r>
              <a:rPr dirty="0" spc="-10"/>
              <a:t>size.</a:t>
            </a:r>
          </a:p>
          <a:p>
            <a:pPr marL="12700" marR="53340">
              <a:lnSpc>
                <a:spcPts val="1730"/>
              </a:lnSpc>
              <a:spcBef>
                <a:spcPts val="1415"/>
              </a:spcBef>
            </a:pPr>
            <a:r>
              <a:rPr dirty="0" spc="-20"/>
              <a:t>There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55"/>
              <a:t>no</a:t>
            </a:r>
            <a:r>
              <a:rPr dirty="0" spc="-25"/>
              <a:t> </a:t>
            </a:r>
            <a:r>
              <a:rPr dirty="0"/>
              <a:t>universal</a:t>
            </a:r>
            <a:r>
              <a:rPr dirty="0" spc="-25"/>
              <a:t> </a:t>
            </a:r>
            <a:r>
              <a:rPr dirty="0"/>
              <a:t>agreement</a:t>
            </a:r>
            <a:r>
              <a:rPr dirty="0" spc="-25"/>
              <a:t> </a:t>
            </a:r>
            <a:r>
              <a:rPr dirty="0" spc="55"/>
              <a:t>on</a:t>
            </a:r>
            <a:r>
              <a:rPr dirty="0" spc="-20"/>
              <a:t> </a:t>
            </a:r>
            <a:r>
              <a:rPr dirty="0"/>
              <a:t>which</a:t>
            </a:r>
            <a:r>
              <a:rPr dirty="0" spc="-25"/>
              <a:t> </a:t>
            </a:r>
            <a:r>
              <a:rPr dirty="0"/>
              <a:t>standard</a:t>
            </a:r>
            <a:r>
              <a:rPr dirty="0" spc="-25"/>
              <a:t> </a:t>
            </a:r>
            <a:r>
              <a:rPr dirty="0"/>
              <a:t>deviation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use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 spc="-10"/>
              <a:t>dependent- </a:t>
            </a:r>
            <a:r>
              <a:rPr dirty="0"/>
              <a:t>samples</a:t>
            </a:r>
            <a:r>
              <a:rPr dirty="0" spc="155"/>
              <a:t> </a:t>
            </a:r>
            <a:r>
              <a:rPr dirty="0" spc="-10" i="1">
                <a:latin typeface="Lucida Sans"/>
                <a:cs typeface="Lucida Sans"/>
              </a:rPr>
              <a:t>t</a:t>
            </a:r>
            <a:r>
              <a:rPr dirty="0" spc="-10"/>
              <a:t>-tests.</a:t>
            </a:r>
          </a:p>
          <a:p>
            <a:pPr marL="12700" marR="651510">
              <a:lnSpc>
                <a:spcPts val="1730"/>
              </a:lnSpc>
              <a:spcBef>
                <a:spcPts val="1415"/>
              </a:spcBef>
            </a:pPr>
            <a:r>
              <a:rPr dirty="0" spc="-10"/>
              <a:t>Alternatives</a:t>
            </a:r>
            <a:r>
              <a:rPr dirty="0"/>
              <a:t> include</a:t>
            </a:r>
            <a:r>
              <a:rPr dirty="0" spc="5"/>
              <a:t> </a:t>
            </a:r>
            <a:r>
              <a:rPr dirty="0"/>
              <a:t>using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pre-</a:t>
            </a:r>
            <a:r>
              <a:rPr dirty="0" spc="-20"/>
              <a:t>treatment</a:t>
            </a:r>
            <a:r>
              <a:rPr dirty="0" spc="5"/>
              <a:t> </a:t>
            </a:r>
            <a:r>
              <a:rPr dirty="0"/>
              <a:t>standard</a:t>
            </a:r>
            <a:r>
              <a:rPr dirty="0" spc="5"/>
              <a:t> </a:t>
            </a:r>
            <a:r>
              <a:rPr dirty="0"/>
              <a:t>deviation</a:t>
            </a:r>
            <a:r>
              <a:rPr dirty="0" spc="5"/>
              <a:t> </a:t>
            </a:r>
            <a:r>
              <a:rPr dirty="0"/>
              <a:t>or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10"/>
              <a:t>post- </a:t>
            </a:r>
            <a:r>
              <a:rPr dirty="0" spc="-20"/>
              <a:t>treatment</a:t>
            </a:r>
            <a:r>
              <a:rPr dirty="0" spc="5"/>
              <a:t> </a:t>
            </a:r>
            <a:r>
              <a:rPr dirty="0"/>
              <a:t>standard</a:t>
            </a:r>
            <a:r>
              <a:rPr dirty="0" spc="5"/>
              <a:t> </a:t>
            </a:r>
            <a:r>
              <a:rPr dirty="0" spc="-10"/>
              <a:t>deviation.</a:t>
            </a:r>
          </a:p>
          <a:p>
            <a:pPr marL="12700" marR="5080">
              <a:lnSpc>
                <a:spcPts val="1730"/>
              </a:lnSpc>
              <a:spcBef>
                <a:spcPts val="1415"/>
              </a:spcBef>
            </a:pPr>
            <a:r>
              <a:rPr dirty="0"/>
              <a:t>As</a:t>
            </a:r>
            <a:r>
              <a:rPr dirty="0" spc="-15"/>
              <a:t> </a:t>
            </a:r>
            <a:r>
              <a:rPr dirty="0"/>
              <a:t>long</a:t>
            </a:r>
            <a:r>
              <a:rPr dirty="0" spc="-15"/>
              <a:t> </a:t>
            </a:r>
            <a:r>
              <a:rPr dirty="0"/>
              <a:t>as</a:t>
            </a:r>
            <a:r>
              <a:rPr dirty="0" spc="-10"/>
              <a:t> </a:t>
            </a:r>
            <a:r>
              <a:rPr dirty="0"/>
              <a:t>you</a:t>
            </a:r>
            <a:r>
              <a:rPr dirty="0" spc="-15"/>
              <a:t> </a:t>
            </a:r>
            <a:r>
              <a:rPr dirty="0"/>
              <a:t>report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relevant</a:t>
            </a:r>
            <a:r>
              <a:rPr dirty="0" spc="-15"/>
              <a:t> </a:t>
            </a:r>
            <a:r>
              <a:rPr dirty="0"/>
              <a:t>values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transparent</a:t>
            </a:r>
            <a:r>
              <a:rPr dirty="0" spc="-15"/>
              <a:t> </a:t>
            </a:r>
            <a:r>
              <a:rPr dirty="0"/>
              <a:t>about</a:t>
            </a:r>
            <a:r>
              <a:rPr dirty="0" spc="-15"/>
              <a:t> </a:t>
            </a:r>
            <a:r>
              <a:rPr dirty="0"/>
              <a:t>your</a:t>
            </a:r>
            <a:r>
              <a:rPr dirty="0" spc="-10"/>
              <a:t> calculation method,</a:t>
            </a:r>
            <a:r>
              <a:rPr dirty="0" spc="5"/>
              <a:t> </a:t>
            </a:r>
            <a:r>
              <a:rPr dirty="0"/>
              <a:t>your</a:t>
            </a:r>
            <a:r>
              <a:rPr dirty="0" spc="10"/>
              <a:t> </a:t>
            </a:r>
            <a:r>
              <a:rPr dirty="0"/>
              <a:t>approach</a:t>
            </a:r>
            <a:r>
              <a:rPr dirty="0" spc="5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 spc="-10"/>
              <a:t>acceptable.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771524" y="2571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190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3809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533725" y="1288468"/>
            <a:ext cx="609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latin typeface="Tahoma"/>
                <a:cs typeface="Tahoma"/>
              </a:rPr>
              <a:t>′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05534" y="1305471"/>
            <a:ext cx="10185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95" i="1">
                <a:latin typeface="Arial"/>
                <a:cs typeface="Arial"/>
              </a:rPr>
              <a:t>Cohen</a:t>
            </a:r>
            <a:r>
              <a:rPr dirty="0" sz="1550" spc="-75" i="1">
                <a:latin typeface="Arial"/>
                <a:cs typeface="Arial"/>
              </a:rPr>
              <a:t> </a:t>
            </a:r>
            <a:r>
              <a:rPr dirty="0" sz="1550" spc="-110" i="1">
                <a:latin typeface="Arial"/>
                <a:cs typeface="Arial"/>
              </a:rPr>
              <a:t>s</a:t>
            </a:r>
            <a:r>
              <a:rPr dirty="0" sz="1550" spc="-60" i="1">
                <a:latin typeface="Arial"/>
                <a:cs typeface="Arial"/>
              </a:rPr>
              <a:t> </a:t>
            </a:r>
            <a:r>
              <a:rPr dirty="0" sz="1550" spc="-130" i="1">
                <a:latin typeface="Arial"/>
                <a:cs typeface="Arial"/>
              </a:rPr>
              <a:t>d</a:t>
            </a:r>
            <a:r>
              <a:rPr dirty="0" sz="1550" spc="-20" i="1">
                <a:latin typeface="Arial"/>
                <a:cs typeface="Arial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62858" y="1134021"/>
            <a:ext cx="3327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4336" sz="2325" spc="-914" i="1">
                <a:latin typeface="Arial"/>
                <a:cs typeface="Arial"/>
              </a:rPr>
              <a:t>X</a:t>
            </a:r>
            <a:r>
              <a:rPr dirty="0" sz="1500" spc="135">
                <a:latin typeface="Tahoma"/>
                <a:cs typeface="Tahoma"/>
              </a:rPr>
              <a:t>¯</a:t>
            </a:r>
            <a:r>
              <a:rPr dirty="0" baseline="-30303" sz="1650" spc="89" i="1">
                <a:latin typeface="Arial"/>
                <a:cs typeface="Arial"/>
              </a:rPr>
              <a:t>D</a:t>
            </a:r>
            <a:endParaRPr baseline="-30303" sz="16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13857" y="1429296"/>
            <a:ext cx="12827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90" i="1">
                <a:latin typeface="Arial"/>
                <a:cs typeface="Arial"/>
              </a:rPr>
              <a:t>σ</a:t>
            </a:r>
            <a:r>
              <a:rPr dirty="0" baseline="1851" sz="2250" spc="-367">
                <a:latin typeface="Tahoma"/>
                <a:cs typeface="Tahoma"/>
              </a:rPr>
              <a:t>^</a:t>
            </a:r>
            <a:endParaRPr baseline="1851" sz="22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218483" y="1515433"/>
            <a:ext cx="125730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086224" y="1466849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304799" y="9524"/>
                </a:moveTo>
                <a:lnTo>
                  <a:pt x="0" y="9524"/>
                </a:lnTo>
                <a:lnTo>
                  <a:pt x="0" y="0"/>
                </a:lnTo>
                <a:lnTo>
                  <a:pt x="304799" y="0"/>
                </a:lnTo>
                <a:lnTo>
                  <a:pt x="3047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683124" y="1183959"/>
            <a:ext cx="35115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85">
                <a:latin typeface="Tahoma"/>
                <a:cs typeface="Tahoma"/>
              </a:rPr>
              <a:t>7.26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424511" y="1307784"/>
            <a:ext cx="124396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185">
                <a:latin typeface="Tahoma"/>
                <a:cs typeface="Tahoma"/>
              </a:rPr>
              <a:t> </a:t>
            </a:r>
            <a:r>
              <a:rPr dirty="0" baseline="-37037" sz="2250" spc="-44">
                <a:latin typeface="Tahoma"/>
                <a:cs typeface="Tahoma"/>
              </a:rPr>
              <a:t>7.16</a:t>
            </a:r>
            <a:r>
              <a:rPr dirty="0" baseline="-37037" sz="2250" spc="27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110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1.01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4676774" y="1466849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361949" y="9524"/>
                </a:moveTo>
                <a:lnTo>
                  <a:pt x="0" y="9524"/>
                </a:lnTo>
                <a:lnTo>
                  <a:pt x="0" y="0"/>
                </a:lnTo>
                <a:lnTo>
                  <a:pt x="361949" y="0"/>
                </a:lnTo>
                <a:lnTo>
                  <a:pt x="3619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4"/>
              <a:t>APA</a:t>
            </a:r>
            <a:r>
              <a:rPr dirty="0" spc="-130"/>
              <a:t> </a:t>
            </a:r>
            <a:r>
              <a:rPr dirty="0" spc="-100"/>
              <a:t>Style</a:t>
            </a:r>
            <a:r>
              <a:rPr dirty="0" spc="-130"/>
              <a:t> </a:t>
            </a:r>
            <a:r>
              <a:rPr dirty="0" spc="-140"/>
              <a:t>Write-</a:t>
            </a:r>
            <a:r>
              <a:rPr dirty="0" spc="-25"/>
              <a:t>Up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45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795019"/>
            <a:ext cx="7482205" cy="21501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3302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45">
                <a:latin typeface="Trebuchet MS"/>
                <a:cs typeface="Trebuchet MS"/>
              </a:rPr>
              <a:t>17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diagnosed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anorexia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83.23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lbs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95">
                <a:latin typeface="Trebuchet MS"/>
                <a:cs typeface="Trebuchet MS"/>
              </a:rPr>
              <a:t>(</a:t>
            </a:r>
            <a:r>
              <a:rPr dirty="0" sz="1450" spc="-95" i="1">
                <a:latin typeface="Lucida Sans"/>
                <a:cs typeface="Lucida Sans"/>
              </a:rPr>
              <a:t>SD</a:t>
            </a:r>
            <a:r>
              <a:rPr dirty="0" sz="1450" spc="-45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80">
                <a:latin typeface="Trebuchet MS"/>
                <a:cs typeface="Trebuchet MS"/>
              </a:rPr>
              <a:t>5.02)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before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family</a:t>
            </a:r>
            <a:r>
              <a:rPr dirty="0" sz="1450" spc="-40">
                <a:latin typeface="Trebuchet MS"/>
                <a:cs typeface="Trebuchet MS"/>
              </a:rPr>
              <a:t> therapy,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increased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90.49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lbs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95">
                <a:latin typeface="Trebuchet MS"/>
                <a:cs typeface="Trebuchet MS"/>
              </a:rPr>
              <a:t>(</a:t>
            </a:r>
            <a:r>
              <a:rPr dirty="0" sz="1450" spc="-95" i="1">
                <a:latin typeface="Lucida Sans"/>
                <a:cs typeface="Lucida Sans"/>
              </a:rPr>
              <a:t>SD</a:t>
            </a:r>
            <a:r>
              <a:rPr dirty="0" sz="1450" spc="-55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8.48)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therapy.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dependent-samples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conducted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determine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gain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therapy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significant.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indicated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gained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0">
                <a:latin typeface="Trebuchet MS"/>
                <a:cs typeface="Trebuchet MS"/>
              </a:rPr>
              <a:t>7.26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lbs,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increase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statistically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significant,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80" i="1">
                <a:latin typeface="Lucida Sans"/>
                <a:cs typeface="Lucida Sans"/>
              </a:rPr>
              <a:t>t</a:t>
            </a:r>
            <a:r>
              <a:rPr dirty="0" sz="1450" spc="-80">
                <a:latin typeface="Trebuchet MS"/>
                <a:cs typeface="Trebuchet MS"/>
              </a:rPr>
              <a:t>(16)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35">
                <a:latin typeface="Trebuchet MS"/>
                <a:cs typeface="Trebuchet MS"/>
              </a:rPr>
              <a:t>4.18,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p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&lt;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.001, Cohen’s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 spc="-50" i="1">
                <a:latin typeface="Lucida Sans"/>
                <a:cs typeface="Lucida Sans"/>
              </a:rPr>
              <a:t>d</a:t>
            </a:r>
            <a:r>
              <a:rPr dirty="0" sz="1450" spc="-80" i="1">
                <a:latin typeface="Lucida Sans"/>
                <a:cs typeface="Lucida San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1.02.</a:t>
            </a:r>
            <a:endParaRPr sz="1450">
              <a:latin typeface="Trebuchet MS"/>
              <a:cs typeface="Trebuchet MS"/>
            </a:endParaRPr>
          </a:p>
          <a:p>
            <a:pPr marL="12700" marR="538480">
              <a:lnSpc>
                <a:spcPts val="1730"/>
              </a:lnSpc>
              <a:spcBef>
                <a:spcPts val="1480"/>
              </a:spcBef>
            </a:pP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results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suggest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family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therapy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large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meaningful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impact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30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patients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anorexia.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F97B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Statistical Inference II</dc:title>
  <dcterms:created xsi:type="dcterms:W3CDTF">2025-10-27T20:42:51Z</dcterms:created>
  <dcterms:modified xsi:type="dcterms:W3CDTF">2025-10-27T20:42:51Z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2025-10-27T00:00:00Z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2025-10-27T00:00:00Z</vt:filetime>
  </property>
  <property fmtid="{D5CDD505-2E9C-101B-9397-08002B2CF9AE}" pid="5" name="Producer">
    <vt:lpwstr>Skia/PDF m141</vt:lpwstr>
  </property>
</Properties>
</file>