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8648700" cy="6489700"/>
  <p:notesSz cx="8648700" cy="6489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9128" y="2011807"/>
            <a:ext cx="7356792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98257" y="3634232"/>
            <a:ext cx="6058535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  <a:r>
              <a:rPr dirty="0" spc="-45"/>
              <a:t> </a:t>
            </a:r>
            <a:r>
              <a:rPr dirty="0" spc="165"/>
              <a:t>/</a:t>
            </a:r>
            <a:r>
              <a:rPr dirty="0" spc="-45"/>
              <a:t> </a:t>
            </a:r>
            <a:r>
              <a:rPr dirty="0" spc="-25"/>
              <a:t>48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  <a:r>
              <a:rPr dirty="0" spc="-45"/>
              <a:t> </a:t>
            </a:r>
            <a:r>
              <a:rPr dirty="0" spc="165"/>
              <a:t>/</a:t>
            </a:r>
            <a:r>
              <a:rPr dirty="0" spc="-45"/>
              <a:t> </a:t>
            </a:r>
            <a:r>
              <a:rPr dirty="0" spc="-25"/>
              <a:t>48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32752" y="1492631"/>
            <a:ext cx="37649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457350" y="1492631"/>
            <a:ext cx="37649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  <a:r>
              <a:rPr dirty="0" spc="-45"/>
              <a:t> </a:t>
            </a:r>
            <a:r>
              <a:rPr dirty="0" spc="165"/>
              <a:t>/</a:t>
            </a:r>
            <a:r>
              <a:rPr dirty="0" spc="-45"/>
              <a:t> </a:t>
            </a:r>
            <a:r>
              <a:rPr dirty="0" spc="-25"/>
              <a:t>48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648700" cy="6486525"/>
          </a:xfrm>
          <a:custGeom>
            <a:avLst/>
            <a:gdLst/>
            <a:ahLst/>
            <a:cxnLst/>
            <a:rect l="l" t="t" r="r" b="b"/>
            <a:pathLst>
              <a:path w="8648700" h="6486525">
                <a:moveTo>
                  <a:pt x="8648699" y="6486524"/>
                </a:moveTo>
                <a:lnTo>
                  <a:pt x="0" y="64865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64865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  <a:r>
              <a:rPr dirty="0" spc="-45"/>
              <a:t> </a:t>
            </a:r>
            <a:r>
              <a:rPr dirty="0" spc="165"/>
              <a:t>/</a:t>
            </a:r>
            <a:r>
              <a:rPr dirty="0" spc="-45"/>
              <a:t> </a:t>
            </a:r>
            <a:r>
              <a:rPr dirty="0" spc="-25"/>
              <a:t>48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  <a:r>
              <a:rPr dirty="0" spc="-45"/>
              <a:t> </a:t>
            </a:r>
            <a:r>
              <a:rPr dirty="0" spc="165"/>
              <a:t>/</a:t>
            </a:r>
            <a:r>
              <a:rPr dirty="0" spc="-45"/>
              <a:t> </a:t>
            </a:r>
            <a:r>
              <a:rPr dirty="0" spc="-25"/>
              <a:t>48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206375"/>
            <a:ext cx="4156075" cy="433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2752" y="1492631"/>
            <a:ext cx="7789545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942717" y="6035421"/>
            <a:ext cx="2769616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32752" y="6035421"/>
            <a:ext cx="1990661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098780" y="6228353"/>
            <a:ext cx="372109" cy="15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chemeClr val="bg1"/>
                </a:solidFill>
                <a:latin typeface="Gill Sans MT"/>
                <a:cs typeface="Gill Sans MT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  <a:r>
              <a:rPr dirty="0" spc="-45"/>
              <a:t> </a:t>
            </a:r>
            <a:r>
              <a:rPr dirty="0" spc="165"/>
              <a:t>/</a:t>
            </a:r>
            <a:r>
              <a:rPr dirty="0" spc="-45"/>
              <a:t> </a:t>
            </a:r>
            <a:r>
              <a:rPr dirty="0" spc="-25"/>
              <a:t>48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8800" y="2978149"/>
            <a:ext cx="540893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105" b="0">
                <a:solidFill>
                  <a:srgbClr val="FFFFFF"/>
                </a:solidFill>
                <a:latin typeface="Gill Sans MT"/>
                <a:cs typeface="Gill Sans MT"/>
              </a:rPr>
              <a:t>Simple</a:t>
            </a:r>
            <a:r>
              <a:rPr dirty="0" sz="4100" spc="-11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4100" b="0">
                <a:solidFill>
                  <a:srgbClr val="FFFFFF"/>
                </a:solidFill>
                <a:latin typeface="Gill Sans MT"/>
                <a:cs typeface="Gill Sans MT"/>
              </a:rPr>
              <a:t>Linear</a:t>
            </a:r>
            <a:r>
              <a:rPr dirty="0" sz="4100" spc="-110" b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dirty="0" sz="4100" spc="-10" b="0">
                <a:solidFill>
                  <a:srgbClr val="FFFFFF"/>
                </a:solidFill>
                <a:latin typeface="Gill Sans MT"/>
                <a:cs typeface="Gill Sans MT"/>
              </a:rPr>
              <a:t>Regression</a:t>
            </a:r>
            <a:endParaRPr sz="41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dirty="0"/>
              <a:t>40</a:t>
            </a:r>
            <a:r>
              <a:rPr dirty="0" spc="-45"/>
              <a:t> </a:t>
            </a:r>
            <a:r>
              <a:rPr dirty="0" spc="165"/>
              <a:t>/</a:t>
            </a:r>
            <a:r>
              <a:rPr dirty="0" spc="-45"/>
              <a:t> </a:t>
            </a:r>
            <a:r>
              <a:rPr dirty="0" spc="-25"/>
              <a:t>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3294" y="2876007"/>
            <a:ext cx="1961910" cy="193739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752974" y="29146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752974" y="35337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752974" y="41624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39800" y="795019"/>
            <a:ext cx="7054215" cy="39408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Gill Sans MT"/>
                <a:cs typeface="Gill Sans MT"/>
              </a:rPr>
              <a:t>This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very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brief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introduction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simple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linear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regression.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 spc="-150">
                <a:latin typeface="Gill Sans MT"/>
                <a:cs typeface="Gill Sans MT"/>
              </a:rPr>
              <a:t>A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full,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in-</a:t>
            </a:r>
            <a:r>
              <a:rPr dirty="0" sz="1450" spc="95">
                <a:latin typeface="Gill Sans MT"/>
                <a:cs typeface="Gill Sans MT"/>
              </a:rPr>
              <a:t>depth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treatment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provided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-110">
                <a:latin typeface="Gill Sans MT"/>
                <a:cs typeface="Gill Sans MT"/>
              </a:rPr>
              <a:t>EDUC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-20">
                <a:latin typeface="Gill Sans MT"/>
                <a:cs typeface="Gill Sans MT"/>
              </a:rPr>
              <a:t>642.</a:t>
            </a:r>
            <a:endParaRPr sz="14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1450" spc="105">
                <a:latin typeface="Gill Sans MT"/>
                <a:cs typeface="Gill Sans MT"/>
              </a:rPr>
              <a:t>Simple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linear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regression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correlation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are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closely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connected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concepts.</a:t>
            </a:r>
            <a:endParaRPr sz="1450">
              <a:latin typeface="Gill Sans MT"/>
              <a:cs typeface="Gill Sans MT"/>
            </a:endParaRPr>
          </a:p>
          <a:p>
            <a:pPr marL="12700" marR="5080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Gill Sans MT"/>
                <a:cs typeface="Gill Sans MT"/>
              </a:rPr>
              <a:t>The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goal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simple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linear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regression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identify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line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that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best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summarizes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the </a:t>
            </a:r>
            <a:r>
              <a:rPr dirty="0" sz="1450" spc="80">
                <a:latin typeface="Gill Sans MT"/>
                <a:cs typeface="Gill Sans MT"/>
              </a:rPr>
              <a:t>relationship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between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two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variables.</a:t>
            </a:r>
            <a:endParaRPr sz="14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450">
              <a:latin typeface="Gill Sans MT"/>
              <a:cs typeface="Gill Sans MT"/>
            </a:endParaRPr>
          </a:p>
          <a:p>
            <a:pPr marL="3990340" marR="274955">
              <a:lnSpc>
                <a:spcPts val="1730"/>
              </a:lnSpc>
              <a:spcBef>
                <a:spcPts val="5"/>
              </a:spcBef>
            </a:pPr>
            <a:r>
              <a:rPr dirty="0" sz="1450">
                <a:latin typeface="Gill Sans MT"/>
                <a:cs typeface="Gill Sans MT"/>
              </a:rPr>
              <a:t>There </a:t>
            </a:r>
            <a:r>
              <a:rPr dirty="0" sz="1450" spc="55">
                <a:latin typeface="Gill Sans MT"/>
                <a:cs typeface="Gill Sans MT"/>
              </a:rPr>
              <a:t>are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infinitely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many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lines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-25">
                <a:latin typeface="Gill Sans MT"/>
                <a:cs typeface="Gill Sans MT"/>
              </a:rPr>
              <a:t>we </a:t>
            </a:r>
            <a:r>
              <a:rPr dirty="0" sz="1450" spc="75">
                <a:latin typeface="Gill Sans MT"/>
                <a:cs typeface="Gill Sans MT"/>
              </a:rPr>
              <a:t>could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-10">
                <a:latin typeface="Gill Sans MT"/>
                <a:cs typeface="Gill Sans MT"/>
              </a:rPr>
              <a:t>draw.</a:t>
            </a:r>
            <a:endParaRPr sz="1450">
              <a:latin typeface="Gill Sans MT"/>
              <a:cs typeface="Gill Sans MT"/>
            </a:endParaRPr>
          </a:p>
          <a:p>
            <a:pPr marL="3990340" marR="530860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Gill Sans MT"/>
                <a:cs typeface="Gill Sans MT"/>
              </a:rPr>
              <a:t>Which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line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best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represents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the </a:t>
            </a:r>
            <a:r>
              <a:rPr dirty="0" sz="1450" spc="70">
                <a:latin typeface="Gill Sans MT"/>
                <a:cs typeface="Gill Sans MT"/>
              </a:rPr>
              <a:t>relationship?</a:t>
            </a:r>
            <a:endParaRPr sz="1450">
              <a:latin typeface="Gill Sans MT"/>
              <a:cs typeface="Gill Sans MT"/>
            </a:endParaRPr>
          </a:p>
          <a:p>
            <a:pPr marL="3990340" marR="346075">
              <a:lnSpc>
                <a:spcPts val="1730"/>
              </a:lnSpc>
              <a:spcBef>
                <a:spcPts val="1490"/>
              </a:spcBef>
            </a:pPr>
            <a:r>
              <a:rPr dirty="0" sz="1450" spc="60">
                <a:latin typeface="Gill Sans MT"/>
                <a:cs typeface="Gill Sans MT"/>
              </a:rPr>
              <a:t>Regression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finds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line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that </a:t>
            </a:r>
            <a:r>
              <a:rPr dirty="0" sz="1450" spc="90">
                <a:latin typeface="Gill Sans MT"/>
                <a:cs typeface="Gill Sans MT"/>
              </a:rPr>
              <a:t>minimizes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prediction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error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(least squares).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70" b="0">
                <a:solidFill>
                  <a:srgbClr val="46484D"/>
                </a:solidFill>
                <a:latin typeface="Gill Sans MT"/>
                <a:cs typeface="Gill Sans MT"/>
              </a:rPr>
              <a:t>Simple</a:t>
            </a:r>
            <a:r>
              <a:rPr dirty="0" sz="2600" spc="-55" b="0">
                <a:solidFill>
                  <a:srgbClr val="46484D"/>
                </a:solidFill>
                <a:latin typeface="Gill Sans MT"/>
                <a:cs typeface="Gill Sans MT"/>
              </a:rPr>
              <a:t> </a:t>
            </a:r>
            <a:r>
              <a:rPr dirty="0" sz="2600" b="0">
                <a:solidFill>
                  <a:srgbClr val="46484D"/>
                </a:solidFill>
                <a:latin typeface="Gill Sans MT"/>
                <a:cs typeface="Gill Sans MT"/>
              </a:rPr>
              <a:t>Linear</a:t>
            </a:r>
            <a:r>
              <a:rPr dirty="0" sz="2600" spc="-50" b="0">
                <a:solidFill>
                  <a:srgbClr val="46484D"/>
                </a:solidFill>
                <a:latin typeface="Gill Sans MT"/>
                <a:cs typeface="Gill Sans MT"/>
              </a:rPr>
              <a:t> </a:t>
            </a:r>
            <a:r>
              <a:rPr dirty="0" sz="2600" spc="-10" b="0">
                <a:solidFill>
                  <a:srgbClr val="46484D"/>
                </a:solidFill>
                <a:latin typeface="Gill Sans MT"/>
                <a:cs typeface="Gill Sans MT"/>
              </a:rPr>
              <a:t>Regression</a:t>
            </a:r>
            <a:endParaRPr sz="2600">
              <a:latin typeface="Gill Sans MT"/>
              <a:cs typeface="Gill Sans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1524" y="13049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71524" y="1714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71524" y="2114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dirty="0"/>
              <a:t>41</a:t>
            </a:r>
            <a:r>
              <a:rPr dirty="0" spc="-45"/>
              <a:t> </a:t>
            </a:r>
            <a:r>
              <a:rPr dirty="0" spc="165"/>
              <a:t>/</a:t>
            </a:r>
            <a:r>
              <a:rPr dirty="0" spc="-45"/>
              <a:t> </a:t>
            </a:r>
            <a:r>
              <a:rPr dirty="0" spc="-25"/>
              <a:t>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8690" y="4998950"/>
            <a:ext cx="1350010" cy="0"/>
          </a:xfrm>
          <a:custGeom>
            <a:avLst/>
            <a:gdLst/>
            <a:ahLst/>
            <a:cxnLst/>
            <a:rect l="l" t="t" r="r" b="b"/>
            <a:pathLst>
              <a:path w="1350010" h="0">
                <a:moveTo>
                  <a:pt x="0" y="0"/>
                </a:moveTo>
                <a:lnTo>
                  <a:pt x="1349982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788690" y="4584389"/>
            <a:ext cx="1350010" cy="0"/>
          </a:xfrm>
          <a:custGeom>
            <a:avLst/>
            <a:gdLst/>
            <a:ahLst/>
            <a:cxnLst/>
            <a:rect l="l" t="t" r="r" b="b"/>
            <a:pathLst>
              <a:path w="1350010" h="0">
                <a:moveTo>
                  <a:pt x="0" y="0"/>
                </a:moveTo>
                <a:lnTo>
                  <a:pt x="1349982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783609" y="3895182"/>
            <a:ext cx="1360170" cy="1378585"/>
            <a:chOff x="1783609" y="3895182"/>
            <a:chExt cx="1360170" cy="1378585"/>
          </a:xfrm>
        </p:grpSpPr>
        <p:sp>
          <p:nvSpPr>
            <p:cNvPr id="5" name="object 5"/>
            <p:cNvSpPr/>
            <p:nvPr/>
          </p:nvSpPr>
          <p:spPr>
            <a:xfrm>
              <a:off x="1788690" y="4169791"/>
              <a:ext cx="1350010" cy="0"/>
            </a:xfrm>
            <a:custGeom>
              <a:avLst/>
              <a:gdLst/>
              <a:ahLst/>
              <a:cxnLst/>
              <a:rect l="l" t="t" r="r" b="b"/>
              <a:pathLst>
                <a:path w="1350010" h="0">
                  <a:moveTo>
                    <a:pt x="0" y="0"/>
                  </a:moveTo>
                  <a:lnTo>
                    <a:pt x="1349982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03449" y="3900301"/>
              <a:ext cx="0" cy="1368425"/>
            </a:xfrm>
            <a:custGeom>
              <a:avLst/>
              <a:gdLst/>
              <a:ahLst/>
              <a:cxnLst/>
              <a:rect l="l" t="t" r="r" b="b"/>
              <a:pathLst>
                <a:path w="0" h="1368425">
                  <a:moveTo>
                    <a:pt x="0" y="13681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310296" y="3900301"/>
              <a:ext cx="0" cy="1368425"/>
            </a:xfrm>
            <a:custGeom>
              <a:avLst/>
              <a:gdLst/>
              <a:ahLst/>
              <a:cxnLst/>
              <a:rect l="l" t="t" r="r" b="b"/>
              <a:pathLst>
                <a:path w="0" h="1368425">
                  <a:moveTo>
                    <a:pt x="0" y="13681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617105" y="3900301"/>
              <a:ext cx="0" cy="1368425"/>
            </a:xfrm>
            <a:custGeom>
              <a:avLst/>
              <a:gdLst/>
              <a:ahLst/>
              <a:cxnLst/>
              <a:rect l="l" t="t" r="r" b="b"/>
              <a:pathLst>
                <a:path w="0" h="1368425">
                  <a:moveTo>
                    <a:pt x="0" y="13681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923914" y="3900301"/>
              <a:ext cx="0" cy="1368425"/>
            </a:xfrm>
            <a:custGeom>
              <a:avLst/>
              <a:gdLst/>
              <a:ahLst/>
              <a:cxnLst/>
              <a:rect l="l" t="t" r="r" b="b"/>
              <a:pathLst>
                <a:path w="0" h="1368425">
                  <a:moveTo>
                    <a:pt x="0" y="13681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88690" y="5206268"/>
              <a:ext cx="1350010" cy="0"/>
            </a:xfrm>
            <a:custGeom>
              <a:avLst/>
              <a:gdLst/>
              <a:ahLst/>
              <a:cxnLst/>
              <a:rect l="l" t="t" r="r" b="b"/>
              <a:pathLst>
                <a:path w="1350010" h="0">
                  <a:moveTo>
                    <a:pt x="0" y="0"/>
                  </a:moveTo>
                  <a:lnTo>
                    <a:pt x="1349982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88690" y="4791670"/>
              <a:ext cx="1350010" cy="0"/>
            </a:xfrm>
            <a:custGeom>
              <a:avLst/>
              <a:gdLst/>
              <a:ahLst/>
              <a:cxnLst/>
              <a:rect l="l" t="t" r="r" b="b"/>
              <a:pathLst>
                <a:path w="1350010" h="0">
                  <a:moveTo>
                    <a:pt x="0" y="0"/>
                  </a:moveTo>
                  <a:lnTo>
                    <a:pt x="1349982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88690" y="4377072"/>
              <a:ext cx="1350010" cy="0"/>
            </a:xfrm>
            <a:custGeom>
              <a:avLst/>
              <a:gdLst/>
              <a:ahLst/>
              <a:cxnLst/>
              <a:rect l="l" t="t" r="r" b="b"/>
              <a:pathLst>
                <a:path w="1350010" h="0">
                  <a:moveTo>
                    <a:pt x="0" y="0"/>
                  </a:moveTo>
                  <a:lnTo>
                    <a:pt x="1349982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788690" y="3962474"/>
              <a:ext cx="1350010" cy="0"/>
            </a:xfrm>
            <a:custGeom>
              <a:avLst/>
              <a:gdLst/>
              <a:ahLst/>
              <a:cxnLst/>
              <a:rect l="l" t="t" r="r" b="b"/>
              <a:pathLst>
                <a:path w="1350010" h="0">
                  <a:moveTo>
                    <a:pt x="0" y="0"/>
                  </a:moveTo>
                  <a:lnTo>
                    <a:pt x="1349982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50045" y="3900301"/>
              <a:ext cx="0" cy="1368425"/>
            </a:xfrm>
            <a:custGeom>
              <a:avLst/>
              <a:gdLst/>
              <a:ahLst/>
              <a:cxnLst/>
              <a:rect l="l" t="t" r="r" b="b"/>
              <a:pathLst>
                <a:path w="0" h="1368425">
                  <a:moveTo>
                    <a:pt x="0" y="13681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156891" y="3900301"/>
              <a:ext cx="0" cy="1368425"/>
            </a:xfrm>
            <a:custGeom>
              <a:avLst/>
              <a:gdLst/>
              <a:ahLst/>
              <a:cxnLst/>
              <a:rect l="l" t="t" r="r" b="b"/>
              <a:pathLst>
                <a:path w="0" h="1368425">
                  <a:moveTo>
                    <a:pt x="0" y="13681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463700" y="3900301"/>
              <a:ext cx="0" cy="1368425"/>
            </a:xfrm>
            <a:custGeom>
              <a:avLst/>
              <a:gdLst/>
              <a:ahLst/>
              <a:cxnLst/>
              <a:rect l="l" t="t" r="r" b="b"/>
              <a:pathLst>
                <a:path w="0" h="1368425">
                  <a:moveTo>
                    <a:pt x="0" y="13681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770509" y="3900301"/>
              <a:ext cx="0" cy="1368425"/>
            </a:xfrm>
            <a:custGeom>
              <a:avLst/>
              <a:gdLst/>
              <a:ahLst/>
              <a:cxnLst/>
              <a:rect l="l" t="t" r="r" b="b"/>
              <a:pathLst>
                <a:path w="0" h="1368425">
                  <a:moveTo>
                    <a:pt x="0" y="13681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077319" y="3900301"/>
              <a:ext cx="0" cy="1368425"/>
            </a:xfrm>
            <a:custGeom>
              <a:avLst/>
              <a:gdLst/>
              <a:ahLst/>
              <a:cxnLst/>
              <a:rect l="l" t="t" r="r" b="b"/>
              <a:pathLst>
                <a:path w="0" h="1368425">
                  <a:moveTo>
                    <a:pt x="0" y="13681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848343" y="4180561"/>
              <a:ext cx="1211580" cy="821055"/>
            </a:xfrm>
            <a:custGeom>
              <a:avLst/>
              <a:gdLst/>
              <a:ahLst/>
              <a:cxnLst/>
              <a:rect l="l" t="t" r="r" b="b"/>
              <a:pathLst>
                <a:path w="1211580" h="821054">
                  <a:moveTo>
                    <a:pt x="3403" y="820919"/>
                  </a:moveTo>
                  <a:lnTo>
                    <a:pt x="0" y="815859"/>
                  </a:lnTo>
                  <a:lnTo>
                    <a:pt x="23687" y="799889"/>
                  </a:lnTo>
                  <a:lnTo>
                    <a:pt x="27102" y="804941"/>
                  </a:lnTo>
                  <a:lnTo>
                    <a:pt x="3403" y="820919"/>
                  </a:lnTo>
                  <a:close/>
                </a:path>
                <a:path w="1211580" h="821054">
                  <a:moveTo>
                    <a:pt x="50778" y="788942"/>
                  </a:moveTo>
                  <a:lnTo>
                    <a:pt x="47364" y="783890"/>
                  </a:lnTo>
                  <a:lnTo>
                    <a:pt x="71027" y="767879"/>
                  </a:lnTo>
                  <a:lnTo>
                    <a:pt x="74448" y="772927"/>
                  </a:lnTo>
                  <a:lnTo>
                    <a:pt x="50778" y="788942"/>
                  </a:lnTo>
                  <a:close/>
                </a:path>
                <a:path w="1211580" h="821054">
                  <a:moveTo>
                    <a:pt x="98125" y="756948"/>
                  </a:moveTo>
                  <a:lnTo>
                    <a:pt x="94722" y="751889"/>
                  </a:lnTo>
                  <a:lnTo>
                    <a:pt x="118397" y="735900"/>
                  </a:lnTo>
                  <a:lnTo>
                    <a:pt x="121811" y="740953"/>
                  </a:lnTo>
                  <a:lnTo>
                    <a:pt x="98125" y="756948"/>
                  </a:lnTo>
                  <a:close/>
                </a:path>
                <a:path w="1211580" h="821054">
                  <a:moveTo>
                    <a:pt x="145487" y="724953"/>
                  </a:moveTo>
                  <a:lnTo>
                    <a:pt x="142073" y="719901"/>
                  </a:lnTo>
                  <a:lnTo>
                    <a:pt x="165738" y="703885"/>
                  </a:lnTo>
                  <a:lnTo>
                    <a:pt x="169152" y="708937"/>
                  </a:lnTo>
                  <a:lnTo>
                    <a:pt x="145487" y="724953"/>
                  </a:lnTo>
                  <a:close/>
                </a:path>
                <a:path w="1211580" h="821054">
                  <a:moveTo>
                    <a:pt x="192845" y="692963"/>
                  </a:moveTo>
                  <a:lnTo>
                    <a:pt x="189431" y="687911"/>
                  </a:lnTo>
                  <a:lnTo>
                    <a:pt x="213107" y="671912"/>
                  </a:lnTo>
                  <a:lnTo>
                    <a:pt x="216521" y="676964"/>
                  </a:lnTo>
                  <a:lnTo>
                    <a:pt x="192845" y="692963"/>
                  </a:lnTo>
                  <a:close/>
                </a:path>
                <a:path w="1211580" h="821054">
                  <a:moveTo>
                    <a:pt x="240185" y="660947"/>
                  </a:moveTo>
                  <a:lnTo>
                    <a:pt x="236771" y="655895"/>
                  </a:lnTo>
                  <a:lnTo>
                    <a:pt x="260456" y="639898"/>
                  </a:lnTo>
                  <a:lnTo>
                    <a:pt x="263860" y="644957"/>
                  </a:lnTo>
                  <a:lnTo>
                    <a:pt x="240185" y="660947"/>
                  </a:lnTo>
                  <a:close/>
                </a:path>
                <a:path w="1211580" h="821054">
                  <a:moveTo>
                    <a:pt x="287555" y="628974"/>
                  </a:moveTo>
                  <a:lnTo>
                    <a:pt x="284140" y="623922"/>
                  </a:lnTo>
                  <a:lnTo>
                    <a:pt x="307812" y="607924"/>
                  </a:lnTo>
                  <a:lnTo>
                    <a:pt x="311233" y="612971"/>
                  </a:lnTo>
                  <a:lnTo>
                    <a:pt x="287555" y="628974"/>
                  </a:lnTo>
                  <a:close/>
                </a:path>
                <a:path w="1211580" h="821054">
                  <a:moveTo>
                    <a:pt x="334895" y="596959"/>
                  </a:moveTo>
                  <a:lnTo>
                    <a:pt x="331481" y="591906"/>
                  </a:lnTo>
                  <a:lnTo>
                    <a:pt x="355178" y="575928"/>
                  </a:lnTo>
                  <a:lnTo>
                    <a:pt x="358582" y="580987"/>
                  </a:lnTo>
                  <a:lnTo>
                    <a:pt x="334895" y="596959"/>
                  </a:lnTo>
                  <a:close/>
                </a:path>
                <a:path w="1211580" h="821054">
                  <a:moveTo>
                    <a:pt x="382264" y="564986"/>
                  </a:moveTo>
                  <a:lnTo>
                    <a:pt x="378850" y="559933"/>
                  </a:lnTo>
                  <a:lnTo>
                    <a:pt x="402514" y="543917"/>
                  </a:lnTo>
                  <a:lnTo>
                    <a:pt x="405929" y="548969"/>
                  </a:lnTo>
                  <a:lnTo>
                    <a:pt x="382264" y="564986"/>
                  </a:lnTo>
                  <a:close/>
                </a:path>
                <a:path w="1211580" h="821054">
                  <a:moveTo>
                    <a:pt x="429605" y="532970"/>
                  </a:moveTo>
                  <a:lnTo>
                    <a:pt x="426191" y="527918"/>
                  </a:lnTo>
                  <a:lnTo>
                    <a:pt x="449884" y="511944"/>
                  </a:lnTo>
                  <a:lnTo>
                    <a:pt x="453298" y="516996"/>
                  </a:lnTo>
                  <a:lnTo>
                    <a:pt x="429605" y="532970"/>
                  </a:lnTo>
                  <a:close/>
                </a:path>
                <a:path w="1211580" h="821054">
                  <a:moveTo>
                    <a:pt x="476971" y="500985"/>
                  </a:moveTo>
                  <a:lnTo>
                    <a:pt x="473549" y="495937"/>
                  </a:lnTo>
                  <a:lnTo>
                    <a:pt x="497224" y="479928"/>
                  </a:lnTo>
                  <a:lnTo>
                    <a:pt x="500638" y="484981"/>
                  </a:lnTo>
                  <a:lnTo>
                    <a:pt x="476971" y="500985"/>
                  </a:lnTo>
                  <a:close/>
                </a:path>
                <a:path w="1211580" h="821054">
                  <a:moveTo>
                    <a:pt x="524317" y="468996"/>
                  </a:moveTo>
                  <a:lnTo>
                    <a:pt x="520913" y="463937"/>
                  </a:lnTo>
                  <a:lnTo>
                    <a:pt x="544586" y="447951"/>
                  </a:lnTo>
                  <a:lnTo>
                    <a:pt x="548007" y="452999"/>
                  </a:lnTo>
                  <a:lnTo>
                    <a:pt x="524317" y="468996"/>
                  </a:lnTo>
                  <a:close/>
                </a:path>
                <a:path w="1211580" h="821054">
                  <a:moveTo>
                    <a:pt x="571672" y="436991"/>
                  </a:moveTo>
                  <a:lnTo>
                    <a:pt x="568258" y="431939"/>
                  </a:lnTo>
                  <a:lnTo>
                    <a:pt x="591934" y="415939"/>
                  </a:lnTo>
                  <a:lnTo>
                    <a:pt x="595348" y="420992"/>
                  </a:lnTo>
                  <a:lnTo>
                    <a:pt x="571672" y="436991"/>
                  </a:lnTo>
                  <a:close/>
                </a:path>
                <a:path w="1211580" h="821054">
                  <a:moveTo>
                    <a:pt x="619041" y="405018"/>
                  </a:moveTo>
                  <a:lnTo>
                    <a:pt x="615627" y="399966"/>
                  </a:lnTo>
                  <a:lnTo>
                    <a:pt x="639292" y="383949"/>
                  </a:lnTo>
                  <a:lnTo>
                    <a:pt x="642706" y="389002"/>
                  </a:lnTo>
                  <a:lnTo>
                    <a:pt x="619041" y="405018"/>
                  </a:lnTo>
                  <a:close/>
                </a:path>
                <a:path w="1211580" h="821054">
                  <a:moveTo>
                    <a:pt x="666382" y="373002"/>
                  </a:moveTo>
                  <a:lnTo>
                    <a:pt x="662967" y="367950"/>
                  </a:lnTo>
                  <a:lnTo>
                    <a:pt x="686643" y="351951"/>
                  </a:lnTo>
                  <a:lnTo>
                    <a:pt x="690058" y="357003"/>
                  </a:lnTo>
                  <a:lnTo>
                    <a:pt x="666382" y="373002"/>
                  </a:lnTo>
                  <a:close/>
                </a:path>
                <a:path w="1211580" h="821054">
                  <a:moveTo>
                    <a:pt x="713744" y="341012"/>
                  </a:moveTo>
                  <a:lnTo>
                    <a:pt x="710323" y="335964"/>
                  </a:lnTo>
                  <a:lnTo>
                    <a:pt x="734001" y="319961"/>
                  </a:lnTo>
                  <a:lnTo>
                    <a:pt x="737415" y="325013"/>
                  </a:lnTo>
                  <a:lnTo>
                    <a:pt x="713744" y="341012"/>
                  </a:lnTo>
                  <a:close/>
                </a:path>
                <a:path w="1211580" h="821054">
                  <a:moveTo>
                    <a:pt x="761091" y="309014"/>
                  </a:moveTo>
                  <a:lnTo>
                    <a:pt x="757677" y="303961"/>
                  </a:lnTo>
                  <a:lnTo>
                    <a:pt x="781353" y="287962"/>
                  </a:lnTo>
                  <a:lnTo>
                    <a:pt x="784767" y="293014"/>
                  </a:lnTo>
                  <a:lnTo>
                    <a:pt x="761091" y="309014"/>
                  </a:lnTo>
                  <a:close/>
                </a:path>
                <a:path w="1211580" h="821054">
                  <a:moveTo>
                    <a:pt x="808449" y="277023"/>
                  </a:moveTo>
                  <a:lnTo>
                    <a:pt x="805035" y="271971"/>
                  </a:lnTo>
                  <a:lnTo>
                    <a:pt x="828711" y="255972"/>
                  </a:lnTo>
                  <a:lnTo>
                    <a:pt x="832125" y="261024"/>
                  </a:lnTo>
                  <a:lnTo>
                    <a:pt x="808449" y="277023"/>
                  </a:lnTo>
                  <a:close/>
                </a:path>
                <a:path w="1211580" h="821054">
                  <a:moveTo>
                    <a:pt x="855801" y="245025"/>
                  </a:moveTo>
                  <a:lnTo>
                    <a:pt x="852387" y="239973"/>
                  </a:lnTo>
                  <a:lnTo>
                    <a:pt x="876063" y="223962"/>
                  </a:lnTo>
                  <a:lnTo>
                    <a:pt x="879467" y="229022"/>
                  </a:lnTo>
                  <a:lnTo>
                    <a:pt x="855801" y="245025"/>
                  </a:lnTo>
                  <a:close/>
                </a:path>
                <a:path w="1211580" h="821054">
                  <a:moveTo>
                    <a:pt x="903159" y="213035"/>
                  </a:moveTo>
                  <a:lnTo>
                    <a:pt x="899745" y="207982"/>
                  </a:lnTo>
                  <a:lnTo>
                    <a:pt x="923421" y="191983"/>
                  </a:lnTo>
                  <a:lnTo>
                    <a:pt x="926835" y="197035"/>
                  </a:lnTo>
                  <a:lnTo>
                    <a:pt x="903159" y="213035"/>
                  </a:lnTo>
                  <a:close/>
                </a:path>
                <a:path w="1211580" h="821054">
                  <a:moveTo>
                    <a:pt x="950512" y="181031"/>
                  </a:moveTo>
                  <a:lnTo>
                    <a:pt x="947091" y="175983"/>
                  </a:lnTo>
                  <a:lnTo>
                    <a:pt x="970778" y="159993"/>
                  </a:lnTo>
                  <a:lnTo>
                    <a:pt x="974192" y="165045"/>
                  </a:lnTo>
                  <a:lnTo>
                    <a:pt x="950512" y="181031"/>
                  </a:lnTo>
                  <a:close/>
                </a:path>
                <a:path w="1211580" h="821054">
                  <a:moveTo>
                    <a:pt x="997868" y="149046"/>
                  </a:moveTo>
                  <a:lnTo>
                    <a:pt x="994454" y="143994"/>
                  </a:lnTo>
                  <a:lnTo>
                    <a:pt x="1018130" y="127994"/>
                  </a:lnTo>
                  <a:lnTo>
                    <a:pt x="1021544" y="133047"/>
                  </a:lnTo>
                  <a:lnTo>
                    <a:pt x="997868" y="149046"/>
                  </a:lnTo>
                  <a:close/>
                </a:path>
                <a:path w="1211580" h="821054">
                  <a:moveTo>
                    <a:pt x="1045209" y="117030"/>
                  </a:moveTo>
                  <a:lnTo>
                    <a:pt x="1041795" y="111978"/>
                  </a:lnTo>
                  <a:lnTo>
                    <a:pt x="1065488" y="96004"/>
                  </a:lnTo>
                  <a:lnTo>
                    <a:pt x="1068902" y="101056"/>
                  </a:lnTo>
                  <a:lnTo>
                    <a:pt x="1045209" y="117030"/>
                  </a:lnTo>
                  <a:close/>
                </a:path>
                <a:path w="1211580" h="821054">
                  <a:moveTo>
                    <a:pt x="1092578" y="85057"/>
                  </a:moveTo>
                  <a:lnTo>
                    <a:pt x="1089164" y="80005"/>
                  </a:lnTo>
                  <a:lnTo>
                    <a:pt x="1112829" y="63996"/>
                  </a:lnTo>
                  <a:lnTo>
                    <a:pt x="1116250" y="69044"/>
                  </a:lnTo>
                  <a:lnTo>
                    <a:pt x="1092578" y="85057"/>
                  </a:lnTo>
                  <a:close/>
                </a:path>
                <a:path w="1211580" h="821054">
                  <a:moveTo>
                    <a:pt x="1139924" y="53060"/>
                  </a:moveTo>
                  <a:lnTo>
                    <a:pt x="1136520" y="48001"/>
                  </a:lnTo>
                  <a:lnTo>
                    <a:pt x="1160198" y="32015"/>
                  </a:lnTo>
                  <a:lnTo>
                    <a:pt x="1163612" y="37068"/>
                  </a:lnTo>
                  <a:lnTo>
                    <a:pt x="1139924" y="53060"/>
                  </a:lnTo>
                  <a:close/>
                </a:path>
                <a:path w="1211580" h="821054">
                  <a:moveTo>
                    <a:pt x="1187286" y="21058"/>
                  </a:moveTo>
                  <a:lnTo>
                    <a:pt x="1183865" y="16010"/>
                  </a:lnTo>
                  <a:lnTo>
                    <a:pt x="1207538" y="0"/>
                  </a:lnTo>
                  <a:lnTo>
                    <a:pt x="1210952" y="5052"/>
                  </a:lnTo>
                  <a:lnTo>
                    <a:pt x="1187286" y="210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788690" y="3900264"/>
              <a:ext cx="1350010" cy="1368425"/>
            </a:xfrm>
            <a:custGeom>
              <a:avLst/>
              <a:gdLst/>
              <a:ahLst/>
              <a:cxnLst/>
              <a:rect l="l" t="t" r="r" b="b"/>
              <a:pathLst>
                <a:path w="1350010" h="1368425">
                  <a:moveTo>
                    <a:pt x="0" y="1368176"/>
                  </a:moveTo>
                  <a:lnTo>
                    <a:pt x="1349982" y="1368176"/>
                  </a:lnTo>
                  <a:lnTo>
                    <a:pt x="1349982" y="0"/>
                  </a:lnTo>
                  <a:lnTo>
                    <a:pt x="0" y="0"/>
                  </a:lnTo>
                  <a:lnTo>
                    <a:pt x="0" y="1368176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/>
          <p:nvPr/>
        </p:nvSpPr>
        <p:spPr>
          <a:xfrm>
            <a:off x="1698929" y="5176911"/>
            <a:ext cx="39370" cy="59055"/>
          </a:xfrm>
          <a:custGeom>
            <a:avLst/>
            <a:gdLst/>
            <a:ahLst/>
            <a:cxnLst/>
            <a:rect l="l" t="t" r="r" b="b"/>
            <a:pathLst>
              <a:path w="39369" h="59054">
                <a:moveTo>
                  <a:pt x="23421" y="58638"/>
                </a:moveTo>
                <a:lnTo>
                  <a:pt x="15310" y="58638"/>
                </a:lnTo>
                <a:lnTo>
                  <a:pt x="13747" y="58266"/>
                </a:lnTo>
                <a:lnTo>
                  <a:pt x="0" y="19831"/>
                </a:lnTo>
                <a:lnTo>
                  <a:pt x="331" y="17896"/>
                </a:lnTo>
                <a:lnTo>
                  <a:pt x="427" y="17338"/>
                </a:lnTo>
                <a:lnTo>
                  <a:pt x="852" y="15366"/>
                </a:lnTo>
                <a:lnTo>
                  <a:pt x="948" y="14920"/>
                </a:lnTo>
                <a:lnTo>
                  <a:pt x="15458" y="0"/>
                </a:lnTo>
                <a:lnTo>
                  <a:pt x="23644" y="0"/>
                </a:lnTo>
                <a:lnTo>
                  <a:pt x="33869" y="6027"/>
                </a:lnTo>
                <a:lnTo>
                  <a:pt x="16165" y="6027"/>
                </a:lnTo>
                <a:lnTo>
                  <a:pt x="15645" y="6176"/>
                </a:lnTo>
                <a:lnTo>
                  <a:pt x="7849" y="17338"/>
                </a:lnTo>
                <a:lnTo>
                  <a:pt x="7728" y="17896"/>
                </a:lnTo>
                <a:lnTo>
                  <a:pt x="7427" y="19831"/>
                </a:lnTo>
                <a:lnTo>
                  <a:pt x="7422" y="38620"/>
                </a:lnTo>
                <a:lnTo>
                  <a:pt x="7719" y="40518"/>
                </a:lnTo>
                <a:lnTo>
                  <a:pt x="15607" y="52387"/>
                </a:lnTo>
                <a:lnTo>
                  <a:pt x="15260" y="52387"/>
                </a:lnTo>
                <a:lnTo>
                  <a:pt x="17170" y="52796"/>
                </a:lnTo>
                <a:lnTo>
                  <a:pt x="18286" y="52945"/>
                </a:lnTo>
                <a:lnTo>
                  <a:pt x="33233" y="52945"/>
                </a:lnTo>
                <a:lnTo>
                  <a:pt x="32499" y="53801"/>
                </a:lnTo>
                <a:lnTo>
                  <a:pt x="24983" y="58266"/>
                </a:lnTo>
                <a:lnTo>
                  <a:pt x="23421" y="58638"/>
                </a:lnTo>
                <a:close/>
              </a:path>
              <a:path w="39369" h="59054">
                <a:moveTo>
                  <a:pt x="33233" y="52945"/>
                </a:moveTo>
                <a:lnTo>
                  <a:pt x="20593" y="52945"/>
                </a:lnTo>
                <a:lnTo>
                  <a:pt x="21709" y="52796"/>
                </a:lnTo>
                <a:lnTo>
                  <a:pt x="23619" y="52387"/>
                </a:lnTo>
                <a:lnTo>
                  <a:pt x="23235" y="52387"/>
                </a:lnTo>
                <a:lnTo>
                  <a:pt x="23756" y="52238"/>
                </a:lnTo>
                <a:lnTo>
                  <a:pt x="24755" y="51754"/>
                </a:lnTo>
                <a:lnTo>
                  <a:pt x="31485" y="38397"/>
                </a:lnTo>
                <a:lnTo>
                  <a:pt x="31606" y="37579"/>
                </a:lnTo>
                <a:lnTo>
                  <a:pt x="31644" y="20835"/>
                </a:lnTo>
                <a:lnTo>
                  <a:pt x="31495" y="19831"/>
                </a:lnTo>
                <a:lnTo>
                  <a:pt x="31383" y="18826"/>
                </a:lnTo>
                <a:lnTo>
                  <a:pt x="31197" y="17896"/>
                </a:lnTo>
                <a:lnTo>
                  <a:pt x="31104" y="17338"/>
                </a:lnTo>
                <a:lnTo>
                  <a:pt x="31048" y="17003"/>
                </a:lnTo>
                <a:lnTo>
                  <a:pt x="28779" y="10641"/>
                </a:lnTo>
                <a:lnTo>
                  <a:pt x="28481" y="10083"/>
                </a:lnTo>
                <a:lnTo>
                  <a:pt x="22937" y="6027"/>
                </a:lnTo>
                <a:lnTo>
                  <a:pt x="33869" y="6027"/>
                </a:lnTo>
                <a:lnTo>
                  <a:pt x="34131" y="6362"/>
                </a:lnTo>
                <a:lnTo>
                  <a:pt x="34248" y="6511"/>
                </a:lnTo>
                <a:lnTo>
                  <a:pt x="35363" y="8297"/>
                </a:lnTo>
                <a:lnTo>
                  <a:pt x="35615" y="8743"/>
                </a:lnTo>
                <a:lnTo>
                  <a:pt x="35699" y="8892"/>
                </a:lnTo>
                <a:lnTo>
                  <a:pt x="36927" y="11683"/>
                </a:lnTo>
                <a:lnTo>
                  <a:pt x="38954" y="19831"/>
                </a:lnTo>
                <a:lnTo>
                  <a:pt x="38895" y="38620"/>
                </a:lnTo>
                <a:lnTo>
                  <a:pt x="34174" y="51754"/>
                </a:lnTo>
                <a:lnTo>
                  <a:pt x="33233" y="52945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654848" y="4762322"/>
            <a:ext cx="83185" cy="59055"/>
          </a:xfrm>
          <a:custGeom>
            <a:avLst/>
            <a:gdLst/>
            <a:ahLst/>
            <a:cxnLst/>
            <a:rect l="l" t="t" r="r" b="b"/>
            <a:pathLst>
              <a:path w="83185" h="59054">
                <a:moveTo>
                  <a:pt x="36169" y="51943"/>
                </a:moveTo>
                <a:lnTo>
                  <a:pt x="22098" y="51943"/>
                </a:lnTo>
                <a:lnTo>
                  <a:pt x="22098" y="520"/>
                </a:lnTo>
                <a:lnTo>
                  <a:pt x="15328" y="520"/>
                </a:lnTo>
                <a:lnTo>
                  <a:pt x="1714" y="9893"/>
                </a:lnTo>
                <a:lnTo>
                  <a:pt x="1714" y="16852"/>
                </a:lnTo>
                <a:lnTo>
                  <a:pt x="14693" y="7556"/>
                </a:lnTo>
                <a:lnTo>
                  <a:pt x="14693" y="51943"/>
                </a:lnTo>
                <a:lnTo>
                  <a:pt x="0" y="51943"/>
                </a:lnTo>
                <a:lnTo>
                  <a:pt x="0" y="58191"/>
                </a:lnTo>
                <a:lnTo>
                  <a:pt x="36169" y="58191"/>
                </a:lnTo>
                <a:lnTo>
                  <a:pt x="36169" y="51943"/>
                </a:lnTo>
                <a:close/>
              </a:path>
              <a:path w="83185" h="59054">
                <a:moveTo>
                  <a:pt x="83019" y="19824"/>
                </a:moveTo>
                <a:lnTo>
                  <a:pt x="76644" y="4533"/>
                </a:lnTo>
                <a:lnTo>
                  <a:pt x="76085" y="3937"/>
                </a:lnTo>
                <a:lnTo>
                  <a:pt x="75717" y="3632"/>
                </a:lnTo>
                <a:lnTo>
                  <a:pt x="75717" y="20828"/>
                </a:lnTo>
                <a:lnTo>
                  <a:pt x="75679" y="37579"/>
                </a:lnTo>
                <a:lnTo>
                  <a:pt x="75565" y="38392"/>
                </a:lnTo>
                <a:lnTo>
                  <a:pt x="75526" y="38620"/>
                </a:lnTo>
                <a:lnTo>
                  <a:pt x="75387" y="39585"/>
                </a:lnTo>
                <a:lnTo>
                  <a:pt x="67271" y="52425"/>
                </a:lnTo>
                <a:lnTo>
                  <a:pt x="67525" y="52425"/>
                </a:lnTo>
                <a:lnTo>
                  <a:pt x="65786" y="52793"/>
                </a:lnTo>
                <a:lnTo>
                  <a:pt x="64668" y="52946"/>
                </a:lnTo>
                <a:lnTo>
                  <a:pt x="62357" y="52946"/>
                </a:lnTo>
                <a:lnTo>
                  <a:pt x="61239" y="52793"/>
                </a:lnTo>
                <a:lnTo>
                  <a:pt x="59512" y="52425"/>
                </a:lnTo>
                <a:lnTo>
                  <a:pt x="59677" y="52425"/>
                </a:lnTo>
                <a:lnTo>
                  <a:pt x="59156" y="52235"/>
                </a:lnTo>
                <a:lnTo>
                  <a:pt x="51498" y="38620"/>
                </a:lnTo>
                <a:lnTo>
                  <a:pt x="51498" y="19824"/>
                </a:lnTo>
                <a:lnTo>
                  <a:pt x="51803" y="17932"/>
                </a:lnTo>
                <a:lnTo>
                  <a:pt x="51917" y="17335"/>
                </a:lnTo>
                <a:lnTo>
                  <a:pt x="51993" y="17005"/>
                </a:lnTo>
                <a:lnTo>
                  <a:pt x="52349" y="15367"/>
                </a:lnTo>
                <a:lnTo>
                  <a:pt x="61150" y="5803"/>
                </a:lnTo>
                <a:lnTo>
                  <a:pt x="66116" y="5803"/>
                </a:lnTo>
                <a:lnTo>
                  <a:pt x="72859" y="10642"/>
                </a:lnTo>
                <a:lnTo>
                  <a:pt x="73190" y="11201"/>
                </a:lnTo>
                <a:lnTo>
                  <a:pt x="75171" y="17335"/>
                </a:lnTo>
                <a:lnTo>
                  <a:pt x="75272" y="17932"/>
                </a:lnTo>
                <a:lnTo>
                  <a:pt x="75463" y="18859"/>
                </a:lnTo>
                <a:lnTo>
                  <a:pt x="75565" y="19824"/>
                </a:lnTo>
                <a:lnTo>
                  <a:pt x="75717" y="20828"/>
                </a:lnTo>
                <a:lnTo>
                  <a:pt x="75717" y="3632"/>
                </a:lnTo>
                <a:lnTo>
                  <a:pt x="74866" y="2895"/>
                </a:lnTo>
                <a:lnTo>
                  <a:pt x="67716" y="0"/>
                </a:lnTo>
                <a:lnTo>
                  <a:pt x="59537" y="0"/>
                </a:lnTo>
                <a:lnTo>
                  <a:pt x="44932" y="15367"/>
                </a:lnTo>
                <a:lnTo>
                  <a:pt x="44500" y="17335"/>
                </a:lnTo>
                <a:lnTo>
                  <a:pt x="44399" y="17932"/>
                </a:lnTo>
                <a:lnTo>
                  <a:pt x="44081" y="19824"/>
                </a:lnTo>
                <a:lnTo>
                  <a:pt x="44094" y="38620"/>
                </a:lnTo>
                <a:lnTo>
                  <a:pt x="59385" y="58635"/>
                </a:lnTo>
                <a:lnTo>
                  <a:pt x="67500" y="58635"/>
                </a:lnTo>
                <a:lnTo>
                  <a:pt x="77431" y="52793"/>
                </a:lnTo>
                <a:lnTo>
                  <a:pt x="78244" y="51790"/>
                </a:lnTo>
                <a:lnTo>
                  <a:pt x="82969" y="38620"/>
                </a:lnTo>
                <a:lnTo>
                  <a:pt x="83019" y="19824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652689" y="4347387"/>
            <a:ext cx="85725" cy="59690"/>
          </a:xfrm>
          <a:custGeom>
            <a:avLst/>
            <a:gdLst/>
            <a:ahLst/>
            <a:cxnLst/>
            <a:rect l="l" t="t" r="r" b="b"/>
            <a:pathLst>
              <a:path w="85725" h="59689">
                <a:moveTo>
                  <a:pt x="38176" y="52273"/>
                </a:moveTo>
                <a:lnTo>
                  <a:pt x="8115" y="52273"/>
                </a:lnTo>
                <a:lnTo>
                  <a:pt x="9004" y="50419"/>
                </a:lnTo>
                <a:lnTo>
                  <a:pt x="10490" y="48221"/>
                </a:lnTo>
                <a:lnTo>
                  <a:pt x="14808" y="43535"/>
                </a:lnTo>
                <a:lnTo>
                  <a:pt x="25158" y="34823"/>
                </a:lnTo>
                <a:lnTo>
                  <a:pt x="31597" y="28651"/>
                </a:lnTo>
                <a:lnTo>
                  <a:pt x="34759" y="24371"/>
                </a:lnTo>
                <a:lnTo>
                  <a:pt x="36614" y="20281"/>
                </a:lnTo>
                <a:lnTo>
                  <a:pt x="37134" y="18084"/>
                </a:lnTo>
                <a:lnTo>
                  <a:pt x="37287" y="15036"/>
                </a:lnTo>
                <a:lnTo>
                  <a:pt x="37096" y="12877"/>
                </a:lnTo>
                <a:lnTo>
                  <a:pt x="18351" y="0"/>
                </a:lnTo>
                <a:lnTo>
                  <a:pt x="15849" y="190"/>
                </a:lnTo>
                <a:lnTo>
                  <a:pt x="342" y="15100"/>
                </a:lnTo>
                <a:lnTo>
                  <a:pt x="7848" y="15811"/>
                </a:lnTo>
                <a:lnTo>
                  <a:pt x="8001" y="14846"/>
                </a:lnTo>
                <a:lnTo>
                  <a:pt x="8750" y="12319"/>
                </a:lnTo>
                <a:lnTo>
                  <a:pt x="20574" y="6096"/>
                </a:lnTo>
                <a:lnTo>
                  <a:pt x="23520" y="6692"/>
                </a:lnTo>
                <a:lnTo>
                  <a:pt x="29730" y="15557"/>
                </a:lnTo>
                <a:lnTo>
                  <a:pt x="29476" y="18757"/>
                </a:lnTo>
                <a:lnTo>
                  <a:pt x="10756" y="38874"/>
                </a:lnTo>
                <a:lnTo>
                  <a:pt x="6921" y="42748"/>
                </a:lnTo>
                <a:lnTo>
                  <a:pt x="3911" y="46393"/>
                </a:lnTo>
                <a:lnTo>
                  <a:pt x="2311" y="48818"/>
                </a:lnTo>
                <a:lnTo>
                  <a:pt x="0" y="53314"/>
                </a:lnTo>
                <a:lnTo>
                  <a:pt x="0" y="58521"/>
                </a:lnTo>
                <a:lnTo>
                  <a:pt x="38176" y="58521"/>
                </a:lnTo>
                <a:lnTo>
                  <a:pt x="38176" y="52273"/>
                </a:lnTo>
                <a:close/>
              </a:path>
              <a:path w="85725" h="59689">
                <a:moveTo>
                  <a:pt x="85178" y="20167"/>
                </a:moveTo>
                <a:lnTo>
                  <a:pt x="78803" y="4876"/>
                </a:lnTo>
                <a:lnTo>
                  <a:pt x="78244" y="4279"/>
                </a:lnTo>
                <a:lnTo>
                  <a:pt x="77876" y="3975"/>
                </a:lnTo>
                <a:lnTo>
                  <a:pt x="77876" y="21209"/>
                </a:lnTo>
                <a:lnTo>
                  <a:pt x="77838" y="37947"/>
                </a:lnTo>
                <a:lnTo>
                  <a:pt x="77724" y="38735"/>
                </a:lnTo>
                <a:lnTo>
                  <a:pt x="77685" y="38950"/>
                </a:lnTo>
                <a:lnTo>
                  <a:pt x="77546" y="39928"/>
                </a:lnTo>
                <a:lnTo>
                  <a:pt x="69430" y="52755"/>
                </a:lnTo>
                <a:lnTo>
                  <a:pt x="69684" y="52755"/>
                </a:lnTo>
                <a:lnTo>
                  <a:pt x="67945" y="53136"/>
                </a:lnTo>
                <a:lnTo>
                  <a:pt x="66827" y="53276"/>
                </a:lnTo>
                <a:lnTo>
                  <a:pt x="64516" y="53276"/>
                </a:lnTo>
                <a:lnTo>
                  <a:pt x="63398" y="53136"/>
                </a:lnTo>
                <a:lnTo>
                  <a:pt x="61671" y="52755"/>
                </a:lnTo>
                <a:lnTo>
                  <a:pt x="61836" y="52755"/>
                </a:lnTo>
                <a:lnTo>
                  <a:pt x="61315" y="52578"/>
                </a:lnTo>
                <a:lnTo>
                  <a:pt x="60388" y="52120"/>
                </a:lnTo>
                <a:lnTo>
                  <a:pt x="59461" y="51600"/>
                </a:lnTo>
                <a:lnTo>
                  <a:pt x="58610" y="50939"/>
                </a:lnTo>
                <a:lnTo>
                  <a:pt x="58229" y="50520"/>
                </a:lnTo>
                <a:lnTo>
                  <a:pt x="57823" y="50114"/>
                </a:lnTo>
                <a:lnTo>
                  <a:pt x="53657" y="38950"/>
                </a:lnTo>
                <a:lnTo>
                  <a:pt x="53657" y="20167"/>
                </a:lnTo>
                <a:lnTo>
                  <a:pt x="63309" y="6134"/>
                </a:lnTo>
                <a:lnTo>
                  <a:pt x="68275" y="6134"/>
                </a:lnTo>
                <a:lnTo>
                  <a:pt x="70180" y="6692"/>
                </a:lnTo>
                <a:lnTo>
                  <a:pt x="70472" y="6845"/>
                </a:lnTo>
                <a:lnTo>
                  <a:pt x="71107" y="7112"/>
                </a:lnTo>
                <a:lnTo>
                  <a:pt x="74498" y="10121"/>
                </a:lnTo>
                <a:lnTo>
                  <a:pt x="75349" y="11531"/>
                </a:lnTo>
                <a:lnTo>
                  <a:pt x="77330" y="17678"/>
                </a:lnTo>
                <a:lnTo>
                  <a:pt x="77431" y="18262"/>
                </a:lnTo>
                <a:lnTo>
                  <a:pt x="77622" y="19202"/>
                </a:lnTo>
                <a:lnTo>
                  <a:pt x="77724" y="20167"/>
                </a:lnTo>
                <a:lnTo>
                  <a:pt x="77876" y="21209"/>
                </a:lnTo>
                <a:lnTo>
                  <a:pt x="77876" y="3975"/>
                </a:lnTo>
                <a:lnTo>
                  <a:pt x="77025" y="3238"/>
                </a:lnTo>
                <a:lnTo>
                  <a:pt x="69875" y="330"/>
                </a:lnTo>
                <a:lnTo>
                  <a:pt x="61696" y="330"/>
                </a:lnTo>
                <a:lnTo>
                  <a:pt x="47091" y="15697"/>
                </a:lnTo>
                <a:lnTo>
                  <a:pt x="46659" y="17678"/>
                </a:lnTo>
                <a:lnTo>
                  <a:pt x="46558" y="18262"/>
                </a:lnTo>
                <a:lnTo>
                  <a:pt x="46240" y="20167"/>
                </a:lnTo>
                <a:lnTo>
                  <a:pt x="46253" y="38950"/>
                </a:lnTo>
                <a:lnTo>
                  <a:pt x="64782" y="59347"/>
                </a:lnTo>
                <a:lnTo>
                  <a:pt x="66459" y="59347"/>
                </a:lnTo>
                <a:lnTo>
                  <a:pt x="85128" y="38950"/>
                </a:lnTo>
                <a:lnTo>
                  <a:pt x="85178" y="20167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651685" y="3932783"/>
            <a:ext cx="86360" cy="59690"/>
          </a:xfrm>
          <a:custGeom>
            <a:avLst/>
            <a:gdLst/>
            <a:ahLst/>
            <a:cxnLst/>
            <a:rect l="l" t="t" r="r" b="b"/>
            <a:pathLst>
              <a:path w="86360" h="59689">
                <a:moveTo>
                  <a:pt x="39738" y="42125"/>
                </a:moveTo>
                <a:lnTo>
                  <a:pt x="26047" y="29095"/>
                </a:lnTo>
                <a:lnTo>
                  <a:pt x="26047" y="28956"/>
                </a:lnTo>
                <a:lnTo>
                  <a:pt x="38138" y="14668"/>
                </a:lnTo>
                <a:lnTo>
                  <a:pt x="37769" y="11620"/>
                </a:lnTo>
                <a:lnTo>
                  <a:pt x="19126" y="0"/>
                </a:lnTo>
                <a:lnTo>
                  <a:pt x="16294" y="228"/>
                </a:lnTo>
                <a:lnTo>
                  <a:pt x="965" y="15036"/>
                </a:lnTo>
                <a:lnTo>
                  <a:pt x="8369" y="15595"/>
                </a:lnTo>
                <a:lnTo>
                  <a:pt x="8483" y="14706"/>
                </a:lnTo>
                <a:lnTo>
                  <a:pt x="9156" y="12280"/>
                </a:lnTo>
                <a:lnTo>
                  <a:pt x="19761" y="6070"/>
                </a:lnTo>
                <a:lnTo>
                  <a:pt x="22733" y="6299"/>
                </a:lnTo>
                <a:lnTo>
                  <a:pt x="30543" y="15151"/>
                </a:lnTo>
                <a:lnTo>
                  <a:pt x="30543" y="16637"/>
                </a:lnTo>
                <a:lnTo>
                  <a:pt x="13804" y="26009"/>
                </a:lnTo>
                <a:lnTo>
                  <a:pt x="13804" y="32372"/>
                </a:lnTo>
                <a:lnTo>
                  <a:pt x="18415" y="32372"/>
                </a:lnTo>
                <a:lnTo>
                  <a:pt x="24485" y="33159"/>
                </a:lnTo>
                <a:lnTo>
                  <a:pt x="32042" y="41160"/>
                </a:lnTo>
                <a:lnTo>
                  <a:pt x="31965" y="44437"/>
                </a:lnTo>
                <a:lnTo>
                  <a:pt x="20167" y="53251"/>
                </a:lnTo>
                <a:lnTo>
                  <a:pt x="16332" y="52908"/>
                </a:lnTo>
                <a:lnTo>
                  <a:pt x="7594" y="43014"/>
                </a:lnTo>
                <a:lnTo>
                  <a:pt x="0" y="43726"/>
                </a:lnTo>
                <a:lnTo>
                  <a:pt x="21094" y="59347"/>
                </a:lnTo>
                <a:lnTo>
                  <a:pt x="26238" y="58826"/>
                </a:lnTo>
                <a:lnTo>
                  <a:pt x="39738" y="42608"/>
                </a:lnTo>
                <a:lnTo>
                  <a:pt x="39738" y="42125"/>
                </a:lnTo>
                <a:close/>
              </a:path>
              <a:path w="86360" h="59689">
                <a:moveTo>
                  <a:pt x="86182" y="20167"/>
                </a:moveTo>
                <a:lnTo>
                  <a:pt x="79806" y="4876"/>
                </a:lnTo>
                <a:lnTo>
                  <a:pt x="79248" y="4279"/>
                </a:lnTo>
                <a:lnTo>
                  <a:pt x="78879" y="3987"/>
                </a:lnTo>
                <a:lnTo>
                  <a:pt x="78879" y="21209"/>
                </a:lnTo>
                <a:lnTo>
                  <a:pt x="78841" y="37960"/>
                </a:lnTo>
                <a:lnTo>
                  <a:pt x="78727" y="38735"/>
                </a:lnTo>
                <a:lnTo>
                  <a:pt x="78689" y="38963"/>
                </a:lnTo>
                <a:lnTo>
                  <a:pt x="78549" y="39928"/>
                </a:lnTo>
                <a:lnTo>
                  <a:pt x="70434" y="52768"/>
                </a:lnTo>
                <a:lnTo>
                  <a:pt x="70688" y="52768"/>
                </a:lnTo>
                <a:lnTo>
                  <a:pt x="68948" y="53136"/>
                </a:lnTo>
                <a:lnTo>
                  <a:pt x="64401" y="53136"/>
                </a:lnTo>
                <a:lnTo>
                  <a:pt x="62674" y="52768"/>
                </a:lnTo>
                <a:lnTo>
                  <a:pt x="62839" y="52768"/>
                </a:lnTo>
                <a:lnTo>
                  <a:pt x="61836" y="52387"/>
                </a:lnTo>
                <a:lnTo>
                  <a:pt x="60909" y="51904"/>
                </a:lnTo>
                <a:lnTo>
                  <a:pt x="60464" y="51612"/>
                </a:lnTo>
                <a:lnTo>
                  <a:pt x="59613" y="50939"/>
                </a:lnTo>
                <a:lnTo>
                  <a:pt x="59232" y="50533"/>
                </a:lnTo>
                <a:lnTo>
                  <a:pt x="58826" y="50126"/>
                </a:lnTo>
                <a:lnTo>
                  <a:pt x="54660" y="38963"/>
                </a:lnTo>
                <a:lnTo>
                  <a:pt x="54660" y="20167"/>
                </a:lnTo>
                <a:lnTo>
                  <a:pt x="64312" y="6146"/>
                </a:lnTo>
                <a:lnTo>
                  <a:pt x="69278" y="6146"/>
                </a:lnTo>
                <a:lnTo>
                  <a:pt x="78435" y="18275"/>
                </a:lnTo>
                <a:lnTo>
                  <a:pt x="78625" y="19202"/>
                </a:lnTo>
                <a:lnTo>
                  <a:pt x="78727" y="20167"/>
                </a:lnTo>
                <a:lnTo>
                  <a:pt x="78879" y="21209"/>
                </a:lnTo>
                <a:lnTo>
                  <a:pt x="78879" y="3987"/>
                </a:lnTo>
                <a:lnTo>
                  <a:pt x="71628" y="520"/>
                </a:lnTo>
                <a:lnTo>
                  <a:pt x="70878" y="342"/>
                </a:lnTo>
                <a:lnTo>
                  <a:pt x="62699" y="342"/>
                </a:lnTo>
                <a:lnTo>
                  <a:pt x="61874" y="520"/>
                </a:lnTo>
                <a:lnTo>
                  <a:pt x="61099" y="673"/>
                </a:lnTo>
                <a:lnTo>
                  <a:pt x="48094" y="15709"/>
                </a:lnTo>
                <a:lnTo>
                  <a:pt x="47663" y="17678"/>
                </a:lnTo>
                <a:lnTo>
                  <a:pt x="47561" y="18275"/>
                </a:lnTo>
                <a:lnTo>
                  <a:pt x="47244" y="20167"/>
                </a:lnTo>
                <a:lnTo>
                  <a:pt x="47256" y="38963"/>
                </a:lnTo>
                <a:lnTo>
                  <a:pt x="65786" y="59347"/>
                </a:lnTo>
                <a:lnTo>
                  <a:pt x="67462" y="59347"/>
                </a:lnTo>
                <a:lnTo>
                  <a:pt x="86131" y="38963"/>
                </a:lnTo>
                <a:lnTo>
                  <a:pt x="86182" y="20167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762608" y="5206267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762608" y="4791669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762608" y="4377072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762608" y="3962474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850045" y="5268440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156891" y="5268440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63700" y="5268440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770509" y="5268440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077318" y="5268440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795615" y="5314695"/>
            <a:ext cx="109220" cy="59055"/>
          </a:xfrm>
          <a:custGeom>
            <a:avLst/>
            <a:gdLst/>
            <a:ahLst/>
            <a:cxnLst/>
            <a:rect l="l" t="t" r="r" b="b"/>
            <a:pathLst>
              <a:path w="109219" h="59054">
                <a:moveTo>
                  <a:pt x="39065" y="21056"/>
                </a:moveTo>
                <a:lnTo>
                  <a:pt x="38760" y="18821"/>
                </a:lnTo>
                <a:lnTo>
                  <a:pt x="38633" y="18122"/>
                </a:lnTo>
                <a:lnTo>
                  <a:pt x="38531" y="17526"/>
                </a:lnTo>
                <a:lnTo>
                  <a:pt x="37198" y="12649"/>
                </a:lnTo>
                <a:lnTo>
                  <a:pt x="36931" y="11899"/>
                </a:lnTo>
                <a:lnTo>
                  <a:pt x="36042" y="9855"/>
                </a:lnTo>
                <a:lnTo>
                  <a:pt x="35153" y="8153"/>
                </a:lnTo>
                <a:lnTo>
                  <a:pt x="34747" y="7480"/>
                </a:lnTo>
                <a:lnTo>
                  <a:pt x="33858" y="6248"/>
                </a:lnTo>
                <a:lnTo>
                  <a:pt x="33705" y="6032"/>
                </a:lnTo>
                <a:lnTo>
                  <a:pt x="32588" y="4724"/>
                </a:lnTo>
                <a:lnTo>
                  <a:pt x="31508" y="3721"/>
                </a:lnTo>
                <a:lnTo>
                  <a:pt x="31508" y="20053"/>
                </a:lnTo>
                <a:lnTo>
                  <a:pt x="31470" y="38811"/>
                </a:lnTo>
                <a:lnTo>
                  <a:pt x="29527" y="46215"/>
                </a:lnTo>
                <a:lnTo>
                  <a:pt x="29273" y="46875"/>
                </a:lnTo>
                <a:lnTo>
                  <a:pt x="22237" y="52908"/>
                </a:lnTo>
                <a:lnTo>
                  <a:pt x="16662" y="52908"/>
                </a:lnTo>
                <a:lnTo>
                  <a:pt x="7607" y="39928"/>
                </a:lnTo>
                <a:lnTo>
                  <a:pt x="7581" y="39776"/>
                </a:lnTo>
                <a:lnTo>
                  <a:pt x="7404" y="38582"/>
                </a:lnTo>
                <a:lnTo>
                  <a:pt x="7289" y="21056"/>
                </a:lnTo>
                <a:lnTo>
                  <a:pt x="7874" y="17259"/>
                </a:lnTo>
                <a:lnTo>
                  <a:pt x="16179" y="6248"/>
                </a:lnTo>
                <a:lnTo>
                  <a:pt x="22948" y="6248"/>
                </a:lnTo>
                <a:lnTo>
                  <a:pt x="31356" y="19088"/>
                </a:lnTo>
                <a:lnTo>
                  <a:pt x="31508" y="20053"/>
                </a:lnTo>
                <a:lnTo>
                  <a:pt x="31508" y="3721"/>
                </a:lnTo>
                <a:lnTo>
                  <a:pt x="24396" y="368"/>
                </a:lnTo>
                <a:lnTo>
                  <a:pt x="24663" y="368"/>
                </a:lnTo>
                <a:lnTo>
                  <a:pt x="22059" y="0"/>
                </a:lnTo>
                <a:lnTo>
                  <a:pt x="17030" y="0"/>
                </a:lnTo>
                <a:lnTo>
                  <a:pt x="14427" y="368"/>
                </a:lnTo>
                <a:lnTo>
                  <a:pt x="14655" y="368"/>
                </a:lnTo>
                <a:lnTo>
                  <a:pt x="13868" y="558"/>
                </a:lnTo>
                <a:lnTo>
                  <a:pt x="850" y="15557"/>
                </a:lnTo>
                <a:lnTo>
                  <a:pt x="660" y="16294"/>
                </a:lnTo>
                <a:lnTo>
                  <a:pt x="139" y="19088"/>
                </a:lnTo>
                <a:lnTo>
                  <a:pt x="0" y="20053"/>
                </a:lnTo>
                <a:lnTo>
                  <a:pt x="12" y="38811"/>
                </a:lnTo>
                <a:lnTo>
                  <a:pt x="177" y="39928"/>
                </a:lnTo>
                <a:lnTo>
                  <a:pt x="431" y="41148"/>
                </a:lnTo>
                <a:lnTo>
                  <a:pt x="647" y="42379"/>
                </a:lnTo>
                <a:lnTo>
                  <a:pt x="16103" y="58978"/>
                </a:lnTo>
                <a:lnTo>
                  <a:pt x="22644" y="58978"/>
                </a:lnTo>
                <a:lnTo>
                  <a:pt x="33464" y="52908"/>
                </a:lnTo>
                <a:lnTo>
                  <a:pt x="33629" y="52717"/>
                </a:lnTo>
                <a:lnTo>
                  <a:pt x="38950" y="38582"/>
                </a:lnTo>
                <a:lnTo>
                  <a:pt x="39065" y="21056"/>
                </a:lnTo>
                <a:close/>
              </a:path>
              <a:path w="109219" h="59054">
                <a:moveTo>
                  <a:pt x="58445" y="49453"/>
                </a:moveTo>
                <a:lnTo>
                  <a:pt x="50444" y="49453"/>
                </a:lnTo>
                <a:lnTo>
                  <a:pt x="50444" y="58420"/>
                </a:lnTo>
                <a:lnTo>
                  <a:pt x="58445" y="58420"/>
                </a:lnTo>
                <a:lnTo>
                  <a:pt x="58445" y="49453"/>
                </a:lnTo>
                <a:close/>
              </a:path>
              <a:path w="109219" h="59054">
                <a:moveTo>
                  <a:pt x="108978" y="21056"/>
                </a:moveTo>
                <a:lnTo>
                  <a:pt x="101422" y="3721"/>
                </a:lnTo>
                <a:lnTo>
                  <a:pt x="101422" y="20053"/>
                </a:lnTo>
                <a:lnTo>
                  <a:pt x="101333" y="38811"/>
                </a:lnTo>
                <a:lnTo>
                  <a:pt x="101041" y="40703"/>
                </a:lnTo>
                <a:lnTo>
                  <a:pt x="100952" y="41148"/>
                </a:lnTo>
                <a:lnTo>
                  <a:pt x="100850" y="41592"/>
                </a:lnTo>
                <a:lnTo>
                  <a:pt x="100685" y="42418"/>
                </a:lnTo>
                <a:lnTo>
                  <a:pt x="92113" y="52908"/>
                </a:lnTo>
                <a:lnTo>
                  <a:pt x="86537" y="52908"/>
                </a:lnTo>
                <a:lnTo>
                  <a:pt x="80098" y="48031"/>
                </a:lnTo>
                <a:lnTo>
                  <a:pt x="79756" y="47472"/>
                </a:lnTo>
                <a:lnTo>
                  <a:pt x="79463" y="46875"/>
                </a:lnTo>
                <a:lnTo>
                  <a:pt x="79209" y="46215"/>
                </a:lnTo>
                <a:lnTo>
                  <a:pt x="78905" y="45542"/>
                </a:lnTo>
                <a:lnTo>
                  <a:pt x="78422" y="44094"/>
                </a:lnTo>
                <a:lnTo>
                  <a:pt x="78193" y="43268"/>
                </a:lnTo>
                <a:lnTo>
                  <a:pt x="78003" y="42418"/>
                </a:lnTo>
                <a:lnTo>
                  <a:pt x="77787" y="41592"/>
                </a:lnTo>
                <a:lnTo>
                  <a:pt x="77711" y="41148"/>
                </a:lnTo>
                <a:lnTo>
                  <a:pt x="77635" y="40703"/>
                </a:lnTo>
                <a:lnTo>
                  <a:pt x="77482" y="39928"/>
                </a:lnTo>
                <a:lnTo>
                  <a:pt x="87160" y="6032"/>
                </a:lnTo>
                <a:lnTo>
                  <a:pt x="91782" y="6032"/>
                </a:lnTo>
                <a:lnTo>
                  <a:pt x="99707" y="12954"/>
                </a:lnTo>
                <a:lnTo>
                  <a:pt x="100114" y="14020"/>
                </a:lnTo>
                <a:lnTo>
                  <a:pt x="100558" y="15557"/>
                </a:lnTo>
                <a:lnTo>
                  <a:pt x="101117" y="18122"/>
                </a:lnTo>
                <a:lnTo>
                  <a:pt x="101231" y="18821"/>
                </a:lnTo>
                <a:lnTo>
                  <a:pt x="101269" y="19088"/>
                </a:lnTo>
                <a:lnTo>
                  <a:pt x="101422" y="20053"/>
                </a:lnTo>
                <a:lnTo>
                  <a:pt x="101422" y="3721"/>
                </a:lnTo>
                <a:lnTo>
                  <a:pt x="91960" y="0"/>
                </a:lnTo>
                <a:lnTo>
                  <a:pt x="86982" y="0"/>
                </a:lnTo>
                <a:lnTo>
                  <a:pt x="70764" y="15557"/>
                </a:lnTo>
                <a:lnTo>
                  <a:pt x="70573" y="16294"/>
                </a:lnTo>
                <a:lnTo>
                  <a:pt x="69786" y="21056"/>
                </a:lnTo>
                <a:lnTo>
                  <a:pt x="69900" y="38582"/>
                </a:lnTo>
                <a:lnTo>
                  <a:pt x="69938" y="38811"/>
                </a:lnTo>
                <a:lnTo>
                  <a:pt x="70091" y="39928"/>
                </a:lnTo>
                <a:lnTo>
                  <a:pt x="86017" y="58978"/>
                </a:lnTo>
                <a:lnTo>
                  <a:pt x="92557" y="58978"/>
                </a:lnTo>
                <a:lnTo>
                  <a:pt x="103378" y="52908"/>
                </a:lnTo>
                <a:lnTo>
                  <a:pt x="103543" y="52717"/>
                </a:lnTo>
                <a:lnTo>
                  <a:pt x="108483" y="40703"/>
                </a:lnTo>
                <a:lnTo>
                  <a:pt x="108813" y="38811"/>
                </a:lnTo>
                <a:lnTo>
                  <a:pt x="108940" y="37807"/>
                </a:lnTo>
                <a:lnTo>
                  <a:pt x="108978" y="21056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102828" y="5314581"/>
            <a:ext cx="109220" cy="59690"/>
          </a:xfrm>
          <a:custGeom>
            <a:avLst/>
            <a:gdLst/>
            <a:ahLst/>
            <a:cxnLst/>
            <a:rect l="l" t="t" r="r" b="b"/>
            <a:pathLst>
              <a:path w="109219" h="59689">
                <a:moveTo>
                  <a:pt x="38163" y="52235"/>
                </a:moveTo>
                <a:lnTo>
                  <a:pt x="8102" y="52235"/>
                </a:lnTo>
                <a:lnTo>
                  <a:pt x="9258" y="49974"/>
                </a:lnTo>
                <a:lnTo>
                  <a:pt x="10820" y="47777"/>
                </a:lnTo>
                <a:lnTo>
                  <a:pt x="14351" y="43942"/>
                </a:lnTo>
                <a:lnTo>
                  <a:pt x="20129" y="39001"/>
                </a:lnTo>
                <a:lnTo>
                  <a:pt x="31178" y="29095"/>
                </a:lnTo>
                <a:lnTo>
                  <a:pt x="34112" y="25336"/>
                </a:lnTo>
                <a:lnTo>
                  <a:pt x="35788" y="22364"/>
                </a:lnTo>
                <a:lnTo>
                  <a:pt x="36906" y="19164"/>
                </a:lnTo>
                <a:lnTo>
                  <a:pt x="37274" y="16370"/>
                </a:lnTo>
                <a:lnTo>
                  <a:pt x="37236" y="14287"/>
                </a:lnTo>
                <a:lnTo>
                  <a:pt x="18338" y="0"/>
                </a:lnTo>
                <a:lnTo>
                  <a:pt x="15849" y="190"/>
                </a:lnTo>
                <a:lnTo>
                  <a:pt x="330" y="15113"/>
                </a:lnTo>
                <a:lnTo>
                  <a:pt x="7848" y="15773"/>
                </a:lnTo>
                <a:lnTo>
                  <a:pt x="8293" y="13512"/>
                </a:lnTo>
                <a:lnTo>
                  <a:pt x="8890" y="11950"/>
                </a:lnTo>
                <a:lnTo>
                  <a:pt x="19189" y="6032"/>
                </a:lnTo>
                <a:lnTo>
                  <a:pt x="22288" y="6362"/>
                </a:lnTo>
                <a:lnTo>
                  <a:pt x="29718" y="16040"/>
                </a:lnTo>
                <a:lnTo>
                  <a:pt x="29311" y="19354"/>
                </a:lnTo>
                <a:lnTo>
                  <a:pt x="28384" y="21767"/>
                </a:lnTo>
                <a:lnTo>
                  <a:pt x="26631" y="24523"/>
                </a:lnTo>
                <a:lnTo>
                  <a:pt x="23329" y="28168"/>
                </a:lnTo>
                <a:lnTo>
                  <a:pt x="17297" y="33223"/>
                </a:lnTo>
                <a:lnTo>
                  <a:pt x="9448" y="40068"/>
                </a:lnTo>
                <a:lnTo>
                  <a:pt x="5054" y="44869"/>
                </a:lnTo>
                <a:lnTo>
                  <a:pt x="3340" y="47180"/>
                </a:lnTo>
                <a:lnTo>
                  <a:pt x="1333" y="50533"/>
                </a:lnTo>
                <a:lnTo>
                  <a:pt x="0" y="53314"/>
                </a:lnTo>
                <a:lnTo>
                  <a:pt x="0" y="58534"/>
                </a:lnTo>
                <a:lnTo>
                  <a:pt x="38163" y="58534"/>
                </a:lnTo>
                <a:lnTo>
                  <a:pt x="38163" y="52235"/>
                </a:lnTo>
                <a:close/>
              </a:path>
              <a:path w="109219" h="59689">
                <a:moveTo>
                  <a:pt x="58039" y="49568"/>
                </a:moveTo>
                <a:lnTo>
                  <a:pt x="50038" y="49568"/>
                </a:lnTo>
                <a:lnTo>
                  <a:pt x="50038" y="58534"/>
                </a:lnTo>
                <a:lnTo>
                  <a:pt x="58039" y="58534"/>
                </a:lnTo>
                <a:lnTo>
                  <a:pt x="58039" y="49568"/>
                </a:lnTo>
                <a:close/>
              </a:path>
              <a:path w="109219" h="59689">
                <a:moveTo>
                  <a:pt x="108788" y="39738"/>
                </a:moveTo>
                <a:lnTo>
                  <a:pt x="91859" y="21767"/>
                </a:lnTo>
                <a:lnTo>
                  <a:pt x="87845" y="21805"/>
                </a:lnTo>
                <a:lnTo>
                  <a:pt x="85013" y="22250"/>
                </a:lnTo>
                <a:lnTo>
                  <a:pt x="82042" y="23253"/>
                </a:lnTo>
                <a:lnTo>
                  <a:pt x="79502" y="24523"/>
                </a:lnTo>
                <a:lnTo>
                  <a:pt x="78244" y="25412"/>
                </a:lnTo>
                <a:lnTo>
                  <a:pt x="79362" y="7112"/>
                </a:lnTo>
                <a:lnTo>
                  <a:pt x="105435" y="7112"/>
                </a:lnTo>
                <a:lnTo>
                  <a:pt x="105435" y="863"/>
                </a:lnTo>
                <a:lnTo>
                  <a:pt x="72618" y="863"/>
                </a:lnTo>
                <a:lnTo>
                  <a:pt x="70726" y="31889"/>
                </a:lnTo>
                <a:lnTo>
                  <a:pt x="77901" y="31889"/>
                </a:lnTo>
                <a:lnTo>
                  <a:pt x="82334" y="28943"/>
                </a:lnTo>
                <a:lnTo>
                  <a:pt x="85242" y="28054"/>
                </a:lnTo>
                <a:lnTo>
                  <a:pt x="87210" y="27800"/>
                </a:lnTo>
                <a:lnTo>
                  <a:pt x="89814" y="27762"/>
                </a:lnTo>
                <a:lnTo>
                  <a:pt x="92456" y="28168"/>
                </a:lnTo>
                <a:lnTo>
                  <a:pt x="101130" y="40525"/>
                </a:lnTo>
                <a:lnTo>
                  <a:pt x="100571" y="44615"/>
                </a:lnTo>
                <a:lnTo>
                  <a:pt x="87909" y="53314"/>
                </a:lnTo>
                <a:lnTo>
                  <a:pt x="85242" y="53060"/>
                </a:lnTo>
                <a:lnTo>
                  <a:pt x="76492" y="44767"/>
                </a:lnTo>
                <a:lnTo>
                  <a:pt x="69049" y="45618"/>
                </a:lnTo>
                <a:lnTo>
                  <a:pt x="88328" y="59347"/>
                </a:lnTo>
                <a:lnTo>
                  <a:pt x="90297" y="59270"/>
                </a:lnTo>
                <a:lnTo>
                  <a:pt x="108458" y="43865"/>
                </a:lnTo>
                <a:lnTo>
                  <a:pt x="108788" y="39738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408770" y="5314924"/>
            <a:ext cx="109855" cy="59055"/>
          </a:xfrm>
          <a:custGeom>
            <a:avLst/>
            <a:gdLst/>
            <a:ahLst/>
            <a:cxnLst/>
            <a:rect l="l" t="t" r="r" b="b"/>
            <a:pathLst>
              <a:path w="109855" h="59054">
                <a:moveTo>
                  <a:pt x="39738" y="39395"/>
                </a:moveTo>
                <a:lnTo>
                  <a:pt x="20320" y="21386"/>
                </a:lnTo>
                <a:lnTo>
                  <a:pt x="18046" y="21539"/>
                </a:lnTo>
                <a:lnTo>
                  <a:pt x="14147" y="22466"/>
                </a:lnTo>
                <a:lnTo>
                  <a:pt x="10947" y="23914"/>
                </a:lnTo>
                <a:lnTo>
                  <a:pt x="9232" y="25069"/>
                </a:lnTo>
                <a:lnTo>
                  <a:pt x="10312" y="6769"/>
                </a:lnTo>
                <a:lnTo>
                  <a:pt x="36398" y="6769"/>
                </a:lnTo>
                <a:lnTo>
                  <a:pt x="36398" y="520"/>
                </a:lnTo>
                <a:lnTo>
                  <a:pt x="3619" y="520"/>
                </a:lnTo>
                <a:lnTo>
                  <a:pt x="1676" y="31546"/>
                </a:lnTo>
                <a:lnTo>
                  <a:pt x="8902" y="31546"/>
                </a:lnTo>
                <a:lnTo>
                  <a:pt x="11798" y="29387"/>
                </a:lnTo>
                <a:lnTo>
                  <a:pt x="13322" y="28600"/>
                </a:lnTo>
                <a:lnTo>
                  <a:pt x="17830" y="27495"/>
                </a:lnTo>
                <a:lnTo>
                  <a:pt x="21844" y="27533"/>
                </a:lnTo>
                <a:lnTo>
                  <a:pt x="24371" y="28117"/>
                </a:lnTo>
                <a:lnTo>
                  <a:pt x="32080" y="38506"/>
                </a:lnTo>
                <a:lnTo>
                  <a:pt x="31965" y="41998"/>
                </a:lnTo>
                <a:lnTo>
                  <a:pt x="21107" y="52908"/>
                </a:lnTo>
                <a:lnTo>
                  <a:pt x="17754" y="52908"/>
                </a:lnTo>
                <a:lnTo>
                  <a:pt x="7442" y="44424"/>
                </a:lnTo>
                <a:lnTo>
                  <a:pt x="0" y="45275"/>
                </a:lnTo>
                <a:lnTo>
                  <a:pt x="19278" y="59004"/>
                </a:lnTo>
                <a:lnTo>
                  <a:pt x="24003" y="58635"/>
                </a:lnTo>
                <a:lnTo>
                  <a:pt x="39560" y="42748"/>
                </a:lnTo>
                <a:lnTo>
                  <a:pt x="39738" y="39395"/>
                </a:lnTo>
                <a:close/>
              </a:path>
              <a:path w="109855" h="59054">
                <a:moveTo>
                  <a:pt x="58902" y="49225"/>
                </a:moveTo>
                <a:lnTo>
                  <a:pt x="50901" y="49225"/>
                </a:lnTo>
                <a:lnTo>
                  <a:pt x="50901" y="58191"/>
                </a:lnTo>
                <a:lnTo>
                  <a:pt x="58902" y="58191"/>
                </a:lnTo>
                <a:lnTo>
                  <a:pt x="58902" y="49225"/>
                </a:lnTo>
                <a:close/>
              </a:path>
              <a:path w="109855" h="59054">
                <a:moveTo>
                  <a:pt x="109435" y="20828"/>
                </a:moveTo>
                <a:lnTo>
                  <a:pt x="104254" y="6019"/>
                </a:lnTo>
                <a:lnTo>
                  <a:pt x="103555" y="5130"/>
                </a:lnTo>
                <a:lnTo>
                  <a:pt x="102400" y="3937"/>
                </a:lnTo>
                <a:lnTo>
                  <a:pt x="101879" y="3479"/>
                </a:lnTo>
                <a:lnTo>
                  <a:pt x="101879" y="19824"/>
                </a:lnTo>
                <a:lnTo>
                  <a:pt x="101841" y="38582"/>
                </a:lnTo>
                <a:lnTo>
                  <a:pt x="99910" y="45986"/>
                </a:lnTo>
                <a:lnTo>
                  <a:pt x="99707" y="46507"/>
                </a:lnTo>
                <a:lnTo>
                  <a:pt x="92608" y="52679"/>
                </a:lnTo>
                <a:lnTo>
                  <a:pt x="92925" y="52679"/>
                </a:lnTo>
                <a:lnTo>
                  <a:pt x="90982" y="52946"/>
                </a:lnTo>
                <a:lnTo>
                  <a:pt x="88671" y="52946"/>
                </a:lnTo>
                <a:lnTo>
                  <a:pt x="86715" y="52679"/>
                </a:lnTo>
                <a:lnTo>
                  <a:pt x="87033" y="52679"/>
                </a:lnTo>
                <a:lnTo>
                  <a:pt x="85471" y="52235"/>
                </a:lnTo>
                <a:lnTo>
                  <a:pt x="77800" y="38582"/>
                </a:lnTo>
                <a:lnTo>
                  <a:pt x="77812" y="19824"/>
                </a:lnTo>
                <a:lnTo>
                  <a:pt x="86550" y="6019"/>
                </a:lnTo>
                <a:lnTo>
                  <a:pt x="93319" y="6019"/>
                </a:lnTo>
                <a:lnTo>
                  <a:pt x="98488" y="9588"/>
                </a:lnTo>
                <a:lnTo>
                  <a:pt x="98869" y="10083"/>
                </a:lnTo>
                <a:lnTo>
                  <a:pt x="101473" y="17297"/>
                </a:lnTo>
                <a:lnTo>
                  <a:pt x="101879" y="19824"/>
                </a:lnTo>
                <a:lnTo>
                  <a:pt x="101879" y="3479"/>
                </a:lnTo>
                <a:lnTo>
                  <a:pt x="93992" y="0"/>
                </a:lnTo>
                <a:lnTo>
                  <a:pt x="85839" y="0"/>
                </a:lnTo>
                <a:lnTo>
                  <a:pt x="71882" y="13131"/>
                </a:lnTo>
                <a:lnTo>
                  <a:pt x="71335" y="14909"/>
                </a:lnTo>
                <a:lnTo>
                  <a:pt x="70815" y="17297"/>
                </a:lnTo>
                <a:lnTo>
                  <a:pt x="70383" y="19824"/>
                </a:lnTo>
                <a:lnTo>
                  <a:pt x="70396" y="38582"/>
                </a:lnTo>
                <a:lnTo>
                  <a:pt x="86474" y="58750"/>
                </a:lnTo>
                <a:lnTo>
                  <a:pt x="93027" y="58750"/>
                </a:lnTo>
                <a:lnTo>
                  <a:pt x="109308" y="38392"/>
                </a:lnTo>
                <a:lnTo>
                  <a:pt x="109435" y="20828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716555" y="5315445"/>
            <a:ext cx="109220" cy="59055"/>
          </a:xfrm>
          <a:custGeom>
            <a:avLst/>
            <a:gdLst/>
            <a:ahLst/>
            <a:cxnLst/>
            <a:rect l="l" t="t" r="r" b="b"/>
            <a:pathLst>
              <a:path w="109219" h="59054">
                <a:moveTo>
                  <a:pt x="38100" y="0"/>
                </a:moveTo>
                <a:lnTo>
                  <a:pt x="0" y="0"/>
                </a:lnTo>
                <a:lnTo>
                  <a:pt x="0" y="6248"/>
                </a:lnTo>
                <a:lnTo>
                  <a:pt x="30949" y="6248"/>
                </a:lnTo>
                <a:lnTo>
                  <a:pt x="21691" y="20942"/>
                </a:lnTo>
                <a:lnTo>
                  <a:pt x="10642" y="57670"/>
                </a:lnTo>
                <a:lnTo>
                  <a:pt x="18300" y="57670"/>
                </a:lnTo>
                <a:lnTo>
                  <a:pt x="18529" y="51892"/>
                </a:lnTo>
                <a:lnTo>
                  <a:pt x="19456" y="45085"/>
                </a:lnTo>
                <a:lnTo>
                  <a:pt x="38100" y="5943"/>
                </a:lnTo>
                <a:lnTo>
                  <a:pt x="38100" y="0"/>
                </a:lnTo>
                <a:close/>
              </a:path>
              <a:path w="109219" h="59054">
                <a:moveTo>
                  <a:pt x="57924" y="48704"/>
                </a:moveTo>
                <a:lnTo>
                  <a:pt x="49961" y="48704"/>
                </a:lnTo>
                <a:lnTo>
                  <a:pt x="49961" y="57670"/>
                </a:lnTo>
                <a:lnTo>
                  <a:pt x="57924" y="57670"/>
                </a:lnTo>
                <a:lnTo>
                  <a:pt x="57924" y="48704"/>
                </a:lnTo>
                <a:close/>
              </a:path>
              <a:path w="109219" h="59054">
                <a:moveTo>
                  <a:pt x="108673" y="38874"/>
                </a:moveTo>
                <a:lnTo>
                  <a:pt x="89255" y="20866"/>
                </a:lnTo>
                <a:lnTo>
                  <a:pt x="86982" y="21018"/>
                </a:lnTo>
                <a:lnTo>
                  <a:pt x="83083" y="21945"/>
                </a:lnTo>
                <a:lnTo>
                  <a:pt x="79883" y="23393"/>
                </a:lnTo>
                <a:lnTo>
                  <a:pt x="78168" y="24549"/>
                </a:lnTo>
                <a:lnTo>
                  <a:pt x="79248" y="6248"/>
                </a:lnTo>
                <a:lnTo>
                  <a:pt x="105333" y="6248"/>
                </a:lnTo>
                <a:lnTo>
                  <a:pt x="105333" y="0"/>
                </a:lnTo>
                <a:lnTo>
                  <a:pt x="72555" y="0"/>
                </a:lnTo>
                <a:lnTo>
                  <a:pt x="70612" y="31026"/>
                </a:lnTo>
                <a:lnTo>
                  <a:pt x="77838" y="31026"/>
                </a:lnTo>
                <a:lnTo>
                  <a:pt x="80733" y="28867"/>
                </a:lnTo>
                <a:lnTo>
                  <a:pt x="82257" y="28079"/>
                </a:lnTo>
                <a:lnTo>
                  <a:pt x="86766" y="26974"/>
                </a:lnTo>
                <a:lnTo>
                  <a:pt x="90779" y="27012"/>
                </a:lnTo>
                <a:lnTo>
                  <a:pt x="93306" y="27597"/>
                </a:lnTo>
                <a:lnTo>
                  <a:pt x="101015" y="38506"/>
                </a:lnTo>
                <a:lnTo>
                  <a:pt x="100901" y="41478"/>
                </a:lnTo>
                <a:lnTo>
                  <a:pt x="90043" y="52387"/>
                </a:lnTo>
                <a:lnTo>
                  <a:pt x="86690" y="52387"/>
                </a:lnTo>
                <a:lnTo>
                  <a:pt x="76377" y="43903"/>
                </a:lnTo>
                <a:lnTo>
                  <a:pt x="68948" y="44754"/>
                </a:lnTo>
                <a:lnTo>
                  <a:pt x="87325" y="58445"/>
                </a:lnTo>
                <a:lnTo>
                  <a:pt x="90182" y="58407"/>
                </a:lnTo>
                <a:lnTo>
                  <a:pt x="108343" y="43002"/>
                </a:lnTo>
                <a:lnTo>
                  <a:pt x="108673" y="38874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02115" y="5314695"/>
            <a:ext cx="153035" cy="59055"/>
          </a:xfrm>
          <a:custGeom>
            <a:avLst/>
            <a:gdLst/>
            <a:ahLst/>
            <a:cxnLst/>
            <a:rect l="l" t="t" r="r" b="b"/>
            <a:pathLst>
              <a:path w="153035" h="59054">
                <a:moveTo>
                  <a:pt x="36169" y="52120"/>
                </a:moveTo>
                <a:lnTo>
                  <a:pt x="22098" y="52120"/>
                </a:lnTo>
                <a:lnTo>
                  <a:pt x="22098" y="749"/>
                </a:lnTo>
                <a:lnTo>
                  <a:pt x="15328" y="749"/>
                </a:lnTo>
                <a:lnTo>
                  <a:pt x="1676" y="10121"/>
                </a:lnTo>
                <a:lnTo>
                  <a:pt x="1676" y="17081"/>
                </a:lnTo>
                <a:lnTo>
                  <a:pt x="14693" y="7772"/>
                </a:lnTo>
                <a:lnTo>
                  <a:pt x="14693" y="52120"/>
                </a:lnTo>
                <a:lnTo>
                  <a:pt x="0" y="52120"/>
                </a:lnTo>
                <a:lnTo>
                  <a:pt x="0" y="58420"/>
                </a:lnTo>
                <a:lnTo>
                  <a:pt x="36169" y="58420"/>
                </a:lnTo>
                <a:lnTo>
                  <a:pt x="36169" y="52120"/>
                </a:lnTo>
                <a:close/>
              </a:path>
              <a:path w="153035" h="59054">
                <a:moveTo>
                  <a:pt x="83121" y="21056"/>
                </a:moveTo>
                <a:lnTo>
                  <a:pt x="77939" y="6248"/>
                </a:lnTo>
                <a:lnTo>
                  <a:pt x="77241" y="5359"/>
                </a:lnTo>
                <a:lnTo>
                  <a:pt x="76644" y="4724"/>
                </a:lnTo>
                <a:lnTo>
                  <a:pt x="75565" y="3708"/>
                </a:lnTo>
                <a:lnTo>
                  <a:pt x="75565" y="20053"/>
                </a:lnTo>
                <a:lnTo>
                  <a:pt x="75526" y="38811"/>
                </a:lnTo>
                <a:lnTo>
                  <a:pt x="73596" y="46215"/>
                </a:lnTo>
                <a:lnTo>
                  <a:pt x="73393" y="46736"/>
                </a:lnTo>
                <a:lnTo>
                  <a:pt x="66306" y="52908"/>
                </a:lnTo>
                <a:lnTo>
                  <a:pt x="66624" y="52908"/>
                </a:lnTo>
                <a:lnTo>
                  <a:pt x="64668" y="53174"/>
                </a:lnTo>
                <a:lnTo>
                  <a:pt x="62357" y="53174"/>
                </a:lnTo>
                <a:lnTo>
                  <a:pt x="60413" y="52908"/>
                </a:lnTo>
                <a:lnTo>
                  <a:pt x="60718" y="52908"/>
                </a:lnTo>
                <a:lnTo>
                  <a:pt x="59156" y="52463"/>
                </a:lnTo>
                <a:lnTo>
                  <a:pt x="51498" y="38811"/>
                </a:lnTo>
                <a:lnTo>
                  <a:pt x="51498" y="20053"/>
                </a:lnTo>
                <a:lnTo>
                  <a:pt x="60236" y="6248"/>
                </a:lnTo>
                <a:lnTo>
                  <a:pt x="67017" y="6248"/>
                </a:lnTo>
                <a:lnTo>
                  <a:pt x="72186" y="9817"/>
                </a:lnTo>
                <a:lnTo>
                  <a:pt x="72555" y="10312"/>
                </a:lnTo>
                <a:lnTo>
                  <a:pt x="75565" y="20053"/>
                </a:lnTo>
                <a:lnTo>
                  <a:pt x="75565" y="3708"/>
                </a:lnTo>
                <a:lnTo>
                  <a:pt x="67678" y="228"/>
                </a:lnTo>
                <a:lnTo>
                  <a:pt x="59537" y="228"/>
                </a:lnTo>
                <a:lnTo>
                  <a:pt x="44069" y="20053"/>
                </a:lnTo>
                <a:lnTo>
                  <a:pt x="44081" y="38811"/>
                </a:lnTo>
                <a:lnTo>
                  <a:pt x="60159" y="58978"/>
                </a:lnTo>
                <a:lnTo>
                  <a:pt x="66713" y="58978"/>
                </a:lnTo>
                <a:lnTo>
                  <a:pt x="83007" y="38620"/>
                </a:lnTo>
                <a:lnTo>
                  <a:pt x="83121" y="21056"/>
                </a:lnTo>
                <a:close/>
              </a:path>
              <a:path w="153035" h="59054">
                <a:moveTo>
                  <a:pt x="102501" y="49453"/>
                </a:moveTo>
                <a:lnTo>
                  <a:pt x="94513" y="49453"/>
                </a:lnTo>
                <a:lnTo>
                  <a:pt x="94513" y="58420"/>
                </a:lnTo>
                <a:lnTo>
                  <a:pt x="102501" y="58420"/>
                </a:lnTo>
                <a:lnTo>
                  <a:pt x="102501" y="49453"/>
                </a:lnTo>
                <a:close/>
              </a:path>
              <a:path w="153035" h="59054">
                <a:moveTo>
                  <a:pt x="153035" y="21056"/>
                </a:moveTo>
                <a:lnTo>
                  <a:pt x="152742" y="18821"/>
                </a:lnTo>
                <a:lnTo>
                  <a:pt x="152615" y="18122"/>
                </a:lnTo>
                <a:lnTo>
                  <a:pt x="152514" y="17526"/>
                </a:lnTo>
                <a:lnTo>
                  <a:pt x="152450" y="17259"/>
                </a:lnTo>
                <a:lnTo>
                  <a:pt x="151955" y="15138"/>
                </a:lnTo>
                <a:lnTo>
                  <a:pt x="151282" y="12954"/>
                </a:lnTo>
                <a:lnTo>
                  <a:pt x="145478" y="3721"/>
                </a:lnTo>
                <a:lnTo>
                  <a:pt x="145478" y="20053"/>
                </a:lnTo>
                <a:lnTo>
                  <a:pt x="145440" y="38811"/>
                </a:lnTo>
                <a:lnTo>
                  <a:pt x="145237" y="39928"/>
                </a:lnTo>
                <a:lnTo>
                  <a:pt x="145110" y="40703"/>
                </a:lnTo>
                <a:lnTo>
                  <a:pt x="145008" y="41148"/>
                </a:lnTo>
                <a:lnTo>
                  <a:pt x="136220" y="52908"/>
                </a:lnTo>
                <a:lnTo>
                  <a:pt x="130594" y="52908"/>
                </a:lnTo>
                <a:lnTo>
                  <a:pt x="123266" y="46215"/>
                </a:lnTo>
                <a:lnTo>
                  <a:pt x="122974" y="45542"/>
                </a:lnTo>
                <a:lnTo>
                  <a:pt x="122491" y="44094"/>
                </a:lnTo>
                <a:lnTo>
                  <a:pt x="122262" y="43268"/>
                </a:lnTo>
                <a:lnTo>
                  <a:pt x="121856" y="41592"/>
                </a:lnTo>
                <a:lnTo>
                  <a:pt x="121780" y="41148"/>
                </a:lnTo>
                <a:lnTo>
                  <a:pt x="121704" y="40703"/>
                </a:lnTo>
                <a:lnTo>
                  <a:pt x="121551" y="39928"/>
                </a:lnTo>
                <a:lnTo>
                  <a:pt x="121577" y="18821"/>
                </a:lnTo>
                <a:lnTo>
                  <a:pt x="121856" y="17259"/>
                </a:lnTo>
                <a:lnTo>
                  <a:pt x="130149" y="6248"/>
                </a:lnTo>
                <a:lnTo>
                  <a:pt x="136893" y="6248"/>
                </a:lnTo>
                <a:lnTo>
                  <a:pt x="143776" y="12954"/>
                </a:lnTo>
                <a:lnTo>
                  <a:pt x="144183" y="14020"/>
                </a:lnTo>
                <a:lnTo>
                  <a:pt x="144627" y="15557"/>
                </a:lnTo>
                <a:lnTo>
                  <a:pt x="145186" y="18122"/>
                </a:lnTo>
                <a:lnTo>
                  <a:pt x="145288" y="18821"/>
                </a:lnTo>
                <a:lnTo>
                  <a:pt x="145338" y="19088"/>
                </a:lnTo>
                <a:lnTo>
                  <a:pt x="145478" y="20053"/>
                </a:lnTo>
                <a:lnTo>
                  <a:pt x="145478" y="3721"/>
                </a:lnTo>
                <a:lnTo>
                  <a:pt x="138379" y="368"/>
                </a:lnTo>
                <a:lnTo>
                  <a:pt x="138633" y="368"/>
                </a:lnTo>
                <a:lnTo>
                  <a:pt x="136029" y="0"/>
                </a:lnTo>
                <a:lnTo>
                  <a:pt x="131013" y="0"/>
                </a:lnTo>
                <a:lnTo>
                  <a:pt x="128409" y="368"/>
                </a:lnTo>
                <a:lnTo>
                  <a:pt x="128625" y="368"/>
                </a:lnTo>
                <a:lnTo>
                  <a:pt x="127850" y="558"/>
                </a:lnTo>
                <a:lnTo>
                  <a:pt x="114833" y="15557"/>
                </a:lnTo>
                <a:lnTo>
                  <a:pt x="114642" y="16294"/>
                </a:lnTo>
                <a:lnTo>
                  <a:pt x="114376" y="17526"/>
                </a:lnTo>
                <a:lnTo>
                  <a:pt x="114274" y="18122"/>
                </a:lnTo>
                <a:lnTo>
                  <a:pt x="114147" y="18821"/>
                </a:lnTo>
                <a:lnTo>
                  <a:pt x="114122" y="19088"/>
                </a:lnTo>
                <a:lnTo>
                  <a:pt x="113982" y="20053"/>
                </a:lnTo>
                <a:lnTo>
                  <a:pt x="113995" y="38811"/>
                </a:lnTo>
                <a:lnTo>
                  <a:pt x="130073" y="58978"/>
                </a:lnTo>
                <a:lnTo>
                  <a:pt x="136626" y="58978"/>
                </a:lnTo>
                <a:lnTo>
                  <a:pt x="150558" y="47472"/>
                </a:lnTo>
                <a:lnTo>
                  <a:pt x="151269" y="45542"/>
                </a:lnTo>
                <a:lnTo>
                  <a:pt x="151587" y="44653"/>
                </a:lnTo>
                <a:lnTo>
                  <a:pt x="152222" y="42379"/>
                </a:lnTo>
                <a:lnTo>
                  <a:pt x="152552" y="40703"/>
                </a:lnTo>
                <a:lnTo>
                  <a:pt x="152920" y="38582"/>
                </a:lnTo>
                <a:lnTo>
                  <a:pt x="153035" y="21056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438660" y="5433305"/>
            <a:ext cx="50165" cy="55880"/>
          </a:xfrm>
          <a:custGeom>
            <a:avLst/>
            <a:gdLst/>
            <a:ahLst/>
            <a:cxnLst/>
            <a:rect l="l" t="t" r="r" b="b"/>
            <a:pathLst>
              <a:path w="50164" h="55879">
                <a:moveTo>
                  <a:pt x="50080" y="55364"/>
                </a:moveTo>
                <a:lnTo>
                  <a:pt x="39811" y="55364"/>
                </a:lnTo>
                <a:lnTo>
                  <a:pt x="24928" y="32630"/>
                </a:lnTo>
                <a:lnTo>
                  <a:pt x="9934" y="55364"/>
                </a:lnTo>
                <a:lnTo>
                  <a:pt x="0" y="55364"/>
                </a:lnTo>
                <a:lnTo>
                  <a:pt x="19719" y="26900"/>
                </a:lnTo>
                <a:lnTo>
                  <a:pt x="930" y="0"/>
                </a:lnTo>
                <a:lnTo>
                  <a:pt x="11124" y="0"/>
                </a:lnTo>
                <a:lnTo>
                  <a:pt x="24928" y="21542"/>
                </a:lnTo>
                <a:lnTo>
                  <a:pt x="38620" y="0"/>
                </a:lnTo>
                <a:lnTo>
                  <a:pt x="48927" y="0"/>
                </a:lnTo>
                <a:lnTo>
                  <a:pt x="30137" y="26826"/>
                </a:lnTo>
                <a:lnTo>
                  <a:pt x="50080" y="553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545282" y="4558382"/>
            <a:ext cx="77470" cy="52069"/>
          </a:xfrm>
          <a:custGeom>
            <a:avLst/>
            <a:gdLst/>
            <a:ahLst/>
            <a:cxnLst/>
            <a:rect l="l" t="t" r="r" b="b"/>
            <a:pathLst>
              <a:path w="77469" h="52070">
                <a:moveTo>
                  <a:pt x="0" y="51941"/>
                </a:moveTo>
                <a:lnTo>
                  <a:pt x="0" y="42118"/>
                </a:lnTo>
                <a:lnTo>
                  <a:pt x="45355" y="25412"/>
                </a:lnTo>
                <a:lnTo>
                  <a:pt x="31625" y="20575"/>
                </a:lnTo>
                <a:lnTo>
                  <a:pt x="0" y="9711"/>
                </a:lnTo>
                <a:lnTo>
                  <a:pt x="0" y="0"/>
                </a:lnTo>
                <a:lnTo>
                  <a:pt x="55364" y="21282"/>
                </a:lnTo>
                <a:lnTo>
                  <a:pt x="77092" y="41634"/>
                </a:lnTo>
                <a:lnTo>
                  <a:pt x="77018" y="45653"/>
                </a:lnTo>
                <a:lnTo>
                  <a:pt x="76534" y="48741"/>
                </a:lnTo>
                <a:lnTo>
                  <a:pt x="69651" y="48741"/>
                </a:lnTo>
                <a:lnTo>
                  <a:pt x="69949" y="44462"/>
                </a:lnTo>
                <a:lnTo>
                  <a:pt x="69688" y="42081"/>
                </a:lnTo>
                <a:lnTo>
                  <a:pt x="55103" y="29988"/>
                </a:lnTo>
                <a:lnTo>
                  <a:pt x="0" y="519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6076949" y="4257674"/>
          <a:ext cx="542925" cy="1678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550"/>
                <a:gridCol w="257175"/>
              </a:tblGrid>
              <a:tr h="3422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 b="1">
                          <a:latin typeface="Trebuchet MS"/>
                          <a:cs typeface="Trebuchet MS"/>
                        </a:rPr>
                        <a:t>x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 b="1">
                          <a:latin typeface="Trebuchet MS"/>
                          <a:cs typeface="Trebuchet MS"/>
                        </a:rPr>
                        <a:t>y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20">
                          <a:latin typeface="Gill Sans MT"/>
                          <a:cs typeface="Gill Sans MT"/>
                        </a:rPr>
                        <a:t>0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58419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4318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>
                          <a:latin typeface="Gill Sans MT"/>
                          <a:cs typeface="Gill Sans MT"/>
                        </a:rPr>
                        <a:t>5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algn="ctr" marR="215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Gill Sans MT"/>
                          <a:cs typeface="Gill Sans MT"/>
                        </a:rPr>
                        <a:t>1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39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Gill Sans MT"/>
                          <a:cs typeface="Gill Sans MT"/>
                        </a:rPr>
                        <a:t>7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algn="ctr" marR="1079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Gill Sans MT"/>
                          <a:cs typeface="Gill Sans MT"/>
                        </a:rPr>
                        <a:t>2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5397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3873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Gill Sans MT"/>
                          <a:cs typeface="Gill Sans MT"/>
                        </a:rPr>
                        <a:t>9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algn="ctr" marR="95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Gill Sans MT"/>
                          <a:cs typeface="Gill Sans MT"/>
                        </a:rPr>
                        <a:t>3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Gill Sans MT"/>
                          <a:cs typeface="Gill Sans MT"/>
                        </a:rPr>
                        <a:t>11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42" name="object 42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71524" y="19240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4" name="object 4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2319337"/>
            <a:ext cx="66675" cy="66674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2538412"/>
            <a:ext cx="66675" cy="66674"/>
          </a:xfrm>
          <a:prstGeom prst="rect">
            <a:avLst/>
          </a:prstGeom>
        </p:spPr>
      </p:pic>
      <p:sp>
        <p:nvSpPr>
          <p:cNvPr id="46" name="object 46"/>
          <p:cNvSpPr/>
          <p:nvPr/>
        </p:nvSpPr>
        <p:spPr>
          <a:xfrm>
            <a:off x="771524" y="2952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71524" y="33527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558800" y="394970"/>
            <a:ext cx="7463155" cy="3676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35" b="1">
                <a:latin typeface="Trebuchet MS"/>
                <a:cs typeface="Trebuchet MS"/>
              </a:rPr>
              <a:t>What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a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line?</a:t>
            </a:r>
            <a:endParaRPr sz="1450">
              <a:latin typeface="Trebuchet MS"/>
              <a:cs typeface="Trebuchet MS"/>
            </a:endParaRPr>
          </a:p>
          <a:p>
            <a:pPr marL="393065" marR="5080">
              <a:lnSpc>
                <a:spcPts val="1730"/>
              </a:lnSpc>
              <a:spcBef>
                <a:spcPts val="1475"/>
              </a:spcBef>
            </a:pPr>
            <a:r>
              <a:rPr dirty="0" sz="1450" spc="-150">
                <a:latin typeface="Gill Sans MT"/>
                <a:cs typeface="Gill Sans MT"/>
              </a:rPr>
              <a:t>A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line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represents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mathematical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function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that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20">
                <a:latin typeface="Gill Sans MT"/>
                <a:cs typeface="Gill Sans MT"/>
              </a:rPr>
              <a:t>maps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35">
                <a:latin typeface="Gill Sans MT"/>
                <a:cs typeface="Gill Sans MT"/>
              </a:rPr>
              <a:t>an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input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variable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550" spc="-110" i="1">
                <a:latin typeface="Verdana"/>
                <a:cs typeface="Verdana"/>
              </a:rPr>
              <a:t>x</a:t>
            </a:r>
            <a:r>
              <a:rPr dirty="0" sz="1550" spc="-155" i="1">
                <a:latin typeface="Verdana"/>
                <a:cs typeface="Verdana"/>
              </a:rPr>
              <a:t> </a:t>
            </a: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35">
                <a:latin typeface="Gill Sans MT"/>
                <a:cs typeface="Gill Sans MT"/>
              </a:rPr>
              <a:t>an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output </a:t>
            </a:r>
            <a:r>
              <a:rPr dirty="0" sz="1450" spc="90">
                <a:latin typeface="Gill Sans MT"/>
                <a:cs typeface="Gill Sans MT"/>
              </a:rPr>
              <a:t>variable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y</a:t>
            </a:r>
            <a:r>
              <a:rPr dirty="0" sz="1450" spc="-25">
                <a:latin typeface="Gill Sans MT"/>
                <a:cs typeface="Gill Sans MT"/>
              </a:rPr>
              <a:t>.</a:t>
            </a:r>
            <a:endParaRPr sz="1450">
              <a:latin typeface="Gill Sans MT"/>
              <a:cs typeface="Gill Sans MT"/>
            </a:endParaRPr>
          </a:p>
          <a:p>
            <a:pPr algn="ctr" marL="67945">
              <a:lnSpc>
                <a:spcPct val="100000"/>
              </a:lnSpc>
              <a:spcBef>
                <a:spcPts val="1175"/>
              </a:spcBef>
            </a:pPr>
            <a:r>
              <a:rPr dirty="0" sz="1550" i="1">
                <a:latin typeface="Verdana"/>
                <a:cs typeface="Verdana"/>
              </a:rPr>
              <a:t>f</a:t>
            </a:r>
            <a:r>
              <a:rPr dirty="0" sz="1450">
                <a:latin typeface="Tahoma"/>
                <a:cs typeface="Tahoma"/>
              </a:rPr>
              <a:t>(</a:t>
            </a:r>
            <a:r>
              <a:rPr dirty="0" sz="1550" i="1">
                <a:latin typeface="Verdana"/>
                <a:cs typeface="Verdana"/>
              </a:rPr>
              <a:t>x</a:t>
            </a:r>
            <a:r>
              <a:rPr dirty="0" sz="1450">
                <a:latin typeface="Tahoma"/>
                <a:cs typeface="Tahoma"/>
              </a:rPr>
              <a:t>)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 spc="60">
                <a:latin typeface="Tahoma"/>
                <a:cs typeface="Tahoma"/>
              </a:rPr>
              <a:t>=</a:t>
            </a:r>
            <a:r>
              <a:rPr dirty="0" sz="1450" spc="-25">
                <a:latin typeface="Tahoma"/>
                <a:cs typeface="Tahoma"/>
              </a:rPr>
              <a:t> </a:t>
            </a:r>
            <a:r>
              <a:rPr dirty="0" sz="1550" spc="-225" i="1">
                <a:latin typeface="Verdana"/>
                <a:cs typeface="Verdana"/>
              </a:rPr>
              <a:t>y</a:t>
            </a:r>
            <a:r>
              <a:rPr dirty="0" sz="1550" spc="-105" i="1">
                <a:latin typeface="Verdana"/>
                <a:cs typeface="Verdana"/>
              </a:rPr>
              <a:t> </a:t>
            </a:r>
            <a:r>
              <a:rPr dirty="0" sz="1450" spc="60">
                <a:latin typeface="Tahoma"/>
                <a:cs typeface="Tahoma"/>
              </a:rPr>
              <a:t>=</a:t>
            </a:r>
            <a:r>
              <a:rPr dirty="0" sz="1450" spc="-25">
                <a:latin typeface="Tahoma"/>
                <a:cs typeface="Tahoma"/>
              </a:rPr>
              <a:t> </a:t>
            </a:r>
            <a:r>
              <a:rPr dirty="0" sz="1550" spc="-350" i="1">
                <a:latin typeface="Verdana"/>
                <a:cs typeface="Verdana"/>
              </a:rPr>
              <a:t>b</a:t>
            </a:r>
            <a:r>
              <a:rPr dirty="0" sz="1550" spc="-210" i="1">
                <a:latin typeface="Verdana"/>
                <a:cs typeface="Verdana"/>
              </a:rPr>
              <a:t> </a:t>
            </a:r>
            <a:r>
              <a:rPr dirty="0" sz="1450" spc="60">
                <a:latin typeface="Tahoma"/>
                <a:cs typeface="Tahoma"/>
              </a:rPr>
              <a:t>+</a:t>
            </a:r>
            <a:r>
              <a:rPr dirty="0" sz="1450" spc="-110">
                <a:latin typeface="Tahoma"/>
                <a:cs typeface="Tahoma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mx</a:t>
            </a:r>
            <a:endParaRPr sz="1550">
              <a:latin typeface="Verdana"/>
              <a:cs typeface="Verdana"/>
            </a:endParaRPr>
          </a:p>
          <a:p>
            <a:pPr marL="393065">
              <a:lnSpc>
                <a:spcPct val="100000"/>
              </a:lnSpc>
              <a:spcBef>
                <a:spcPts val="1465"/>
              </a:spcBef>
            </a:pPr>
            <a:r>
              <a:rPr dirty="0" sz="1450">
                <a:latin typeface="Gill Sans MT"/>
                <a:cs typeface="Gill Sans MT"/>
              </a:rPr>
              <a:t>There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are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two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key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coefficients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this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equation:</a:t>
            </a:r>
            <a:endParaRPr sz="1450">
              <a:latin typeface="Gill Sans MT"/>
              <a:cs typeface="Gill Sans MT"/>
            </a:endParaRPr>
          </a:p>
          <a:p>
            <a:pPr marL="774065">
              <a:lnSpc>
                <a:spcPts val="1795"/>
              </a:lnSpc>
              <a:spcBef>
                <a:spcPts val="1310"/>
              </a:spcBef>
            </a:pPr>
            <a:r>
              <a:rPr dirty="0" sz="1550" spc="-260" i="1">
                <a:latin typeface="Verdana"/>
                <a:cs typeface="Verdana"/>
              </a:rPr>
              <a:t>m</a:t>
            </a:r>
            <a:r>
              <a:rPr dirty="0" sz="1550" spc="-155" i="1">
                <a:latin typeface="Verdana"/>
                <a:cs typeface="Verdana"/>
              </a:rPr>
              <a:t> </a:t>
            </a:r>
            <a:r>
              <a:rPr dirty="0" sz="1450">
                <a:latin typeface="Gill Sans MT"/>
                <a:cs typeface="Gill Sans MT"/>
              </a:rPr>
              <a:t>: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slope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line</a:t>
            </a:r>
            <a:endParaRPr sz="1450">
              <a:latin typeface="Gill Sans MT"/>
              <a:cs typeface="Gill Sans MT"/>
            </a:endParaRPr>
          </a:p>
          <a:p>
            <a:pPr marL="774065">
              <a:lnSpc>
                <a:spcPts val="1795"/>
              </a:lnSpc>
            </a:pPr>
            <a:r>
              <a:rPr dirty="0" sz="1550" spc="-350" i="1">
                <a:latin typeface="Verdana"/>
                <a:cs typeface="Verdana"/>
              </a:rPr>
              <a:t>b</a:t>
            </a:r>
            <a:r>
              <a:rPr dirty="0" sz="1550" spc="-150" i="1">
                <a:latin typeface="Verdana"/>
                <a:cs typeface="Verdana"/>
              </a:rPr>
              <a:t> </a:t>
            </a:r>
            <a:r>
              <a:rPr dirty="0" sz="1450">
                <a:latin typeface="Gill Sans MT"/>
                <a:cs typeface="Gill Sans MT"/>
              </a:rPr>
              <a:t>: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40">
                <a:latin typeface="Gill Sans MT"/>
                <a:cs typeface="Gill Sans MT"/>
              </a:rPr>
              <a:t>intercept</a:t>
            </a:r>
            <a:endParaRPr sz="1450">
              <a:latin typeface="Gill Sans MT"/>
              <a:cs typeface="Gill Sans MT"/>
            </a:endParaRPr>
          </a:p>
          <a:p>
            <a:pPr marL="393065">
              <a:lnSpc>
                <a:spcPct val="100000"/>
              </a:lnSpc>
              <a:spcBef>
                <a:spcPts val="1365"/>
              </a:spcBef>
            </a:pPr>
            <a:r>
              <a:rPr dirty="0" sz="1450">
                <a:latin typeface="Gill Sans MT"/>
                <a:cs typeface="Gill Sans MT"/>
              </a:rPr>
              <a:t>The </a:t>
            </a:r>
            <a:r>
              <a:rPr dirty="0" sz="1450" spc="50">
                <a:latin typeface="Gill Sans MT"/>
                <a:cs typeface="Gill Sans MT"/>
              </a:rPr>
              <a:t>intercept</a:t>
            </a:r>
            <a:r>
              <a:rPr dirty="0" sz="1450">
                <a:latin typeface="Gill Sans MT"/>
                <a:cs typeface="Gill Sans MT"/>
              </a:rPr>
              <a:t> ( </a:t>
            </a:r>
            <a:r>
              <a:rPr dirty="0" sz="1550" spc="-350" i="1">
                <a:latin typeface="Verdana"/>
                <a:cs typeface="Verdana"/>
              </a:rPr>
              <a:t>b</a:t>
            </a:r>
            <a:r>
              <a:rPr dirty="0" sz="1550" spc="-140" i="1">
                <a:latin typeface="Verdana"/>
                <a:cs typeface="Verdana"/>
              </a:rPr>
              <a:t> </a:t>
            </a:r>
            <a:r>
              <a:rPr dirty="0" sz="1450">
                <a:latin typeface="Gill Sans MT"/>
                <a:cs typeface="Gill Sans MT"/>
              </a:rPr>
              <a:t>) </a:t>
            </a:r>
            <a:r>
              <a:rPr dirty="0" sz="1450" spc="60">
                <a:latin typeface="Gill Sans MT"/>
                <a:cs typeface="Gill Sans MT"/>
              </a:rPr>
              <a:t>represents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point</a:t>
            </a:r>
            <a:r>
              <a:rPr dirty="0" sz="1450">
                <a:latin typeface="Gill Sans MT"/>
                <a:cs typeface="Gill Sans MT"/>
              </a:rPr>
              <a:t> where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line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crosses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on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y-</a:t>
            </a:r>
            <a:r>
              <a:rPr dirty="0" sz="1450" spc="50">
                <a:latin typeface="Gill Sans MT"/>
                <a:cs typeface="Gill Sans MT"/>
              </a:rPr>
              <a:t>axis.</a:t>
            </a:r>
            <a:endParaRPr sz="1450">
              <a:latin typeface="Gill Sans MT"/>
              <a:cs typeface="Gill Sans MT"/>
            </a:endParaRPr>
          </a:p>
          <a:p>
            <a:pPr marL="393065">
              <a:lnSpc>
                <a:spcPct val="100000"/>
              </a:lnSpc>
              <a:spcBef>
                <a:spcPts val="1290"/>
              </a:spcBef>
            </a:pPr>
            <a:r>
              <a:rPr dirty="0" sz="1450">
                <a:latin typeface="Gill Sans MT"/>
                <a:cs typeface="Gill Sans MT"/>
              </a:rPr>
              <a:t>The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slope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(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550" spc="-260" i="1">
                <a:latin typeface="Verdana"/>
                <a:cs typeface="Verdana"/>
              </a:rPr>
              <a:t>m</a:t>
            </a:r>
            <a:r>
              <a:rPr dirty="0" sz="1550" spc="-145" i="1">
                <a:latin typeface="Verdana"/>
                <a:cs typeface="Verdana"/>
              </a:rPr>
              <a:t> </a:t>
            </a:r>
            <a:r>
              <a:rPr dirty="0" sz="1450">
                <a:latin typeface="Gill Sans MT"/>
                <a:cs typeface="Gill Sans MT"/>
              </a:rPr>
              <a:t>)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represents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amount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change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550" spc="-225" i="1">
                <a:latin typeface="Verdana"/>
                <a:cs typeface="Verdana"/>
              </a:rPr>
              <a:t>y</a:t>
            </a:r>
            <a:r>
              <a:rPr dirty="0" sz="1550" spc="-135" i="1">
                <a:latin typeface="Verdana"/>
                <a:cs typeface="Verdana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every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one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unit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increase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x</a:t>
            </a:r>
            <a:r>
              <a:rPr dirty="0" sz="1450" spc="-25">
                <a:latin typeface="Gill Sans MT"/>
                <a:cs typeface="Gill Sans MT"/>
              </a:rPr>
              <a:t>.</a:t>
            </a:r>
            <a:endParaRPr sz="14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450">
              <a:latin typeface="Gill Sans MT"/>
              <a:cs typeface="Gill Sans MT"/>
            </a:endParaRPr>
          </a:p>
          <a:p>
            <a:pPr marL="4356100">
              <a:lnSpc>
                <a:spcPct val="100000"/>
              </a:lnSpc>
            </a:pPr>
            <a:r>
              <a:rPr dirty="0" sz="1550" spc="-225" i="1">
                <a:latin typeface="Verdana"/>
                <a:cs typeface="Verdana"/>
              </a:rPr>
              <a:t>y</a:t>
            </a:r>
            <a:r>
              <a:rPr dirty="0" sz="1550" spc="-135" i="1">
                <a:latin typeface="Verdana"/>
                <a:cs typeface="Verdana"/>
              </a:rPr>
              <a:t> </a:t>
            </a:r>
            <a:r>
              <a:rPr dirty="0" sz="1450" spc="60">
                <a:latin typeface="Tahoma"/>
                <a:cs typeface="Tahoma"/>
              </a:rPr>
              <a:t>=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450" spc="-80">
                <a:latin typeface="Tahoma"/>
                <a:cs typeface="Tahoma"/>
              </a:rPr>
              <a:t>5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60">
                <a:latin typeface="Tahoma"/>
                <a:cs typeface="Tahoma"/>
              </a:rPr>
              <a:t>+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450" spc="-25">
                <a:latin typeface="Tahoma"/>
                <a:cs typeface="Tahoma"/>
              </a:rPr>
              <a:t>2</a:t>
            </a:r>
            <a:r>
              <a:rPr dirty="0" sz="1550" spc="-25" i="1">
                <a:latin typeface="Verdana"/>
                <a:cs typeface="Verdana"/>
              </a:rPr>
              <a:t>x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dirty="0"/>
              <a:t>42</a:t>
            </a:r>
            <a:r>
              <a:rPr dirty="0" spc="-45"/>
              <a:t> </a:t>
            </a:r>
            <a:r>
              <a:rPr dirty="0" spc="165"/>
              <a:t>/</a:t>
            </a:r>
            <a:r>
              <a:rPr dirty="0" spc="-45"/>
              <a:t> </a:t>
            </a:r>
            <a:r>
              <a:rPr dirty="0" spc="-25"/>
              <a:t>48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74340" y="4159075"/>
            <a:ext cx="2378710" cy="0"/>
          </a:xfrm>
          <a:custGeom>
            <a:avLst/>
            <a:gdLst/>
            <a:ahLst/>
            <a:cxnLst/>
            <a:rect l="l" t="t" r="r" b="b"/>
            <a:pathLst>
              <a:path w="2378710" h="0">
                <a:moveTo>
                  <a:pt x="0" y="0"/>
                </a:moveTo>
                <a:lnTo>
                  <a:pt x="2378682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74340" y="3317564"/>
            <a:ext cx="2378710" cy="0"/>
          </a:xfrm>
          <a:custGeom>
            <a:avLst/>
            <a:gdLst/>
            <a:ahLst/>
            <a:cxnLst/>
            <a:rect l="l" t="t" r="r" b="b"/>
            <a:pathLst>
              <a:path w="2378710" h="0">
                <a:moveTo>
                  <a:pt x="0" y="0"/>
                </a:moveTo>
                <a:lnTo>
                  <a:pt x="2378682" y="0"/>
                </a:lnTo>
              </a:path>
            </a:pathLst>
          </a:custGeom>
          <a:ln w="5081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269259" y="2075907"/>
            <a:ext cx="2388870" cy="2407285"/>
            <a:chOff x="1269259" y="2075907"/>
            <a:chExt cx="2388870" cy="2407285"/>
          </a:xfrm>
        </p:grpSpPr>
        <p:sp>
          <p:nvSpPr>
            <p:cNvPr id="5" name="object 5"/>
            <p:cNvSpPr/>
            <p:nvPr/>
          </p:nvSpPr>
          <p:spPr>
            <a:xfrm>
              <a:off x="1274340" y="2476090"/>
              <a:ext cx="2378710" cy="0"/>
            </a:xfrm>
            <a:custGeom>
              <a:avLst/>
              <a:gdLst/>
              <a:ahLst/>
              <a:cxnLst/>
              <a:rect l="l" t="t" r="r" b="b"/>
              <a:pathLst>
                <a:path w="2378710" h="0">
                  <a:moveTo>
                    <a:pt x="0" y="0"/>
                  </a:moveTo>
                  <a:lnTo>
                    <a:pt x="2378682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64059" y="2081026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w="0"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00076" y="2081026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w="0"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36093" y="2081026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w="0"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5081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74340" y="3738302"/>
              <a:ext cx="2378710" cy="0"/>
            </a:xfrm>
            <a:custGeom>
              <a:avLst/>
              <a:gdLst/>
              <a:ahLst/>
              <a:cxnLst/>
              <a:rect l="l" t="t" r="r" b="b"/>
              <a:pathLst>
                <a:path w="2378710" h="0">
                  <a:moveTo>
                    <a:pt x="0" y="0"/>
                  </a:moveTo>
                  <a:lnTo>
                    <a:pt x="2378682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274340" y="2896827"/>
              <a:ext cx="2378710" cy="0"/>
            </a:xfrm>
            <a:custGeom>
              <a:avLst/>
              <a:gdLst/>
              <a:ahLst/>
              <a:cxnLst/>
              <a:rect l="l" t="t" r="r" b="b"/>
              <a:pathLst>
                <a:path w="2378710" h="0">
                  <a:moveTo>
                    <a:pt x="0" y="0"/>
                  </a:moveTo>
                  <a:lnTo>
                    <a:pt x="2378682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446051" y="2081026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w="0"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082068" y="2081026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w="0"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718085" y="2081026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w="0"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354101" y="2081026"/>
              <a:ext cx="0" cy="2397125"/>
            </a:xfrm>
            <a:custGeom>
              <a:avLst/>
              <a:gdLst/>
              <a:ahLst/>
              <a:cxnLst/>
              <a:rect l="l" t="t" r="r" b="b"/>
              <a:pathLst>
                <a:path w="0" h="2397125">
                  <a:moveTo>
                    <a:pt x="0" y="2396839"/>
                  </a:moveTo>
                  <a:lnTo>
                    <a:pt x="0" y="0"/>
                  </a:lnTo>
                </a:path>
              </a:pathLst>
            </a:custGeom>
            <a:ln w="10162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577368" y="3960399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24" y="27068"/>
                  </a:moveTo>
                  <a:lnTo>
                    <a:pt x="4226" y="23684"/>
                  </a:lnTo>
                  <a:lnTo>
                    <a:pt x="0" y="13534"/>
                  </a:lnTo>
                  <a:lnTo>
                    <a:pt x="4226" y="3383"/>
                  </a:lnTo>
                  <a:lnTo>
                    <a:pt x="13524" y="0"/>
                  </a:lnTo>
                  <a:lnTo>
                    <a:pt x="22823" y="3383"/>
                  </a:lnTo>
                  <a:lnTo>
                    <a:pt x="27049" y="13534"/>
                  </a:lnTo>
                  <a:lnTo>
                    <a:pt x="22823" y="23684"/>
                  </a:lnTo>
                  <a:lnTo>
                    <a:pt x="13524" y="2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577368" y="3960399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49" y="13534"/>
                  </a:moveTo>
                  <a:lnTo>
                    <a:pt x="22823" y="23684"/>
                  </a:lnTo>
                  <a:lnTo>
                    <a:pt x="13524" y="27068"/>
                  </a:lnTo>
                  <a:lnTo>
                    <a:pt x="4226" y="23684"/>
                  </a:lnTo>
                  <a:lnTo>
                    <a:pt x="0" y="13534"/>
                  </a:lnTo>
                  <a:lnTo>
                    <a:pt x="4226" y="3383"/>
                  </a:lnTo>
                  <a:lnTo>
                    <a:pt x="13524" y="0"/>
                  </a:lnTo>
                  <a:lnTo>
                    <a:pt x="22823" y="3383"/>
                  </a:lnTo>
                  <a:lnTo>
                    <a:pt x="27049" y="13534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531356" y="3977217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4">
                  <a:moveTo>
                    <a:pt x="13543" y="27068"/>
                  </a:move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  <a:lnTo>
                    <a:pt x="22854" y="23684"/>
                  </a:lnTo>
                  <a:lnTo>
                    <a:pt x="13543" y="2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531356" y="3977217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4">
                  <a:moveTo>
                    <a:pt x="27086" y="13534"/>
                  </a:moveTo>
                  <a:lnTo>
                    <a:pt x="22854" y="23684"/>
                  </a:lnTo>
                  <a:lnTo>
                    <a:pt x="13543" y="27068"/>
                  </a:ln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195735" y="399404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43" y="27096"/>
                  </a:moveTo>
                  <a:lnTo>
                    <a:pt x="4232" y="23712"/>
                  </a:lnTo>
                  <a:lnTo>
                    <a:pt x="0" y="13561"/>
                  </a:lnTo>
                  <a:lnTo>
                    <a:pt x="4232" y="3390"/>
                  </a:lnTo>
                  <a:lnTo>
                    <a:pt x="13543" y="0"/>
                  </a:lnTo>
                  <a:lnTo>
                    <a:pt x="22854" y="3390"/>
                  </a:lnTo>
                  <a:lnTo>
                    <a:pt x="27086" y="13561"/>
                  </a:lnTo>
                  <a:lnTo>
                    <a:pt x="22854" y="23712"/>
                  </a:lnTo>
                  <a:lnTo>
                    <a:pt x="13543" y="27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195735" y="399404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86" y="13561"/>
                  </a:moveTo>
                  <a:lnTo>
                    <a:pt x="22854" y="23712"/>
                  </a:lnTo>
                  <a:lnTo>
                    <a:pt x="13543" y="27096"/>
                  </a:lnTo>
                  <a:lnTo>
                    <a:pt x="4232" y="23712"/>
                  </a:lnTo>
                  <a:lnTo>
                    <a:pt x="0" y="13561"/>
                  </a:lnTo>
                  <a:lnTo>
                    <a:pt x="4232" y="3390"/>
                  </a:lnTo>
                  <a:lnTo>
                    <a:pt x="13543" y="0"/>
                  </a:lnTo>
                  <a:lnTo>
                    <a:pt x="22854" y="3390"/>
                  </a:lnTo>
                  <a:lnTo>
                    <a:pt x="27086" y="13561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941351" y="374159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24" y="27096"/>
                  </a:moveTo>
                  <a:lnTo>
                    <a:pt x="4226" y="23712"/>
                  </a:lnTo>
                  <a:lnTo>
                    <a:pt x="0" y="13561"/>
                  </a:lnTo>
                  <a:lnTo>
                    <a:pt x="4226" y="3390"/>
                  </a:lnTo>
                  <a:lnTo>
                    <a:pt x="13524" y="0"/>
                  </a:lnTo>
                  <a:lnTo>
                    <a:pt x="22823" y="3390"/>
                  </a:lnTo>
                  <a:lnTo>
                    <a:pt x="27049" y="13561"/>
                  </a:lnTo>
                  <a:lnTo>
                    <a:pt x="22823" y="23712"/>
                  </a:lnTo>
                  <a:lnTo>
                    <a:pt x="13524" y="27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941351" y="374159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49" y="13561"/>
                  </a:moveTo>
                  <a:lnTo>
                    <a:pt x="22823" y="23712"/>
                  </a:lnTo>
                  <a:lnTo>
                    <a:pt x="13524" y="27096"/>
                  </a:lnTo>
                  <a:lnTo>
                    <a:pt x="4226" y="23712"/>
                  </a:lnTo>
                  <a:lnTo>
                    <a:pt x="0" y="13561"/>
                  </a:lnTo>
                  <a:lnTo>
                    <a:pt x="4226" y="3390"/>
                  </a:lnTo>
                  <a:lnTo>
                    <a:pt x="13524" y="0"/>
                  </a:lnTo>
                  <a:lnTo>
                    <a:pt x="22823" y="3390"/>
                  </a:lnTo>
                  <a:lnTo>
                    <a:pt x="27049" y="13561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68165" y="4027707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24" y="27068"/>
                  </a:moveTo>
                  <a:lnTo>
                    <a:pt x="4226" y="23684"/>
                  </a:lnTo>
                  <a:lnTo>
                    <a:pt x="0" y="13534"/>
                  </a:lnTo>
                  <a:lnTo>
                    <a:pt x="4226" y="3383"/>
                  </a:lnTo>
                  <a:lnTo>
                    <a:pt x="13524" y="0"/>
                  </a:lnTo>
                  <a:lnTo>
                    <a:pt x="22823" y="3383"/>
                  </a:lnTo>
                  <a:lnTo>
                    <a:pt x="27049" y="13534"/>
                  </a:lnTo>
                  <a:lnTo>
                    <a:pt x="22823" y="23684"/>
                  </a:lnTo>
                  <a:lnTo>
                    <a:pt x="13524" y="2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768165" y="4027707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49" y="13534"/>
                  </a:moveTo>
                  <a:lnTo>
                    <a:pt x="22823" y="23684"/>
                  </a:lnTo>
                  <a:lnTo>
                    <a:pt x="13524" y="27068"/>
                  </a:lnTo>
                  <a:lnTo>
                    <a:pt x="4226" y="23684"/>
                  </a:lnTo>
                  <a:lnTo>
                    <a:pt x="0" y="13534"/>
                  </a:lnTo>
                  <a:lnTo>
                    <a:pt x="4226" y="3383"/>
                  </a:lnTo>
                  <a:lnTo>
                    <a:pt x="13524" y="0"/>
                  </a:lnTo>
                  <a:lnTo>
                    <a:pt x="22823" y="3383"/>
                  </a:lnTo>
                  <a:lnTo>
                    <a:pt x="27049" y="13534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386533" y="4162359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43" y="27068"/>
                  </a:move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  <a:lnTo>
                    <a:pt x="22854" y="23684"/>
                  </a:lnTo>
                  <a:lnTo>
                    <a:pt x="13543" y="2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386533" y="4162359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86" y="13534"/>
                  </a:moveTo>
                  <a:lnTo>
                    <a:pt x="22854" y="23684"/>
                  </a:lnTo>
                  <a:lnTo>
                    <a:pt x="13543" y="27068"/>
                  </a:ln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322946" y="3808930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43" y="27068"/>
                  </a:move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  <a:lnTo>
                    <a:pt x="22854" y="23684"/>
                  </a:lnTo>
                  <a:lnTo>
                    <a:pt x="13543" y="2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322946" y="3808930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86" y="13534"/>
                  </a:moveTo>
                  <a:lnTo>
                    <a:pt x="22854" y="23684"/>
                  </a:lnTo>
                  <a:lnTo>
                    <a:pt x="13543" y="27068"/>
                  </a:ln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958963" y="3926727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43" y="27068"/>
                  </a:move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  <a:lnTo>
                    <a:pt x="22854" y="23684"/>
                  </a:lnTo>
                  <a:lnTo>
                    <a:pt x="13543" y="2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958963" y="3926727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86" y="13534"/>
                  </a:moveTo>
                  <a:lnTo>
                    <a:pt x="22854" y="23684"/>
                  </a:lnTo>
                  <a:lnTo>
                    <a:pt x="13543" y="27068"/>
                  </a:ln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386533" y="394355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43" y="27095"/>
                  </a:moveTo>
                  <a:lnTo>
                    <a:pt x="4232" y="23712"/>
                  </a:lnTo>
                  <a:lnTo>
                    <a:pt x="0" y="13561"/>
                  </a:lnTo>
                  <a:lnTo>
                    <a:pt x="4232" y="3390"/>
                  </a:lnTo>
                  <a:lnTo>
                    <a:pt x="13543" y="0"/>
                  </a:lnTo>
                  <a:lnTo>
                    <a:pt x="22854" y="3390"/>
                  </a:lnTo>
                  <a:lnTo>
                    <a:pt x="27086" y="13561"/>
                  </a:lnTo>
                  <a:lnTo>
                    <a:pt x="22854" y="23712"/>
                  </a:lnTo>
                  <a:lnTo>
                    <a:pt x="13543" y="27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386533" y="394355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86" y="13561"/>
                  </a:moveTo>
                  <a:lnTo>
                    <a:pt x="22854" y="23712"/>
                  </a:lnTo>
                  <a:lnTo>
                    <a:pt x="13543" y="27095"/>
                  </a:lnTo>
                  <a:lnTo>
                    <a:pt x="4232" y="23712"/>
                  </a:lnTo>
                  <a:lnTo>
                    <a:pt x="0" y="13561"/>
                  </a:lnTo>
                  <a:lnTo>
                    <a:pt x="4232" y="3390"/>
                  </a:lnTo>
                  <a:lnTo>
                    <a:pt x="13543" y="0"/>
                  </a:lnTo>
                  <a:lnTo>
                    <a:pt x="22854" y="3390"/>
                  </a:lnTo>
                  <a:lnTo>
                    <a:pt x="27086" y="13561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640954" y="4229667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43" y="27068"/>
                  </a:move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  <a:lnTo>
                    <a:pt x="22854" y="23684"/>
                  </a:lnTo>
                  <a:lnTo>
                    <a:pt x="13543" y="2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640954" y="4229667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86" y="13534"/>
                  </a:moveTo>
                  <a:lnTo>
                    <a:pt x="22854" y="23684"/>
                  </a:lnTo>
                  <a:lnTo>
                    <a:pt x="13543" y="27068"/>
                  </a:ln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259359" y="4010889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24" y="27068"/>
                  </a:moveTo>
                  <a:lnTo>
                    <a:pt x="4226" y="23684"/>
                  </a:lnTo>
                  <a:lnTo>
                    <a:pt x="0" y="13534"/>
                  </a:lnTo>
                  <a:lnTo>
                    <a:pt x="4226" y="3383"/>
                  </a:lnTo>
                  <a:lnTo>
                    <a:pt x="13524" y="0"/>
                  </a:lnTo>
                  <a:lnTo>
                    <a:pt x="22823" y="3383"/>
                  </a:lnTo>
                  <a:lnTo>
                    <a:pt x="27049" y="13534"/>
                  </a:lnTo>
                  <a:lnTo>
                    <a:pt x="22823" y="23684"/>
                  </a:lnTo>
                  <a:lnTo>
                    <a:pt x="13524" y="2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259359" y="4010889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49" y="13534"/>
                  </a:moveTo>
                  <a:lnTo>
                    <a:pt x="22823" y="23684"/>
                  </a:lnTo>
                  <a:lnTo>
                    <a:pt x="13524" y="27068"/>
                  </a:lnTo>
                  <a:lnTo>
                    <a:pt x="4226" y="23684"/>
                  </a:lnTo>
                  <a:lnTo>
                    <a:pt x="0" y="13534"/>
                  </a:lnTo>
                  <a:lnTo>
                    <a:pt x="4226" y="3383"/>
                  </a:lnTo>
                  <a:lnTo>
                    <a:pt x="13524" y="0"/>
                  </a:lnTo>
                  <a:lnTo>
                    <a:pt x="22823" y="3383"/>
                  </a:lnTo>
                  <a:lnTo>
                    <a:pt x="27049" y="13534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259359" y="394355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24" y="27095"/>
                  </a:moveTo>
                  <a:lnTo>
                    <a:pt x="4226" y="23712"/>
                  </a:lnTo>
                  <a:lnTo>
                    <a:pt x="0" y="13561"/>
                  </a:lnTo>
                  <a:lnTo>
                    <a:pt x="4226" y="3390"/>
                  </a:lnTo>
                  <a:lnTo>
                    <a:pt x="13524" y="0"/>
                  </a:lnTo>
                  <a:lnTo>
                    <a:pt x="22823" y="3390"/>
                  </a:lnTo>
                  <a:lnTo>
                    <a:pt x="27049" y="13561"/>
                  </a:lnTo>
                  <a:lnTo>
                    <a:pt x="22823" y="23712"/>
                  </a:lnTo>
                  <a:lnTo>
                    <a:pt x="13524" y="27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259359" y="394355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49" y="13561"/>
                  </a:moveTo>
                  <a:lnTo>
                    <a:pt x="22823" y="23712"/>
                  </a:lnTo>
                  <a:lnTo>
                    <a:pt x="13524" y="27095"/>
                  </a:lnTo>
                  <a:lnTo>
                    <a:pt x="4226" y="23712"/>
                  </a:lnTo>
                  <a:lnTo>
                    <a:pt x="0" y="13561"/>
                  </a:lnTo>
                  <a:lnTo>
                    <a:pt x="4226" y="3390"/>
                  </a:lnTo>
                  <a:lnTo>
                    <a:pt x="13524" y="0"/>
                  </a:lnTo>
                  <a:lnTo>
                    <a:pt x="22823" y="3390"/>
                  </a:lnTo>
                  <a:lnTo>
                    <a:pt x="27049" y="13561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2704541" y="404453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43" y="27096"/>
                  </a:moveTo>
                  <a:lnTo>
                    <a:pt x="4232" y="23712"/>
                  </a:lnTo>
                  <a:lnTo>
                    <a:pt x="0" y="13561"/>
                  </a:lnTo>
                  <a:lnTo>
                    <a:pt x="4232" y="3390"/>
                  </a:lnTo>
                  <a:lnTo>
                    <a:pt x="13543" y="0"/>
                  </a:lnTo>
                  <a:lnTo>
                    <a:pt x="22854" y="3390"/>
                  </a:lnTo>
                  <a:lnTo>
                    <a:pt x="27086" y="13561"/>
                  </a:lnTo>
                  <a:lnTo>
                    <a:pt x="22854" y="23712"/>
                  </a:lnTo>
                  <a:lnTo>
                    <a:pt x="13543" y="27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704541" y="404453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86" y="13561"/>
                  </a:moveTo>
                  <a:lnTo>
                    <a:pt x="22854" y="23712"/>
                  </a:lnTo>
                  <a:lnTo>
                    <a:pt x="13543" y="27096"/>
                  </a:lnTo>
                  <a:lnTo>
                    <a:pt x="4232" y="23712"/>
                  </a:lnTo>
                  <a:lnTo>
                    <a:pt x="0" y="13561"/>
                  </a:lnTo>
                  <a:lnTo>
                    <a:pt x="4232" y="3390"/>
                  </a:lnTo>
                  <a:lnTo>
                    <a:pt x="13543" y="0"/>
                  </a:lnTo>
                  <a:lnTo>
                    <a:pt x="22854" y="3390"/>
                  </a:lnTo>
                  <a:lnTo>
                    <a:pt x="27086" y="13561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750553" y="4027707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24" y="27068"/>
                  </a:moveTo>
                  <a:lnTo>
                    <a:pt x="4226" y="23684"/>
                  </a:lnTo>
                  <a:lnTo>
                    <a:pt x="0" y="13534"/>
                  </a:lnTo>
                  <a:lnTo>
                    <a:pt x="4226" y="3383"/>
                  </a:lnTo>
                  <a:lnTo>
                    <a:pt x="13524" y="0"/>
                  </a:lnTo>
                  <a:lnTo>
                    <a:pt x="22823" y="3383"/>
                  </a:lnTo>
                  <a:lnTo>
                    <a:pt x="27049" y="13534"/>
                  </a:lnTo>
                  <a:lnTo>
                    <a:pt x="22823" y="23684"/>
                  </a:lnTo>
                  <a:lnTo>
                    <a:pt x="13524" y="2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750553" y="4027707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49" y="13534"/>
                  </a:moveTo>
                  <a:lnTo>
                    <a:pt x="22823" y="23684"/>
                  </a:lnTo>
                  <a:lnTo>
                    <a:pt x="13524" y="27068"/>
                  </a:lnTo>
                  <a:lnTo>
                    <a:pt x="4226" y="23684"/>
                  </a:lnTo>
                  <a:lnTo>
                    <a:pt x="0" y="13534"/>
                  </a:lnTo>
                  <a:lnTo>
                    <a:pt x="4226" y="3383"/>
                  </a:lnTo>
                  <a:lnTo>
                    <a:pt x="13524" y="0"/>
                  </a:lnTo>
                  <a:lnTo>
                    <a:pt x="22823" y="3383"/>
                  </a:lnTo>
                  <a:lnTo>
                    <a:pt x="27049" y="13534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2259359" y="3960399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24" y="27068"/>
                  </a:moveTo>
                  <a:lnTo>
                    <a:pt x="4226" y="23684"/>
                  </a:lnTo>
                  <a:lnTo>
                    <a:pt x="0" y="13534"/>
                  </a:lnTo>
                  <a:lnTo>
                    <a:pt x="4226" y="3383"/>
                  </a:lnTo>
                  <a:lnTo>
                    <a:pt x="13524" y="0"/>
                  </a:lnTo>
                  <a:lnTo>
                    <a:pt x="22823" y="3383"/>
                  </a:lnTo>
                  <a:lnTo>
                    <a:pt x="27049" y="13534"/>
                  </a:lnTo>
                  <a:lnTo>
                    <a:pt x="22823" y="23684"/>
                  </a:lnTo>
                  <a:lnTo>
                    <a:pt x="13524" y="2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259359" y="3960399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49" y="13534"/>
                  </a:moveTo>
                  <a:lnTo>
                    <a:pt x="22823" y="23684"/>
                  </a:lnTo>
                  <a:lnTo>
                    <a:pt x="13524" y="27068"/>
                  </a:lnTo>
                  <a:lnTo>
                    <a:pt x="4226" y="23684"/>
                  </a:lnTo>
                  <a:lnTo>
                    <a:pt x="0" y="13534"/>
                  </a:lnTo>
                  <a:lnTo>
                    <a:pt x="4226" y="3383"/>
                  </a:lnTo>
                  <a:lnTo>
                    <a:pt x="13524" y="0"/>
                  </a:lnTo>
                  <a:lnTo>
                    <a:pt x="22823" y="3383"/>
                  </a:lnTo>
                  <a:lnTo>
                    <a:pt x="27049" y="13534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086174" y="394355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24" y="27095"/>
                  </a:moveTo>
                  <a:lnTo>
                    <a:pt x="4226" y="23712"/>
                  </a:lnTo>
                  <a:lnTo>
                    <a:pt x="0" y="13561"/>
                  </a:lnTo>
                  <a:lnTo>
                    <a:pt x="4226" y="3390"/>
                  </a:lnTo>
                  <a:lnTo>
                    <a:pt x="13524" y="0"/>
                  </a:lnTo>
                  <a:lnTo>
                    <a:pt x="22823" y="3390"/>
                  </a:lnTo>
                  <a:lnTo>
                    <a:pt x="27049" y="13561"/>
                  </a:lnTo>
                  <a:lnTo>
                    <a:pt x="22823" y="23712"/>
                  </a:lnTo>
                  <a:lnTo>
                    <a:pt x="13524" y="270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086174" y="394355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49" y="13561"/>
                  </a:moveTo>
                  <a:lnTo>
                    <a:pt x="22823" y="23712"/>
                  </a:lnTo>
                  <a:lnTo>
                    <a:pt x="13524" y="27095"/>
                  </a:lnTo>
                  <a:lnTo>
                    <a:pt x="4226" y="23712"/>
                  </a:lnTo>
                  <a:lnTo>
                    <a:pt x="0" y="13561"/>
                  </a:lnTo>
                  <a:lnTo>
                    <a:pt x="4226" y="3390"/>
                  </a:lnTo>
                  <a:lnTo>
                    <a:pt x="13524" y="0"/>
                  </a:lnTo>
                  <a:lnTo>
                    <a:pt x="22823" y="3390"/>
                  </a:lnTo>
                  <a:lnTo>
                    <a:pt x="27049" y="13561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686929" y="217643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13543" y="27068"/>
                  </a:move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  <a:lnTo>
                    <a:pt x="22854" y="23684"/>
                  </a:lnTo>
                  <a:lnTo>
                    <a:pt x="13543" y="2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686929" y="217643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7086" y="13534"/>
                  </a:moveTo>
                  <a:lnTo>
                    <a:pt x="22854" y="23684"/>
                  </a:lnTo>
                  <a:lnTo>
                    <a:pt x="13543" y="27068"/>
                  </a:ln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322946" y="3775257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43" y="27068"/>
                  </a:move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  <a:lnTo>
                    <a:pt x="22854" y="23684"/>
                  </a:lnTo>
                  <a:lnTo>
                    <a:pt x="13543" y="2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322946" y="3775257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86" y="13534"/>
                  </a:moveTo>
                  <a:lnTo>
                    <a:pt x="22854" y="23684"/>
                  </a:lnTo>
                  <a:lnTo>
                    <a:pt x="13543" y="27068"/>
                  </a:ln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3340558" y="4162359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4">
                  <a:moveTo>
                    <a:pt x="13543" y="27068"/>
                  </a:move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  <a:lnTo>
                    <a:pt x="22854" y="23684"/>
                  </a:lnTo>
                  <a:lnTo>
                    <a:pt x="13543" y="2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340558" y="4162359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4">
                  <a:moveTo>
                    <a:pt x="27086" y="13534"/>
                  </a:moveTo>
                  <a:lnTo>
                    <a:pt x="22854" y="23684"/>
                  </a:lnTo>
                  <a:lnTo>
                    <a:pt x="13543" y="27068"/>
                  </a:ln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450157" y="3590152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43" y="27068"/>
                  </a:move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  <a:lnTo>
                    <a:pt x="22854" y="23684"/>
                  </a:lnTo>
                  <a:lnTo>
                    <a:pt x="13543" y="2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450157" y="3590152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86" y="13534"/>
                  </a:moveTo>
                  <a:lnTo>
                    <a:pt x="22854" y="23684"/>
                  </a:lnTo>
                  <a:lnTo>
                    <a:pt x="13543" y="27068"/>
                  </a:ln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259359" y="4212849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24" y="27068"/>
                  </a:moveTo>
                  <a:lnTo>
                    <a:pt x="4226" y="23684"/>
                  </a:lnTo>
                  <a:lnTo>
                    <a:pt x="0" y="13534"/>
                  </a:lnTo>
                  <a:lnTo>
                    <a:pt x="4226" y="3383"/>
                  </a:lnTo>
                  <a:lnTo>
                    <a:pt x="13524" y="0"/>
                  </a:lnTo>
                  <a:lnTo>
                    <a:pt x="22823" y="3383"/>
                  </a:lnTo>
                  <a:lnTo>
                    <a:pt x="27049" y="13534"/>
                  </a:lnTo>
                  <a:lnTo>
                    <a:pt x="22823" y="23684"/>
                  </a:lnTo>
                  <a:lnTo>
                    <a:pt x="13524" y="2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259359" y="4212849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49" y="13534"/>
                  </a:moveTo>
                  <a:lnTo>
                    <a:pt x="22823" y="23684"/>
                  </a:lnTo>
                  <a:lnTo>
                    <a:pt x="13524" y="27068"/>
                  </a:lnTo>
                  <a:lnTo>
                    <a:pt x="4226" y="23684"/>
                  </a:lnTo>
                  <a:lnTo>
                    <a:pt x="0" y="13534"/>
                  </a:lnTo>
                  <a:lnTo>
                    <a:pt x="4226" y="3383"/>
                  </a:lnTo>
                  <a:lnTo>
                    <a:pt x="13524" y="0"/>
                  </a:lnTo>
                  <a:lnTo>
                    <a:pt x="22823" y="3383"/>
                  </a:lnTo>
                  <a:lnTo>
                    <a:pt x="27049" y="13534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958963" y="404453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43" y="27096"/>
                  </a:moveTo>
                  <a:lnTo>
                    <a:pt x="4232" y="23712"/>
                  </a:lnTo>
                  <a:lnTo>
                    <a:pt x="0" y="13561"/>
                  </a:lnTo>
                  <a:lnTo>
                    <a:pt x="4232" y="3390"/>
                  </a:lnTo>
                  <a:lnTo>
                    <a:pt x="13543" y="0"/>
                  </a:lnTo>
                  <a:lnTo>
                    <a:pt x="22854" y="3390"/>
                  </a:lnTo>
                  <a:lnTo>
                    <a:pt x="27086" y="13561"/>
                  </a:lnTo>
                  <a:lnTo>
                    <a:pt x="22854" y="23712"/>
                  </a:lnTo>
                  <a:lnTo>
                    <a:pt x="13543" y="27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958963" y="404453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86" y="13561"/>
                  </a:moveTo>
                  <a:lnTo>
                    <a:pt x="22854" y="23712"/>
                  </a:lnTo>
                  <a:lnTo>
                    <a:pt x="13543" y="27096"/>
                  </a:lnTo>
                  <a:lnTo>
                    <a:pt x="4232" y="23712"/>
                  </a:lnTo>
                  <a:lnTo>
                    <a:pt x="0" y="13561"/>
                  </a:lnTo>
                  <a:lnTo>
                    <a:pt x="4232" y="3390"/>
                  </a:lnTo>
                  <a:lnTo>
                    <a:pt x="13543" y="0"/>
                  </a:lnTo>
                  <a:lnTo>
                    <a:pt x="22854" y="3390"/>
                  </a:lnTo>
                  <a:lnTo>
                    <a:pt x="27086" y="13561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2895376" y="389306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24" y="27096"/>
                  </a:moveTo>
                  <a:lnTo>
                    <a:pt x="4226" y="23712"/>
                  </a:lnTo>
                  <a:lnTo>
                    <a:pt x="0" y="13561"/>
                  </a:lnTo>
                  <a:lnTo>
                    <a:pt x="4226" y="3390"/>
                  </a:lnTo>
                  <a:lnTo>
                    <a:pt x="13524" y="0"/>
                  </a:lnTo>
                  <a:lnTo>
                    <a:pt x="22823" y="3390"/>
                  </a:lnTo>
                  <a:lnTo>
                    <a:pt x="27049" y="13561"/>
                  </a:lnTo>
                  <a:lnTo>
                    <a:pt x="22823" y="23712"/>
                  </a:lnTo>
                  <a:lnTo>
                    <a:pt x="13524" y="27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2895376" y="389306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49" y="13561"/>
                  </a:moveTo>
                  <a:lnTo>
                    <a:pt x="22823" y="23712"/>
                  </a:lnTo>
                  <a:lnTo>
                    <a:pt x="13524" y="27096"/>
                  </a:lnTo>
                  <a:lnTo>
                    <a:pt x="4226" y="23712"/>
                  </a:lnTo>
                  <a:lnTo>
                    <a:pt x="0" y="13561"/>
                  </a:lnTo>
                  <a:lnTo>
                    <a:pt x="4226" y="3390"/>
                  </a:lnTo>
                  <a:lnTo>
                    <a:pt x="13524" y="0"/>
                  </a:lnTo>
                  <a:lnTo>
                    <a:pt x="22823" y="3390"/>
                  </a:lnTo>
                  <a:lnTo>
                    <a:pt x="27049" y="13561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368920" y="2883293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13543" y="27068"/>
                  </a:move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  <a:lnTo>
                    <a:pt x="22854" y="23684"/>
                  </a:lnTo>
                  <a:lnTo>
                    <a:pt x="13543" y="2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368920" y="2883293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5">
                  <a:moveTo>
                    <a:pt x="27086" y="13534"/>
                  </a:moveTo>
                  <a:lnTo>
                    <a:pt x="22854" y="23684"/>
                  </a:lnTo>
                  <a:lnTo>
                    <a:pt x="13543" y="27068"/>
                  </a:ln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068561" y="384257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24" y="27096"/>
                  </a:moveTo>
                  <a:lnTo>
                    <a:pt x="4226" y="23712"/>
                  </a:lnTo>
                  <a:lnTo>
                    <a:pt x="0" y="13561"/>
                  </a:lnTo>
                  <a:lnTo>
                    <a:pt x="4226" y="3390"/>
                  </a:lnTo>
                  <a:lnTo>
                    <a:pt x="13524" y="0"/>
                  </a:lnTo>
                  <a:lnTo>
                    <a:pt x="22823" y="3390"/>
                  </a:lnTo>
                  <a:lnTo>
                    <a:pt x="27049" y="13561"/>
                  </a:lnTo>
                  <a:lnTo>
                    <a:pt x="22823" y="23712"/>
                  </a:lnTo>
                  <a:lnTo>
                    <a:pt x="13524" y="27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068561" y="3842574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49" y="13561"/>
                  </a:moveTo>
                  <a:lnTo>
                    <a:pt x="22823" y="23712"/>
                  </a:lnTo>
                  <a:lnTo>
                    <a:pt x="13524" y="27096"/>
                  </a:lnTo>
                  <a:lnTo>
                    <a:pt x="4226" y="23712"/>
                  </a:lnTo>
                  <a:lnTo>
                    <a:pt x="0" y="13561"/>
                  </a:lnTo>
                  <a:lnTo>
                    <a:pt x="4226" y="3390"/>
                  </a:lnTo>
                  <a:lnTo>
                    <a:pt x="13524" y="0"/>
                  </a:lnTo>
                  <a:lnTo>
                    <a:pt x="22823" y="3390"/>
                  </a:lnTo>
                  <a:lnTo>
                    <a:pt x="27049" y="13561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814140" y="3472318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13543" y="27068"/>
                  </a:move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  <a:lnTo>
                    <a:pt x="22854" y="23684"/>
                  </a:lnTo>
                  <a:lnTo>
                    <a:pt x="13543" y="2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814140" y="3472318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5" h="27304">
                  <a:moveTo>
                    <a:pt x="27086" y="13534"/>
                  </a:moveTo>
                  <a:lnTo>
                    <a:pt x="22854" y="23684"/>
                  </a:lnTo>
                  <a:lnTo>
                    <a:pt x="13543" y="27068"/>
                  </a:lnTo>
                  <a:lnTo>
                    <a:pt x="4232" y="23684"/>
                  </a:lnTo>
                  <a:lnTo>
                    <a:pt x="0" y="13534"/>
                  </a:lnTo>
                  <a:lnTo>
                    <a:pt x="4232" y="3383"/>
                  </a:lnTo>
                  <a:lnTo>
                    <a:pt x="13543" y="0"/>
                  </a:lnTo>
                  <a:lnTo>
                    <a:pt x="22854" y="3383"/>
                  </a:lnTo>
                  <a:lnTo>
                    <a:pt x="27086" y="13534"/>
                  </a:lnTo>
                </a:path>
              </a:pathLst>
            </a:custGeom>
            <a:ln w="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381156" y="3341897"/>
              <a:ext cx="2146300" cy="1021080"/>
            </a:xfrm>
            <a:custGeom>
              <a:avLst/>
              <a:gdLst/>
              <a:ahLst/>
              <a:cxnLst/>
              <a:rect l="l" t="t" r="r" b="b"/>
              <a:pathLst>
                <a:path w="2146300" h="1021079">
                  <a:moveTo>
                    <a:pt x="25817" y="17765"/>
                  </a:moveTo>
                  <a:lnTo>
                    <a:pt x="0" y="5507"/>
                  </a:lnTo>
                  <a:lnTo>
                    <a:pt x="2616" y="0"/>
                  </a:lnTo>
                  <a:lnTo>
                    <a:pt x="28426" y="12253"/>
                  </a:lnTo>
                  <a:lnTo>
                    <a:pt x="25817" y="17765"/>
                  </a:lnTo>
                  <a:close/>
                </a:path>
                <a:path w="2146300" h="1021079">
                  <a:moveTo>
                    <a:pt x="77480" y="42200"/>
                  </a:moveTo>
                  <a:lnTo>
                    <a:pt x="51649" y="29985"/>
                  </a:lnTo>
                  <a:lnTo>
                    <a:pt x="54254" y="24471"/>
                  </a:lnTo>
                  <a:lnTo>
                    <a:pt x="80088" y="36688"/>
                  </a:lnTo>
                  <a:lnTo>
                    <a:pt x="77480" y="42200"/>
                  </a:lnTo>
                  <a:close/>
                </a:path>
                <a:path w="2146300" h="1021079">
                  <a:moveTo>
                    <a:pt x="129121" y="66680"/>
                  </a:moveTo>
                  <a:lnTo>
                    <a:pt x="103292" y="54447"/>
                  </a:lnTo>
                  <a:lnTo>
                    <a:pt x="105909" y="48939"/>
                  </a:lnTo>
                  <a:lnTo>
                    <a:pt x="131730" y="61169"/>
                  </a:lnTo>
                  <a:lnTo>
                    <a:pt x="129121" y="66680"/>
                  </a:lnTo>
                  <a:close/>
                </a:path>
                <a:path w="2146300" h="1021079">
                  <a:moveTo>
                    <a:pt x="180769" y="91146"/>
                  </a:moveTo>
                  <a:lnTo>
                    <a:pt x="154946" y="78907"/>
                  </a:lnTo>
                  <a:lnTo>
                    <a:pt x="157558" y="73397"/>
                  </a:lnTo>
                  <a:lnTo>
                    <a:pt x="183378" y="85634"/>
                  </a:lnTo>
                  <a:lnTo>
                    <a:pt x="180769" y="91146"/>
                  </a:lnTo>
                  <a:close/>
                </a:path>
                <a:path w="2146300" h="1021079">
                  <a:moveTo>
                    <a:pt x="232425" y="115596"/>
                  </a:moveTo>
                  <a:lnTo>
                    <a:pt x="206597" y="103371"/>
                  </a:lnTo>
                  <a:lnTo>
                    <a:pt x="209206" y="97859"/>
                  </a:lnTo>
                  <a:lnTo>
                    <a:pt x="235034" y="110084"/>
                  </a:lnTo>
                  <a:lnTo>
                    <a:pt x="232425" y="115596"/>
                  </a:lnTo>
                  <a:close/>
                </a:path>
                <a:path w="2146300" h="1021079">
                  <a:moveTo>
                    <a:pt x="284073" y="140062"/>
                  </a:moveTo>
                  <a:lnTo>
                    <a:pt x="258236" y="127848"/>
                  </a:lnTo>
                  <a:lnTo>
                    <a:pt x="260852" y="122340"/>
                  </a:lnTo>
                  <a:lnTo>
                    <a:pt x="286682" y="134550"/>
                  </a:lnTo>
                  <a:lnTo>
                    <a:pt x="284073" y="140062"/>
                  </a:lnTo>
                  <a:close/>
                </a:path>
                <a:path w="2146300" h="1021079">
                  <a:moveTo>
                    <a:pt x="335715" y="164542"/>
                  </a:moveTo>
                  <a:lnTo>
                    <a:pt x="309893" y="152295"/>
                  </a:lnTo>
                  <a:lnTo>
                    <a:pt x="312509" y="146787"/>
                  </a:lnTo>
                  <a:lnTo>
                    <a:pt x="338323" y="159030"/>
                  </a:lnTo>
                  <a:lnTo>
                    <a:pt x="335715" y="164542"/>
                  </a:lnTo>
                  <a:close/>
                </a:path>
                <a:path w="2146300" h="1021079">
                  <a:moveTo>
                    <a:pt x="387379" y="188980"/>
                  </a:moveTo>
                  <a:lnTo>
                    <a:pt x="361543" y="176767"/>
                  </a:lnTo>
                  <a:lnTo>
                    <a:pt x="364151" y="171255"/>
                  </a:lnTo>
                  <a:lnTo>
                    <a:pt x="389984" y="183466"/>
                  </a:lnTo>
                  <a:lnTo>
                    <a:pt x="387379" y="188980"/>
                  </a:lnTo>
                  <a:close/>
                </a:path>
                <a:path w="2146300" h="1021079">
                  <a:moveTo>
                    <a:pt x="439019" y="213458"/>
                  </a:moveTo>
                  <a:lnTo>
                    <a:pt x="413191" y="201233"/>
                  </a:lnTo>
                  <a:lnTo>
                    <a:pt x="415800" y="195721"/>
                  </a:lnTo>
                  <a:lnTo>
                    <a:pt x="441628" y="207946"/>
                  </a:lnTo>
                  <a:lnTo>
                    <a:pt x="439019" y="213458"/>
                  </a:lnTo>
                  <a:close/>
                </a:path>
                <a:path w="2146300" h="1021079">
                  <a:moveTo>
                    <a:pt x="490667" y="237929"/>
                  </a:moveTo>
                  <a:lnTo>
                    <a:pt x="464836" y="225696"/>
                  </a:lnTo>
                  <a:lnTo>
                    <a:pt x="467452" y="220188"/>
                  </a:lnTo>
                  <a:lnTo>
                    <a:pt x="493272" y="232416"/>
                  </a:lnTo>
                  <a:lnTo>
                    <a:pt x="490667" y="237929"/>
                  </a:lnTo>
                  <a:close/>
                </a:path>
                <a:path w="2146300" h="1021079">
                  <a:moveTo>
                    <a:pt x="542318" y="262374"/>
                  </a:moveTo>
                  <a:lnTo>
                    <a:pt x="516495" y="250148"/>
                  </a:lnTo>
                  <a:lnTo>
                    <a:pt x="519104" y="244637"/>
                  </a:lnTo>
                  <a:lnTo>
                    <a:pt x="544935" y="256866"/>
                  </a:lnTo>
                  <a:lnTo>
                    <a:pt x="542318" y="262374"/>
                  </a:lnTo>
                  <a:close/>
                </a:path>
                <a:path w="2146300" h="1021079">
                  <a:moveTo>
                    <a:pt x="593964" y="286853"/>
                  </a:moveTo>
                  <a:lnTo>
                    <a:pt x="568137" y="274629"/>
                  </a:lnTo>
                  <a:lnTo>
                    <a:pt x="570745" y="269117"/>
                  </a:lnTo>
                  <a:lnTo>
                    <a:pt x="596573" y="281342"/>
                  </a:lnTo>
                  <a:lnTo>
                    <a:pt x="593964" y="286853"/>
                  </a:lnTo>
                  <a:close/>
                </a:path>
                <a:path w="2146300" h="1021079">
                  <a:moveTo>
                    <a:pt x="645613" y="311319"/>
                  </a:moveTo>
                  <a:lnTo>
                    <a:pt x="619785" y="299088"/>
                  </a:lnTo>
                  <a:lnTo>
                    <a:pt x="622398" y="293578"/>
                  </a:lnTo>
                  <a:lnTo>
                    <a:pt x="648221" y="305808"/>
                  </a:lnTo>
                  <a:lnTo>
                    <a:pt x="645613" y="311319"/>
                  </a:lnTo>
                  <a:close/>
                </a:path>
                <a:path w="2146300" h="1021079">
                  <a:moveTo>
                    <a:pt x="697254" y="335800"/>
                  </a:moveTo>
                  <a:lnTo>
                    <a:pt x="671436" y="323544"/>
                  </a:lnTo>
                  <a:lnTo>
                    <a:pt x="674052" y="318036"/>
                  </a:lnTo>
                  <a:lnTo>
                    <a:pt x="699863" y="330288"/>
                  </a:lnTo>
                  <a:lnTo>
                    <a:pt x="697254" y="335800"/>
                  </a:lnTo>
                  <a:close/>
                </a:path>
                <a:path w="2146300" h="1021079">
                  <a:moveTo>
                    <a:pt x="748917" y="360235"/>
                  </a:moveTo>
                  <a:lnTo>
                    <a:pt x="723087" y="348019"/>
                  </a:lnTo>
                  <a:lnTo>
                    <a:pt x="725692" y="342506"/>
                  </a:lnTo>
                  <a:lnTo>
                    <a:pt x="751526" y="354723"/>
                  </a:lnTo>
                  <a:lnTo>
                    <a:pt x="748917" y="360235"/>
                  </a:lnTo>
                  <a:close/>
                </a:path>
                <a:path w="2146300" h="1021079">
                  <a:moveTo>
                    <a:pt x="800558" y="384715"/>
                  </a:moveTo>
                  <a:lnTo>
                    <a:pt x="774729" y="372483"/>
                  </a:lnTo>
                  <a:lnTo>
                    <a:pt x="777345" y="366975"/>
                  </a:lnTo>
                  <a:lnTo>
                    <a:pt x="803167" y="379204"/>
                  </a:lnTo>
                  <a:lnTo>
                    <a:pt x="800558" y="384715"/>
                  </a:lnTo>
                  <a:close/>
                </a:path>
                <a:path w="2146300" h="1021079">
                  <a:moveTo>
                    <a:pt x="852206" y="409181"/>
                  </a:moveTo>
                  <a:lnTo>
                    <a:pt x="826382" y="396943"/>
                  </a:lnTo>
                  <a:lnTo>
                    <a:pt x="828995" y="391433"/>
                  </a:lnTo>
                  <a:lnTo>
                    <a:pt x="854815" y="403670"/>
                  </a:lnTo>
                  <a:lnTo>
                    <a:pt x="852206" y="409181"/>
                  </a:lnTo>
                  <a:close/>
                </a:path>
                <a:path w="2146300" h="1021079">
                  <a:moveTo>
                    <a:pt x="903862" y="433631"/>
                  </a:moveTo>
                  <a:lnTo>
                    <a:pt x="878034" y="421406"/>
                  </a:lnTo>
                  <a:lnTo>
                    <a:pt x="880643" y="415894"/>
                  </a:lnTo>
                  <a:lnTo>
                    <a:pt x="906471" y="428119"/>
                  </a:lnTo>
                  <a:lnTo>
                    <a:pt x="903862" y="433631"/>
                  </a:lnTo>
                  <a:close/>
                </a:path>
                <a:path w="2146300" h="1021079">
                  <a:moveTo>
                    <a:pt x="955511" y="458097"/>
                  </a:moveTo>
                  <a:lnTo>
                    <a:pt x="929672" y="445884"/>
                  </a:lnTo>
                  <a:lnTo>
                    <a:pt x="932288" y="440376"/>
                  </a:lnTo>
                  <a:lnTo>
                    <a:pt x="958119" y="452585"/>
                  </a:lnTo>
                  <a:lnTo>
                    <a:pt x="955511" y="458097"/>
                  </a:lnTo>
                  <a:close/>
                </a:path>
                <a:path w="2146300" h="1021079">
                  <a:moveTo>
                    <a:pt x="1007152" y="482577"/>
                  </a:moveTo>
                  <a:lnTo>
                    <a:pt x="981329" y="470331"/>
                  </a:lnTo>
                  <a:lnTo>
                    <a:pt x="983946" y="464824"/>
                  </a:lnTo>
                  <a:lnTo>
                    <a:pt x="1009761" y="477065"/>
                  </a:lnTo>
                  <a:lnTo>
                    <a:pt x="1007152" y="482577"/>
                  </a:lnTo>
                  <a:close/>
                </a:path>
                <a:path w="2146300" h="1021079">
                  <a:moveTo>
                    <a:pt x="1058816" y="507014"/>
                  </a:moveTo>
                  <a:lnTo>
                    <a:pt x="1032980" y="494802"/>
                  </a:lnTo>
                  <a:lnTo>
                    <a:pt x="1035589" y="489290"/>
                  </a:lnTo>
                  <a:lnTo>
                    <a:pt x="1061421" y="501501"/>
                  </a:lnTo>
                  <a:lnTo>
                    <a:pt x="1058816" y="507014"/>
                  </a:lnTo>
                  <a:close/>
                </a:path>
                <a:path w="2146300" h="1021079">
                  <a:moveTo>
                    <a:pt x="1110456" y="531493"/>
                  </a:moveTo>
                  <a:lnTo>
                    <a:pt x="1084628" y="519268"/>
                  </a:lnTo>
                  <a:lnTo>
                    <a:pt x="1087237" y="513756"/>
                  </a:lnTo>
                  <a:lnTo>
                    <a:pt x="1113065" y="525981"/>
                  </a:lnTo>
                  <a:lnTo>
                    <a:pt x="1110456" y="531493"/>
                  </a:lnTo>
                  <a:close/>
                </a:path>
                <a:path w="2146300" h="1021079">
                  <a:moveTo>
                    <a:pt x="1162097" y="555973"/>
                  </a:moveTo>
                  <a:lnTo>
                    <a:pt x="1136272" y="543732"/>
                  </a:lnTo>
                  <a:lnTo>
                    <a:pt x="1138889" y="538225"/>
                  </a:lnTo>
                  <a:lnTo>
                    <a:pt x="1164706" y="550461"/>
                  </a:lnTo>
                  <a:lnTo>
                    <a:pt x="1162097" y="555973"/>
                  </a:lnTo>
                  <a:close/>
                </a:path>
                <a:path w="2146300" h="1021079">
                  <a:moveTo>
                    <a:pt x="1213755" y="580410"/>
                  </a:moveTo>
                  <a:lnTo>
                    <a:pt x="1187934" y="568185"/>
                  </a:lnTo>
                  <a:lnTo>
                    <a:pt x="1190539" y="562672"/>
                  </a:lnTo>
                  <a:lnTo>
                    <a:pt x="1216371" y="574903"/>
                  </a:lnTo>
                  <a:lnTo>
                    <a:pt x="1213755" y="580410"/>
                  </a:lnTo>
                  <a:close/>
                </a:path>
                <a:path w="2146300" h="1021079">
                  <a:moveTo>
                    <a:pt x="1265402" y="604889"/>
                  </a:moveTo>
                  <a:lnTo>
                    <a:pt x="1239574" y="592664"/>
                  </a:lnTo>
                  <a:lnTo>
                    <a:pt x="1242183" y="587152"/>
                  </a:lnTo>
                  <a:lnTo>
                    <a:pt x="1268010" y="599377"/>
                  </a:lnTo>
                  <a:lnTo>
                    <a:pt x="1265402" y="604889"/>
                  </a:lnTo>
                  <a:close/>
                </a:path>
                <a:path w="2146300" h="1021079">
                  <a:moveTo>
                    <a:pt x="1317050" y="629355"/>
                  </a:moveTo>
                  <a:lnTo>
                    <a:pt x="1291222" y="617124"/>
                  </a:lnTo>
                  <a:lnTo>
                    <a:pt x="1293835" y="611615"/>
                  </a:lnTo>
                  <a:lnTo>
                    <a:pt x="1319659" y="623843"/>
                  </a:lnTo>
                  <a:lnTo>
                    <a:pt x="1317050" y="629355"/>
                  </a:lnTo>
                  <a:close/>
                </a:path>
                <a:path w="2146300" h="1021079">
                  <a:moveTo>
                    <a:pt x="1368698" y="653811"/>
                  </a:moveTo>
                  <a:lnTo>
                    <a:pt x="1342878" y="641579"/>
                  </a:lnTo>
                  <a:lnTo>
                    <a:pt x="1345487" y="636068"/>
                  </a:lnTo>
                  <a:lnTo>
                    <a:pt x="1371314" y="648304"/>
                  </a:lnTo>
                  <a:lnTo>
                    <a:pt x="1368698" y="653811"/>
                  </a:lnTo>
                  <a:close/>
                </a:path>
                <a:path w="2146300" h="1021079">
                  <a:moveTo>
                    <a:pt x="1420354" y="678270"/>
                  </a:moveTo>
                  <a:lnTo>
                    <a:pt x="1394525" y="666054"/>
                  </a:lnTo>
                  <a:lnTo>
                    <a:pt x="1397130" y="660540"/>
                  </a:lnTo>
                  <a:lnTo>
                    <a:pt x="1422963" y="672759"/>
                  </a:lnTo>
                  <a:lnTo>
                    <a:pt x="1420354" y="678270"/>
                  </a:lnTo>
                  <a:close/>
                </a:path>
                <a:path w="2146300" h="1021079">
                  <a:moveTo>
                    <a:pt x="1471996" y="702750"/>
                  </a:moveTo>
                  <a:lnTo>
                    <a:pt x="1446165" y="690520"/>
                  </a:lnTo>
                  <a:lnTo>
                    <a:pt x="1448782" y="685012"/>
                  </a:lnTo>
                  <a:lnTo>
                    <a:pt x="1474604" y="697239"/>
                  </a:lnTo>
                  <a:lnTo>
                    <a:pt x="1471996" y="702750"/>
                  </a:lnTo>
                  <a:close/>
                </a:path>
                <a:path w="2146300" h="1021079">
                  <a:moveTo>
                    <a:pt x="1523648" y="727198"/>
                  </a:moveTo>
                  <a:lnTo>
                    <a:pt x="1497827" y="714972"/>
                  </a:lnTo>
                  <a:lnTo>
                    <a:pt x="1500432" y="709459"/>
                  </a:lnTo>
                  <a:lnTo>
                    <a:pt x="1526264" y="721690"/>
                  </a:lnTo>
                  <a:lnTo>
                    <a:pt x="1523648" y="727198"/>
                  </a:lnTo>
                  <a:close/>
                </a:path>
                <a:path w="2146300" h="1021079">
                  <a:moveTo>
                    <a:pt x="1575300" y="751666"/>
                  </a:moveTo>
                  <a:lnTo>
                    <a:pt x="1549472" y="739441"/>
                  </a:lnTo>
                  <a:lnTo>
                    <a:pt x="1552081" y="733930"/>
                  </a:lnTo>
                  <a:lnTo>
                    <a:pt x="1577908" y="746155"/>
                  </a:lnTo>
                  <a:lnTo>
                    <a:pt x="1575300" y="751666"/>
                  </a:lnTo>
                  <a:close/>
                </a:path>
                <a:path w="2146300" h="1021079">
                  <a:moveTo>
                    <a:pt x="1626945" y="776144"/>
                  </a:moveTo>
                  <a:lnTo>
                    <a:pt x="1601113" y="763921"/>
                  </a:lnTo>
                  <a:lnTo>
                    <a:pt x="1603722" y="758410"/>
                  </a:lnTo>
                  <a:lnTo>
                    <a:pt x="1629550" y="770631"/>
                  </a:lnTo>
                  <a:lnTo>
                    <a:pt x="1626945" y="776144"/>
                  </a:lnTo>
                  <a:close/>
                </a:path>
                <a:path w="2146300" h="1021079">
                  <a:moveTo>
                    <a:pt x="1678591" y="800599"/>
                  </a:moveTo>
                  <a:lnTo>
                    <a:pt x="1652776" y="788357"/>
                  </a:lnTo>
                  <a:lnTo>
                    <a:pt x="1655385" y="782845"/>
                  </a:lnTo>
                  <a:lnTo>
                    <a:pt x="1681207" y="795091"/>
                  </a:lnTo>
                  <a:lnTo>
                    <a:pt x="1678591" y="800599"/>
                  </a:lnTo>
                  <a:close/>
                </a:path>
                <a:path w="2146300" h="1021079">
                  <a:moveTo>
                    <a:pt x="1730243" y="825061"/>
                  </a:moveTo>
                  <a:lnTo>
                    <a:pt x="1704417" y="812837"/>
                  </a:lnTo>
                  <a:lnTo>
                    <a:pt x="1707026" y="807326"/>
                  </a:lnTo>
                  <a:lnTo>
                    <a:pt x="1732856" y="819552"/>
                  </a:lnTo>
                  <a:lnTo>
                    <a:pt x="1730243" y="825061"/>
                  </a:lnTo>
                  <a:close/>
                </a:path>
                <a:path w="2146300" h="1021079">
                  <a:moveTo>
                    <a:pt x="1781894" y="849528"/>
                  </a:moveTo>
                  <a:lnTo>
                    <a:pt x="1756066" y="837303"/>
                  </a:lnTo>
                  <a:lnTo>
                    <a:pt x="1758674" y="831791"/>
                  </a:lnTo>
                  <a:lnTo>
                    <a:pt x="1784502" y="844016"/>
                  </a:lnTo>
                  <a:lnTo>
                    <a:pt x="1781894" y="849528"/>
                  </a:lnTo>
                  <a:close/>
                </a:path>
                <a:path w="2146300" h="1021079">
                  <a:moveTo>
                    <a:pt x="1833535" y="874008"/>
                  </a:moveTo>
                  <a:lnTo>
                    <a:pt x="1807709" y="861769"/>
                  </a:lnTo>
                  <a:lnTo>
                    <a:pt x="1810325" y="856261"/>
                  </a:lnTo>
                  <a:lnTo>
                    <a:pt x="1836144" y="868497"/>
                  </a:lnTo>
                  <a:lnTo>
                    <a:pt x="1833535" y="874008"/>
                  </a:lnTo>
                  <a:close/>
                </a:path>
                <a:path w="2146300" h="1021079">
                  <a:moveTo>
                    <a:pt x="1885191" y="898447"/>
                  </a:moveTo>
                  <a:lnTo>
                    <a:pt x="1859371" y="886220"/>
                  </a:lnTo>
                  <a:lnTo>
                    <a:pt x="1861977" y="880707"/>
                  </a:lnTo>
                  <a:lnTo>
                    <a:pt x="1887808" y="892939"/>
                  </a:lnTo>
                  <a:lnTo>
                    <a:pt x="1885191" y="898447"/>
                  </a:lnTo>
                  <a:close/>
                </a:path>
                <a:path w="2146300" h="1021079">
                  <a:moveTo>
                    <a:pt x="1936839" y="922924"/>
                  </a:moveTo>
                  <a:lnTo>
                    <a:pt x="1911011" y="910699"/>
                  </a:lnTo>
                  <a:lnTo>
                    <a:pt x="1913620" y="905187"/>
                  </a:lnTo>
                  <a:lnTo>
                    <a:pt x="1939448" y="917412"/>
                  </a:lnTo>
                  <a:lnTo>
                    <a:pt x="1936839" y="922924"/>
                  </a:lnTo>
                  <a:close/>
                </a:path>
                <a:path w="2146300" h="1021079">
                  <a:moveTo>
                    <a:pt x="1988487" y="947390"/>
                  </a:moveTo>
                  <a:lnTo>
                    <a:pt x="1962659" y="935160"/>
                  </a:lnTo>
                  <a:lnTo>
                    <a:pt x="1965272" y="929650"/>
                  </a:lnTo>
                  <a:lnTo>
                    <a:pt x="1991096" y="941878"/>
                  </a:lnTo>
                  <a:lnTo>
                    <a:pt x="1988487" y="947390"/>
                  </a:lnTo>
                  <a:close/>
                </a:path>
                <a:path w="2146300" h="1021079">
                  <a:moveTo>
                    <a:pt x="2040134" y="971848"/>
                  </a:moveTo>
                  <a:lnTo>
                    <a:pt x="2014315" y="959615"/>
                  </a:lnTo>
                  <a:lnTo>
                    <a:pt x="2016924" y="954103"/>
                  </a:lnTo>
                  <a:lnTo>
                    <a:pt x="2042751" y="966340"/>
                  </a:lnTo>
                  <a:lnTo>
                    <a:pt x="2040134" y="971848"/>
                  </a:lnTo>
                  <a:close/>
                </a:path>
                <a:path w="2146300" h="1021079">
                  <a:moveTo>
                    <a:pt x="2091792" y="996305"/>
                  </a:moveTo>
                  <a:lnTo>
                    <a:pt x="2065962" y="984088"/>
                  </a:lnTo>
                  <a:lnTo>
                    <a:pt x="2068567" y="978575"/>
                  </a:lnTo>
                  <a:lnTo>
                    <a:pt x="2094400" y="990794"/>
                  </a:lnTo>
                  <a:lnTo>
                    <a:pt x="2091792" y="996305"/>
                  </a:lnTo>
                  <a:close/>
                </a:path>
                <a:path w="2146300" h="1021079">
                  <a:moveTo>
                    <a:pt x="2143433" y="1020786"/>
                  </a:moveTo>
                  <a:lnTo>
                    <a:pt x="2117602" y="1008557"/>
                  </a:lnTo>
                  <a:lnTo>
                    <a:pt x="2120218" y="1003049"/>
                  </a:lnTo>
                  <a:lnTo>
                    <a:pt x="2146042" y="1015274"/>
                  </a:lnTo>
                  <a:lnTo>
                    <a:pt x="2143433" y="10207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274340" y="2080989"/>
              <a:ext cx="2378710" cy="2397125"/>
            </a:xfrm>
            <a:custGeom>
              <a:avLst/>
              <a:gdLst/>
              <a:ahLst/>
              <a:cxnLst/>
              <a:rect l="l" t="t" r="r" b="b"/>
              <a:pathLst>
                <a:path w="2378710" h="2397125">
                  <a:moveTo>
                    <a:pt x="0" y="2396876"/>
                  </a:moveTo>
                  <a:lnTo>
                    <a:pt x="2378682" y="2396876"/>
                  </a:lnTo>
                  <a:lnTo>
                    <a:pt x="2378682" y="0"/>
                  </a:lnTo>
                  <a:lnTo>
                    <a:pt x="0" y="0"/>
                  </a:lnTo>
                  <a:lnTo>
                    <a:pt x="0" y="2396876"/>
                  </a:lnTo>
                  <a:close/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" name="object 69"/>
          <p:cNvGrpSpPr/>
          <p:nvPr/>
        </p:nvGrpSpPr>
        <p:grpSpPr>
          <a:xfrm>
            <a:off x="1184113" y="3709466"/>
            <a:ext cx="90805" cy="59055"/>
            <a:chOff x="1184113" y="3709466"/>
            <a:chExt cx="90805" cy="59055"/>
          </a:xfrm>
        </p:grpSpPr>
        <p:sp>
          <p:nvSpPr>
            <p:cNvPr id="70" name="object 70"/>
            <p:cNvSpPr/>
            <p:nvPr/>
          </p:nvSpPr>
          <p:spPr>
            <a:xfrm>
              <a:off x="1184113" y="3709466"/>
              <a:ext cx="40005" cy="59055"/>
            </a:xfrm>
            <a:custGeom>
              <a:avLst/>
              <a:gdLst/>
              <a:ahLst/>
              <a:cxnLst/>
              <a:rect l="l" t="t" r="r" b="b"/>
              <a:pathLst>
                <a:path w="40005" h="59054">
                  <a:moveTo>
                    <a:pt x="20277" y="58489"/>
                  </a:moveTo>
                  <a:lnTo>
                    <a:pt x="0" y="44797"/>
                  </a:lnTo>
                  <a:lnTo>
                    <a:pt x="7441" y="43941"/>
                  </a:lnTo>
                  <a:lnTo>
                    <a:pt x="8892" y="47438"/>
                  </a:lnTo>
                  <a:lnTo>
                    <a:pt x="10380" y="49373"/>
                  </a:lnTo>
                  <a:lnTo>
                    <a:pt x="12501" y="50936"/>
                  </a:lnTo>
                  <a:lnTo>
                    <a:pt x="14399" y="51792"/>
                  </a:lnTo>
                  <a:lnTo>
                    <a:pt x="17226" y="52387"/>
                  </a:lnTo>
                  <a:lnTo>
                    <a:pt x="20575" y="52461"/>
                  </a:lnTo>
                  <a:lnTo>
                    <a:pt x="23700" y="51941"/>
                  </a:lnTo>
                  <a:lnTo>
                    <a:pt x="32072" y="39699"/>
                  </a:lnTo>
                  <a:lnTo>
                    <a:pt x="31886" y="36500"/>
                  </a:lnTo>
                  <a:lnTo>
                    <a:pt x="20203" y="26900"/>
                  </a:lnTo>
                  <a:lnTo>
                    <a:pt x="18157" y="26937"/>
                  </a:lnTo>
                  <a:lnTo>
                    <a:pt x="15887" y="27309"/>
                  </a:lnTo>
                  <a:lnTo>
                    <a:pt x="12278" y="28612"/>
                  </a:lnTo>
                  <a:lnTo>
                    <a:pt x="8892" y="31030"/>
                  </a:lnTo>
                  <a:lnTo>
                    <a:pt x="1674" y="31030"/>
                  </a:lnTo>
                  <a:lnTo>
                    <a:pt x="3609" y="0"/>
                  </a:lnTo>
                  <a:lnTo>
                    <a:pt x="36388" y="0"/>
                  </a:lnTo>
                  <a:lnTo>
                    <a:pt x="36388" y="6288"/>
                  </a:lnTo>
                  <a:lnTo>
                    <a:pt x="10306" y="6288"/>
                  </a:lnTo>
                  <a:lnTo>
                    <a:pt x="9190" y="24556"/>
                  </a:lnTo>
                  <a:lnTo>
                    <a:pt x="12427" y="22659"/>
                  </a:lnTo>
                  <a:lnTo>
                    <a:pt x="15329" y="21580"/>
                  </a:lnTo>
                  <a:lnTo>
                    <a:pt x="18789" y="20984"/>
                  </a:lnTo>
                  <a:lnTo>
                    <a:pt x="22807" y="20947"/>
                  </a:lnTo>
                  <a:lnTo>
                    <a:pt x="25970" y="21356"/>
                  </a:lnTo>
                  <a:lnTo>
                    <a:pt x="39737" y="38881"/>
                  </a:lnTo>
                  <a:lnTo>
                    <a:pt x="39625" y="41448"/>
                  </a:lnTo>
                  <a:lnTo>
                    <a:pt x="23998" y="58154"/>
                  </a:lnTo>
                  <a:lnTo>
                    <a:pt x="20277" y="58489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248258" y="3738301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69" h="0">
                  <a:moveTo>
                    <a:pt x="0" y="0"/>
                  </a:moveTo>
                  <a:lnTo>
                    <a:pt x="26082" y="0"/>
                  </a:lnTo>
                </a:path>
              </a:pathLst>
            </a:custGeom>
            <a:ln w="10162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/>
          <p:nvPr/>
        </p:nvSpPr>
        <p:spPr>
          <a:xfrm>
            <a:off x="1248258" y="2896827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 h="0">
                <a:moveTo>
                  <a:pt x="0" y="0"/>
                </a:moveTo>
                <a:lnTo>
                  <a:pt x="26082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1446051" y="4477865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354101" y="4477865"/>
            <a:ext cx="0" cy="26670"/>
          </a:xfrm>
          <a:custGeom>
            <a:avLst/>
            <a:gdLst/>
            <a:ahLst/>
            <a:cxnLst/>
            <a:rect l="l" t="t" r="r" b="b"/>
            <a:pathLst>
              <a:path w="0" h="26670">
                <a:moveTo>
                  <a:pt x="0" y="26119"/>
                </a:moveTo>
                <a:lnTo>
                  <a:pt x="0" y="0"/>
                </a:lnTo>
              </a:path>
            </a:pathLst>
          </a:custGeom>
          <a:ln w="10162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426963" y="4524002"/>
            <a:ext cx="38735" cy="59055"/>
          </a:xfrm>
          <a:custGeom>
            <a:avLst/>
            <a:gdLst/>
            <a:ahLst/>
            <a:cxnLst/>
            <a:rect l="l" t="t" r="r" b="b"/>
            <a:pathLst>
              <a:path w="38734" h="59054">
                <a:moveTo>
                  <a:pt x="38211" y="58526"/>
                </a:moveTo>
                <a:lnTo>
                  <a:pt x="0" y="58526"/>
                </a:lnTo>
                <a:lnTo>
                  <a:pt x="0" y="53317"/>
                </a:lnTo>
                <a:lnTo>
                  <a:pt x="22807" y="28686"/>
                </a:lnTo>
                <a:lnTo>
                  <a:pt x="25821" y="25598"/>
                </a:lnTo>
                <a:lnTo>
                  <a:pt x="27421" y="23440"/>
                </a:lnTo>
                <a:lnTo>
                  <a:pt x="28686" y="21207"/>
                </a:lnTo>
                <a:lnTo>
                  <a:pt x="29467" y="18715"/>
                </a:lnTo>
                <a:lnTo>
                  <a:pt x="29728" y="15552"/>
                </a:lnTo>
                <a:lnTo>
                  <a:pt x="29467" y="13320"/>
                </a:lnTo>
                <a:lnTo>
                  <a:pt x="19198" y="6027"/>
                </a:lnTo>
                <a:lnTo>
                  <a:pt x="16631" y="6250"/>
                </a:lnTo>
                <a:lnTo>
                  <a:pt x="7887" y="15775"/>
                </a:lnTo>
                <a:lnTo>
                  <a:pt x="334" y="15106"/>
                </a:lnTo>
                <a:lnTo>
                  <a:pt x="18343" y="0"/>
                </a:lnTo>
                <a:lnTo>
                  <a:pt x="22510" y="148"/>
                </a:lnTo>
                <a:lnTo>
                  <a:pt x="37281" y="15031"/>
                </a:lnTo>
                <a:lnTo>
                  <a:pt x="37132" y="18045"/>
                </a:lnTo>
                <a:lnTo>
                  <a:pt x="15738" y="42713"/>
                </a:lnTo>
                <a:lnTo>
                  <a:pt x="10864" y="47773"/>
                </a:lnTo>
                <a:lnTo>
                  <a:pt x="9562" y="49522"/>
                </a:lnTo>
                <a:lnTo>
                  <a:pt x="8111" y="52238"/>
                </a:lnTo>
                <a:lnTo>
                  <a:pt x="38211" y="52238"/>
                </a:lnTo>
                <a:lnTo>
                  <a:pt x="38211" y="58526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334158" y="4524858"/>
            <a:ext cx="40005" cy="59055"/>
          </a:xfrm>
          <a:custGeom>
            <a:avLst/>
            <a:gdLst/>
            <a:ahLst/>
            <a:cxnLst/>
            <a:rect l="l" t="t" r="r" b="b"/>
            <a:pathLst>
              <a:path w="40004" h="59054">
                <a:moveTo>
                  <a:pt x="19273" y="58489"/>
                </a:moveTo>
                <a:lnTo>
                  <a:pt x="0" y="44760"/>
                </a:lnTo>
                <a:lnTo>
                  <a:pt x="7441" y="43904"/>
                </a:lnTo>
                <a:lnTo>
                  <a:pt x="8259" y="46173"/>
                </a:lnTo>
                <a:lnTo>
                  <a:pt x="9897" y="48815"/>
                </a:lnTo>
                <a:lnTo>
                  <a:pt x="11199" y="50080"/>
                </a:lnTo>
                <a:lnTo>
                  <a:pt x="12501" y="50899"/>
                </a:lnTo>
                <a:lnTo>
                  <a:pt x="15254" y="52015"/>
                </a:lnTo>
                <a:lnTo>
                  <a:pt x="17747" y="52387"/>
                </a:lnTo>
                <a:lnTo>
                  <a:pt x="21096" y="52387"/>
                </a:lnTo>
                <a:lnTo>
                  <a:pt x="32072" y="39662"/>
                </a:lnTo>
                <a:lnTo>
                  <a:pt x="31886" y="36500"/>
                </a:lnTo>
                <a:lnTo>
                  <a:pt x="20761" y="26900"/>
                </a:lnTo>
                <a:lnTo>
                  <a:pt x="18157" y="26937"/>
                </a:lnTo>
                <a:lnTo>
                  <a:pt x="16185" y="27198"/>
                </a:lnTo>
                <a:lnTo>
                  <a:pt x="13282" y="28091"/>
                </a:lnTo>
                <a:lnTo>
                  <a:pt x="8892" y="31030"/>
                </a:lnTo>
                <a:lnTo>
                  <a:pt x="1674" y="31030"/>
                </a:lnTo>
                <a:lnTo>
                  <a:pt x="3609" y="0"/>
                </a:lnTo>
                <a:lnTo>
                  <a:pt x="36388" y="0"/>
                </a:lnTo>
                <a:lnTo>
                  <a:pt x="36388" y="6250"/>
                </a:lnTo>
                <a:lnTo>
                  <a:pt x="10306" y="6250"/>
                </a:lnTo>
                <a:lnTo>
                  <a:pt x="9190" y="24556"/>
                </a:lnTo>
                <a:lnTo>
                  <a:pt x="10455" y="23663"/>
                </a:lnTo>
                <a:lnTo>
                  <a:pt x="12985" y="22398"/>
                </a:lnTo>
                <a:lnTo>
                  <a:pt x="16631" y="21245"/>
                </a:lnTo>
                <a:lnTo>
                  <a:pt x="20315" y="20873"/>
                </a:lnTo>
                <a:lnTo>
                  <a:pt x="24407" y="21059"/>
                </a:lnTo>
                <a:lnTo>
                  <a:pt x="39737" y="38881"/>
                </a:lnTo>
                <a:lnTo>
                  <a:pt x="39402" y="43011"/>
                </a:lnTo>
                <a:lnTo>
                  <a:pt x="21245" y="58415"/>
                </a:lnTo>
                <a:lnTo>
                  <a:pt x="19273" y="58489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7" name="object 7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657" y="4477865"/>
            <a:ext cx="866849" cy="221232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0394" y="2725117"/>
            <a:ext cx="213140" cy="1105234"/>
          </a:xfrm>
          <a:prstGeom prst="rect">
            <a:avLst/>
          </a:prstGeom>
        </p:spPr>
      </p:pic>
      <p:sp>
        <p:nvSpPr>
          <p:cNvPr id="79" name="object 79"/>
          <p:cNvSpPr/>
          <p:nvPr/>
        </p:nvSpPr>
        <p:spPr>
          <a:xfrm>
            <a:off x="4752974" y="25622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752974" y="29908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752974" y="34004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4892426" y="3277146"/>
            <a:ext cx="3117850" cy="111823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38100" marR="30480">
              <a:lnSpc>
                <a:spcPts val="1730"/>
              </a:lnSpc>
              <a:spcBef>
                <a:spcPts val="260"/>
              </a:spcBef>
            </a:pPr>
            <a:r>
              <a:rPr dirty="0" sz="1550" spc="85" i="1">
                <a:latin typeface="Verdana"/>
                <a:cs typeface="Verdana"/>
              </a:rPr>
              <a:t>X</a:t>
            </a:r>
            <a:r>
              <a:rPr dirty="0" baseline="-12626" sz="1650" spc="127" i="1">
                <a:latin typeface="Verdana"/>
                <a:cs typeface="Verdana"/>
              </a:rPr>
              <a:t>i</a:t>
            </a:r>
            <a:r>
              <a:rPr dirty="0" baseline="-12626" sz="1650" spc="142" i="1">
                <a:latin typeface="Verdana"/>
                <a:cs typeface="Verdana"/>
              </a:rPr>
              <a:t> </a:t>
            </a:r>
            <a:r>
              <a:rPr dirty="0" sz="1450" spc="-120">
                <a:latin typeface="Tahoma"/>
                <a:cs typeface="Tahoma"/>
              </a:rPr>
              <a:t>:</a:t>
            </a:r>
            <a:r>
              <a:rPr dirty="0" sz="1450" spc="-65">
                <a:latin typeface="Tahoma"/>
                <a:cs typeface="Tahoma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observed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value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variable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550" spc="125" i="1">
                <a:latin typeface="Verdana"/>
                <a:cs typeface="Verdana"/>
              </a:rPr>
              <a:t>X</a:t>
            </a:r>
            <a:r>
              <a:rPr dirty="0" sz="1550" spc="-114" i="1">
                <a:latin typeface="Verdana"/>
                <a:cs typeface="Verdana"/>
              </a:rPr>
              <a:t> </a:t>
            </a:r>
            <a:r>
              <a:rPr dirty="0" sz="1450" spc="-25">
                <a:latin typeface="Gill Sans MT"/>
                <a:cs typeface="Gill Sans MT"/>
              </a:rPr>
              <a:t>for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80">
                <a:latin typeface="Gill Sans MT"/>
                <a:cs typeface="Gill Sans MT"/>
              </a:rPr>
              <a:t> </a:t>
            </a:r>
            <a:r>
              <a:rPr dirty="0" sz="1550" i="1">
                <a:latin typeface="Verdana"/>
                <a:cs typeface="Verdana"/>
              </a:rPr>
              <a:t>i</a:t>
            </a:r>
            <a:r>
              <a:rPr dirty="0" baseline="25252" sz="1650" i="1">
                <a:latin typeface="Verdana"/>
                <a:cs typeface="Verdana"/>
              </a:rPr>
              <a:t>th</a:t>
            </a:r>
            <a:r>
              <a:rPr dirty="0" baseline="25252" sz="1650" spc="-7" i="1">
                <a:latin typeface="Verdana"/>
                <a:cs typeface="Verdana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observation</a:t>
            </a:r>
            <a:endParaRPr sz="1450">
              <a:latin typeface="Gill Sans MT"/>
              <a:cs typeface="Gill Sans MT"/>
            </a:endParaRPr>
          </a:p>
          <a:p>
            <a:pPr marL="38100" marR="125095">
              <a:lnSpc>
                <a:spcPts val="1730"/>
              </a:lnSpc>
              <a:spcBef>
                <a:spcPts val="1565"/>
              </a:spcBef>
            </a:pPr>
            <a:r>
              <a:rPr dirty="0" sz="1550" spc="-725" i="1">
                <a:latin typeface="Verdana"/>
                <a:cs typeface="Verdana"/>
              </a:rPr>
              <a:t>Y</a:t>
            </a:r>
            <a:r>
              <a:rPr dirty="0" baseline="13409" sz="2175" spc="-419">
                <a:latin typeface="Tahoma"/>
                <a:cs typeface="Tahoma"/>
              </a:rPr>
              <a:t>^</a:t>
            </a:r>
            <a:r>
              <a:rPr dirty="0" baseline="-12626" sz="1650" spc="7" i="1">
                <a:latin typeface="Verdana"/>
                <a:cs typeface="Verdana"/>
              </a:rPr>
              <a:t>i</a:t>
            </a:r>
            <a:r>
              <a:rPr dirty="0" baseline="1915" sz="2175" spc="-97">
                <a:latin typeface="Gill Sans MT"/>
                <a:cs typeface="Gill Sans MT"/>
              </a:rPr>
              <a:t>:</a:t>
            </a:r>
            <a:r>
              <a:rPr dirty="0" baseline="1915" sz="2175" spc="-37">
                <a:latin typeface="Gill Sans MT"/>
                <a:cs typeface="Gill Sans MT"/>
              </a:rPr>
              <a:t> </a:t>
            </a:r>
            <a:r>
              <a:rPr dirty="0" baseline="1915" sz="2175" spc="97">
                <a:latin typeface="Gill Sans MT"/>
                <a:cs typeface="Gill Sans MT"/>
              </a:rPr>
              <a:t>predicted</a:t>
            </a:r>
            <a:r>
              <a:rPr dirty="0" baseline="1915" sz="2175" spc="-44">
                <a:latin typeface="Gill Sans MT"/>
                <a:cs typeface="Gill Sans MT"/>
              </a:rPr>
              <a:t> </a:t>
            </a:r>
            <a:r>
              <a:rPr dirty="0" baseline="1915" sz="2175" spc="142">
                <a:latin typeface="Gill Sans MT"/>
                <a:cs typeface="Gill Sans MT"/>
              </a:rPr>
              <a:t>value</a:t>
            </a:r>
            <a:r>
              <a:rPr dirty="0" baseline="1915" sz="2175" spc="-44">
                <a:latin typeface="Gill Sans MT"/>
                <a:cs typeface="Gill Sans MT"/>
              </a:rPr>
              <a:t> </a:t>
            </a:r>
            <a:r>
              <a:rPr dirty="0" baseline="1915" sz="2175" spc="112">
                <a:latin typeface="Gill Sans MT"/>
                <a:cs typeface="Gill Sans MT"/>
              </a:rPr>
              <a:t>of</a:t>
            </a:r>
            <a:r>
              <a:rPr dirty="0" baseline="1915" sz="2175" spc="-37">
                <a:latin typeface="Gill Sans MT"/>
                <a:cs typeface="Gill Sans MT"/>
              </a:rPr>
              <a:t> </a:t>
            </a:r>
            <a:r>
              <a:rPr dirty="0" baseline="1915" sz="2175" spc="135">
                <a:latin typeface="Gill Sans MT"/>
                <a:cs typeface="Gill Sans MT"/>
              </a:rPr>
              <a:t>variable</a:t>
            </a:r>
            <a:r>
              <a:rPr dirty="0" baseline="1915" sz="2175" spc="-44">
                <a:latin typeface="Gill Sans MT"/>
                <a:cs typeface="Gill Sans MT"/>
              </a:rPr>
              <a:t> </a:t>
            </a:r>
            <a:r>
              <a:rPr dirty="0" sz="1550" i="1">
                <a:latin typeface="Verdana"/>
                <a:cs typeface="Verdana"/>
              </a:rPr>
              <a:t>Y</a:t>
            </a:r>
            <a:r>
              <a:rPr dirty="0" sz="1550" spc="90" i="1">
                <a:latin typeface="Verdana"/>
                <a:cs typeface="Verdana"/>
              </a:rPr>
              <a:t> </a:t>
            </a:r>
            <a:r>
              <a:rPr dirty="0" baseline="1915" sz="2175" spc="-37">
                <a:latin typeface="Gill Sans MT"/>
                <a:cs typeface="Gill Sans MT"/>
              </a:rPr>
              <a:t>for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80">
                <a:latin typeface="Gill Sans MT"/>
                <a:cs typeface="Gill Sans MT"/>
              </a:rPr>
              <a:t> </a:t>
            </a:r>
            <a:r>
              <a:rPr dirty="0" sz="1550" i="1">
                <a:latin typeface="Verdana"/>
                <a:cs typeface="Verdana"/>
              </a:rPr>
              <a:t>i</a:t>
            </a:r>
            <a:r>
              <a:rPr dirty="0" baseline="25252" sz="1650" i="1">
                <a:latin typeface="Verdana"/>
                <a:cs typeface="Verdana"/>
              </a:rPr>
              <a:t>th</a:t>
            </a:r>
            <a:r>
              <a:rPr dirty="0" baseline="25252" sz="1650" spc="-7" i="1">
                <a:latin typeface="Verdana"/>
                <a:cs typeface="Verdana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observation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752974" y="40385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771524" y="1123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771524" y="15335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546100" y="394970"/>
            <a:ext cx="7165975" cy="231013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5400" marR="177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Gill Sans MT"/>
                <a:cs typeface="Gill Sans MT"/>
              </a:rPr>
              <a:t>The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goal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simple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linear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regression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find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line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that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best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fits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observed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data, </a:t>
            </a:r>
            <a:r>
              <a:rPr dirty="0" sz="1450" spc="95">
                <a:latin typeface="Gill Sans MT"/>
                <a:cs typeface="Gill Sans MT"/>
              </a:rPr>
              <a:t>modeling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relationship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between:</a:t>
            </a:r>
            <a:endParaRPr sz="1450">
              <a:latin typeface="Gill Sans MT"/>
              <a:cs typeface="Gill Sans MT"/>
            </a:endParaRPr>
          </a:p>
          <a:p>
            <a:pPr marL="405765" marR="4749165">
              <a:lnSpc>
                <a:spcPts val="3229"/>
              </a:lnSpc>
              <a:spcBef>
                <a:spcPts val="215"/>
              </a:spcBef>
            </a:pP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predictor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variable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25">
                <a:latin typeface="Gill Sans MT"/>
                <a:cs typeface="Gill Sans MT"/>
              </a:rPr>
              <a:t>(</a:t>
            </a:r>
            <a:r>
              <a:rPr dirty="0" sz="1550" spc="25" i="1">
                <a:latin typeface="Verdana"/>
                <a:cs typeface="Verdana"/>
              </a:rPr>
              <a:t>X</a:t>
            </a:r>
            <a:r>
              <a:rPr dirty="0" sz="1450" spc="25">
                <a:latin typeface="Gill Sans MT"/>
                <a:cs typeface="Gill Sans MT"/>
              </a:rPr>
              <a:t>) </a:t>
            </a:r>
            <a:r>
              <a:rPr dirty="0" sz="1450" spc="135">
                <a:latin typeface="Gill Sans MT"/>
                <a:cs typeface="Gill Sans MT"/>
              </a:rPr>
              <a:t>an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outcome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variable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-65">
                <a:latin typeface="Gill Sans MT"/>
                <a:cs typeface="Gill Sans MT"/>
              </a:rPr>
              <a:t>(</a:t>
            </a:r>
            <a:r>
              <a:rPr dirty="0" sz="1550" spc="-65" i="1">
                <a:latin typeface="Verdana"/>
                <a:cs typeface="Verdana"/>
              </a:rPr>
              <a:t>Y</a:t>
            </a:r>
            <a:r>
              <a:rPr dirty="0" sz="1550" spc="-275" i="1">
                <a:latin typeface="Verdana"/>
                <a:cs typeface="Verdana"/>
              </a:rPr>
              <a:t> </a:t>
            </a:r>
            <a:r>
              <a:rPr dirty="0" sz="1450" spc="-50">
                <a:latin typeface="Gill Sans MT"/>
                <a:cs typeface="Gill Sans MT"/>
              </a:rPr>
              <a:t>)</a:t>
            </a:r>
            <a:endParaRPr sz="1450">
              <a:latin typeface="Gill Sans MT"/>
              <a:cs typeface="Gill Sans MT"/>
            </a:endParaRPr>
          </a:p>
          <a:p>
            <a:pPr marL="4384040" marR="806450" indent="788670">
              <a:lnSpc>
                <a:spcPct val="183500"/>
              </a:lnSpc>
              <a:spcBef>
                <a:spcPts val="969"/>
              </a:spcBef>
            </a:pPr>
            <a:r>
              <a:rPr dirty="0" sz="1550" spc="-745" i="1">
                <a:latin typeface="Verdana"/>
                <a:cs typeface="Verdana"/>
              </a:rPr>
              <a:t>Y</a:t>
            </a:r>
            <a:r>
              <a:rPr dirty="0" baseline="13409" sz="2175" spc="-450">
                <a:latin typeface="Tahoma"/>
                <a:cs typeface="Tahoma"/>
              </a:rPr>
              <a:t>^</a:t>
            </a:r>
            <a:r>
              <a:rPr dirty="0" baseline="-12626" sz="1650" spc="-127" i="1">
                <a:latin typeface="Verdana"/>
                <a:cs typeface="Verdana"/>
              </a:rPr>
              <a:t>i</a:t>
            </a:r>
            <a:r>
              <a:rPr dirty="0" baseline="-12626" sz="1650" spc="120" i="1">
                <a:latin typeface="Verdana"/>
                <a:cs typeface="Verdana"/>
              </a:rPr>
              <a:t> </a:t>
            </a:r>
            <a:r>
              <a:rPr dirty="0" sz="1450" spc="60">
                <a:latin typeface="Tahoma"/>
                <a:cs typeface="Tahoma"/>
              </a:rPr>
              <a:t>=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550" spc="-710" i="1">
                <a:latin typeface="Verdana"/>
                <a:cs typeface="Verdana"/>
              </a:rPr>
              <a:t>β</a:t>
            </a:r>
            <a:r>
              <a:rPr dirty="0" baseline="13409" sz="2175" spc="-712">
                <a:latin typeface="Tahoma"/>
                <a:cs typeface="Tahoma"/>
              </a:rPr>
              <a:t>^</a:t>
            </a:r>
            <a:r>
              <a:rPr dirty="0" baseline="-13227" sz="1575" spc="-187">
                <a:latin typeface="Tahoma"/>
                <a:cs typeface="Tahoma"/>
              </a:rPr>
              <a:t>0</a:t>
            </a:r>
            <a:r>
              <a:rPr dirty="0" baseline="-13227" sz="1575" spc="104">
                <a:latin typeface="Tahoma"/>
                <a:cs typeface="Tahoma"/>
              </a:rPr>
              <a:t> </a:t>
            </a:r>
            <a:r>
              <a:rPr dirty="0" sz="1450" spc="60">
                <a:latin typeface="Tahoma"/>
                <a:cs typeface="Tahoma"/>
              </a:rPr>
              <a:t>+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550" spc="-615" i="1">
                <a:latin typeface="Verdana"/>
                <a:cs typeface="Verdana"/>
              </a:rPr>
              <a:t>β</a:t>
            </a:r>
            <a:r>
              <a:rPr dirty="0" baseline="13409" sz="2175" spc="-569">
                <a:latin typeface="Tahoma"/>
                <a:cs typeface="Tahoma"/>
              </a:rPr>
              <a:t>^</a:t>
            </a:r>
            <a:r>
              <a:rPr dirty="0" baseline="-13227" sz="1575" spc="60">
                <a:latin typeface="Tahoma"/>
                <a:cs typeface="Tahoma"/>
              </a:rPr>
              <a:t>1</a:t>
            </a:r>
            <a:r>
              <a:rPr dirty="0" sz="1550" spc="-30" i="1">
                <a:latin typeface="Verdana"/>
                <a:cs typeface="Verdana"/>
              </a:rPr>
              <a:t>X</a:t>
            </a:r>
            <a:r>
              <a:rPr dirty="0" baseline="-12626" sz="1650" spc="-44" i="1">
                <a:latin typeface="Verdana"/>
                <a:cs typeface="Verdana"/>
              </a:rPr>
              <a:t>i</a:t>
            </a:r>
            <a:r>
              <a:rPr dirty="0" baseline="-12626" sz="1650" spc="750" i="1">
                <a:latin typeface="Verdana"/>
                <a:cs typeface="Verdana"/>
              </a:rPr>
              <a:t> </a:t>
            </a:r>
            <a:r>
              <a:rPr dirty="0" baseline="1792" sz="2325" spc="-1064" i="1">
                <a:latin typeface="Verdana"/>
                <a:cs typeface="Verdana"/>
              </a:rPr>
              <a:t>β</a:t>
            </a:r>
            <a:r>
              <a:rPr dirty="0" baseline="15325" sz="2175" spc="-712">
                <a:latin typeface="Tahoma"/>
                <a:cs typeface="Tahoma"/>
              </a:rPr>
              <a:t>^</a:t>
            </a:r>
            <a:r>
              <a:rPr dirty="0" baseline="-10582" sz="1575" spc="-187">
                <a:latin typeface="Tahoma"/>
                <a:cs typeface="Tahoma"/>
              </a:rPr>
              <a:t>0</a:t>
            </a:r>
            <a:r>
              <a:rPr dirty="0" baseline="-10582" sz="1575" spc="240">
                <a:latin typeface="Tahoma"/>
                <a:cs typeface="Tahoma"/>
              </a:rPr>
              <a:t> </a:t>
            </a:r>
            <a:r>
              <a:rPr dirty="0" baseline="1915" sz="2175" spc="-179">
                <a:latin typeface="Tahoma"/>
                <a:cs typeface="Tahoma"/>
              </a:rPr>
              <a:t>:</a:t>
            </a:r>
            <a:r>
              <a:rPr dirty="0" baseline="1915" sz="2175" spc="-89">
                <a:latin typeface="Tahoma"/>
                <a:cs typeface="Tahoma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estimated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40">
                <a:latin typeface="Gill Sans MT"/>
                <a:cs typeface="Gill Sans MT"/>
              </a:rPr>
              <a:t>intercept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92" name="object 9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dirty="0"/>
              <a:t>43</a:t>
            </a:r>
            <a:r>
              <a:rPr dirty="0" spc="-45"/>
              <a:t> </a:t>
            </a:r>
            <a:r>
              <a:rPr dirty="0" spc="165"/>
              <a:t>/</a:t>
            </a:r>
            <a:r>
              <a:rPr dirty="0" spc="-45"/>
              <a:t> </a:t>
            </a:r>
            <a:r>
              <a:rPr dirty="0" spc="-25"/>
              <a:t>48</a:t>
            </a:r>
          </a:p>
        </p:txBody>
      </p:sp>
      <p:sp>
        <p:nvSpPr>
          <p:cNvPr id="87" name="object 87"/>
          <p:cNvSpPr txBox="1"/>
          <p:nvPr/>
        </p:nvSpPr>
        <p:spPr>
          <a:xfrm>
            <a:off x="558800" y="5176519"/>
            <a:ext cx="83883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10">
                <a:latin typeface="Gill Sans MT"/>
                <a:cs typeface="Gill Sans MT"/>
              </a:rPr>
              <a:t>EDUC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-20">
                <a:latin typeface="Gill Sans MT"/>
                <a:cs typeface="Gill Sans MT"/>
              </a:rPr>
              <a:t>642.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33400" y="4944021"/>
            <a:ext cx="732599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915" sz="2175" spc="-209">
                <a:latin typeface="Gill Sans MT"/>
                <a:cs typeface="Gill Sans MT"/>
              </a:rPr>
              <a:t>We</a:t>
            </a:r>
            <a:r>
              <a:rPr dirty="0" baseline="1915" sz="2175" spc="22">
                <a:latin typeface="Gill Sans MT"/>
                <a:cs typeface="Gill Sans MT"/>
              </a:rPr>
              <a:t> </a:t>
            </a:r>
            <a:r>
              <a:rPr dirty="0" baseline="1915" sz="2175" spc="104">
                <a:latin typeface="Gill Sans MT"/>
                <a:cs typeface="Gill Sans MT"/>
              </a:rPr>
              <a:t>will</a:t>
            </a:r>
            <a:r>
              <a:rPr dirty="0" baseline="1915" sz="2175" spc="22">
                <a:latin typeface="Gill Sans MT"/>
                <a:cs typeface="Gill Sans MT"/>
              </a:rPr>
              <a:t> </a:t>
            </a:r>
            <a:r>
              <a:rPr dirty="0" baseline="1915" sz="2175" spc="89">
                <a:latin typeface="Gill Sans MT"/>
                <a:cs typeface="Gill Sans MT"/>
              </a:rPr>
              <a:t>not</a:t>
            </a:r>
            <a:r>
              <a:rPr dirty="0" baseline="1915" sz="2175" spc="30">
                <a:latin typeface="Gill Sans MT"/>
                <a:cs typeface="Gill Sans MT"/>
              </a:rPr>
              <a:t> </a:t>
            </a:r>
            <a:r>
              <a:rPr dirty="0" baseline="1915" sz="2175">
                <a:latin typeface="Gill Sans MT"/>
                <a:cs typeface="Gill Sans MT"/>
              </a:rPr>
              <a:t>cover</a:t>
            </a:r>
            <a:r>
              <a:rPr dirty="0" baseline="1915" sz="2175" spc="22">
                <a:latin typeface="Gill Sans MT"/>
                <a:cs typeface="Gill Sans MT"/>
              </a:rPr>
              <a:t> </a:t>
            </a:r>
            <a:r>
              <a:rPr dirty="0" baseline="1915" sz="2175" spc="112">
                <a:latin typeface="Gill Sans MT"/>
                <a:cs typeface="Gill Sans MT"/>
              </a:rPr>
              <a:t>the</a:t>
            </a:r>
            <a:r>
              <a:rPr dirty="0" baseline="1915" sz="2175" spc="30">
                <a:latin typeface="Gill Sans MT"/>
                <a:cs typeface="Gill Sans MT"/>
              </a:rPr>
              <a:t> </a:t>
            </a:r>
            <a:r>
              <a:rPr dirty="0" baseline="1915" sz="2175" spc="104">
                <a:latin typeface="Gill Sans MT"/>
                <a:cs typeface="Gill Sans MT"/>
              </a:rPr>
              <a:t>derivation</a:t>
            </a:r>
            <a:r>
              <a:rPr dirty="0" baseline="1915" sz="2175" spc="22">
                <a:latin typeface="Gill Sans MT"/>
                <a:cs typeface="Gill Sans MT"/>
              </a:rPr>
              <a:t> </a:t>
            </a:r>
            <a:r>
              <a:rPr dirty="0" baseline="1915" sz="2175" spc="112">
                <a:latin typeface="Gill Sans MT"/>
                <a:cs typeface="Gill Sans MT"/>
              </a:rPr>
              <a:t>of</a:t>
            </a:r>
            <a:r>
              <a:rPr dirty="0" baseline="1915" sz="2175" spc="30">
                <a:latin typeface="Gill Sans MT"/>
                <a:cs typeface="Gill Sans MT"/>
              </a:rPr>
              <a:t> </a:t>
            </a:r>
            <a:r>
              <a:rPr dirty="0" sz="1550" spc="-790" i="1">
                <a:latin typeface="Verdana"/>
                <a:cs typeface="Verdana"/>
              </a:rPr>
              <a:t>β</a:t>
            </a:r>
            <a:r>
              <a:rPr dirty="0" baseline="17241" sz="2175" spc="-307">
                <a:latin typeface="Tahoma"/>
                <a:cs typeface="Tahoma"/>
              </a:rPr>
              <a:t>^</a:t>
            </a:r>
            <a:r>
              <a:rPr dirty="0" baseline="17241" sz="2175" spc="532">
                <a:latin typeface="Tahoma"/>
                <a:cs typeface="Tahoma"/>
              </a:rPr>
              <a:t> </a:t>
            </a:r>
            <a:r>
              <a:rPr dirty="0" baseline="1915" sz="2175" spc="195">
                <a:latin typeface="Gill Sans MT"/>
                <a:cs typeface="Gill Sans MT"/>
              </a:rPr>
              <a:t>and</a:t>
            </a:r>
            <a:r>
              <a:rPr dirty="0" baseline="1915" sz="2175" spc="30">
                <a:latin typeface="Gill Sans MT"/>
                <a:cs typeface="Gill Sans MT"/>
              </a:rPr>
              <a:t> </a:t>
            </a:r>
            <a:r>
              <a:rPr dirty="0" sz="1550" spc="-790" i="1">
                <a:latin typeface="Verdana"/>
                <a:cs typeface="Verdana"/>
              </a:rPr>
              <a:t>β</a:t>
            </a:r>
            <a:r>
              <a:rPr dirty="0" baseline="17241" sz="2175" spc="-307">
                <a:latin typeface="Tahoma"/>
                <a:cs typeface="Tahoma"/>
              </a:rPr>
              <a:t>^</a:t>
            </a:r>
            <a:r>
              <a:rPr dirty="0" baseline="17241" sz="2175" spc="532">
                <a:latin typeface="Tahoma"/>
                <a:cs typeface="Tahoma"/>
              </a:rPr>
              <a:t> </a:t>
            </a:r>
            <a:r>
              <a:rPr dirty="0" baseline="1915" sz="2175">
                <a:latin typeface="Gill Sans MT"/>
                <a:cs typeface="Gill Sans MT"/>
              </a:rPr>
              <a:t>here.</a:t>
            </a:r>
            <a:r>
              <a:rPr dirty="0" baseline="1915" sz="2175" spc="30">
                <a:latin typeface="Gill Sans MT"/>
                <a:cs typeface="Gill Sans MT"/>
              </a:rPr>
              <a:t> </a:t>
            </a:r>
            <a:r>
              <a:rPr dirty="0" baseline="1915" sz="2175">
                <a:latin typeface="Gill Sans MT"/>
                <a:cs typeface="Gill Sans MT"/>
              </a:rPr>
              <a:t>Those</a:t>
            </a:r>
            <a:r>
              <a:rPr dirty="0" baseline="1915" sz="2175" spc="22">
                <a:latin typeface="Gill Sans MT"/>
                <a:cs typeface="Gill Sans MT"/>
              </a:rPr>
              <a:t> </a:t>
            </a:r>
            <a:r>
              <a:rPr dirty="0" baseline="1915" sz="2175" spc="142">
                <a:latin typeface="Gill Sans MT"/>
                <a:cs typeface="Gill Sans MT"/>
              </a:rPr>
              <a:t>details</a:t>
            </a:r>
            <a:r>
              <a:rPr dirty="0" baseline="1915" sz="2175" spc="30">
                <a:latin typeface="Gill Sans MT"/>
                <a:cs typeface="Gill Sans MT"/>
              </a:rPr>
              <a:t> </a:t>
            </a:r>
            <a:r>
              <a:rPr dirty="0" baseline="1915" sz="2175" spc="82">
                <a:latin typeface="Gill Sans MT"/>
                <a:cs typeface="Gill Sans MT"/>
              </a:rPr>
              <a:t>are</a:t>
            </a:r>
            <a:r>
              <a:rPr dirty="0" baseline="1915" sz="2175" spc="22">
                <a:latin typeface="Gill Sans MT"/>
                <a:cs typeface="Gill Sans MT"/>
              </a:rPr>
              <a:t> </a:t>
            </a:r>
            <a:r>
              <a:rPr dirty="0" baseline="1915" sz="2175" spc="67">
                <a:latin typeface="Gill Sans MT"/>
                <a:cs typeface="Gill Sans MT"/>
              </a:rPr>
              <a:t>covered</a:t>
            </a:r>
            <a:r>
              <a:rPr dirty="0" baseline="1915" sz="2175" spc="30">
                <a:latin typeface="Gill Sans MT"/>
                <a:cs typeface="Gill Sans MT"/>
              </a:rPr>
              <a:t> </a:t>
            </a:r>
            <a:r>
              <a:rPr dirty="0" baseline="1915" sz="2175" spc="150">
                <a:latin typeface="Gill Sans MT"/>
                <a:cs typeface="Gill Sans MT"/>
              </a:rPr>
              <a:t>in</a:t>
            </a:r>
            <a:r>
              <a:rPr dirty="0" baseline="1915" sz="2175" spc="22">
                <a:latin typeface="Gill Sans MT"/>
                <a:cs typeface="Gill Sans MT"/>
              </a:rPr>
              <a:t> </a:t>
            </a:r>
            <a:r>
              <a:rPr dirty="0" baseline="1915" sz="2175" spc="135">
                <a:latin typeface="Gill Sans MT"/>
                <a:cs typeface="Gill Sans MT"/>
              </a:rPr>
              <a:t>depth</a:t>
            </a:r>
            <a:r>
              <a:rPr dirty="0" baseline="1915" sz="2175" spc="30">
                <a:latin typeface="Gill Sans MT"/>
                <a:cs typeface="Gill Sans MT"/>
              </a:rPr>
              <a:t> </a:t>
            </a:r>
            <a:r>
              <a:rPr dirty="0" baseline="1915" sz="2175" spc="112">
                <a:latin typeface="Gill Sans MT"/>
                <a:cs typeface="Gill Sans MT"/>
              </a:rPr>
              <a:t>in</a:t>
            </a:r>
            <a:endParaRPr baseline="1915" sz="2175">
              <a:latin typeface="Gill Sans MT"/>
              <a:cs typeface="Gill Sans MT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021411" y="2959654"/>
            <a:ext cx="90170" cy="184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0">
                <a:latin typeface="Tahoma"/>
                <a:cs typeface="Tahoma"/>
              </a:rPr>
              <a:t>1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892426" y="2872334"/>
            <a:ext cx="173672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1792" sz="2325" spc="-1185" i="1">
                <a:latin typeface="Verdana"/>
                <a:cs typeface="Verdana"/>
              </a:rPr>
              <a:t>β</a:t>
            </a:r>
            <a:r>
              <a:rPr dirty="0" baseline="19157" sz="2175" spc="-307">
                <a:latin typeface="Tahoma"/>
                <a:cs typeface="Tahoma"/>
              </a:rPr>
              <a:t>^</a:t>
            </a:r>
            <a:r>
              <a:rPr dirty="0" baseline="19157" sz="2175" spc="465">
                <a:latin typeface="Tahoma"/>
                <a:cs typeface="Tahoma"/>
              </a:rPr>
              <a:t> </a:t>
            </a:r>
            <a:r>
              <a:rPr dirty="0" baseline="1915" sz="2175" spc="-179">
                <a:latin typeface="Tahoma"/>
                <a:cs typeface="Tahoma"/>
              </a:rPr>
              <a:t>:</a:t>
            </a:r>
            <a:r>
              <a:rPr dirty="0" baseline="1915" sz="2175" spc="-97">
                <a:latin typeface="Tahoma"/>
                <a:cs typeface="Tahoma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estimated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slope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3560067" y="5036103"/>
            <a:ext cx="680720" cy="184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2615" algn="l"/>
              </a:tabLst>
            </a:pPr>
            <a:r>
              <a:rPr dirty="0" sz="1050" spc="-50">
                <a:latin typeface="Tahoma"/>
                <a:cs typeface="Tahoma"/>
              </a:rPr>
              <a:t>0</a:t>
            </a:r>
            <a:r>
              <a:rPr dirty="0" sz="1050">
                <a:latin typeface="Tahoma"/>
                <a:cs typeface="Tahoma"/>
              </a:rPr>
              <a:t>	</a:t>
            </a:r>
            <a:r>
              <a:rPr dirty="0" sz="1050" spc="-50">
                <a:latin typeface="Tahoma"/>
                <a:cs typeface="Tahoma"/>
              </a:rPr>
              <a:t>1</a:t>
            </a:r>
            <a:endParaRPr sz="1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00" y="394970"/>
            <a:ext cx="151765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b="1">
                <a:latin typeface="Trebuchet MS"/>
                <a:cs typeface="Trebuchet MS"/>
              </a:rPr>
              <a:t>R</a:t>
            </a:r>
            <a:r>
              <a:rPr dirty="0" sz="1450" spc="-10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Implementation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1499" y="819150"/>
            <a:ext cx="7505700" cy="75247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25400" rIns="0" bIns="0" rtlCol="0" vert="horz">
            <a:spAutoFit/>
          </a:bodyPr>
          <a:lstStyle/>
          <a:p>
            <a:pPr marL="61594">
              <a:lnSpc>
                <a:spcPts val="1200"/>
              </a:lnSpc>
              <a:spcBef>
                <a:spcPts val="200"/>
              </a:spcBef>
            </a:pP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1150" spc="-9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Use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lm()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0" i="1">
                <a:solidFill>
                  <a:srgbClr val="999987"/>
                </a:solidFill>
                <a:latin typeface="Courier New"/>
                <a:cs typeface="Courier New"/>
              </a:rPr>
              <a:t>function</a:t>
            </a:r>
            <a:endParaRPr sz="1150">
              <a:latin typeface="Courier New"/>
              <a:cs typeface="Courier New"/>
            </a:endParaRPr>
          </a:p>
          <a:p>
            <a:pPr marL="61594">
              <a:lnSpc>
                <a:spcPts val="1145"/>
              </a:lnSpc>
            </a:pPr>
            <a:r>
              <a:rPr dirty="0" sz="1100">
                <a:solidFill>
                  <a:srgbClr val="333333"/>
                </a:solidFill>
                <a:latin typeface="Lucida Console"/>
                <a:cs typeface="Lucida Console"/>
              </a:rPr>
              <a:t>d</a:t>
            </a:r>
            <a:r>
              <a:rPr dirty="0" sz="1100" spc="-11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950">
                <a:solidFill>
                  <a:srgbClr val="333333"/>
                </a:solidFill>
                <a:latin typeface="Courier New"/>
                <a:cs typeface="Courier New"/>
              </a:rPr>
              <a:t>&lt;- </a:t>
            </a:r>
            <a:r>
              <a:rPr dirty="0" sz="1100" spc="-80">
                <a:solidFill>
                  <a:srgbClr val="333333"/>
                </a:solidFill>
                <a:latin typeface="Lucida Console"/>
                <a:cs typeface="Lucida Console"/>
              </a:rPr>
              <a:t>read.csv(</a:t>
            </a:r>
            <a:r>
              <a:rPr dirty="0" sz="1100" spc="-80">
                <a:solidFill>
                  <a:srgbClr val="DD1144"/>
                </a:solidFill>
                <a:latin typeface="Lucida Console"/>
                <a:cs typeface="Lucida Console"/>
              </a:rPr>
              <a:t>'B:/UO</a:t>
            </a:r>
            <a:r>
              <a:rPr dirty="0" sz="1100" spc="-85">
                <a:solidFill>
                  <a:srgbClr val="DD1144"/>
                </a:solidFill>
                <a:latin typeface="Lucida Console"/>
                <a:cs typeface="Lucida Console"/>
              </a:rPr>
              <a:t> </a:t>
            </a:r>
            <a:r>
              <a:rPr dirty="0" sz="1100" spc="-65">
                <a:solidFill>
                  <a:srgbClr val="DD1144"/>
                </a:solidFill>
                <a:latin typeface="Lucida Console"/>
                <a:cs typeface="Lucida Console"/>
              </a:rPr>
              <a:t>Teaching/EDUC614/Winter22/Week9/infant_mortality.csv'</a:t>
            </a:r>
            <a:r>
              <a:rPr dirty="0" sz="1100" spc="-65">
                <a:solidFill>
                  <a:srgbClr val="333333"/>
                </a:solidFill>
                <a:latin typeface="Lucida Console"/>
                <a:cs typeface="Lucida Console"/>
              </a:rPr>
              <a:t>,header</a:t>
            </a:r>
            <a:r>
              <a:rPr dirty="0" sz="950" spc="-65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1000" spc="-65">
                <a:solidFill>
                  <a:srgbClr val="008080"/>
                </a:solidFill>
                <a:latin typeface="Courier New"/>
                <a:cs typeface="Courier New"/>
              </a:rPr>
              <a:t>TRUE</a:t>
            </a:r>
            <a:r>
              <a:rPr dirty="0" sz="1100" spc="-65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1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50">
              <a:latin typeface="Lucida Console"/>
              <a:cs typeface="Lucida Console"/>
            </a:endParaRPr>
          </a:p>
          <a:p>
            <a:pPr marL="285750" marR="4974590" indent="-224154">
              <a:lnSpc>
                <a:spcPct val="73900"/>
              </a:lnSpc>
              <a:spcBef>
                <a:spcPts val="5"/>
              </a:spcBef>
              <a:tabLst>
                <a:tab pos="882015" algn="l"/>
              </a:tabLst>
            </a:pPr>
            <a:r>
              <a:rPr dirty="0" sz="1100" spc="-80">
                <a:solidFill>
                  <a:srgbClr val="333333"/>
                </a:solidFill>
                <a:latin typeface="Lucida Console"/>
                <a:cs typeface="Lucida Console"/>
              </a:rPr>
              <a:t>lm(formula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95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950" spc="2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infmor</a:t>
            </a:r>
            <a:r>
              <a:rPr dirty="0" sz="1100" spc="-7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950">
                <a:solidFill>
                  <a:srgbClr val="333333"/>
                </a:solidFill>
                <a:latin typeface="Courier New"/>
                <a:cs typeface="Courier New"/>
              </a:rPr>
              <a:t>~</a:t>
            </a:r>
            <a:r>
              <a:rPr dirty="0" sz="950" spc="2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008080"/>
                </a:solidFill>
                <a:latin typeface="Courier New"/>
                <a:cs typeface="Courier New"/>
              </a:rPr>
              <a:t>1</a:t>
            </a:r>
            <a:r>
              <a:rPr dirty="0" sz="1000" spc="-5">
                <a:solidFill>
                  <a:srgbClr val="008080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333333"/>
                </a:solidFill>
                <a:latin typeface="Courier New"/>
                <a:cs typeface="Courier New"/>
              </a:rPr>
              <a:t>+</a:t>
            </a:r>
            <a:r>
              <a:rPr dirty="0" sz="950" spc="2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doctor, </a:t>
            </a:r>
            <a:r>
              <a:rPr dirty="0" sz="1100" spc="-20">
                <a:solidFill>
                  <a:srgbClr val="333333"/>
                </a:solidFill>
                <a:latin typeface="Lucida Console"/>
                <a:cs typeface="Lucida Console"/>
              </a:rPr>
              <a:t>data</a:t>
            </a:r>
            <a:r>
              <a:rPr dirty="0" sz="1100">
                <a:solidFill>
                  <a:srgbClr val="333333"/>
                </a:solidFill>
                <a:latin typeface="Lucida Console"/>
                <a:cs typeface="Lucida Console"/>
              </a:rPr>
              <a:t>	</a:t>
            </a:r>
            <a:r>
              <a:rPr dirty="0" sz="95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950" spc="2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333333"/>
                </a:solidFill>
                <a:latin typeface="Lucida Console"/>
                <a:cs typeface="Lucida Console"/>
              </a:rPr>
              <a:t>d)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800" y="1760252"/>
            <a:ext cx="3232785" cy="56705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1125"/>
              </a:lnSpc>
              <a:spcBef>
                <a:spcPts val="115"/>
              </a:spcBef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Call: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ts val="1180"/>
              </a:lnSpc>
            </a:pP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lm(formula</a:t>
            </a:r>
            <a:r>
              <a:rPr dirty="0" sz="1100" spc="-9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50" b="0">
                <a:solidFill>
                  <a:srgbClr val="007834"/>
                </a:solidFill>
                <a:latin typeface="Bookman Old Style"/>
                <a:cs typeface="Bookman Old Style"/>
              </a:rPr>
              <a:t>=</a:t>
            </a:r>
            <a:r>
              <a:rPr dirty="0" sz="1150" spc="10" b="0">
                <a:solidFill>
                  <a:srgbClr val="007834"/>
                </a:solidFill>
                <a:latin typeface="Bookman Old Style"/>
                <a:cs typeface="Bookman Old Sty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infmor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50" b="0">
                <a:solidFill>
                  <a:srgbClr val="007834"/>
                </a:solidFill>
                <a:latin typeface="Bookman Old Style"/>
                <a:cs typeface="Bookman Old Style"/>
              </a:rPr>
              <a:t>~</a:t>
            </a:r>
            <a:r>
              <a:rPr dirty="0" sz="1150" spc="130" b="0">
                <a:solidFill>
                  <a:srgbClr val="007834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1</a:t>
            </a:r>
            <a:r>
              <a:rPr dirty="0" sz="1100" spc="-13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50" b="0">
                <a:solidFill>
                  <a:srgbClr val="007834"/>
                </a:solidFill>
                <a:latin typeface="Bookman Old Style"/>
                <a:cs typeface="Bookman Old Style"/>
              </a:rPr>
              <a:t>+</a:t>
            </a:r>
            <a:r>
              <a:rPr dirty="0" sz="1150" spc="160" b="0">
                <a:solidFill>
                  <a:srgbClr val="007834"/>
                </a:solidFill>
                <a:latin typeface="Bookman Old Style"/>
                <a:cs typeface="Bookman Old Sty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doctor,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 data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50" b="0">
                <a:solidFill>
                  <a:srgbClr val="007834"/>
                </a:solidFill>
                <a:latin typeface="Bookman Old Style"/>
                <a:cs typeface="Bookman Old Style"/>
              </a:rPr>
              <a:t>=</a:t>
            </a:r>
            <a:r>
              <a:rPr dirty="0" sz="1150" spc="160" b="0">
                <a:solidFill>
                  <a:srgbClr val="007834"/>
                </a:solidFill>
                <a:latin typeface="Bookman Old Style"/>
                <a:cs typeface="Bookman Old Style"/>
              </a:rPr>
              <a:t> 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d)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Coefficients: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800" y="2255552"/>
            <a:ext cx="845819" cy="32893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r" marR="5080">
              <a:lnSpc>
                <a:spcPts val="1185"/>
              </a:lnSpc>
              <a:spcBef>
                <a:spcPts val="115"/>
              </a:spcBef>
            </a:pPr>
            <a:r>
              <a:rPr dirty="0" sz="1100" spc="-75">
                <a:solidFill>
                  <a:srgbClr val="007834"/>
                </a:solidFill>
                <a:latin typeface="Lucida Console"/>
                <a:cs typeface="Lucida Console"/>
              </a:rPr>
              <a:t>(Intercept)</a:t>
            </a:r>
            <a:endParaRPr sz="1100">
              <a:latin typeface="Lucida Console"/>
              <a:cs typeface="Lucida Console"/>
            </a:endParaRPr>
          </a:p>
          <a:p>
            <a:pPr algn="r" marR="5080">
              <a:lnSpc>
                <a:spcPts val="1185"/>
              </a:lnSpc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10.735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1251" y="2255552"/>
            <a:ext cx="473075" cy="32893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1185"/>
              </a:lnSpc>
              <a:spcBef>
                <a:spcPts val="115"/>
              </a:spcBef>
            </a:pPr>
            <a:r>
              <a:rPr dirty="0" sz="1100" spc="-75">
                <a:solidFill>
                  <a:srgbClr val="007834"/>
                </a:solidFill>
                <a:latin typeface="Lucida Console"/>
                <a:cs typeface="Lucida Console"/>
              </a:rPr>
              <a:t>doctor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ts val="1185"/>
              </a:lnSpc>
            </a:pP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-</a:t>
            </a:r>
            <a:r>
              <a:rPr dirty="0" sz="1100" spc="-70">
                <a:solidFill>
                  <a:srgbClr val="007834"/>
                </a:solidFill>
                <a:latin typeface="Lucida Console"/>
                <a:cs typeface="Lucida Console"/>
              </a:rPr>
              <a:t>1.793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1524" y="3238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14400" y="3094203"/>
            <a:ext cx="6694805" cy="155575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60"/>
              </a:spcBef>
            </a:pPr>
            <a:r>
              <a:rPr dirty="0" sz="1450">
                <a:latin typeface="Gill Sans MT"/>
                <a:cs typeface="Gill Sans MT"/>
              </a:rPr>
              <a:t>The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550" spc="-75">
                <a:solidFill>
                  <a:srgbClr val="007834"/>
                </a:solidFill>
                <a:latin typeface="Lucida Console"/>
                <a:cs typeface="Lucida Console"/>
              </a:rPr>
              <a:t>lm()</a:t>
            </a:r>
            <a:r>
              <a:rPr dirty="0" sz="1550" spc="-509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function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returns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two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values.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The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first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one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intercept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estimate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-50">
                <a:latin typeface="Gill Sans MT"/>
                <a:cs typeface="Gill Sans MT"/>
              </a:rPr>
              <a:t>(</a:t>
            </a:r>
            <a:endParaRPr sz="1450">
              <a:latin typeface="Gill Sans MT"/>
              <a:cs typeface="Gill Sans MT"/>
            </a:endParaRPr>
          </a:p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1792" sz="2325" spc="-1064" i="1">
                <a:latin typeface="Verdana"/>
                <a:cs typeface="Verdana"/>
              </a:rPr>
              <a:t>β</a:t>
            </a:r>
            <a:r>
              <a:rPr dirty="0" baseline="15325" sz="2175" spc="-712">
                <a:latin typeface="Tahoma"/>
                <a:cs typeface="Tahoma"/>
              </a:rPr>
              <a:t>^</a:t>
            </a:r>
            <a:r>
              <a:rPr dirty="0" baseline="-10582" sz="1575" spc="-187">
                <a:latin typeface="Tahoma"/>
                <a:cs typeface="Tahoma"/>
              </a:rPr>
              <a:t>0</a:t>
            </a:r>
            <a:r>
              <a:rPr dirty="0" baseline="-10582" sz="1575" spc="232">
                <a:latin typeface="Tahoma"/>
                <a:cs typeface="Tahoma"/>
              </a:rPr>
              <a:t> </a:t>
            </a:r>
            <a:r>
              <a:rPr dirty="0" baseline="1915" sz="2175" spc="89">
                <a:latin typeface="Tahoma"/>
                <a:cs typeface="Tahoma"/>
              </a:rPr>
              <a:t>=</a:t>
            </a:r>
            <a:r>
              <a:rPr dirty="0" baseline="1915" sz="2175" spc="-67">
                <a:latin typeface="Tahoma"/>
                <a:cs typeface="Tahoma"/>
              </a:rPr>
              <a:t> </a:t>
            </a:r>
            <a:r>
              <a:rPr dirty="0" baseline="1915" sz="2175" spc="-112">
                <a:latin typeface="Tahoma"/>
                <a:cs typeface="Tahoma"/>
              </a:rPr>
              <a:t>10.735</a:t>
            </a:r>
            <a:r>
              <a:rPr dirty="0" baseline="1915" sz="2175" spc="-97">
                <a:latin typeface="Tahoma"/>
                <a:cs typeface="Tahoma"/>
              </a:rPr>
              <a:t> </a:t>
            </a:r>
            <a:r>
              <a:rPr dirty="0" sz="1450">
                <a:latin typeface="Gill Sans MT"/>
                <a:cs typeface="Gill Sans MT"/>
              </a:rPr>
              <a:t>)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second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one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slope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estimate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(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baseline="1792" sz="2325" spc="-1064" i="1">
                <a:latin typeface="Verdana"/>
                <a:cs typeface="Verdana"/>
              </a:rPr>
              <a:t>β</a:t>
            </a:r>
            <a:r>
              <a:rPr dirty="0" baseline="15325" sz="2175" spc="-712">
                <a:latin typeface="Tahoma"/>
                <a:cs typeface="Tahoma"/>
              </a:rPr>
              <a:t>^</a:t>
            </a:r>
            <a:r>
              <a:rPr dirty="0" baseline="-10582" sz="1575" spc="-187">
                <a:latin typeface="Tahoma"/>
                <a:cs typeface="Tahoma"/>
              </a:rPr>
              <a:t>1</a:t>
            </a:r>
            <a:r>
              <a:rPr dirty="0" baseline="-10582" sz="1575" spc="232">
                <a:latin typeface="Tahoma"/>
                <a:cs typeface="Tahoma"/>
              </a:rPr>
              <a:t> </a:t>
            </a:r>
            <a:r>
              <a:rPr dirty="0" baseline="1915" sz="2175" spc="89">
                <a:latin typeface="Tahoma"/>
                <a:cs typeface="Tahoma"/>
              </a:rPr>
              <a:t>=</a:t>
            </a:r>
            <a:r>
              <a:rPr dirty="0" baseline="1915" sz="2175" spc="-67">
                <a:latin typeface="Tahoma"/>
                <a:cs typeface="Tahoma"/>
              </a:rPr>
              <a:t> −1.793</a:t>
            </a:r>
            <a:r>
              <a:rPr dirty="0" baseline="1915" sz="2175" spc="-89">
                <a:latin typeface="Tahoma"/>
                <a:cs typeface="Tahoma"/>
              </a:rPr>
              <a:t> </a:t>
            </a:r>
            <a:r>
              <a:rPr dirty="0" sz="1450" spc="-25">
                <a:latin typeface="Gill Sans MT"/>
                <a:cs typeface="Gill Sans MT"/>
              </a:rPr>
              <a:t>).</a:t>
            </a:r>
            <a:endParaRPr sz="1450">
              <a:latin typeface="Gill Sans MT"/>
              <a:cs typeface="Gill Sans MT"/>
            </a:endParaRPr>
          </a:p>
          <a:p>
            <a:pPr marL="38100">
              <a:lnSpc>
                <a:spcPct val="100000"/>
              </a:lnSpc>
              <a:spcBef>
                <a:spcPts val="1430"/>
              </a:spcBef>
            </a:pPr>
            <a:r>
              <a:rPr dirty="0" sz="1450">
                <a:latin typeface="Gill Sans MT"/>
                <a:cs typeface="Gill Sans MT"/>
              </a:rPr>
              <a:t>How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do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you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interpret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these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numbers?</a:t>
            </a:r>
            <a:endParaRPr sz="1450">
              <a:latin typeface="Gill Sans MT"/>
              <a:cs typeface="Gill Sans MT"/>
            </a:endParaRPr>
          </a:p>
          <a:p>
            <a:pPr marL="38100" marR="30480">
              <a:lnSpc>
                <a:spcPts val="1730"/>
              </a:lnSpc>
              <a:spcBef>
                <a:spcPts val="1475"/>
              </a:spcBef>
            </a:pPr>
            <a:r>
              <a:rPr dirty="0" sz="1450">
                <a:latin typeface="Gill Sans MT"/>
                <a:cs typeface="Gill Sans MT"/>
              </a:rPr>
              <a:t>What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model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predicted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number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under-five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mortality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rate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(per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1,000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liver </a:t>
            </a:r>
            <a:r>
              <a:rPr dirty="0" sz="1450" spc="60">
                <a:latin typeface="Gill Sans MT"/>
                <a:cs typeface="Gill Sans MT"/>
              </a:rPr>
              <a:t>births)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4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country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 spc="4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4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doctor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per</a:t>
            </a:r>
            <a:r>
              <a:rPr dirty="0" sz="1450" spc="4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1,000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inhabitants?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1524" y="38957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71524" y="42957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dirty="0"/>
              <a:t>44</a:t>
            </a:r>
            <a:r>
              <a:rPr dirty="0" spc="-45"/>
              <a:t> </a:t>
            </a:r>
            <a:r>
              <a:rPr dirty="0" spc="165"/>
              <a:t>/</a:t>
            </a:r>
            <a:r>
              <a:rPr dirty="0" spc="-45"/>
              <a:t> </a:t>
            </a:r>
            <a:r>
              <a:rPr dirty="0" spc="-25"/>
              <a:t>48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524" y="9334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71524" y="1333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1524" y="17430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71524" y="35337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1524" y="39338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71524" y="43433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95300" y="394970"/>
            <a:ext cx="7552690" cy="40874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90"/>
              </a:spcBef>
            </a:pPr>
            <a:r>
              <a:rPr dirty="0" sz="1450" spc="-10" b="1">
                <a:latin typeface="Trebuchet MS"/>
                <a:cs typeface="Trebuchet MS"/>
              </a:rPr>
              <a:t>Statistical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Inference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for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Regression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Coefficients</a:t>
            </a:r>
            <a:endParaRPr sz="1450">
              <a:latin typeface="Trebuchet MS"/>
              <a:cs typeface="Trebuchet MS"/>
            </a:endParaRPr>
          </a:p>
          <a:p>
            <a:pPr marL="456565">
              <a:lnSpc>
                <a:spcPts val="1295"/>
              </a:lnSpc>
              <a:spcBef>
                <a:spcPts val="1535"/>
              </a:spcBef>
            </a:pPr>
            <a:r>
              <a:rPr dirty="0" baseline="1915" sz="2175">
                <a:latin typeface="Gill Sans MT"/>
                <a:cs typeface="Gill Sans MT"/>
              </a:rPr>
              <a:t>The</a:t>
            </a:r>
            <a:r>
              <a:rPr dirty="0" baseline="1915" sz="2175" spc="-22">
                <a:latin typeface="Gill Sans MT"/>
                <a:cs typeface="Gill Sans MT"/>
              </a:rPr>
              <a:t> </a:t>
            </a:r>
            <a:r>
              <a:rPr dirty="0" baseline="1915" sz="2175" spc="127">
                <a:latin typeface="Gill Sans MT"/>
                <a:cs typeface="Gill Sans MT"/>
              </a:rPr>
              <a:t>estimated</a:t>
            </a:r>
            <a:r>
              <a:rPr dirty="0" baseline="1915" sz="2175" spc="-15">
                <a:latin typeface="Gill Sans MT"/>
                <a:cs typeface="Gill Sans MT"/>
              </a:rPr>
              <a:t> </a:t>
            </a:r>
            <a:r>
              <a:rPr dirty="0" baseline="1915" sz="2175" spc="104">
                <a:latin typeface="Gill Sans MT"/>
                <a:cs typeface="Gill Sans MT"/>
              </a:rPr>
              <a:t>coefficients,</a:t>
            </a:r>
            <a:r>
              <a:rPr dirty="0" baseline="1915" sz="2175" spc="-22">
                <a:latin typeface="Gill Sans MT"/>
                <a:cs typeface="Gill Sans MT"/>
              </a:rPr>
              <a:t> </a:t>
            </a:r>
            <a:r>
              <a:rPr dirty="0" sz="1550" spc="-790" i="1">
                <a:latin typeface="Verdana"/>
                <a:cs typeface="Verdana"/>
              </a:rPr>
              <a:t>β</a:t>
            </a:r>
            <a:r>
              <a:rPr dirty="0" baseline="17241" sz="2175" spc="-307">
                <a:latin typeface="Tahoma"/>
                <a:cs typeface="Tahoma"/>
              </a:rPr>
              <a:t>^</a:t>
            </a:r>
            <a:r>
              <a:rPr dirty="0" baseline="17241" sz="2175" spc="450">
                <a:latin typeface="Tahoma"/>
                <a:cs typeface="Tahoma"/>
              </a:rPr>
              <a:t> </a:t>
            </a:r>
            <a:r>
              <a:rPr dirty="0" baseline="1915" sz="2175" spc="195">
                <a:latin typeface="Gill Sans MT"/>
                <a:cs typeface="Gill Sans MT"/>
              </a:rPr>
              <a:t>and</a:t>
            </a:r>
            <a:r>
              <a:rPr dirty="0" baseline="1915" sz="2175" spc="-15">
                <a:latin typeface="Gill Sans MT"/>
                <a:cs typeface="Gill Sans MT"/>
              </a:rPr>
              <a:t> </a:t>
            </a:r>
            <a:r>
              <a:rPr dirty="0" sz="1550" spc="-790" i="1">
                <a:latin typeface="Verdana"/>
                <a:cs typeface="Verdana"/>
              </a:rPr>
              <a:t>β</a:t>
            </a:r>
            <a:r>
              <a:rPr dirty="0" baseline="17241" sz="2175" spc="-307">
                <a:latin typeface="Tahoma"/>
                <a:cs typeface="Tahoma"/>
              </a:rPr>
              <a:t>^</a:t>
            </a:r>
            <a:r>
              <a:rPr dirty="0" baseline="17241" sz="2175" spc="-142">
                <a:latin typeface="Tahoma"/>
                <a:cs typeface="Tahoma"/>
              </a:rPr>
              <a:t> </a:t>
            </a:r>
            <a:r>
              <a:rPr dirty="0" baseline="1915" sz="2175">
                <a:latin typeface="Gill Sans MT"/>
                <a:cs typeface="Gill Sans MT"/>
              </a:rPr>
              <a:t>,</a:t>
            </a:r>
            <a:r>
              <a:rPr dirty="0" baseline="1915" sz="2175" spc="-15">
                <a:latin typeface="Gill Sans MT"/>
                <a:cs typeface="Gill Sans MT"/>
              </a:rPr>
              <a:t> </a:t>
            </a:r>
            <a:r>
              <a:rPr dirty="0" baseline="1915" sz="2175" spc="82">
                <a:latin typeface="Gill Sans MT"/>
                <a:cs typeface="Gill Sans MT"/>
              </a:rPr>
              <a:t>are</a:t>
            </a:r>
            <a:r>
              <a:rPr dirty="0" baseline="1915" sz="2175" spc="-15">
                <a:latin typeface="Gill Sans MT"/>
                <a:cs typeface="Gill Sans MT"/>
              </a:rPr>
              <a:t> </a:t>
            </a:r>
            <a:r>
              <a:rPr dirty="0" baseline="1915" sz="2175" spc="165">
                <a:latin typeface="Gill Sans MT"/>
                <a:cs typeface="Gill Sans MT"/>
              </a:rPr>
              <a:t>based</a:t>
            </a:r>
            <a:r>
              <a:rPr dirty="0" baseline="1915" sz="2175" spc="-22">
                <a:latin typeface="Gill Sans MT"/>
                <a:cs typeface="Gill Sans MT"/>
              </a:rPr>
              <a:t> </a:t>
            </a:r>
            <a:r>
              <a:rPr dirty="0" baseline="1915" sz="2175" spc="112">
                <a:latin typeface="Gill Sans MT"/>
                <a:cs typeface="Gill Sans MT"/>
              </a:rPr>
              <a:t>on</a:t>
            </a:r>
            <a:r>
              <a:rPr dirty="0" baseline="1915" sz="2175" spc="-15">
                <a:latin typeface="Gill Sans MT"/>
                <a:cs typeface="Gill Sans MT"/>
              </a:rPr>
              <a:t> </a:t>
            </a:r>
            <a:r>
              <a:rPr dirty="0" baseline="1915" sz="2175" spc="165">
                <a:latin typeface="Gill Sans MT"/>
                <a:cs typeface="Gill Sans MT"/>
              </a:rPr>
              <a:t>sample</a:t>
            </a:r>
            <a:r>
              <a:rPr dirty="0" baseline="1915" sz="2175" spc="-22">
                <a:latin typeface="Gill Sans MT"/>
                <a:cs typeface="Gill Sans MT"/>
              </a:rPr>
              <a:t> </a:t>
            </a:r>
            <a:r>
              <a:rPr dirty="0" baseline="1915" sz="2175" spc="142">
                <a:latin typeface="Gill Sans MT"/>
                <a:cs typeface="Gill Sans MT"/>
              </a:rPr>
              <a:t>data,</a:t>
            </a:r>
            <a:r>
              <a:rPr dirty="0" baseline="1915" sz="2175" spc="-15">
                <a:latin typeface="Gill Sans MT"/>
                <a:cs typeface="Gill Sans MT"/>
              </a:rPr>
              <a:t> </a:t>
            </a:r>
            <a:r>
              <a:rPr dirty="0" baseline="1915" sz="2175" spc="89">
                <a:latin typeface="Gill Sans MT"/>
                <a:cs typeface="Gill Sans MT"/>
              </a:rPr>
              <a:t>not</a:t>
            </a:r>
            <a:r>
              <a:rPr dirty="0" baseline="1915" sz="2175" spc="-15">
                <a:latin typeface="Gill Sans MT"/>
                <a:cs typeface="Gill Sans MT"/>
              </a:rPr>
              <a:t> </a:t>
            </a:r>
            <a:r>
              <a:rPr dirty="0" baseline="1915" sz="2175" spc="112">
                <a:latin typeface="Gill Sans MT"/>
                <a:cs typeface="Gill Sans MT"/>
              </a:rPr>
              <a:t>the</a:t>
            </a:r>
            <a:r>
              <a:rPr dirty="0" baseline="1915" sz="2175" spc="-22">
                <a:latin typeface="Gill Sans MT"/>
                <a:cs typeface="Gill Sans MT"/>
              </a:rPr>
              <a:t> </a:t>
            </a:r>
            <a:r>
              <a:rPr dirty="0" baseline="1915" sz="2175" spc="112">
                <a:latin typeface="Gill Sans MT"/>
                <a:cs typeface="Gill Sans MT"/>
              </a:rPr>
              <a:t>population.</a:t>
            </a:r>
            <a:endParaRPr baseline="1915" sz="2175">
              <a:latin typeface="Gill Sans MT"/>
              <a:cs typeface="Gill Sans MT"/>
            </a:endParaRPr>
          </a:p>
          <a:p>
            <a:pPr marL="2836545">
              <a:lnSpc>
                <a:spcPts val="695"/>
              </a:lnSpc>
              <a:tabLst>
                <a:tab pos="3426460" algn="l"/>
              </a:tabLst>
            </a:pPr>
            <a:r>
              <a:rPr dirty="0" sz="1050" spc="-50">
                <a:latin typeface="Tahoma"/>
                <a:cs typeface="Tahoma"/>
              </a:rPr>
              <a:t>0</a:t>
            </a:r>
            <a:r>
              <a:rPr dirty="0" sz="1050">
                <a:latin typeface="Tahoma"/>
                <a:cs typeface="Tahoma"/>
              </a:rPr>
              <a:t>	</a:t>
            </a:r>
            <a:r>
              <a:rPr dirty="0" sz="1050" spc="-50">
                <a:latin typeface="Tahoma"/>
                <a:cs typeface="Tahoma"/>
              </a:rPr>
              <a:t>1</a:t>
            </a:r>
            <a:endParaRPr sz="10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0">
              <a:latin typeface="Tahoma"/>
              <a:cs typeface="Tahoma"/>
            </a:endParaRPr>
          </a:p>
          <a:p>
            <a:pPr marL="456565">
              <a:lnSpc>
                <a:spcPct val="100000"/>
              </a:lnSpc>
            </a:pPr>
            <a:r>
              <a:rPr dirty="0" sz="1450">
                <a:latin typeface="Gill Sans MT"/>
                <a:cs typeface="Gill Sans MT"/>
              </a:rPr>
              <a:t>Due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to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14">
                <a:latin typeface="Gill Sans MT"/>
                <a:cs typeface="Gill Sans MT"/>
              </a:rPr>
              <a:t>sampling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variability,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they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may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differ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from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zero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just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by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chance.</a:t>
            </a:r>
            <a:endParaRPr sz="1450">
              <a:latin typeface="Gill Sans MT"/>
              <a:cs typeface="Gill Sans MT"/>
            </a:endParaRPr>
          </a:p>
          <a:p>
            <a:pPr marL="456565" marR="793750">
              <a:lnSpc>
                <a:spcPts val="1730"/>
              </a:lnSpc>
              <a:spcBef>
                <a:spcPts val="1550"/>
              </a:spcBef>
            </a:pPr>
            <a:r>
              <a:rPr dirty="0" sz="1450" spc="-140">
                <a:latin typeface="Gill Sans MT"/>
                <a:cs typeface="Gill Sans MT"/>
              </a:rPr>
              <a:t>We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test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whether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these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coefficients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are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statistically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different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from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zero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the </a:t>
            </a:r>
            <a:r>
              <a:rPr dirty="0" sz="1450" spc="90">
                <a:latin typeface="Gill Sans MT"/>
                <a:cs typeface="Gill Sans MT"/>
              </a:rPr>
              <a:t>population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(i.e.,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reflect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real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relationship,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not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random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noise).</a:t>
            </a:r>
            <a:endParaRPr sz="1450">
              <a:latin typeface="Gill Sans MT"/>
              <a:cs typeface="Gill Sans MT"/>
            </a:endParaRPr>
          </a:p>
          <a:p>
            <a:pPr marL="76200">
              <a:lnSpc>
                <a:spcPct val="100000"/>
              </a:lnSpc>
              <a:spcBef>
                <a:spcPts val="1350"/>
              </a:spcBef>
            </a:pPr>
            <a:r>
              <a:rPr dirty="0" sz="1450">
                <a:latin typeface="Gill Sans MT"/>
                <a:cs typeface="Gill Sans MT"/>
              </a:rPr>
              <a:t>The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110">
                <a:latin typeface="Gill Sans MT"/>
                <a:cs typeface="Gill Sans MT"/>
              </a:rPr>
              <a:t>null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hypothesis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two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coefficients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30">
                <a:latin typeface="Gill Sans MT"/>
                <a:cs typeface="Gill Sans MT"/>
              </a:rPr>
              <a:t>are</a:t>
            </a:r>
            <a:endParaRPr sz="1450">
              <a:latin typeface="Gill Sans MT"/>
              <a:cs typeface="Gill Sans MT"/>
            </a:endParaRPr>
          </a:p>
          <a:p>
            <a:pPr marL="2948940" marR="2470150">
              <a:lnSpc>
                <a:spcPts val="3080"/>
              </a:lnSpc>
              <a:spcBef>
                <a:spcPts val="170"/>
              </a:spcBef>
            </a:pP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15">
                <a:latin typeface="Tahoma"/>
                <a:cs typeface="Tahoma"/>
              </a:rPr>
              <a:t> </a:t>
            </a:r>
            <a:r>
              <a:rPr dirty="0" sz="1450" spc="-120">
                <a:latin typeface="Tahoma"/>
                <a:cs typeface="Tahoma"/>
              </a:rPr>
              <a:t>: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550" spc="-40" i="1">
                <a:latin typeface="Verdana"/>
                <a:cs typeface="Verdana"/>
              </a:rPr>
              <a:t>β</a:t>
            </a:r>
            <a:r>
              <a:rPr dirty="0" baseline="-13227" sz="1575" spc="-60">
                <a:latin typeface="Tahoma"/>
                <a:cs typeface="Tahoma"/>
              </a:rPr>
              <a:t>0</a:t>
            </a:r>
            <a:r>
              <a:rPr dirty="0" baseline="-13227" sz="1575" spc="165">
                <a:latin typeface="Tahoma"/>
                <a:cs typeface="Tahoma"/>
              </a:rPr>
              <a:t> </a:t>
            </a:r>
            <a:r>
              <a:rPr dirty="0" sz="1450" spc="60">
                <a:latin typeface="Tahoma"/>
                <a:cs typeface="Tahoma"/>
              </a:rPr>
              <a:t>=</a:t>
            </a:r>
            <a:r>
              <a:rPr dirty="0" sz="1450" spc="-80">
                <a:latin typeface="Tahoma"/>
                <a:cs typeface="Tahoma"/>
              </a:rPr>
              <a:t> 0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vs.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5151" sz="1650" i="1">
                <a:latin typeface="Verdana"/>
                <a:cs typeface="Verdana"/>
              </a:rPr>
              <a:t>A</a:t>
            </a:r>
            <a:r>
              <a:rPr dirty="0" baseline="-15151" sz="1650" spc="82" i="1">
                <a:latin typeface="Verdana"/>
                <a:cs typeface="Verdana"/>
              </a:rPr>
              <a:t> </a:t>
            </a:r>
            <a:r>
              <a:rPr dirty="0" sz="1450" spc="-120">
                <a:latin typeface="Tahoma"/>
                <a:cs typeface="Tahoma"/>
              </a:rPr>
              <a:t>: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550" spc="-40" i="1">
                <a:latin typeface="Verdana"/>
                <a:cs typeface="Verdana"/>
              </a:rPr>
              <a:t>β</a:t>
            </a:r>
            <a:r>
              <a:rPr dirty="0" baseline="-13227" sz="1575" spc="-60">
                <a:latin typeface="Tahoma"/>
                <a:cs typeface="Tahoma"/>
              </a:rPr>
              <a:t>0</a:t>
            </a:r>
            <a:r>
              <a:rPr dirty="0" baseline="-13227" sz="1575" spc="165">
                <a:latin typeface="Tahoma"/>
                <a:cs typeface="Tahoma"/>
              </a:rPr>
              <a:t> </a:t>
            </a:r>
            <a:r>
              <a:rPr dirty="0" sz="1450" spc="60">
                <a:latin typeface="Tahoma"/>
                <a:cs typeface="Tahoma"/>
              </a:rPr>
              <a:t>≠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0 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0582" sz="1575">
                <a:latin typeface="Tahoma"/>
                <a:cs typeface="Tahoma"/>
              </a:rPr>
              <a:t>0</a:t>
            </a:r>
            <a:r>
              <a:rPr dirty="0" baseline="-10582" sz="1575" spc="15">
                <a:latin typeface="Tahoma"/>
                <a:cs typeface="Tahoma"/>
              </a:rPr>
              <a:t> </a:t>
            </a:r>
            <a:r>
              <a:rPr dirty="0" sz="1450" spc="-120">
                <a:latin typeface="Tahoma"/>
                <a:cs typeface="Tahoma"/>
              </a:rPr>
              <a:t>: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550" spc="-40" i="1">
                <a:latin typeface="Verdana"/>
                <a:cs typeface="Verdana"/>
              </a:rPr>
              <a:t>β</a:t>
            </a:r>
            <a:r>
              <a:rPr dirty="0" baseline="-10582" sz="1575" spc="-60">
                <a:latin typeface="Tahoma"/>
                <a:cs typeface="Tahoma"/>
              </a:rPr>
              <a:t>1</a:t>
            </a:r>
            <a:r>
              <a:rPr dirty="0" baseline="-10582" sz="1575" spc="165">
                <a:latin typeface="Tahoma"/>
                <a:cs typeface="Tahoma"/>
              </a:rPr>
              <a:t> </a:t>
            </a:r>
            <a:r>
              <a:rPr dirty="0" sz="1450" spc="60">
                <a:latin typeface="Tahoma"/>
                <a:cs typeface="Tahoma"/>
              </a:rPr>
              <a:t>=</a:t>
            </a:r>
            <a:r>
              <a:rPr dirty="0" sz="1450" spc="-80">
                <a:latin typeface="Tahoma"/>
                <a:cs typeface="Tahoma"/>
              </a:rPr>
              <a:t> 0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450" spc="-35">
                <a:latin typeface="Tahoma"/>
                <a:cs typeface="Tahoma"/>
              </a:rPr>
              <a:t>vs.</a:t>
            </a:r>
            <a:r>
              <a:rPr dirty="0" sz="1450" spc="-95">
                <a:latin typeface="Tahoma"/>
                <a:cs typeface="Tahoma"/>
              </a:rPr>
              <a:t> 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0101" sz="1650" i="1">
                <a:latin typeface="Verdana"/>
                <a:cs typeface="Verdana"/>
              </a:rPr>
              <a:t>A</a:t>
            </a:r>
            <a:r>
              <a:rPr dirty="0" baseline="-10101" sz="1650" spc="82" i="1">
                <a:latin typeface="Verdana"/>
                <a:cs typeface="Verdana"/>
              </a:rPr>
              <a:t> </a:t>
            </a:r>
            <a:r>
              <a:rPr dirty="0" sz="1450" spc="-120">
                <a:latin typeface="Tahoma"/>
                <a:cs typeface="Tahoma"/>
              </a:rPr>
              <a:t>: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550" spc="-40" i="1">
                <a:latin typeface="Verdana"/>
                <a:cs typeface="Verdana"/>
              </a:rPr>
              <a:t>β</a:t>
            </a:r>
            <a:r>
              <a:rPr dirty="0" baseline="-10582" sz="1575" spc="-60">
                <a:latin typeface="Tahoma"/>
                <a:cs typeface="Tahoma"/>
              </a:rPr>
              <a:t>1</a:t>
            </a:r>
            <a:r>
              <a:rPr dirty="0" baseline="-10582" sz="1575" spc="165">
                <a:latin typeface="Tahoma"/>
                <a:cs typeface="Tahoma"/>
              </a:rPr>
              <a:t> </a:t>
            </a:r>
            <a:r>
              <a:rPr dirty="0" sz="1450" spc="60">
                <a:latin typeface="Tahoma"/>
                <a:cs typeface="Tahoma"/>
              </a:rPr>
              <a:t>≠</a:t>
            </a:r>
            <a:r>
              <a:rPr dirty="0" sz="1450" spc="-80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0</a:t>
            </a:r>
            <a:endParaRPr sz="1450">
              <a:latin typeface="Tahoma"/>
              <a:cs typeface="Tahoma"/>
            </a:endParaRPr>
          </a:p>
          <a:p>
            <a:pPr marL="456565">
              <a:lnSpc>
                <a:spcPct val="100000"/>
              </a:lnSpc>
              <a:spcBef>
                <a:spcPts val="1155"/>
              </a:spcBef>
            </a:pPr>
            <a:r>
              <a:rPr dirty="0" sz="1450" spc="-140">
                <a:latin typeface="Gill Sans MT"/>
                <a:cs typeface="Gill Sans MT"/>
              </a:rPr>
              <a:t>We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test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these</a:t>
            </a:r>
            <a:r>
              <a:rPr dirty="0" sz="1450">
                <a:latin typeface="Gill Sans MT"/>
                <a:cs typeface="Gill Sans MT"/>
              </a:rPr>
              <a:t> two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hypotheses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>
                <a:latin typeface="Gill Sans MT"/>
                <a:cs typeface="Gill Sans MT"/>
              </a:rPr>
              <a:t> t-</a:t>
            </a:r>
            <a:r>
              <a:rPr dirty="0" sz="1450" spc="55">
                <a:latin typeface="Gill Sans MT"/>
                <a:cs typeface="Gill Sans MT"/>
              </a:rPr>
              <a:t>test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(df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-145">
                <a:latin typeface="Gill Sans MT"/>
                <a:cs typeface="Gill Sans MT"/>
              </a:rPr>
              <a:t>=</a:t>
            </a:r>
            <a:r>
              <a:rPr dirty="0" sz="1450">
                <a:latin typeface="Gill Sans MT"/>
                <a:cs typeface="Gill Sans MT"/>
              </a:rPr>
              <a:t> </a:t>
            </a:r>
            <a:r>
              <a:rPr dirty="0" sz="1450" spc="-75">
                <a:latin typeface="Gill Sans MT"/>
                <a:cs typeface="Gill Sans MT"/>
              </a:rPr>
              <a:t>N-</a:t>
            </a:r>
            <a:r>
              <a:rPr dirty="0" sz="1450" spc="-25">
                <a:latin typeface="Gill Sans MT"/>
                <a:cs typeface="Gill Sans MT"/>
              </a:rPr>
              <a:t>2).</a:t>
            </a:r>
            <a:endParaRPr sz="1450">
              <a:latin typeface="Gill Sans MT"/>
              <a:cs typeface="Gill Sans MT"/>
            </a:endParaRPr>
          </a:p>
          <a:p>
            <a:pPr marL="456565" marR="1134110">
              <a:lnSpc>
                <a:spcPts val="3229"/>
              </a:lnSpc>
              <a:spcBef>
                <a:spcPts val="75"/>
              </a:spcBef>
            </a:pPr>
            <a:r>
              <a:rPr dirty="0" sz="1450" spc="90">
                <a:latin typeface="Gill Sans MT"/>
                <a:cs typeface="Gill Sans MT"/>
              </a:rPr>
              <a:t>If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we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reject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sz="1450">
                <a:latin typeface="Gill Sans MT"/>
                <a:cs typeface="Gill Sans MT"/>
              </a:rPr>
              <a:t>,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it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indicates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that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coefficient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statistically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significant. </a:t>
            </a:r>
            <a:r>
              <a:rPr dirty="0" sz="1450" spc="50">
                <a:latin typeface="Gill Sans MT"/>
                <a:cs typeface="Gill Sans MT"/>
              </a:rPr>
              <a:t>These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results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can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be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obtained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using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550" spc="-75">
                <a:solidFill>
                  <a:srgbClr val="007834"/>
                </a:solidFill>
                <a:latin typeface="Lucida Console"/>
                <a:cs typeface="Lucida Console"/>
              </a:rPr>
              <a:t>lm()</a:t>
            </a:r>
            <a:r>
              <a:rPr dirty="0" sz="1550" spc="-54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function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-25">
                <a:latin typeface="Gill Sans MT"/>
                <a:cs typeface="Gill Sans MT"/>
              </a:rPr>
              <a:t>R.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dirty="0"/>
              <a:t>45</a:t>
            </a:r>
            <a:r>
              <a:rPr dirty="0" spc="-45"/>
              <a:t> </a:t>
            </a:r>
            <a:r>
              <a:rPr dirty="0" spc="165"/>
              <a:t>/</a:t>
            </a:r>
            <a:r>
              <a:rPr dirty="0" spc="-45"/>
              <a:t> </a:t>
            </a:r>
            <a:r>
              <a:rPr dirty="0" spc="-25"/>
              <a:t>48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1499" y="352425"/>
            <a:ext cx="7505700" cy="112395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25400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200"/>
              </a:spcBef>
            </a:pP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Save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output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as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an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R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object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in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your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20" i="1">
                <a:solidFill>
                  <a:srgbClr val="999987"/>
                </a:solidFill>
                <a:latin typeface="Courier New"/>
                <a:cs typeface="Courier New"/>
              </a:rPr>
              <a:t>environment</a:t>
            </a:r>
            <a:endParaRPr sz="1150">
              <a:latin typeface="Courier New"/>
              <a:cs typeface="Courier New"/>
            </a:endParaRPr>
          </a:p>
          <a:p>
            <a:pPr marL="61594">
              <a:lnSpc>
                <a:spcPts val="1150"/>
              </a:lnSpc>
              <a:spcBef>
                <a:spcPts val="620"/>
              </a:spcBef>
            </a:pP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my.model</a:t>
            </a:r>
            <a:r>
              <a:rPr dirty="0" sz="11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950">
                <a:solidFill>
                  <a:srgbClr val="333333"/>
                </a:solidFill>
                <a:latin typeface="Courier New"/>
                <a:cs typeface="Courier New"/>
              </a:rPr>
              <a:t>&lt;-</a:t>
            </a:r>
            <a:r>
              <a:rPr dirty="0" sz="950" spc="3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80">
                <a:solidFill>
                  <a:srgbClr val="333333"/>
                </a:solidFill>
                <a:latin typeface="Lucida Console"/>
                <a:cs typeface="Lucida Console"/>
              </a:rPr>
              <a:t>lm(formula</a:t>
            </a:r>
            <a:r>
              <a:rPr dirty="0" sz="11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95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950" spc="3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infmor</a:t>
            </a:r>
            <a:r>
              <a:rPr dirty="0" sz="11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950">
                <a:solidFill>
                  <a:srgbClr val="333333"/>
                </a:solidFill>
                <a:latin typeface="Courier New"/>
                <a:cs typeface="Courier New"/>
              </a:rPr>
              <a:t>~</a:t>
            </a:r>
            <a:r>
              <a:rPr dirty="0" sz="950" spc="3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008080"/>
                </a:solidFill>
                <a:latin typeface="Courier New"/>
                <a:cs typeface="Courier New"/>
              </a:rPr>
              <a:t>1 </a:t>
            </a:r>
            <a:r>
              <a:rPr dirty="0" sz="950">
                <a:solidFill>
                  <a:srgbClr val="333333"/>
                </a:solidFill>
                <a:latin typeface="Courier New"/>
                <a:cs typeface="Courier New"/>
              </a:rPr>
              <a:t>+</a:t>
            </a:r>
            <a:r>
              <a:rPr dirty="0" sz="950" spc="3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doctor,</a:t>
            </a:r>
            <a:endParaRPr sz="1100">
              <a:latin typeface="Lucida Console"/>
              <a:cs typeface="Lucida Console"/>
            </a:endParaRPr>
          </a:p>
          <a:p>
            <a:pPr marL="1180465">
              <a:lnSpc>
                <a:spcPts val="1145"/>
              </a:lnSpc>
              <a:tabLst>
                <a:tab pos="1776730" algn="l"/>
              </a:tabLst>
            </a:pPr>
            <a:r>
              <a:rPr dirty="0" sz="1100" spc="-20">
                <a:solidFill>
                  <a:srgbClr val="333333"/>
                </a:solidFill>
                <a:latin typeface="Lucida Console"/>
                <a:cs typeface="Lucida Console"/>
              </a:rPr>
              <a:t>data</a:t>
            </a:r>
            <a:r>
              <a:rPr dirty="0" sz="1100">
                <a:solidFill>
                  <a:srgbClr val="333333"/>
                </a:solidFill>
                <a:latin typeface="Lucida Console"/>
                <a:cs typeface="Lucida Console"/>
              </a:rPr>
              <a:t>	</a:t>
            </a:r>
            <a:r>
              <a:rPr dirty="0" sz="950">
                <a:solidFill>
                  <a:srgbClr val="333333"/>
                </a:solidFill>
                <a:latin typeface="Courier New"/>
                <a:cs typeface="Courier New"/>
              </a:rPr>
              <a:t>=</a:t>
            </a:r>
            <a:r>
              <a:rPr dirty="0" sz="950" spc="2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100" spc="-25">
                <a:solidFill>
                  <a:srgbClr val="333333"/>
                </a:solidFill>
                <a:latin typeface="Lucida Console"/>
                <a:cs typeface="Lucida Console"/>
              </a:rPr>
              <a:t>d)</a:t>
            </a:r>
            <a:endParaRPr sz="1100">
              <a:latin typeface="Lucida Console"/>
              <a:cs typeface="Lucida Console"/>
            </a:endParaRPr>
          </a:p>
          <a:p>
            <a:pPr marL="61594">
              <a:lnSpc>
                <a:spcPct val="100000"/>
              </a:lnSpc>
              <a:spcBef>
                <a:spcPts val="580"/>
              </a:spcBef>
            </a:pP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1150" spc="-9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05" i="1">
                <a:solidFill>
                  <a:srgbClr val="999987"/>
                </a:solidFill>
                <a:latin typeface="Courier New"/>
                <a:cs typeface="Courier New"/>
              </a:rPr>
              <a:t>Summarize</a:t>
            </a:r>
            <a:r>
              <a:rPr dirty="0" sz="1150" spc="-9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1150" spc="-9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0" i="1">
                <a:solidFill>
                  <a:srgbClr val="999987"/>
                </a:solidFill>
                <a:latin typeface="Courier New"/>
                <a:cs typeface="Courier New"/>
              </a:rPr>
              <a:t>output</a:t>
            </a:r>
            <a:endParaRPr sz="1150">
              <a:latin typeface="Courier New"/>
              <a:cs typeface="Courier New"/>
            </a:endParaRPr>
          </a:p>
          <a:p>
            <a:pPr marL="61594">
              <a:lnSpc>
                <a:spcPct val="100000"/>
              </a:lnSpc>
              <a:spcBef>
                <a:spcPts val="620"/>
              </a:spcBef>
            </a:pPr>
            <a:r>
              <a:rPr dirty="0" sz="1100" spc="-30">
                <a:solidFill>
                  <a:srgbClr val="333333"/>
                </a:solidFill>
                <a:latin typeface="Lucida Console"/>
                <a:cs typeface="Lucida Console"/>
              </a:rPr>
              <a:t>summary(my.model)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dirty="0"/>
              <a:t>46</a:t>
            </a:r>
            <a:r>
              <a:rPr dirty="0" spc="-45"/>
              <a:t> </a:t>
            </a:r>
            <a:r>
              <a:rPr dirty="0" spc="165"/>
              <a:t>/</a:t>
            </a:r>
            <a:r>
              <a:rPr dirty="0" spc="-45"/>
              <a:t> </a:t>
            </a:r>
            <a:r>
              <a:rPr dirty="0" spc="-25"/>
              <a:t>48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8800" y="1665002"/>
            <a:ext cx="3605529" cy="119697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1160"/>
              </a:lnSpc>
              <a:spcBef>
                <a:spcPts val="115"/>
              </a:spcBef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Call: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ts val="1220"/>
              </a:lnSpc>
            </a:pP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lm(formula</a:t>
            </a:r>
            <a:r>
              <a:rPr dirty="0" sz="1100" spc="-9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50" b="0">
                <a:solidFill>
                  <a:srgbClr val="007834"/>
                </a:solidFill>
                <a:latin typeface="Bookman Old Style"/>
                <a:cs typeface="Bookman Old Style"/>
              </a:rPr>
              <a:t>=</a:t>
            </a:r>
            <a:r>
              <a:rPr dirty="0" sz="1150" spc="10" b="0">
                <a:solidFill>
                  <a:srgbClr val="007834"/>
                </a:solidFill>
                <a:latin typeface="Bookman Old Style"/>
                <a:cs typeface="Bookman Old Sty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infmor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50" b="0">
                <a:solidFill>
                  <a:srgbClr val="007834"/>
                </a:solidFill>
                <a:latin typeface="Bookman Old Style"/>
                <a:cs typeface="Bookman Old Style"/>
              </a:rPr>
              <a:t>~</a:t>
            </a:r>
            <a:r>
              <a:rPr dirty="0" sz="1150" spc="130" b="0">
                <a:solidFill>
                  <a:srgbClr val="007834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1</a:t>
            </a:r>
            <a:r>
              <a:rPr dirty="0" sz="1100" spc="-13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50" b="0">
                <a:solidFill>
                  <a:srgbClr val="007834"/>
                </a:solidFill>
                <a:latin typeface="Bookman Old Style"/>
                <a:cs typeface="Bookman Old Style"/>
              </a:rPr>
              <a:t>+</a:t>
            </a:r>
            <a:r>
              <a:rPr dirty="0" sz="1150" spc="160" b="0">
                <a:solidFill>
                  <a:srgbClr val="007834"/>
                </a:solidFill>
                <a:latin typeface="Bookman Old Style"/>
                <a:cs typeface="Bookman Old Sty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doctor,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 data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50" b="0">
                <a:solidFill>
                  <a:srgbClr val="007834"/>
                </a:solidFill>
                <a:latin typeface="Bookman Old Style"/>
                <a:cs typeface="Bookman Old Style"/>
              </a:rPr>
              <a:t>=</a:t>
            </a:r>
            <a:r>
              <a:rPr dirty="0" sz="1150" spc="160" b="0">
                <a:solidFill>
                  <a:srgbClr val="007834"/>
                </a:solidFill>
                <a:latin typeface="Bookman Old Style"/>
                <a:cs typeface="Bookman Old Style"/>
              </a:rPr>
              <a:t> 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d)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ts val="1150"/>
              </a:lnSpc>
              <a:spcBef>
                <a:spcPts val="620"/>
              </a:spcBef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Residuals:</a:t>
            </a:r>
            <a:endParaRPr sz="1100">
              <a:latin typeface="Lucida Console"/>
              <a:cs typeface="Lucida Console"/>
            </a:endParaRPr>
          </a:p>
          <a:p>
            <a:pPr marL="310515">
              <a:lnSpc>
                <a:spcPts val="975"/>
              </a:lnSpc>
              <a:tabLst>
                <a:tab pos="981710" algn="l"/>
                <a:tab pos="1280160" algn="l"/>
                <a:tab pos="2174875" algn="l"/>
                <a:tab pos="2697480" algn="l"/>
              </a:tabLst>
            </a:pP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Min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1Q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Median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3Q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Max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ts val="1145"/>
              </a:lnSpc>
              <a:tabLst>
                <a:tab pos="1877060" algn="l"/>
                <a:tab pos="2473325" algn="l"/>
              </a:tabLst>
            </a:pP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-3.0521</a:t>
            </a:r>
            <a:r>
              <a:rPr dirty="0" sz="11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-1.1924</a:t>
            </a:r>
            <a:r>
              <a:rPr dirty="0" sz="11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-</a:t>
            </a: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0.2518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0.8742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7.7686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ts val="1125"/>
              </a:lnSpc>
              <a:spcBef>
                <a:spcPts val="630"/>
              </a:spcBef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Coefficients:</a:t>
            </a:r>
            <a:endParaRPr sz="1100">
              <a:latin typeface="Lucida Console"/>
              <a:cs typeface="Lucida Console"/>
            </a:endParaRPr>
          </a:p>
          <a:p>
            <a:pPr marL="907415">
              <a:lnSpc>
                <a:spcPts val="1180"/>
              </a:lnSpc>
            </a:pP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Estimate 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Std.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Error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t</a:t>
            </a:r>
            <a:r>
              <a:rPr dirty="0" sz="1100" spc="-9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value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70">
                <a:solidFill>
                  <a:srgbClr val="007834"/>
                </a:solidFill>
                <a:latin typeface="Lucida Console"/>
                <a:cs typeface="Lucida Console"/>
              </a:rPr>
              <a:t>Pr(</a:t>
            </a:r>
            <a:r>
              <a:rPr dirty="0" sz="1150" spc="-70" b="0">
                <a:solidFill>
                  <a:srgbClr val="007834"/>
                </a:solidFill>
                <a:latin typeface="Bookman Old Style"/>
                <a:cs typeface="Bookman Old Style"/>
              </a:rPr>
              <a:t>&gt;|</a:t>
            </a:r>
            <a:r>
              <a:rPr dirty="0" sz="1100" spc="-70">
                <a:solidFill>
                  <a:srgbClr val="007834"/>
                </a:solidFill>
                <a:latin typeface="Lucida Console"/>
                <a:cs typeface="Lucida Console"/>
              </a:rPr>
              <a:t>t</a:t>
            </a:r>
            <a:r>
              <a:rPr dirty="0" sz="1150" spc="-70" b="0">
                <a:solidFill>
                  <a:srgbClr val="007834"/>
                </a:solidFill>
                <a:latin typeface="Bookman Old Style"/>
                <a:cs typeface="Bookman Old Style"/>
              </a:rPr>
              <a:t>|</a:t>
            </a:r>
            <a:r>
              <a:rPr dirty="0" sz="1100" spc="-70">
                <a:solidFill>
                  <a:srgbClr val="007834"/>
                </a:solidFill>
                <a:latin typeface="Lucida Console"/>
                <a:cs typeface="Lucida Console"/>
              </a:rPr>
              <a:t>)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800" y="2788952"/>
            <a:ext cx="1517015" cy="1955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056640" algn="l"/>
              </a:tabLst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(Intercept)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75">
                <a:solidFill>
                  <a:srgbClr val="007834"/>
                </a:solidFill>
                <a:latin typeface="Lucida Console"/>
                <a:cs typeface="Lucida Console"/>
              </a:rPr>
              <a:t>10.735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800" y="2912777"/>
            <a:ext cx="1517015" cy="1955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056640" algn="l"/>
              </a:tabLst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doctor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-</a:t>
            </a:r>
            <a:r>
              <a:rPr dirty="0" sz="1100" spc="-70">
                <a:solidFill>
                  <a:srgbClr val="007834"/>
                </a:solidFill>
                <a:latin typeface="Lucida Console"/>
                <a:cs typeface="Lucida Console"/>
              </a:rPr>
              <a:t>1.793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97895" y="2788952"/>
            <a:ext cx="1964689" cy="31940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1150"/>
              </a:lnSpc>
              <a:spcBef>
                <a:spcPts val="115"/>
              </a:spcBef>
              <a:tabLst>
                <a:tab pos="608965" algn="l"/>
                <a:tab pos="1877060" algn="l"/>
              </a:tabLst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1.967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5.458</a:t>
            </a:r>
            <a:r>
              <a:rPr dirty="0" sz="1100" spc="-4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1.31e-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05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*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ts val="1145"/>
              </a:lnSpc>
              <a:tabLst>
                <a:tab pos="534670" algn="l"/>
                <a:tab pos="1130935" algn="l"/>
                <a:tab pos="1802130" algn="l"/>
              </a:tabLst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0.538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-</a:t>
            </a:r>
            <a:r>
              <a:rPr dirty="0" sz="1100" spc="-20">
                <a:solidFill>
                  <a:srgbClr val="007834"/>
                </a:solidFill>
                <a:latin typeface="Lucida Console"/>
                <a:cs typeface="Lucida Console"/>
              </a:rPr>
              <a:t>3.333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0.00278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*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7961" y="3036602"/>
            <a:ext cx="100330" cy="1955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-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8800" y="3082664"/>
            <a:ext cx="4649470" cy="76835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  <a:tabLst>
                <a:tab pos="1205865" algn="l"/>
                <a:tab pos="1578610" algn="l"/>
              </a:tabLst>
            </a:pP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Signif.</a:t>
            </a:r>
            <a:r>
              <a:rPr dirty="0" sz="1100" spc="-4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codes: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0</a:t>
            </a:r>
            <a:r>
              <a:rPr dirty="0" sz="1100" spc="-1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'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*'</a:t>
            </a:r>
            <a:r>
              <a:rPr dirty="0" sz="1100" spc="-9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0.001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'</a:t>
            </a:r>
            <a:r>
              <a:rPr dirty="0" sz="1100" spc="-16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*'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0.01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 '*'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 0.05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 '.'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0.1 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'</a:t>
            </a:r>
            <a:r>
              <a:rPr dirty="0" sz="1100" spc="-12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'</a:t>
            </a:r>
            <a:r>
              <a:rPr dirty="0" sz="1100" spc="-10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1</a:t>
            </a:r>
            <a:endParaRPr sz="11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50">
              <a:latin typeface="Lucida Console"/>
              <a:cs typeface="Lucida Console"/>
            </a:endParaRPr>
          </a:p>
          <a:p>
            <a:pPr marL="12700" marR="228600">
              <a:lnSpc>
                <a:spcPct val="73900"/>
              </a:lnSpc>
              <a:tabLst>
                <a:tab pos="1578610" algn="l"/>
                <a:tab pos="2399030" algn="l"/>
                <a:tab pos="3964940" algn="l"/>
              </a:tabLst>
            </a:pP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Residual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standard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error: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2.172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on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24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degrees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of</a:t>
            </a:r>
            <a:r>
              <a:rPr dirty="0" sz="1100" spc="-5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freedom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Multiple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R-</a:t>
            </a: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squared: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0.3164,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Adjusted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R-</a:t>
            </a: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squared: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90">
                <a:solidFill>
                  <a:srgbClr val="007834"/>
                </a:solidFill>
                <a:latin typeface="Lucida Console"/>
                <a:cs typeface="Lucida Console"/>
              </a:rPr>
              <a:t>0.2879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ts val="975"/>
              </a:lnSpc>
              <a:tabLst>
                <a:tab pos="2697480" algn="l"/>
              </a:tabLst>
            </a:pP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F-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statistic:</a:t>
            </a:r>
            <a:r>
              <a:rPr dirty="0" sz="1100" spc="-9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11.11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on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1</a:t>
            </a:r>
            <a:r>
              <a:rPr dirty="0" sz="1100" spc="-10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and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 24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DF,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p-value:</a:t>
            </a:r>
            <a:r>
              <a:rPr dirty="0" sz="11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0.002779</a:t>
            </a:r>
            <a:endParaRPr sz="11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1524" y="9143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71524" y="1333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1947862"/>
            <a:ext cx="66675" cy="6667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71524" y="2571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3186112"/>
            <a:ext cx="66675" cy="666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46100" y="394970"/>
            <a:ext cx="7345045" cy="29337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 sz="1450" spc="-55" b="1">
                <a:latin typeface="Trebuchet MS"/>
                <a:cs typeface="Trebuchet MS"/>
              </a:rPr>
              <a:t>Effect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Size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for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Simple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Linear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Regression</a:t>
            </a:r>
            <a:endParaRPr sz="1450">
              <a:latin typeface="Trebuchet MS"/>
              <a:cs typeface="Trebuchet MS"/>
            </a:endParaRPr>
          </a:p>
          <a:p>
            <a:pPr marL="405765">
              <a:lnSpc>
                <a:spcPct val="100000"/>
              </a:lnSpc>
              <a:spcBef>
                <a:spcPts val="1385"/>
              </a:spcBef>
            </a:pPr>
            <a:r>
              <a:rPr dirty="0" sz="1450" spc="85">
                <a:latin typeface="Gill Sans MT"/>
                <a:cs typeface="Gill Sans MT"/>
              </a:rPr>
              <a:t>In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R,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550" spc="-75">
                <a:solidFill>
                  <a:srgbClr val="007834"/>
                </a:solidFill>
                <a:latin typeface="Lucida Console"/>
                <a:cs typeface="Lucida Console"/>
              </a:rPr>
              <a:t>lm()</a:t>
            </a:r>
            <a:r>
              <a:rPr dirty="0" sz="1550" spc="-50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model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output</a:t>
            </a:r>
            <a:r>
              <a:rPr dirty="0" sz="1450" spc="2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reports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Multiple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R-</a:t>
            </a:r>
            <a:r>
              <a:rPr dirty="0" sz="1450" spc="-10" b="1">
                <a:latin typeface="Trebuchet MS"/>
                <a:cs typeface="Trebuchet MS"/>
              </a:rPr>
              <a:t>squared</a:t>
            </a:r>
            <a:endParaRPr sz="1450">
              <a:latin typeface="Trebuchet MS"/>
              <a:cs typeface="Trebuchet MS"/>
            </a:endParaRPr>
          </a:p>
          <a:p>
            <a:pPr marL="405765" marR="353060">
              <a:lnSpc>
                <a:spcPts val="1730"/>
              </a:lnSpc>
              <a:spcBef>
                <a:spcPts val="1605"/>
              </a:spcBef>
            </a:pPr>
            <a:r>
              <a:rPr dirty="0" sz="1550" i="1">
                <a:latin typeface="Verdana"/>
                <a:cs typeface="Verdana"/>
              </a:rPr>
              <a:t>R</a:t>
            </a:r>
            <a:r>
              <a:rPr dirty="0" baseline="26455" sz="1575">
                <a:latin typeface="Tahoma"/>
                <a:cs typeface="Tahoma"/>
              </a:rPr>
              <a:t>2</a:t>
            </a:r>
            <a:r>
              <a:rPr dirty="0" baseline="26455" sz="1575" spc="202">
                <a:latin typeface="Tahoma"/>
                <a:cs typeface="Tahoma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quantifies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effect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size.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It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reflects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strength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relationship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between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the </a:t>
            </a:r>
            <a:r>
              <a:rPr dirty="0" sz="1450" spc="45">
                <a:latin typeface="Gill Sans MT"/>
                <a:cs typeface="Gill Sans MT"/>
              </a:rPr>
              <a:t>predictor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-90">
                <a:latin typeface="Gill Sans MT"/>
                <a:cs typeface="Gill Sans MT"/>
              </a:rPr>
              <a:t>(X)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outcome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450" spc="-20">
                <a:latin typeface="Gill Sans MT"/>
                <a:cs typeface="Gill Sans MT"/>
              </a:rPr>
              <a:t>(Y).</a:t>
            </a:r>
            <a:endParaRPr sz="1450">
              <a:latin typeface="Gill Sans MT"/>
              <a:cs typeface="Gill Sans MT"/>
            </a:endParaRPr>
          </a:p>
          <a:p>
            <a:pPr marL="786765" marR="43180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simple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linear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regression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with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one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predictor,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it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equivalent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5">
                <a:latin typeface="Gill Sans MT"/>
                <a:cs typeface="Gill Sans MT"/>
              </a:rPr>
              <a:t> </a:t>
            </a:r>
            <a:r>
              <a:rPr dirty="0" sz="1450" spc="40">
                <a:latin typeface="Gill Sans MT"/>
                <a:cs typeface="Gill Sans MT"/>
              </a:rPr>
              <a:t>correlation </a:t>
            </a:r>
            <a:r>
              <a:rPr dirty="0" sz="1450" spc="70">
                <a:latin typeface="Gill Sans MT"/>
                <a:cs typeface="Gill Sans MT"/>
              </a:rPr>
              <a:t>between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two</a:t>
            </a:r>
            <a:r>
              <a:rPr dirty="0" sz="1450" spc="2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variables.</a:t>
            </a:r>
            <a:endParaRPr sz="1450">
              <a:latin typeface="Gill Sans MT"/>
              <a:cs typeface="Gill Sans MT"/>
            </a:endParaRPr>
          </a:p>
          <a:p>
            <a:pPr marL="405765" marR="986155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Gill Sans MT"/>
                <a:cs typeface="Gill Sans MT"/>
              </a:rPr>
              <a:t>It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can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5">
                <a:latin typeface="Gill Sans MT"/>
                <a:cs typeface="Gill Sans MT"/>
              </a:rPr>
              <a:t>be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5">
                <a:latin typeface="Gill Sans MT"/>
                <a:cs typeface="Gill Sans MT"/>
              </a:rPr>
              <a:t>interpreted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20">
                <a:latin typeface="Gill Sans MT"/>
                <a:cs typeface="Gill Sans MT"/>
              </a:rPr>
              <a:t>as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“the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50">
                <a:latin typeface="Gill Sans MT"/>
                <a:cs typeface="Gill Sans MT"/>
              </a:rPr>
              <a:t>proportion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variance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550" i="1">
                <a:latin typeface="Verdana"/>
                <a:cs typeface="Verdana"/>
              </a:rPr>
              <a:t>Y</a:t>
            </a:r>
            <a:r>
              <a:rPr dirty="0" sz="1550" spc="125" i="1">
                <a:latin typeface="Verdana"/>
                <a:cs typeface="Verdana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that</a:t>
            </a:r>
            <a:r>
              <a:rPr dirty="0" sz="1450" spc="-1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can</a:t>
            </a:r>
            <a:r>
              <a:rPr dirty="0" sz="1450" spc="-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be </a:t>
            </a:r>
            <a:r>
              <a:rPr dirty="0" sz="1450" spc="90">
                <a:latin typeface="Gill Sans MT"/>
                <a:cs typeface="Gill Sans MT"/>
              </a:rPr>
              <a:t>explained/predicted</a:t>
            </a:r>
            <a:r>
              <a:rPr dirty="0" sz="1450" spc="-2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by</a:t>
            </a:r>
            <a:r>
              <a:rPr dirty="0" sz="1450" spc="-15">
                <a:latin typeface="Gill Sans MT"/>
                <a:cs typeface="Gill Sans MT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X</a:t>
            </a:r>
            <a:r>
              <a:rPr dirty="0" sz="1450" spc="-25">
                <a:latin typeface="Gill Sans MT"/>
                <a:cs typeface="Gill Sans MT"/>
              </a:rPr>
              <a:t>.”</a:t>
            </a:r>
            <a:endParaRPr sz="1450">
              <a:latin typeface="Gill Sans MT"/>
              <a:cs typeface="Gill Sans MT"/>
            </a:endParaRPr>
          </a:p>
          <a:p>
            <a:pPr marL="786765">
              <a:lnSpc>
                <a:spcPct val="100000"/>
              </a:lnSpc>
              <a:spcBef>
                <a:spcPts val="1250"/>
              </a:spcBef>
            </a:pPr>
            <a:r>
              <a:rPr dirty="0" sz="1550" i="1">
                <a:latin typeface="Verdana"/>
                <a:cs typeface="Verdana"/>
              </a:rPr>
              <a:t>R</a:t>
            </a:r>
            <a:r>
              <a:rPr dirty="0" baseline="26455" sz="1575">
                <a:latin typeface="Tahoma"/>
                <a:cs typeface="Tahoma"/>
              </a:rPr>
              <a:t>2</a:t>
            </a:r>
            <a:r>
              <a:rPr dirty="0" baseline="26455" sz="1575" spc="209">
                <a:latin typeface="Tahoma"/>
                <a:cs typeface="Tahoma"/>
              </a:rPr>
              <a:t> </a:t>
            </a:r>
            <a:r>
              <a:rPr dirty="0" sz="1450" spc="60">
                <a:latin typeface="Tahoma"/>
                <a:cs typeface="Tahoma"/>
              </a:rPr>
              <a:t>=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45">
                <a:latin typeface="Tahoma"/>
                <a:cs typeface="Tahoma"/>
              </a:rPr>
              <a:t>0.62</a:t>
            </a:r>
            <a:r>
              <a:rPr dirty="0" sz="1450" spc="-45">
                <a:latin typeface="Gill Sans MT"/>
                <a:cs typeface="Gill Sans MT"/>
              </a:rPr>
              <a:t>,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62%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variance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-90">
                <a:latin typeface="Gill Sans MT"/>
                <a:cs typeface="Gill Sans MT"/>
              </a:rPr>
              <a:t>Y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explained</a:t>
            </a:r>
            <a:r>
              <a:rPr dirty="0" sz="1450" spc="-2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by</a:t>
            </a:r>
            <a:r>
              <a:rPr dirty="0" sz="1450" spc="-25">
                <a:latin typeface="Gill Sans MT"/>
                <a:cs typeface="Gill Sans MT"/>
              </a:rPr>
              <a:t> X.</a:t>
            </a:r>
            <a:endParaRPr sz="145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dirty="0"/>
              <a:t>47</a:t>
            </a:r>
            <a:r>
              <a:rPr dirty="0" spc="-45"/>
              <a:t> </a:t>
            </a:r>
            <a:r>
              <a:rPr dirty="0" spc="165"/>
              <a:t>/</a:t>
            </a:r>
            <a:r>
              <a:rPr dirty="0" spc="-45"/>
              <a:t> </a:t>
            </a:r>
            <a:r>
              <a:rPr dirty="0" spc="-25"/>
              <a:t>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228849" y="3305174"/>
          <a:ext cx="4267200" cy="1012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5875"/>
                <a:gridCol w="1009650"/>
                <a:gridCol w="857250"/>
                <a:gridCol w="495300"/>
                <a:gridCol w="542925"/>
              </a:tblGrid>
              <a:tr h="3422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Coefficient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10" b="1">
                          <a:latin typeface="Trebuchet MS"/>
                          <a:cs typeface="Trebuchet MS"/>
                        </a:rPr>
                        <a:t>Std.Error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 b="1">
                          <a:latin typeface="Trebuchet MS"/>
                          <a:cs typeface="Trebuchet MS"/>
                        </a:rPr>
                        <a:t>t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 b="1">
                          <a:latin typeface="Trebuchet MS"/>
                          <a:cs typeface="Trebuchet MS"/>
                        </a:rPr>
                        <a:t>p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666666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40">
                          <a:latin typeface="Gill Sans MT"/>
                          <a:cs typeface="Gill Sans MT"/>
                        </a:rPr>
                        <a:t>Intercept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58419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10">
                          <a:latin typeface="Gill Sans MT"/>
                          <a:cs typeface="Gill Sans MT"/>
                        </a:rPr>
                        <a:t>10.74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20">
                          <a:latin typeface="Gill Sans MT"/>
                          <a:cs typeface="Gill Sans MT"/>
                        </a:rPr>
                        <a:t>1.97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4826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20">
                          <a:latin typeface="Gill Sans MT"/>
                          <a:cs typeface="Gill Sans MT"/>
                        </a:rPr>
                        <a:t>5.46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3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10">
                          <a:latin typeface="Gill Sans MT"/>
                          <a:cs typeface="Gill Sans MT"/>
                        </a:rPr>
                        <a:t>&lt;.001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90">
                          <a:latin typeface="Gill Sans MT"/>
                          <a:cs typeface="Gill Sans MT"/>
                        </a:rPr>
                        <a:t>Slope</a:t>
                      </a:r>
                      <a:r>
                        <a:rPr dirty="0" sz="1450" spc="-5">
                          <a:latin typeface="Gill Sans MT"/>
                          <a:cs typeface="Gill Sans MT"/>
                        </a:rPr>
                        <a:t> </a:t>
                      </a:r>
                      <a:r>
                        <a:rPr dirty="0" sz="1450" spc="-10">
                          <a:latin typeface="Gill Sans MT"/>
                          <a:cs typeface="Gill Sans MT"/>
                        </a:rPr>
                        <a:t>(doctor)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>
                          <a:latin typeface="Gill Sans MT"/>
                          <a:cs typeface="Gill Sans MT"/>
                        </a:rPr>
                        <a:t>-</a:t>
                      </a:r>
                      <a:r>
                        <a:rPr dirty="0" sz="1450" spc="-20">
                          <a:latin typeface="Gill Sans MT"/>
                          <a:cs typeface="Gill Sans MT"/>
                        </a:rPr>
                        <a:t>1.79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0">
                          <a:latin typeface="Gill Sans MT"/>
                          <a:cs typeface="Gill Sans MT"/>
                        </a:rPr>
                        <a:t>0.54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>
                          <a:latin typeface="Gill Sans MT"/>
                          <a:cs typeface="Gill Sans MT"/>
                        </a:rPr>
                        <a:t>-</a:t>
                      </a:r>
                      <a:r>
                        <a:rPr dirty="0" sz="1450" spc="-20">
                          <a:latin typeface="Gill Sans MT"/>
                          <a:cs typeface="Gill Sans MT"/>
                        </a:rPr>
                        <a:t>3.33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10">
                          <a:latin typeface="Gill Sans MT"/>
                          <a:cs typeface="Gill Sans MT"/>
                        </a:rPr>
                        <a:t>0.003</a:t>
                      </a:r>
                      <a:endParaRPr sz="1450">
                        <a:latin typeface="Gill Sans MT"/>
                        <a:cs typeface="Gill Sans MT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r>
              <a:rPr dirty="0"/>
              <a:t>48</a:t>
            </a:r>
            <a:r>
              <a:rPr dirty="0" spc="-45"/>
              <a:t> </a:t>
            </a:r>
            <a:r>
              <a:rPr dirty="0" spc="165"/>
              <a:t>/</a:t>
            </a:r>
            <a:r>
              <a:rPr dirty="0" spc="-45"/>
              <a:t> </a:t>
            </a:r>
            <a:r>
              <a:rPr dirty="0" spc="-25"/>
              <a:t>48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02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20"/>
              <a:t>Reporting</a:t>
            </a:r>
            <a:r>
              <a:rPr dirty="0" spc="-70"/>
              <a:t> </a:t>
            </a:r>
            <a:r>
              <a:rPr dirty="0" spc="-40"/>
              <a:t>the</a:t>
            </a:r>
            <a:r>
              <a:rPr dirty="0" spc="-70"/>
              <a:t> </a:t>
            </a:r>
            <a:r>
              <a:rPr dirty="0" spc="-20"/>
              <a:t>results</a:t>
            </a:r>
            <a:r>
              <a:rPr dirty="0" spc="-70"/>
              <a:t> </a:t>
            </a:r>
            <a:r>
              <a:rPr dirty="0" spc="-10"/>
              <a:t>of</a:t>
            </a:r>
            <a:r>
              <a:rPr dirty="0" spc="-65"/>
              <a:t> </a:t>
            </a:r>
            <a:r>
              <a:rPr dirty="0" spc="-10"/>
              <a:t>Simple</a:t>
            </a:r>
            <a:r>
              <a:rPr dirty="0" spc="-70"/>
              <a:t> </a:t>
            </a:r>
            <a:r>
              <a:rPr dirty="0" spc="-45"/>
              <a:t>Linear</a:t>
            </a:r>
            <a:r>
              <a:rPr dirty="0" spc="-70"/>
              <a:t> </a:t>
            </a:r>
            <a:r>
              <a:rPr dirty="0" spc="-10"/>
              <a:t>Regression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1499" y="819150"/>
            <a:ext cx="7505700" cy="18097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19050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50"/>
              </a:spcBef>
            </a:pPr>
            <a:r>
              <a:rPr dirty="0" sz="750" spc="-10">
                <a:solidFill>
                  <a:srgbClr val="333333"/>
                </a:solidFill>
                <a:latin typeface="Lucida Console"/>
                <a:cs typeface="Lucida Console"/>
              </a:rPr>
              <a:t>summary(my.model)</a:t>
            </a:r>
            <a:endParaRPr sz="750">
              <a:latin typeface="Lucida Console"/>
              <a:cs typeface="Lucida Conso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8800" y="1152149"/>
            <a:ext cx="2335530" cy="595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95"/>
              </a:lnSpc>
              <a:spcBef>
                <a:spcPts val="100"/>
              </a:spcBef>
            </a:pP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Call:</a:t>
            </a:r>
            <a:endParaRPr sz="800">
              <a:latin typeface="Lucida Console"/>
              <a:cs typeface="Lucida Console"/>
            </a:endParaRPr>
          </a:p>
          <a:p>
            <a:pPr marL="12700">
              <a:lnSpc>
                <a:spcPts val="850"/>
              </a:lnSpc>
            </a:pP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lm(formula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50" b="0">
                <a:solidFill>
                  <a:srgbClr val="007834"/>
                </a:solidFill>
                <a:latin typeface="Bookman Old Style"/>
                <a:cs typeface="Bookman Old Style"/>
              </a:rPr>
              <a:t>=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infmor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50" b="0">
                <a:solidFill>
                  <a:srgbClr val="007834"/>
                </a:solidFill>
                <a:latin typeface="Bookman Old Style"/>
                <a:cs typeface="Bookman Old Style"/>
              </a:rPr>
              <a:t>~</a:t>
            </a:r>
            <a:r>
              <a:rPr dirty="0" sz="850" spc="85" b="0">
                <a:solidFill>
                  <a:srgbClr val="007834"/>
                </a:solidFill>
                <a:latin typeface="Bookman Old Style"/>
                <a:cs typeface="Bookman Old Sty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1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50" b="0">
                <a:solidFill>
                  <a:srgbClr val="007834"/>
                </a:solidFill>
                <a:latin typeface="Bookman Old Style"/>
                <a:cs typeface="Bookman Old Style"/>
              </a:rPr>
              <a:t>+</a:t>
            </a:r>
            <a:r>
              <a:rPr dirty="0" sz="850" spc="120" b="0">
                <a:solidFill>
                  <a:srgbClr val="007834"/>
                </a:solidFill>
                <a:latin typeface="Bookman Old Style"/>
                <a:cs typeface="Bookman Old Sty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doctor,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data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50" b="0">
                <a:solidFill>
                  <a:srgbClr val="007834"/>
                </a:solidFill>
                <a:latin typeface="Bookman Old Style"/>
                <a:cs typeface="Bookman Old Style"/>
              </a:rPr>
              <a:t>=</a:t>
            </a:r>
            <a:r>
              <a:rPr dirty="0" sz="850" spc="120" b="0">
                <a:solidFill>
                  <a:srgbClr val="007834"/>
                </a:solidFill>
                <a:latin typeface="Bookman Old Style"/>
                <a:cs typeface="Bookman Old Style"/>
              </a:rPr>
              <a:t> 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d)</a:t>
            </a:r>
            <a:endParaRPr sz="800">
              <a:latin typeface="Lucida Console"/>
              <a:cs typeface="Lucida Console"/>
            </a:endParaRPr>
          </a:p>
          <a:p>
            <a:pPr marL="12700">
              <a:lnSpc>
                <a:spcPts val="819"/>
              </a:lnSpc>
              <a:spcBef>
                <a:spcPts val="455"/>
              </a:spcBef>
            </a:pP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Residuals:</a:t>
            </a:r>
            <a:endParaRPr sz="800">
              <a:latin typeface="Lucida Console"/>
              <a:cs typeface="Lucida Console"/>
            </a:endParaRPr>
          </a:p>
          <a:p>
            <a:pPr marL="227329">
              <a:lnSpc>
                <a:spcPts val="715"/>
              </a:lnSpc>
              <a:tabLst>
                <a:tab pos="710565" algn="l"/>
                <a:tab pos="1570355" algn="l"/>
                <a:tab pos="1946275" algn="l"/>
              </a:tabLst>
            </a:pPr>
            <a:r>
              <a:rPr dirty="0" sz="800" spc="-25">
                <a:solidFill>
                  <a:srgbClr val="007834"/>
                </a:solidFill>
                <a:latin typeface="Lucida Console"/>
                <a:cs typeface="Lucida Console"/>
              </a:rPr>
              <a:t>Min</a:t>
            </a:r>
            <a:r>
              <a:rPr dirty="0" sz="800">
                <a:solidFill>
                  <a:srgbClr val="007834"/>
                </a:solidFill>
                <a:latin typeface="Lucida Console"/>
                <a:cs typeface="Lucida Console"/>
              </a:rPr>
              <a:t>	1Q</a:t>
            </a:r>
            <a:r>
              <a:rPr dirty="0" sz="800" spc="23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Median</a:t>
            </a:r>
            <a:r>
              <a:rPr dirty="0" sz="8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800" spc="-25">
                <a:solidFill>
                  <a:srgbClr val="007834"/>
                </a:solidFill>
                <a:latin typeface="Lucida Console"/>
                <a:cs typeface="Lucida Console"/>
              </a:rPr>
              <a:t>3Q</a:t>
            </a:r>
            <a:r>
              <a:rPr dirty="0" sz="8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800" spc="-25">
                <a:solidFill>
                  <a:srgbClr val="007834"/>
                </a:solidFill>
                <a:latin typeface="Lucida Console"/>
                <a:cs typeface="Lucida Console"/>
              </a:rPr>
              <a:t>Max</a:t>
            </a:r>
            <a:endParaRPr sz="800">
              <a:latin typeface="Lucida Console"/>
              <a:cs typeface="Lucida Console"/>
            </a:endParaRPr>
          </a:p>
          <a:p>
            <a:pPr marL="12700">
              <a:lnSpc>
                <a:spcPts val="855"/>
              </a:lnSpc>
            </a:pP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-3.0521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-1.1924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-</a:t>
            </a:r>
            <a:r>
              <a:rPr dirty="0" sz="800" spc="-20">
                <a:solidFill>
                  <a:srgbClr val="007834"/>
                </a:solidFill>
                <a:latin typeface="Lucida Console"/>
                <a:cs typeface="Lucida Console"/>
              </a:rPr>
              <a:t>0.2518</a:t>
            </a:r>
            <a:r>
              <a:rPr dirty="0" sz="800" spc="8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20">
                <a:solidFill>
                  <a:srgbClr val="007834"/>
                </a:solidFill>
                <a:latin typeface="Lucida Console"/>
                <a:cs typeface="Lucida Console"/>
              </a:rPr>
              <a:t>0.8742</a:t>
            </a:r>
            <a:r>
              <a:rPr dirty="0" sz="800" spc="22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7.7686</a:t>
            </a:r>
            <a:endParaRPr sz="800">
              <a:latin typeface="Lucida Console"/>
              <a:cs typeface="Lucida Conso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8800" y="1771274"/>
            <a:ext cx="2604135" cy="244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30"/>
              </a:lnSpc>
              <a:spcBef>
                <a:spcPts val="100"/>
              </a:spcBef>
            </a:pP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Coefficients:</a:t>
            </a:r>
            <a:endParaRPr sz="800">
              <a:latin typeface="Lucida Console"/>
              <a:cs typeface="Lucida Console"/>
            </a:endParaRPr>
          </a:p>
          <a:p>
            <a:pPr marL="657225">
              <a:lnSpc>
                <a:spcPts val="890"/>
              </a:lnSpc>
            </a:pP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Estimate</a:t>
            </a:r>
            <a:r>
              <a:rPr dirty="0" sz="800" spc="-4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Std.</a:t>
            </a:r>
            <a:r>
              <a:rPr dirty="0" sz="8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Error</a:t>
            </a:r>
            <a:r>
              <a:rPr dirty="0" sz="8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t</a:t>
            </a:r>
            <a:r>
              <a:rPr dirty="0" sz="800" spc="-4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value</a:t>
            </a:r>
            <a:r>
              <a:rPr dirty="0" sz="8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80">
                <a:solidFill>
                  <a:srgbClr val="007834"/>
                </a:solidFill>
                <a:latin typeface="Lucida Console"/>
                <a:cs typeface="Lucida Console"/>
              </a:rPr>
              <a:t>Pr(</a:t>
            </a:r>
            <a:r>
              <a:rPr dirty="0" sz="850" spc="-80" b="0">
                <a:solidFill>
                  <a:srgbClr val="007834"/>
                </a:solidFill>
                <a:latin typeface="Bookman Old Style"/>
                <a:cs typeface="Bookman Old Style"/>
              </a:rPr>
              <a:t>&gt;|</a:t>
            </a:r>
            <a:r>
              <a:rPr dirty="0" sz="800" spc="-80">
                <a:solidFill>
                  <a:srgbClr val="007834"/>
                </a:solidFill>
                <a:latin typeface="Lucida Console"/>
                <a:cs typeface="Lucida Console"/>
              </a:rPr>
              <a:t>t</a:t>
            </a:r>
            <a:r>
              <a:rPr dirty="0" sz="850" spc="-80" b="0">
                <a:solidFill>
                  <a:srgbClr val="007834"/>
                </a:solidFill>
                <a:latin typeface="Bookman Old Style"/>
                <a:cs typeface="Bookman Old Style"/>
              </a:rPr>
              <a:t>|</a:t>
            </a:r>
            <a:r>
              <a:rPr dirty="0" sz="800" spc="-80">
                <a:solidFill>
                  <a:srgbClr val="007834"/>
                </a:solidFill>
                <a:latin typeface="Lucida Console"/>
                <a:cs typeface="Lucida Console"/>
              </a:rPr>
              <a:t>)</a:t>
            </a:r>
            <a:endParaRPr sz="800">
              <a:latin typeface="Lucida Console"/>
              <a:cs typeface="Lucida Conso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8800" y="1952249"/>
            <a:ext cx="10998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4540" algn="l"/>
              </a:tabLst>
            </a:pP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(Intercept)</a:t>
            </a:r>
            <a:r>
              <a:rPr dirty="0" sz="8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10.735</a:t>
            </a:r>
            <a:endParaRPr sz="800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8800" y="2047499"/>
            <a:ext cx="10998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4540" algn="l"/>
              </a:tabLst>
            </a:pP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doctor</a:t>
            </a:r>
            <a:r>
              <a:rPr dirty="0" sz="8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-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1.793</a:t>
            </a:r>
            <a:endParaRPr sz="800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5545" y="1952249"/>
            <a:ext cx="1422400" cy="2432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55"/>
              </a:lnSpc>
              <a:spcBef>
                <a:spcPts val="100"/>
              </a:spcBef>
              <a:tabLst>
                <a:tab pos="441959" algn="l"/>
                <a:tab pos="1355090" algn="l"/>
              </a:tabLst>
            </a:pP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1.967</a:t>
            </a:r>
            <a:r>
              <a:rPr dirty="0" sz="8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5.458</a:t>
            </a:r>
            <a:r>
              <a:rPr dirty="0" sz="800" spc="1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1.31e-</a:t>
            </a:r>
            <a:r>
              <a:rPr dirty="0" sz="800" spc="-25">
                <a:solidFill>
                  <a:srgbClr val="007834"/>
                </a:solidFill>
                <a:latin typeface="Lucida Console"/>
                <a:cs typeface="Lucida Console"/>
              </a:rPr>
              <a:t>05</a:t>
            </a:r>
            <a:r>
              <a:rPr dirty="0" sz="8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800" spc="-50">
                <a:solidFill>
                  <a:srgbClr val="007834"/>
                </a:solidFill>
                <a:latin typeface="Lucida Console"/>
                <a:cs typeface="Lucida Console"/>
              </a:rPr>
              <a:t>*</a:t>
            </a:r>
            <a:endParaRPr sz="800">
              <a:latin typeface="Lucida Console"/>
              <a:cs typeface="Lucida Console"/>
            </a:endParaRPr>
          </a:p>
          <a:p>
            <a:pPr marL="12700">
              <a:lnSpc>
                <a:spcPts val="855"/>
              </a:lnSpc>
            </a:pP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0.538</a:t>
            </a:r>
            <a:r>
              <a:rPr dirty="0" sz="800" spc="11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-</a:t>
            </a: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3.333</a:t>
            </a:r>
            <a:r>
              <a:rPr dirty="0" sz="800" spc="11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30">
                <a:solidFill>
                  <a:srgbClr val="007834"/>
                </a:solidFill>
                <a:latin typeface="Lucida Console"/>
                <a:cs typeface="Lucida Console"/>
              </a:rPr>
              <a:t>0.00278</a:t>
            </a:r>
            <a:r>
              <a:rPr dirty="0" sz="800" spc="11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50">
                <a:solidFill>
                  <a:srgbClr val="007834"/>
                </a:solidFill>
                <a:latin typeface="Lucida Console"/>
                <a:cs typeface="Lucida Console"/>
              </a:rPr>
              <a:t>*</a:t>
            </a:r>
            <a:endParaRPr sz="800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800" y="2133224"/>
            <a:ext cx="3356610" cy="595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014">
              <a:lnSpc>
                <a:spcPts val="819"/>
              </a:lnSpc>
              <a:spcBef>
                <a:spcPts val="100"/>
              </a:spcBef>
            </a:pPr>
            <a:r>
              <a:rPr dirty="0" sz="800" spc="-50">
                <a:solidFill>
                  <a:srgbClr val="007834"/>
                </a:solidFill>
                <a:latin typeface="Lucida Console"/>
                <a:cs typeface="Lucida Console"/>
              </a:rPr>
              <a:t>-</a:t>
            </a:r>
            <a:endParaRPr sz="800">
              <a:latin typeface="Lucida Console"/>
              <a:cs typeface="Lucida Console"/>
            </a:endParaRPr>
          </a:p>
          <a:p>
            <a:pPr marL="12700">
              <a:lnSpc>
                <a:spcPts val="819"/>
              </a:lnSpc>
            </a:pP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Signif.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20">
                <a:solidFill>
                  <a:srgbClr val="007834"/>
                </a:solidFill>
                <a:latin typeface="Lucida Console"/>
                <a:cs typeface="Lucida Console"/>
              </a:rPr>
              <a:t>codes:</a:t>
            </a:r>
            <a:r>
              <a:rPr dirty="0" sz="800" spc="20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0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007834"/>
                </a:solidFill>
                <a:latin typeface="Lucida Console"/>
                <a:cs typeface="Lucida Console"/>
              </a:rPr>
              <a:t>'</a:t>
            </a:r>
            <a:r>
              <a:rPr dirty="0" sz="800" spc="34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*'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0.001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'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*'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0.01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'*'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0.05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'.'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0.1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'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'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140">
                <a:solidFill>
                  <a:srgbClr val="007834"/>
                </a:solidFill>
                <a:latin typeface="Lucida Console"/>
                <a:cs typeface="Lucida Console"/>
              </a:rPr>
              <a:t>1</a:t>
            </a:r>
            <a:endParaRPr sz="800">
              <a:latin typeface="Lucida Console"/>
              <a:cs typeface="Lucida Console"/>
            </a:endParaRPr>
          </a:p>
          <a:p>
            <a:pPr marL="12700" marR="165735">
              <a:lnSpc>
                <a:spcPct val="78100"/>
              </a:lnSpc>
              <a:spcBef>
                <a:spcPts val="675"/>
              </a:spcBef>
              <a:tabLst>
                <a:tab pos="1731645" algn="l"/>
              </a:tabLst>
            </a:pP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Residual</a:t>
            </a:r>
            <a:r>
              <a:rPr dirty="0" sz="800" spc="-4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standard</a:t>
            </a:r>
            <a:r>
              <a:rPr dirty="0" sz="8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error:</a:t>
            </a:r>
            <a:r>
              <a:rPr dirty="0" sz="8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2.172</a:t>
            </a:r>
            <a:r>
              <a:rPr dirty="0" sz="8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on</a:t>
            </a:r>
            <a:r>
              <a:rPr dirty="0" sz="8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24</a:t>
            </a:r>
            <a:r>
              <a:rPr dirty="0" sz="8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degrees</a:t>
            </a:r>
            <a:r>
              <a:rPr dirty="0" sz="8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of</a:t>
            </a:r>
            <a:r>
              <a:rPr dirty="0" sz="8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freedom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Multiple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R-</a:t>
            </a:r>
            <a:r>
              <a:rPr dirty="0" sz="800" spc="-35">
                <a:solidFill>
                  <a:srgbClr val="007834"/>
                </a:solidFill>
                <a:latin typeface="Lucida Console"/>
                <a:cs typeface="Lucida Console"/>
              </a:rPr>
              <a:t>squared:</a:t>
            </a:r>
            <a:r>
              <a:rPr dirty="0" sz="800" spc="1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0.3164,</a:t>
            </a:r>
            <a:r>
              <a:rPr dirty="0" sz="8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Adjusted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R-</a:t>
            </a:r>
            <a:r>
              <a:rPr dirty="0" sz="800" spc="-35">
                <a:solidFill>
                  <a:srgbClr val="007834"/>
                </a:solidFill>
                <a:latin typeface="Lucida Console"/>
                <a:cs typeface="Lucida Console"/>
              </a:rPr>
              <a:t>squared:</a:t>
            </a:r>
            <a:r>
              <a:rPr dirty="0" sz="800" spc="1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80">
                <a:solidFill>
                  <a:srgbClr val="007834"/>
                </a:solidFill>
                <a:latin typeface="Lucida Console"/>
                <a:cs typeface="Lucida Console"/>
              </a:rPr>
              <a:t>0.2879</a:t>
            </a:r>
            <a:endParaRPr sz="800">
              <a:latin typeface="Lucida Console"/>
              <a:cs typeface="Lucida Console"/>
            </a:endParaRPr>
          </a:p>
          <a:p>
            <a:pPr marL="12700">
              <a:lnSpc>
                <a:spcPts val="675"/>
              </a:lnSpc>
            </a:pP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F-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statistic: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11.11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on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1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and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24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>
                <a:solidFill>
                  <a:srgbClr val="007834"/>
                </a:solidFill>
                <a:latin typeface="Lucida Console"/>
                <a:cs typeface="Lucida Console"/>
              </a:rPr>
              <a:t>DF,</a:t>
            </a:r>
            <a:r>
              <a:rPr dirty="0" sz="800" spc="30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p-value: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0.002779</a:t>
            </a:r>
            <a:endParaRPr sz="800">
              <a:latin typeface="Lucida Console"/>
              <a:cs typeface="Lucida Conso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8800" y="4909819"/>
            <a:ext cx="7504430" cy="112141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>
              <a:lnSpc>
                <a:spcPts val="1720"/>
              </a:lnSpc>
              <a:spcBef>
                <a:spcPts val="165"/>
              </a:spcBef>
            </a:pPr>
            <a:r>
              <a:rPr dirty="0" sz="1450">
                <a:latin typeface="Gill Sans MT"/>
                <a:cs typeface="Gill Sans MT"/>
              </a:rPr>
              <a:t>The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unstandardized</a:t>
            </a:r>
            <a:r>
              <a:rPr dirty="0" sz="1450" spc="4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regression</a:t>
            </a:r>
            <a:r>
              <a:rPr dirty="0" sz="1450" spc="40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coefficient</a:t>
            </a:r>
            <a:r>
              <a:rPr dirty="0" sz="1450" spc="4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4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4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number</a:t>
            </a:r>
            <a:r>
              <a:rPr dirty="0" sz="1450" spc="4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doctors</a:t>
            </a:r>
            <a:r>
              <a:rPr dirty="0" sz="1450" spc="4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per</a:t>
            </a:r>
            <a:r>
              <a:rPr dirty="0" sz="1450" spc="4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1,000</a:t>
            </a:r>
            <a:r>
              <a:rPr dirty="0" sz="1450" spc="4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inhabitant </a:t>
            </a:r>
            <a:r>
              <a:rPr dirty="0" sz="1450" spc="70">
                <a:latin typeface="Gill Sans MT"/>
                <a:cs typeface="Gill Sans MT"/>
              </a:rPr>
              <a:t>was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-</a:t>
            </a:r>
            <a:r>
              <a:rPr dirty="0" sz="1450" spc="-30">
                <a:latin typeface="Gill Sans MT"/>
                <a:cs typeface="Gill Sans MT"/>
              </a:rPr>
              <a:t>1.79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130">
                <a:latin typeface="Gill Sans MT"/>
                <a:cs typeface="Gill Sans MT"/>
              </a:rPr>
              <a:t>and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statistically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significant,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-20" i="1">
                <a:latin typeface="Georgia"/>
                <a:cs typeface="Georgia"/>
              </a:rPr>
              <a:t>t</a:t>
            </a:r>
            <a:r>
              <a:rPr dirty="0" sz="1450" spc="-20">
                <a:latin typeface="Gill Sans MT"/>
                <a:cs typeface="Gill Sans MT"/>
              </a:rPr>
              <a:t>(24)=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-3.33,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i="1">
                <a:latin typeface="Georgia"/>
                <a:cs typeface="Georgia"/>
              </a:rPr>
              <a:t>p</a:t>
            </a:r>
            <a:r>
              <a:rPr dirty="0" sz="1450" spc="65" i="1">
                <a:latin typeface="Georgia"/>
                <a:cs typeface="Georgia"/>
              </a:rPr>
              <a:t> </a:t>
            </a:r>
            <a:r>
              <a:rPr dirty="0" sz="1450" spc="-145">
                <a:latin typeface="Gill Sans MT"/>
                <a:cs typeface="Gill Sans MT"/>
              </a:rPr>
              <a:t>=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0.003,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indicating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that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each </a:t>
            </a:r>
            <a:r>
              <a:rPr dirty="0" sz="1450" spc="100">
                <a:latin typeface="Gill Sans MT"/>
                <a:cs typeface="Gill Sans MT"/>
              </a:rPr>
              <a:t>additional</a:t>
            </a:r>
            <a:r>
              <a:rPr dirty="0" sz="1450" spc="5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doctor</a:t>
            </a:r>
            <a:r>
              <a:rPr dirty="0" sz="1450" spc="5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for</a:t>
            </a:r>
            <a:r>
              <a:rPr dirty="0" sz="1450" spc="5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1,000</a:t>
            </a:r>
            <a:r>
              <a:rPr dirty="0" sz="1450" spc="5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inhabitants,</a:t>
            </a:r>
            <a:r>
              <a:rPr dirty="0" sz="1450" spc="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5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number</a:t>
            </a:r>
            <a:r>
              <a:rPr dirty="0" sz="1450" spc="50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5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under-five</a:t>
            </a:r>
            <a:r>
              <a:rPr dirty="0" sz="1450" spc="5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mortaility</a:t>
            </a:r>
            <a:r>
              <a:rPr dirty="0" sz="1450" spc="5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rate</a:t>
            </a:r>
            <a:r>
              <a:rPr dirty="0" sz="1450" spc="5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(per</a:t>
            </a:r>
            <a:r>
              <a:rPr dirty="0" sz="1450" spc="55">
                <a:latin typeface="Gill Sans MT"/>
                <a:cs typeface="Gill Sans MT"/>
              </a:rPr>
              <a:t> </a:t>
            </a:r>
            <a:r>
              <a:rPr dirty="0" sz="1450" spc="-10">
                <a:latin typeface="Gill Sans MT"/>
                <a:cs typeface="Gill Sans MT"/>
              </a:rPr>
              <a:t>1,000 </a:t>
            </a:r>
            <a:r>
              <a:rPr dirty="0" sz="1450" spc="85">
                <a:latin typeface="Gill Sans MT"/>
                <a:cs typeface="Gill Sans MT"/>
              </a:rPr>
              <a:t>live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births)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95">
                <a:latin typeface="Gill Sans MT"/>
                <a:cs typeface="Gill Sans MT"/>
              </a:rPr>
              <a:t>is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65">
                <a:latin typeface="Gill Sans MT"/>
                <a:cs typeface="Gill Sans MT"/>
              </a:rPr>
              <a:t>reduced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by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-30">
                <a:latin typeface="Gill Sans MT"/>
                <a:cs typeface="Gill Sans MT"/>
              </a:rPr>
              <a:t>1.79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155">
                <a:latin typeface="Gill Sans MT"/>
                <a:cs typeface="Gill Sans MT"/>
              </a:rPr>
              <a:t>a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country.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The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85">
                <a:latin typeface="Gill Sans MT"/>
                <a:cs typeface="Gill Sans MT"/>
              </a:rPr>
              <a:t>number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doctors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per</a:t>
            </a:r>
            <a:r>
              <a:rPr dirty="0" sz="1450" spc="3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1,000</a:t>
            </a:r>
            <a:r>
              <a:rPr dirty="0" sz="1450" spc="3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inhabitants explains</a:t>
            </a:r>
            <a:r>
              <a:rPr dirty="0" sz="1450" spc="10">
                <a:latin typeface="Gill Sans MT"/>
                <a:cs typeface="Gill Sans MT"/>
              </a:rPr>
              <a:t> </a:t>
            </a:r>
            <a:r>
              <a:rPr dirty="0" sz="1450" spc="90">
                <a:latin typeface="Gill Sans MT"/>
                <a:cs typeface="Gill Sans MT"/>
              </a:rPr>
              <a:t>about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31.6%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of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5">
                <a:latin typeface="Gill Sans MT"/>
                <a:cs typeface="Gill Sans MT"/>
              </a:rPr>
              <a:t>the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80">
                <a:latin typeface="Gill Sans MT"/>
                <a:cs typeface="Gill Sans MT"/>
              </a:rPr>
              <a:t>variability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100">
                <a:latin typeface="Gill Sans MT"/>
                <a:cs typeface="Gill Sans MT"/>
              </a:rPr>
              <a:t>in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70">
                <a:latin typeface="Gill Sans MT"/>
                <a:cs typeface="Gill Sans MT"/>
              </a:rPr>
              <a:t>under-five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mortality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rate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60">
                <a:latin typeface="Gill Sans MT"/>
                <a:cs typeface="Gill Sans MT"/>
              </a:rPr>
              <a:t>across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>
                <a:latin typeface="Gill Sans MT"/>
                <a:cs typeface="Gill Sans MT"/>
              </a:rPr>
              <a:t>26</a:t>
            </a:r>
            <a:r>
              <a:rPr dirty="0" sz="1450" spc="15">
                <a:latin typeface="Gill Sans MT"/>
                <a:cs typeface="Gill Sans MT"/>
              </a:rPr>
              <a:t> </a:t>
            </a:r>
            <a:r>
              <a:rPr dirty="0" sz="1450" spc="45">
                <a:latin typeface="Gill Sans MT"/>
                <a:cs typeface="Gill Sans MT"/>
              </a:rPr>
              <a:t>countries.</a:t>
            </a:r>
            <a:endParaRPr sz="145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 between two continuous variables</dc:title>
  <dcterms:created xsi:type="dcterms:W3CDTF">2025-11-11T22:48:16Z</dcterms:created>
  <dcterms:modified xsi:type="dcterms:W3CDTF">2025-11-11T22:48:16Z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2025-11-11T00:00:00Z</vt:filetime>
  </property>
  <property fmtid="{D5CDD505-2E9C-101B-9397-08002B2CF9AE}" pid="3" name="Creator">
    <vt:lpwstr>Mozilla/5.0 (Windows NT 10.0; Win64; x64) AppleWebKit/537.36 (KHTML, like Gecko) Chrome/141.0.0.0 Safari/537.36</vt:lpwstr>
  </property>
  <property fmtid="{D5CDD505-2E9C-101B-9397-08002B2CF9AE}" pid="4" name="LastSaved">
    <vt:filetime>2025-11-11T00:00:00Z</vt:filetime>
  </property>
  <property fmtid="{D5CDD505-2E9C-101B-9397-08002B2CF9AE}" pid="5" name="Producer">
    <vt:lpwstr>Skia/PDF m141</vt:lpwstr>
  </property>
</Properties>
</file>