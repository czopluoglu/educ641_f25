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8648700" cy="6489700"/>
  <p:notesSz cx="8648700" cy="64897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9128" y="2011807"/>
            <a:ext cx="7356792" cy="1362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98257" y="3634232"/>
            <a:ext cx="6058535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#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#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32752" y="1492631"/>
            <a:ext cx="37649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457350" y="1492631"/>
            <a:ext cx="37649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#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#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#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206375"/>
            <a:ext cx="6452234" cy="425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3400" y="2661920"/>
            <a:ext cx="7364095" cy="3131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942717" y="6035421"/>
            <a:ext cx="2769616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32752" y="6035421"/>
            <a:ext cx="1990661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131472" y="6228353"/>
            <a:ext cx="339725" cy="15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#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nber.org/system/files/working_papers/w9873/w9873.pdf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czopluoglu.github.io/educ641_f25/resources/r_scripts/Week%208_sampling%20distribution%20demo_twoway%20tables.r" TargetMode="Externa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19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image" Target="../media/image2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648700" cy="6486525"/>
          </a:xfrm>
          <a:custGeom>
            <a:avLst/>
            <a:gdLst/>
            <a:ahLst/>
            <a:cxnLst/>
            <a:rect l="l" t="t" r="r" b="b"/>
            <a:pathLst>
              <a:path w="8648700" h="6486525">
                <a:moveTo>
                  <a:pt x="8648699" y="6486524"/>
                </a:moveTo>
                <a:lnTo>
                  <a:pt x="0" y="64865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64865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7624" y="47625"/>
            <a:ext cx="8553450" cy="6391275"/>
          </a:xfrm>
          <a:custGeom>
            <a:avLst/>
            <a:gdLst/>
            <a:ahLst/>
            <a:cxnLst/>
            <a:rect l="l" t="t" r="r" b="b"/>
            <a:pathLst>
              <a:path w="8553450" h="6391275">
                <a:moveTo>
                  <a:pt x="0" y="0"/>
                </a:moveTo>
                <a:lnTo>
                  <a:pt x="8553449" y="0"/>
                </a:lnTo>
                <a:lnTo>
                  <a:pt x="8553449" y="6391274"/>
                </a:lnTo>
                <a:lnTo>
                  <a:pt x="0" y="6391274"/>
                </a:lnTo>
                <a:lnTo>
                  <a:pt x="0" y="0"/>
                </a:lnTo>
                <a:close/>
              </a:path>
            </a:pathLst>
          </a:custGeom>
          <a:ln w="95249">
            <a:solidFill>
              <a:srgbClr val="1546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54049" y="3235324"/>
            <a:ext cx="610870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500" spc="-150">
                <a:solidFill>
                  <a:srgbClr val="FFFFFF"/>
                </a:solidFill>
                <a:latin typeface="Trebuchet MS"/>
                <a:cs typeface="Trebuchet MS"/>
              </a:rPr>
              <a:t>Relationship</a:t>
            </a:r>
            <a:r>
              <a:rPr dirty="0" sz="4500" spc="-2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-254">
                <a:solidFill>
                  <a:srgbClr val="FFFFFF"/>
                </a:solidFill>
                <a:latin typeface="Trebuchet MS"/>
                <a:cs typeface="Trebuchet MS"/>
              </a:rPr>
              <a:t>between</a:t>
            </a:r>
            <a:r>
              <a:rPr dirty="0" sz="4500" spc="-229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-295">
                <a:solidFill>
                  <a:srgbClr val="FFFFFF"/>
                </a:solidFill>
                <a:latin typeface="Trebuchet MS"/>
                <a:cs typeface="Trebuchet MS"/>
              </a:rPr>
              <a:t>two </a:t>
            </a:r>
            <a:r>
              <a:rPr dirty="0" sz="4500" spc="-229">
                <a:solidFill>
                  <a:srgbClr val="FFFFFF"/>
                </a:solidFill>
                <a:latin typeface="Trebuchet MS"/>
                <a:cs typeface="Trebuchet MS"/>
              </a:rPr>
              <a:t>categorical</a:t>
            </a:r>
            <a:r>
              <a:rPr dirty="0" sz="4500" spc="-2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-40">
                <a:solidFill>
                  <a:srgbClr val="FFFFFF"/>
                </a:solidFill>
                <a:latin typeface="Trebuchet MS"/>
                <a:cs typeface="Trebuchet MS"/>
              </a:rPr>
              <a:t>variables</a:t>
            </a:r>
            <a:endParaRPr sz="4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049" y="4959350"/>
            <a:ext cx="3337560" cy="1120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10">
                <a:solidFill>
                  <a:srgbClr val="FFFFFF"/>
                </a:solidFill>
                <a:latin typeface="Trebuchet MS"/>
                <a:cs typeface="Trebuchet MS"/>
              </a:rPr>
              <a:t>EDUC</a:t>
            </a:r>
            <a:r>
              <a:rPr dirty="0" sz="3000" spc="-1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000" spc="-320">
                <a:solidFill>
                  <a:srgbClr val="FFFFFF"/>
                </a:solidFill>
                <a:latin typeface="Trebuchet MS"/>
                <a:cs typeface="Trebuchet MS"/>
              </a:rPr>
              <a:t>641:</a:t>
            </a:r>
            <a:r>
              <a:rPr dirty="0" sz="3000" spc="-1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000" spc="-204">
                <a:solidFill>
                  <a:srgbClr val="FFFFFF"/>
                </a:solidFill>
                <a:latin typeface="Trebuchet MS"/>
                <a:cs typeface="Trebuchet MS"/>
              </a:rPr>
              <a:t>Week</a:t>
            </a:r>
            <a:r>
              <a:rPr dirty="0" sz="3000" spc="-1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000" spc="-85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r>
              <a:rPr dirty="0" sz="3000" spc="-1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000" spc="-135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dirty="0" sz="3000" spc="-1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000" spc="-50">
                <a:solidFill>
                  <a:srgbClr val="FFFFFF"/>
                </a:solidFill>
                <a:latin typeface="Trebuchet MS"/>
                <a:cs typeface="Trebuchet MS"/>
              </a:rPr>
              <a:t>9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dirty="0" sz="2250" spc="-130">
                <a:solidFill>
                  <a:srgbClr val="252629"/>
                </a:solidFill>
                <a:latin typeface="Trebuchet MS"/>
                <a:cs typeface="Trebuchet MS"/>
              </a:rPr>
              <a:t>Cengiz </a:t>
            </a:r>
            <a:r>
              <a:rPr dirty="0" sz="2250" spc="-10">
                <a:solidFill>
                  <a:srgbClr val="252629"/>
                </a:solidFill>
                <a:latin typeface="Trebuchet MS"/>
                <a:cs typeface="Trebuchet MS"/>
              </a:rPr>
              <a:t>Zopluoglu</a:t>
            </a:r>
            <a:endParaRPr sz="2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8800" y="206375"/>
            <a:ext cx="779780" cy="4254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75"/>
              <a:t>Goals</a:t>
            </a:r>
          </a:p>
        </p:txBody>
      </p:sp>
      <p:sp>
        <p:nvSpPr>
          <p:cNvPr id="3" name="object 3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1300162"/>
            <a:ext cx="66675" cy="666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1519237"/>
            <a:ext cx="66675" cy="6667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71524" y="1933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71524" y="23336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71524" y="27431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71524" y="33718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3767137"/>
            <a:ext cx="66675" cy="666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3986212"/>
            <a:ext cx="66675" cy="666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4205287"/>
            <a:ext cx="66675" cy="6667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39800" y="795019"/>
            <a:ext cx="7013575" cy="41789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Gill Sans MT"/>
                <a:cs typeface="Gill Sans MT"/>
              </a:rPr>
              <a:t>Construct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interpret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contingency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tables,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including</a:t>
            </a:r>
            <a:endParaRPr sz="1450">
              <a:latin typeface="Gill Sans MT"/>
              <a:cs typeface="Gill Sans MT"/>
            </a:endParaRPr>
          </a:p>
          <a:p>
            <a:pPr marL="393065">
              <a:lnSpc>
                <a:spcPts val="1730"/>
              </a:lnSpc>
              <a:spcBef>
                <a:spcPts val="1410"/>
              </a:spcBef>
            </a:pPr>
            <a:r>
              <a:rPr dirty="0" sz="1450">
                <a:latin typeface="Gill Sans MT"/>
                <a:cs typeface="Gill Sans MT"/>
              </a:rPr>
              <a:t>row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column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marginal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distributions,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and</a:t>
            </a:r>
            <a:endParaRPr sz="1450">
              <a:latin typeface="Gill Sans MT"/>
              <a:cs typeface="Gill Sans MT"/>
            </a:endParaRPr>
          </a:p>
          <a:p>
            <a:pPr marL="393065">
              <a:lnSpc>
                <a:spcPts val="1730"/>
              </a:lnSpc>
            </a:pPr>
            <a:r>
              <a:rPr dirty="0" sz="1450" spc="80">
                <a:latin typeface="Gill Sans MT"/>
                <a:cs typeface="Gill Sans MT"/>
              </a:rPr>
              <a:t>conditional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distributions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one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variable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given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-10">
                <a:latin typeface="Gill Sans MT"/>
                <a:cs typeface="Gill Sans MT"/>
              </a:rPr>
              <a:t>other.</a:t>
            </a:r>
            <a:endParaRPr sz="1450">
              <a:latin typeface="Gill Sans MT"/>
              <a:cs typeface="Gill Sans MT"/>
            </a:endParaRPr>
          </a:p>
          <a:p>
            <a:pPr marL="12700" marR="412115">
              <a:lnSpc>
                <a:spcPct val="181000"/>
              </a:lnSpc>
              <a:spcBef>
                <a:spcPts val="75"/>
              </a:spcBef>
            </a:pPr>
            <a:r>
              <a:rPr dirty="0" sz="1450">
                <a:latin typeface="Gill Sans MT"/>
                <a:cs typeface="Gill Sans MT"/>
              </a:rPr>
              <a:t>Compute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expected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cell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frequencies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under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null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hypothesis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independence. </a:t>
            </a:r>
            <a:r>
              <a:rPr dirty="0" sz="1450" spc="70">
                <a:latin typeface="Gill Sans MT"/>
                <a:cs typeface="Gill Sans MT"/>
              </a:rPr>
              <a:t>Understand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use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chi-</a:t>
            </a:r>
            <a:r>
              <a:rPr dirty="0" sz="1450" spc="85">
                <a:latin typeface="Gill Sans MT"/>
                <a:cs typeface="Gill Sans MT"/>
              </a:rPr>
              <a:t>square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test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independence</a:t>
            </a:r>
            <a:endParaRPr sz="1450">
              <a:latin typeface="Gill Sans MT"/>
              <a:cs typeface="Gill Sans MT"/>
            </a:endParaRPr>
          </a:p>
          <a:p>
            <a:pPr marL="12700" marR="5080">
              <a:lnSpc>
                <a:spcPct val="101000"/>
              </a:lnSpc>
              <a:spcBef>
                <a:spcPts val="1265"/>
              </a:spcBef>
            </a:pPr>
            <a:r>
              <a:rPr dirty="0" sz="1450">
                <a:latin typeface="Gill Sans MT"/>
                <a:cs typeface="Gill Sans MT"/>
              </a:rPr>
              <a:t>Use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chi-</a:t>
            </a:r>
            <a:r>
              <a:rPr dirty="0" sz="1450" spc="85">
                <a:latin typeface="Gill Sans MT"/>
                <a:cs typeface="Gill Sans MT"/>
              </a:rPr>
              <a:t>square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distribution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functions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>
                <a:latin typeface="Gill Sans MT"/>
                <a:cs typeface="Gill Sans MT"/>
              </a:rPr>
              <a:t> R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-110">
                <a:latin typeface="Gill Sans MT"/>
                <a:cs typeface="Gill Sans MT"/>
              </a:rPr>
              <a:t>(</a:t>
            </a:r>
            <a:r>
              <a:rPr dirty="0" sz="1650" spc="-110">
                <a:solidFill>
                  <a:srgbClr val="007834"/>
                </a:solidFill>
                <a:latin typeface="Lucida Console"/>
                <a:cs typeface="Lucida Console"/>
              </a:rPr>
              <a:t>dchisq()</a:t>
            </a:r>
            <a:r>
              <a:rPr dirty="0" sz="1450" spc="-110">
                <a:latin typeface="Gill Sans MT"/>
                <a:cs typeface="Gill Sans MT"/>
              </a:rPr>
              <a:t>,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650" spc="-130">
                <a:solidFill>
                  <a:srgbClr val="007834"/>
                </a:solidFill>
                <a:latin typeface="Lucida Console"/>
                <a:cs typeface="Lucida Console"/>
              </a:rPr>
              <a:t>pchisq()</a:t>
            </a:r>
            <a:r>
              <a:rPr dirty="0" sz="1450" spc="-130">
                <a:latin typeface="Gill Sans MT"/>
                <a:cs typeface="Gill Sans MT"/>
              </a:rPr>
              <a:t>,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650" spc="-125">
                <a:solidFill>
                  <a:srgbClr val="007834"/>
                </a:solidFill>
                <a:latin typeface="Lucida Console"/>
                <a:cs typeface="Lucida Console"/>
              </a:rPr>
              <a:t>qchisq()</a:t>
            </a:r>
            <a:r>
              <a:rPr dirty="0" sz="1450" spc="-125">
                <a:latin typeface="Gill Sans MT"/>
                <a:cs typeface="Gill Sans MT"/>
              </a:rPr>
              <a:t>)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-25">
                <a:latin typeface="Gill Sans MT"/>
                <a:cs typeface="Gill Sans MT"/>
              </a:rPr>
              <a:t>to </a:t>
            </a:r>
            <a:r>
              <a:rPr dirty="0" sz="1450" spc="90">
                <a:latin typeface="Gill Sans MT"/>
                <a:cs typeface="Gill Sans MT"/>
              </a:rPr>
              <a:t>obtain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p-</a:t>
            </a:r>
            <a:r>
              <a:rPr dirty="0" sz="1450" spc="95">
                <a:latin typeface="Gill Sans MT"/>
                <a:cs typeface="Gill Sans MT"/>
              </a:rPr>
              <a:t>values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critical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values.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 spc="60">
                <a:latin typeface="Gill Sans MT"/>
                <a:cs typeface="Gill Sans MT"/>
              </a:rPr>
              <a:t>Quantify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strength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association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35">
                <a:latin typeface="Gill Sans MT"/>
                <a:cs typeface="Gill Sans MT"/>
              </a:rPr>
              <a:t>with</a:t>
            </a:r>
            <a:endParaRPr sz="1450">
              <a:latin typeface="Gill Sans MT"/>
              <a:cs typeface="Gill Sans MT"/>
            </a:endParaRPr>
          </a:p>
          <a:p>
            <a:pPr marL="393065">
              <a:lnSpc>
                <a:spcPts val="1845"/>
              </a:lnSpc>
              <a:spcBef>
                <a:spcPts val="1310"/>
              </a:spcBef>
            </a:pPr>
            <a:r>
              <a:rPr dirty="0" sz="1450">
                <a:latin typeface="Gill Sans MT"/>
                <a:cs typeface="Gill Sans MT"/>
              </a:rPr>
              <a:t>Cramer’s</a:t>
            </a:r>
            <a:r>
              <a:rPr dirty="0" sz="1450" spc="85">
                <a:latin typeface="Gill Sans MT"/>
                <a:cs typeface="Gill Sans MT"/>
              </a:rPr>
              <a:t> </a:t>
            </a:r>
            <a:r>
              <a:rPr dirty="0" sz="1550" spc="-25" i="1">
                <a:latin typeface="Arial"/>
                <a:cs typeface="Arial"/>
              </a:rPr>
              <a:t>ϑ</a:t>
            </a:r>
            <a:r>
              <a:rPr dirty="0" sz="1450" spc="-25">
                <a:latin typeface="Gill Sans MT"/>
                <a:cs typeface="Gill Sans MT"/>
              </a:rPr>
              <a:t>,</a:t>
            </a:r>
            <a:endParaRPr sz="1450">
              <a:latin typeface="Gill Sans MT"/>
              <a:cs typeface="Gill Sans MT"/>
            </a:endParaRPr>
          </a:p>
          <a:p>
            <a:pPr marL="393065">
              <a:lnSpc>
                <a:spcPts val="1714"/>
              </a:lnSpc>
            </a:pPr>
            <a:r>
              <a:rPr dirty="0" sz="1450" spc="65">
                <a:latin typeface="Gill Sans MT"/>
                <a:cs typeface="Gill Sans MT"/>
              </a:rPr>
              <a:t>relative</a:t>
            </a:r>
            <a:r>
              <a:rPr dirty="0" sz="1450" spc="9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risk</a:t>
            </a:r>
            <a:r>
              <a:rPr dirty="0" sz="1450" spc="10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(risk</a:t>
            </a:r>
            <a:r>
              <a:rPr dirty="0" sz="1450" spc="10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ratio),</a:t>
            </a:r>
            <a:r>
              <a:rPr dirty="0" sz="1450" spc="100">
                <a:latin typeface="Gill Sans MT"/>
                <a:cs typeface="Gill Sans MT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and</a:t>
            </a:r>
            <a:endParaRPr sz="1450">
              <a:latin typeface="Gill Sans MT"/>
              <a:cs typeface="Gill Sans MT"/>
            </a:endParaRPr>
          </a:p>
          <a:p>
            <a:pPr marL="393065">
              <a:lnSpc>
                <a:spcPts val="1735"/>
              </a:lnSpc>
            </a:pPr>
            <a:r>
              <a:rPr dirty="0" sz="1450" spc="95">
                <a:latin typeface="Gill Sans MT"/>
                <a:cs typeface="Gill Sans MT"/>
              </a:rPr>
              <a:t>odds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odds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ratios,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interpret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them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-10">
                <a:latin typeface="Gill Sans MT"/>
                <a:cs typeface="Gill Sans MT"/>
              </a:rPr>
              <a:t>context.</a:t>
            </a:r>
            <a:endParaRPr sz="1450">
              <a:latin typeface="Gill Sans MT"/>
              <a:cs typeface="Gill Sans MT"/>
            </a:endParaRPr>
          </a:p>
          <a:p>
            <a:pPr marL="12700" marR="19685">
              <a:lnSpc>
                <a:spcPts val="1730"/>
              </a:lnSpc>
              <a:spcBef>
                <a:spcPts val="1550"/>
              </a:spcBef>
            </a:pPr>
            <a:r>
              <a:rPr dirty="0" sz="1450" spc="55">
                <a:latin typeface="Gill Sans MT"/>
                <a:cs typeface="Gill Sans MT"/>
              </a:rPr>
              <a:t>Recognize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assumptions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chi-</a:t>
            </a:r>
            <a:r>
              <a:rPr dirty="0" sz="1450" spc="85">
                <a:latin typeface="Gill Sans MT"/>
                <a:cs typeface="Gill Sans MT"/>
              </a:rPr>
              <a:t>square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test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when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to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use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alternatives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such </a:t>
            </a:r>
            <a:r>
              <a:rPr dirty="0" sz="1450" spc="120">
                <a:latin typeface="Gill Sans MT"/>
                <a:cs typeface="Gill Sans MT"/>
              </a:rPr>
              <a:t>as</a:t>
            </a:r>
            <a:r>
              <a:rPr dirty="0" sz="1450" spc="7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Fisher’s</a:t>
            </a:r>
            <a:r>
              <a:rPr dirty="0" sz="1450" spc="7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exact</a:t>
            </a:r>
            <a:r>
              <a:rPr dirty="0" sz="1450" spc="7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test</a:t>
            </a:r>
            <a:r>
              <a:rPr dirty="0" sz="1450" spc="70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7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McNemar’s</a:t>
            </a:r>
            <a:r>
              <a:rPr dirty="0" sz="1450" spc="70">
                <a:latin typeface="Gill Sans MT"/>
                <a:cs typeface="Gill Sans MT"/>
              </a:rPr>
              <a:t> </a:t>
            </a:r>
            <a:r>
              <a:rPr dirty="0" sz="1450" spc="40">
                <a:latin typeface="Gill Sans MT"/>
                <a:cs typeface="Gill Sans MT"/>
              </a:rPr>
              <a:t>test.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1524" y="46196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65"/>
              <a:t>Associations</a:t>
            </a:r>
            <a:r>
              <a:rPr dirty="0" spc="-135"/>
              <a:t> </a:t>
            </a:r>
            <a:r>
              <a:rPr dirty="0" spc="-130"/>
              <a:t>between</a:t>
            </a:r>
            <a:r>
              <a:rPr dirty="0" spc="-135"/>
              <a:t> </a:t>
            </a:r>
            <a:r>
              <a:rPr dirty="0" spc="-145"/>
              <a:t>two</a:t>
            </a:r>
            <a:r>
              <a:rPr dirty="0" spc="-135"/>
              <a:t> </a:t>
            </a:r>
            <a:r>
              <a:rPr dirty="0" spc="-125"/>
              <a:t>categorical</a:t>
            </a:r>
            <a:r>
              <a:rPr dirty="0" spc="-135"/>
              <a:t> </a:t>
            </a:r>
            <a:r>
              <a:rPr dirty="0" spc="-45"/>
              <a:t>variables</a:t>
            </a:r>
          </a:p>
        </p:txBody>
      </p:sp>
      <p:sp>
        <p:nvSpPr>
          <p:cNvPr id="3" name="object 3"/>
          <p:cNvSpPr/>
          <p:nvPr/>
        </p:nvSpPr>
        <p:spPr>
          <a:xfrm>
            <a:off x="771524" y="13049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1524" y="1933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71524" y="2552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1524" y="31718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71524" y="3790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8800" y="795019"/>
            <a:ext cx="7289800" cy="41884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30" b="1">
                <a:latin typeface="Trebuchet MS"/>
                <a:cs typeface="Trebuchet MS"/>
              </a:rPr>
              <a:t>Examples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of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Research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Questions</a:t>
            </a:r>
            <a:endParaRPr sz="1450">
              <a:latin typeface="Trebuchet MS"/>
              <a:cs typeface="Trebuchet MS"/>
            </a:endParaRPr>
          </a:p>
          <a:p>
            <a:pPr marL="393065" marR="328930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Gill Sans MT"/>
                <a:cs typeface="Gill Sans MT"/>
              </a:rPr>
              <a:t>Does </a:t>
            </a:r>
            <a:r>
              <a:rPr dirty="0" sz="1450" spc="-25" b="1">
                <a:latin typeface="Trebuchet MS"/>
                <a:cs typeface="Trebuchet MS"/>
              </a:rPr>
              <a:t>political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party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affiliation</a:t>
            </a:r>
            <a:r>
              <a:rPr dirty="0" sz="1450" spc="-30" b="1">
                <a:latin typeface="Trebuchet MS"/>
                <a:cs typeface="Trebuchet MS"/>
              </a:rPr>
              <a:t> </a:t>
            </a:r>
            <a:r>
              <a:rPr dirty="0" sz="1450" spc="-65">
                <a:latin typeface="Gill Sans MT"/>
                <a:cs typeface="Gill Sans MT"/>
              </a:rPr>
              <a:t>(</a:t>
            </a:r>
            <a:r>
              <a:rPr dirty="0" sz="1450" spc="-65" i="1">
                <a:latin typeface="Lucida Sans"/>
                <a:cs typeface="Lucida Sans"/>
              </a:rPr>
              <a:t>Democrat</a:t>
            </a:r>
            <a:r>
              <a:rPr dirty="0" sz="1450" spc="-65">
                <a:latin typeface="Gill Sans MT"/>
                <a:cs typeface="Gill Sans MT"/>
              </a:rPr>
              <a:t>,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-40" i="1">
                <a:latin typeface="Lucida Sans"/>
                <a:cs typeface="Lucida Sans"/>
              </a:rPr>
              <a:t>Independent</a:t>
            </a:r>
            <a:r>
              <a:rPr dirty="0" sz="1450" spc="-40">
                <a:latin typeface="Gill Sans MT"/>
                <a:cs typeface="Gill Sans MT"/>
              </a:rPr>
              <a:t>,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-50" i="1">
                <a:latin typeface="Lucida Sans"/>
                <a:cs typeface="Lucida Sans"/>
              </a:rPr>
              <a:t>Republican</a:t>
            </a:r>
            <a:r>
              <a:rPr dirty="0" sz="1450" spc="-50">
                <a:latin typeface="Gill Sans MT"/>
                <a:cs typeface="Gill Sans MT"/>
              </a:rPr>
              <a:t>)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vary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by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sex </a:t>
            </a:r>
            <a:r>
              <a:rPr dirty="0" sz="1450" b="1">
                <a:latin typeface="Trebuchet MS"/>
                <a:cs typeface="Trebuchet MS"/>
              </a:rPr>
              <a:t>assigned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at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birth</a:t>
            </a:r>
            <a:r>
              <a:rPr dirty="0" sz="1450" spc="-45" b="1">
                <a:latin typeface="Trebuchet MS"/>
                <a:cs typeface="Trebuchet MS"/>
              </a:rPr>
              <a:t> </a:t>
            </a:r>
            <a:r>
              <a:rPr dirty="0" sz="1450" spc="-30">
                <a:latin typeface="Gill Sans MT"/>
                <a:cs typeface="Gill Sans MT"/>
              </a:rPr>
              <a:t>(</a:t>
            </a:r>
            <a:r>
              <a:rPr dirty="0" sz="1450" spc="-30" i="1">
                <a:latin typeface="Lucida Sans"/>
                <a:cs typeface="Lucida Sans"/>
              </a:rPr>
              <a:t>male</a:t>
            </a:r>
            <a:r>
              <a:rPr dirty="0" sz="1450" spc="-30">
                <a:latin typeface="Gill Sans MT"/>
                <a:cs typeface="Gill Sans MT"/>
              </a:rPr>
              <a:t>,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female</a:t>
            </a:r>
            <a:r>
              <a:rPr dirty="0" sz="1450" spc="-10">
                <a:latin typeface="Gill Sans MT"/>
                <a:cs typeface="Gill Sans MT"/>
              </a:rPr>
              <a:t>)?</a:t>
            </a:r>
            <a:endParaRPr sz="1450">
              <a:latin typeface="Gill Sans MT"/>
              <a:cs typeface="Gill Sans MT"/>
            </a:endParaRPr>
          </a:p>
          <a:p>
            <a:pPr marL="393065" marR="473075">
              <a:lnSpc>
                <a:spcPts val="1730"/>
              </a:lnSpc>
              <a:spcBef>
                <a:spcPts val="1490"/>
              </a:spcBef>
            </a:pPr>
            <a:r>
              <a:rPr dirty="0" sz="1450" spc="80">
                <a:latin typeface="Gill Sans MT"/>
                <a:cs typeface="Gill Sans MT"/>
              </a:rPr>
              <a:t>Is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education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level</a:t>
            </a:r>
            <a:r>
              <a:rPr dirty="0" sz="1450" spc="-45" b="1">
                <a:latin typeface="Trebuchet MS"/>
                <a:cs typeface="Trebuchet MS"/>
              </a:rPr>
              <a:t> </a:t>
            </a:r>
            <a:r>
              <a:rPr dirty="0" sz="1450" spc="-45">
                <a:latin typeface="Gill Sans MT"/>
                <a:cs typeface="Gill Sans MT"/>
              </a:rPr>
              <a:t>(</a:t>
            </a:r>
            <a:r>
              <a:rPr dirty="0" sz="1450" spc="-45" i="1">
                <a:latin typeface="Lucida Sans"/>
                <a:cs typeface="Lucida Sans"/>
              </a:rPr>
              <a:t>high</a:t>
            </a:r>
            <a:r>
              <a:rPr dirty="0" sz="1450" spc="-75" i="1">
                <a:latin typeface="Lucida Sans"/>
                <a:cs typeface="Lucida Sans"/>
              </a:rPr>
              <a:t> </a:t>
            </a:r>
            <a:r>
              <a:rPr dirty="0" sz="1450" spc="-35" i="1">
                <a:latin typeface="Lucida Sans"/>
                <a:cs typeface="Lucida Sans"/>
              </a:rPr>
              <a:t>school</a:t>
            </a:r>
            <a:r>
              <a:rPr dirty="0" sz="1450" spc="-75" i="1">
                <a:latin typeface="Lucida Sans"/>
                <a:cs typeface="Lucida Sans"/>
              </a:rPr>
              <a:t> </a:t>
            </a:r>
            <a:r>
              <a:rPr dirty="0" sz="1450" spc="-80" i="1">
                <a:latin typeface="Lucida Sans"/>
                <a:cs typeface="Lucida Sans"/>
              </a:rPr>
              <a:t>or</a:t>
            </a:r>
            <a:r>
              <a:rPr dirty="0" sz="1450" spc="-70" i="1">
                <a:latin typeface="Lucida Sans"/>
                <a:cs typeface="Lucida Sans"/>
              </a:rPr>
              <a:t> </a:t>
            </a:r>
            <a:r>
              <a:rPr dirty="0" sz="1450" spc="-40" i="1">
                <a:latin typeface="Lucida Sans"/>
                <a:cs typeface="Lucida Sans"/>
              </a:rPr>
              <a:t>lower</a:t>
            </a:r>
            <a:r>
              <a:rPr dirty="0" sz="1450" spc="-40">
                <a:latin typeface="Gill Sans MT"/>
                <a:cs typeface="Gill Sans MT"/>
              </a:rPr>
              <a:t>,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-70" i="1">
                <a:latin typeface="Lucida Sans"/>
                <a:cs typeface="Lucida Sans"/>
              </a:rPr>
              <a:t>bachelor’s</a:t>
            </a:r>
            <a:r>
              <a:rPr dirty="0" sz="1450" spc="-75" i="1">
                <a:latin typeface="Lucida Sans"/>
                <a:cs typeface="Lucida Sans"/>
              </a:rPr>
              <a:t> </a:t>
            </a:r>
            <a:r>
              <a:rPr dirty="0" sz="1450" spc="-45" i="1">
                <a:latin typeface="Lucida Sans"/>
                <a:cs typeface="Lucida Sans"/>
              </a:rPr>
              <a:t>degree</a:t>
            </a:r>
            <a:r>
              <a:rPr dirty="0" sz="1450" spc="-45">
                <a:latin typeface="Gill Sans MT"/>
                <a:cs typeface="Gill Sans MT"/>
              </a:rPr>
              <a:t>,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-90" i="1">
                <a:latin typeface="Lucida Sans"/>
                <a:cs typeface="Lucida Sans"/>
              </a:rPr>
              <a:t>master’s</a:t>
            </a:r>
            <a:r>
              <a:rPr dirty="0" sz="1450" spc="-70" i="1">
                <a:latin typeface="Lucida Sans"/>
                <a:cs typeface="Lucida Sans"/>
              </a:rPr>
              <a:t> </a:t>
            </a:r>
            <a:r>
              <a:rPr dirty="0" sz="1450" spc="-80" i="1">
                <a:latin typeface="Lucida Sans"/>
                <a:cs typeface="Lucida Sans"/>
              </a:rPr>
              <a:t>or</a:t>
            </a:r>
            <a:r>
              <a:rPr dirty="0" sz="1450" spc="-75" i="1">
                <a:latin typeface="Lucida Sans"/>
                <a:cs typeface="Lucida San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above</a:t>
            </a:r>
            <a:r>
              <a:rPr dirty="0" sz="1450" spc="-10">
                <a:latin typeface="Gill Sans MT"/>
                <a:cs typeface="Gill Sans MT"/>
              </a:rPr>
              <a:t>) </a:t>
            </a:r>
            <a:r>
              <a:rPr dirty="0" sz="1450" spc="85">
                <a:latin typeface="Gill Sans MT"/>
                <a:cs typeface="Gill Sans MT"/>
              </a:rPr>
              <a:t>associated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with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marital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status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 spc="-65">
                <a:latin typeface="Gill Sans MT"/>
                <a:cs typeface="Gill Sans MT"/>
              </a:rPr>
              <a:t>(</a:t>
            </a:r>
            <a:r>
              <a:rPr dirty="0" sz="1450" spc="-65" i="1">
                <a:latin typeface="Lucida Sans"/>
                <a:cs typeface="Lucida Sans"/>
              </a:rPr>
              <a:t>never</a:t>
            </a:r>
            <a:r>
              <a:rPr dirty="0" sz="1450" spc="-75" i="1">
                <a:latin typeface="Lucida Sans"/>
                <a:cs typeface="Lucida Sans"/>
              </a:rPr>
              <a:t> </a:t>
            </a:r>
            <a:r>
              <a:rPr dirty="0" sz="1450" spc="-70" i="1">
                <a:latin typeface="Lucida Sans"/>
                <a:cs typeface="Lucida Sans"/>
              </a:rPr>
              <a:t>married</a:t>
            </a:r>
            <a:r>
              <a:rPr dirty="0" sz="1450" spc="-70">
                <a:latin typeface="Gill Sans MT"/>
                <a:cs typeface="Gill Sans MT"/>
              </a:rPr>
              <a:t>,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-70" i="1">
                <a:latin typeface="Lucida Sans"/>
                <a:cs typeface="Lucida Sans"/>
              </a:rPr>
              <a:t>married</a:t>
            </a:r>
            <a:r>
              <a:rPr dirty="0" sz="1450" spc="-70">
                <a:latin typeface="Gill Sans MT"/>
                <a:cs typeface="Gill Sans MT"/>
              </a:rPr>
              <a:t>,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-55" i="1">
                <a:latin typeface="Lucida Sans"/>
                <a:cs typeface="Lucida Sans"/>
              </a:rPr>
              <a:t>divorced</a:t>
            </a:r>
            <a:r>
              <a:rPr dirty="0" sz="1450" spc="-55">
                <a:latin typeface="Gill Sans MT"/>
                <a:cs typeface="Gill Sans MT"/>
              </a:rPr>
              <a:t>,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widowed</a:t>
            </a:r>
            <a:r>
              <a:rPr dirty="0" sz="1450" spc="-10">
                <a:latin typeface="Gill Sans MT"/>
                <a:cs typeface="Gill Sans MT"/>
              </a:rPr>
              <a:t>)?</a:t>
            </a:r>
            <a:endParaRPr sz="1450">
              <a:latin typeface="Gill Sans MT"/>
              <a:cs typeface="Gill Sans MT"/>
            </a:endParaRPr>
          </a:p>
          <a:p>
            <a:pPr marL="393065" marR="178435">
              <a:lnSpc>
                <a:spcPts val="1730"/>
              </a:lnSpc>
              <a:spcBef>
                <a:spcPts val="1415"/>
              </a:spcBef>
            </a:pPr>
            <a:r>
              <a:rPr dirty="0" sz="1450" spc="80">
                <a:latin typeface="Gill Sans MT"/>
                <a:cs typeface="Gill Sans MT"/>
              </a:rPr>
              <a:t>Is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receiving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callback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 spc="-65">
                <a:latin typeface="Gill Sans MT"/>
                <a:cs typeface="Gill Sans MT"/>
              </a:rPr>
              <a:t>(</a:t>
            </a:r>
            <a:r>
              <a:rPr dirty="0" sz="1450" spc="-65" i="1">
                <a:latin typeface="Lucida Sans"/>
                <a:cs typeface="Lucida Sans"/>
              </a:rPr>
              <a:t>received</a:t>
            </a:r>
            <a:r>
              <a:rPr dirty="0" sz="1450" spc="-80" i="1">
                <a:latin typeface="Lucida Sans"/>
                <a:cs typeface="Lucida Sans"/>
              </a:rPr>
              <a:t> </a:t>
            </a:r>
            <a:r>
              <a:rPr dirty="0" sz="1450" spc="-55" i="1">
                <a:latin typeface="Lucida Sans"/>
                <a:cs typeface="Lucida Sans"/>
              </a:rPr>
              <a:t>callback</a:t>
            </a:r>
            <a:r>
              <a:rPr dirty="0" sz="1450" spc="-65" i="1">
                <a:latin typeface="Lucida Sans"/>
                <a:cs typeface="Lucida Sans"/>
              </a:rPr>
              <a:t> </a:t>
            </a:r>
            <a:r>
              <a:rPr dirty="0" sz="1450" spc="330">
                <a:latin typeface="Gill Sans MT"/>
                <a:cs typeface="Gill Sans MT"/>
              </a:rPr>
              <a:t>/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-40" i="1">
                <a:latin typeface="Lucida Sans"/>
                <a:cs typeface="Lucida Sans"/>
              </a:rPr>
              <a:t>no</a:t>
            </a:r>
            <a:r>
              <a:rPr dirty="0" sz="1450" spc="-80" i="1">
                <a:latin typeface="Lucida Sans"/>
                <a:cs typeface="Lucida Sans"/>
              </a:rPr>
              <a:t> </a:t>
            </a:r>
            <a:r>
              <a:rPr dirty="0" sz="1450" spc="-45" i="1">
                <a:latin typeface="Lucida Sans"/>
                <a:cs typeface="Lucida Sans"/>
              </a:rPr>
              <a:t>callback</a:t>
            </a:r>
            <a:r>
              <a:rPr dirty="0" sz="1450" spc="-45">
                <a:latin typeface="Gill Sans MT"/>
                <a:cs typeface="Gill Sans MT"/>
              </a:rPr>
              <a:t>)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associated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with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applicant </a:t>
            </a:r>
            <a:r>
              <a:rPr dirty="0" sz="1450" spc="-45" b="1">
                <a:latin typeface="Trebuchet MS"/>
                <a:cs typeface="Trebuchet MS"/>
              </a:rPr>
              <a:t>racialized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name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group</a:t>
            </a:r>
            <a:r>
              <a:rPr dirty="0" sz="1450" spc="-30" b="1">
                <a:latin typeface="Trebuchet MS"/>
                <a:cs typeface="Trebuchet MS"/>
              </a:rPr>
              <a:t> </a:t>
            </a:r>
            <a:r>
              <a:rPr dirty="0" sz="1450" spc="-60">
                <a:latin typeface="Gill Sans MT"/>
                <a:cs typeface="Gill Sans MT"/>
              </a:rPr>
              <a:t>(</a:t>
            </a:r>
            <a:r>
              <a:rPr dirty="0" sz="1450" spc="-60" i="1">
                <a:latin typeface="Lucida Sans"/>
                <a:cs typeface="Lucida Sans"/>
              </a:rPr>
              <a:t>names </a:t>
            </a:r>
            <a:r>
              <a:rPr dirty="0" sz="1450" spc="-55" i="1">
                <a:latin typeface="Lucida Sans"/>
                <a:cs typeface="Lucida Sans"/>
              </a:rPr>
              <a:t>associated </a:t>
            </a:r>
            <a:r>
              <a:rPr dirty="0" sz="1450" spc="-65" i="1">
                <a:latin typeface="Lucida Sans"/>
                <a:cs typeface="Lucida Sans"/>
              </a:rPr>
              <a:t>with</a:t>
            </a:r>
            <a:r>
              <a:rPr dirty="0" sz="1450" spc="-60" i="1">
                <a:latin typeface="Lucida Sans"/>
                <a:cs typeface="Lucida Sans"/>
              </a:rPr>
              <a:t> </a:t>
            </a:r>
            <a:r>
              <a:rPr dirty="0" sz="1450" spc="-70" i="1">
                <a:latin typeface="Lucida Sans"/>
                <a:cs typeface="Lucida Sans"/>
              </a:rPr>
              <a:t>different</a:t>
            </a:r>
            <a:r>
              <a:rPr dirty="0" sz="1450" spc="-60" i="1">
                <a:latin typeface="Lucida Sans"/>
                <a:cs typeface="Lucida Sans"/>
              </a:rPr>
              <a:t> </a:t>
            </a:r>
            <a:r>
              <a:rPr dirty="0" sz="1450" spc="-75" i="1">
                <a:latin typeface="Lucida Sans"/>
                <a:cs typeface="Lucida Sans"/>
              </a:rPr>
              <a:t>racial</a:t>
            </a:r>
            <a:r>
              <a:rPr dirty="0" sz="1450" spc="-60" i="1">
                <a:latin typeface="Lucida Sans"/>
                <a:cs typeface="Lucida San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identities</a:t>
            </a:r>
            <a:r>
              <a:rPr dirty="0" sz="1450" spc="-10">
                <a:latin typeface="Gill Sans MT"/>
                <a:cs typeface="Gill Sans MT"/>
              </a:rPr>
              <a:t>)?</a:t>
            </a:r>
            <a:endParaRPr sz="1450">
              <a:latin typeface="Gill Sans MT"/>
              <a:cs typeface="Gill Sans MT"/>
            </a:endParaRPr>
          </a:p>
          <a:p>
            <a:pPr marL="393065">
              <a:lnSpc>
                <a:spcPts val="1730"/>
              </a:lnSpc>
              <a:spcBef>
                <a:spcPts val="1350"/>
              </a:spcBef>
            </a:pPr>
            <a:r>
              <a:rPr dirty="0" sz="1450" spc="-35">
                <a:latin typeface="Gill Sans MT"/>
                <a:cs typeface="Gill Sans MT"/>
              </a:rPr>
              <a:t>Are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student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suspension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outcomes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 spc="-50">
                <a:latin typeface="Gill Sans MT"/>
                <a:cs typeface="Gill Sans MT"/>
              </a:rPr>
              <a:t>(</a:t>
            </a:r>
            <a:r>
              <a:rPr dirty="0" sz="1450" spc="-50" i="1">
                <a:latin typeface="Lucida Sans"/>
                <a:cs typeface="Lucida Sans"/>
              </a:rPr>
              <a:t>suspended</a:t>
            </a:r>
            <a:r>
              <a:rPr dirty="0" sz="1450" spc="-55" i="1">
                <a:latin typeface="Lucida Sans"/>
                <a:cs typeface="Lucida Sans"/>
              </a:rPr>
              <a:t> </a:t>
            </a:r>
            <a:r>
              <a:rPr dirty="0" sz="1450" spc="330">
                <a:latin typeface="Gill Sans MT"/>
                <a:cs typeface="Gill Sans MT"/>
              </a:rPr>
              <a:t>/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-40" i="1">
                <a:latin typeface="Lucida Sans"/>
                <a:cs typeface="Lucida Sans"/>
              </a:rPr>
              <a:t>not</a:t>
            </a:r>
            <a:r>
              <a:rPr dirty="0" sz="1450" spc="-65" i="1">
                <a:latin typeface="Lucida Sans"/>
                <a:cs typeface="Lucida Sans"/>
              </a:rPr>
              <a:t> </a:t>
            </a:r>
            <a:r>
              <a:rPr dirty="0" sz="1450" spc="-45" i="1">
                <a:latin typeface="Lucida Sans"/>
                <a:cs typeface="Lucida Sans"/>
              </a:rPr>
              <a:t>suspended</a:t>
            </a:r>
            <a:r>
              <a:rPr dirty="0" sz="1450" spc="-45">
                <a:latin typeface="Gill Sans MT"/>
                <a:cs typeface="Gill Sans MT"/>
              </a:rPr>
              <a:t>)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independent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of</a:t>
            </a:r>
            <a:endParaRPr sz="1450">
              <a:latin typeface="Gill Sans MT"/>
              <a:cs typeface="Gill Sans MT"/>
            </a:endParaRPr>
          </a:p>
          <a:p>
            <a:pPr marL="393065">
              <a:lnSpc>
                <a:spcPts val="1735"/>
              </a:lnSpc>
            </a:pPr>
            <a:r>
              <a:rPr dirty="0" sz="1450" spc="-20" b="1">
                <a:latin typeface="Trebuchet MS"/>
                <a:cs typeface="Trebuchet MS"/>
              </a:rPr>
              <a:t>student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race/ethnicity</a:t>
            </a:r>
            <a:r>
              <a:rPr dirty="0" sz="1450" spc="-30" b="1">
                <a:latin typeface="Trebuchet MS"/>
                <a:cs typeface="Trebuchet MS"/>
              </a:rPr>
              <a:t> </a:t>
            </a:r>
            <a:r>
              <a:rPr dirty="0" sz="1450" spc="-75">
                <a:latin typeface="Gill Sans MT"/>
                <a:cs typeface="Gill Sans MT"/>
              </a:rPr>
              <a:t>(</a:t>
            </a:r>
            <a:r>
              <a:rPr dirty="0" sz="1450" spc="-75" i="1">
                <a:latin typeface="Lucida Sans"/>
                <a:cs typeface="Lucida Sans"/>
              </a:rPr>
              <a:t>Group</a:t>
            </a:r>
            <a:r>
              <a:rPr dirty="0" sz="1450" spc="-65" i="1">
                <a:latin typeface="Lucida Sans"/>
                <a:cs typeface="Lucida Sans"/>
              </a:rPr>
              <a:t> </a:t>
            </a:r>
            <a:r>
              <a:rPr dirty="0" sz="1450" spc="-80" i="1">
                <a:latin typeface="Lucida Sans"/>
                <a:cs typeface="Lucida Sans"/>
              </a:rPr>
              <a:t>A</a:t>
            </a:r>
            <a:r>
              <a:rPr dirty="0" sz="1450" spc="-80">
                <a:latin typeface="Gill Sans MT"/>
                <a:cs typeface="Gill Sans MT"/>
              </a:rPr>
              <a:t>,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-90" i="1">
                <a:latin typeface="Lucida Sans"/>
                <a:cs typeface="Lucida Sans"/>
              </a:rPr>
              <a:t>Group</a:t>
            </a:r>
            <a:r>
              <a:rPr dirty="0" sz="1450" spc="-65" i="1">
                <a:latin typeface="Lucida Sans"/>
                <a:cs typeface="Lucida Sans"/>
              </a:rPr>
              <a:t> </a:t>
            </a:r>
            <a:r>
              <a:rPr dirty="0" sz="1450" i="1">
                <a:latin typeface="Lucida Sans"/>
                <a:cs typeface="Lucida Sans"/>
              </a:rPr>
              <a:t>B</a:t>
            </a:r>
            <a:r>
              <a:rPr dirty="0" sz="1450">
                <a:latin typeface="Gill Sans MT"/>
                <a:cs typeface="Gill Sans MT"/>
              </a:rPr>
              <a:t>,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-90" i="1">
                <a:latin typeface="Lucida Sans"/>
                <a:cs typeface="Lucida Sans"/>
              </a:rPr>
              <a:t>Group</a:t>
            </a:r>
            <a:r>
              <a:rPr dirty="0" sz="1450" spc="-65" i="1">
                <a:latin typeface="Lucida Sans"/>
                <a:cs typeface="Lucida Sans"/>
              </a:rPr>
              <a:t> </a:t>
            </a:r>
            <a:r>
              <a:rPr dirty="0" sz="1450" spc="-25" i="1">
                <a:latin typeface="Lucida Sans"/>
                <a:cs typeface="Lucida Sans"/>
              </a:rPr>
              <a:t>C</a:t>
            </a:r>
            <a:r>
              <a:rPr dirty="0" sz="1450" spc="-25">
                <a:latin typeface="Gill Sans MT"/>
                <a:cs typeface="Gill Sans MT"/>
              </a:rPr>
              <a:t>)?</a:t>
            </a:r>
            <a:endParaRPr sz="1450">
              <a:latin typeface="Gill Sans MT"/>
              <a:cs typeface="Gill Sans MT"/>
            </a:endParaRPr>
          </a:p>
          <a:p>
            <a:pPr marL="393065">
              <a:lnSpc>
                <a:spcPts val="1730"/>
              </a:lnSpc>
              <a:spcBef>
                <a:spcPts val="1410"/>
              </a:spcBef>
            </a:pPr>
            <a:r>
              <a:rPr dirty="0" sz="1450" spc="80">
                <a:latin typeface="Gill Sans MT"/>
                <a:cs typeface="Gill Sans MT"/>
              </a:rPr>
              <a:t>Is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access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to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advanced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coursework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 spc="-50">
                <a:latin typeface="Gill Sans MT"/>
                <a:cs typeface="Gill Sans MT"/>
              </a:rPr>
              <a:t>(</a:t>
            </a:r>
            <a:r>
              <a:rPr dirty="0" sz="1450" spc="-50" i="1">
                <a:latin typeface="Lucida Sans"/>
                <a:cs typeface="Lucida Sans"/>
              </a:rPr>
              <a:t>enrolled</a:t>
            </a:r>
            <a:r>
              <a:rPr dirty="0" sz="1450" spc="-65" i="1">
                <a:latin typeface="Lucida Sans"/>
                <a:cs typeface="Lucida Sans"/>
              </a:rPr>
              <a:t> </a:t>
            </a:r>
            <a:r>
              <a:rPr dirty="0" sz="1450" spc="-55" i="1">
                <a:latin typeface="Lucida Sans"/>
                <a:cs typeface="Lucida Sans"/>
              </a:rPr>
              <a:t>in</a:t>
            </a:r>
            <a:r>
              <a:rPr dirty="0" sz="1450" spc="-70" i="1">
                <a:latin typeface="Lucida Sans"/>
                <a:cs typeface="Lucida Sans"/>
              </a:rPr>
              <a:t> </a:t>
            </a:r>
            <a:r>
              <a:rPr dirty="0" sz="1450" spc="-60" i="1">
                <a:latin typeface="Lucida Sans"/>
                <a:cs typeface="Lucida Sans"/>
              </a:rPr>
              <a:t>AP/IB </a:t>
            </a:r>
            <a:r>
              <a:rPr dirty="0" sz="1450" spc="330">
                <a:latin typeface="Gill Sans MT"/>
                <a:cs typeface="Gill Sans MT"/>
              </a:rPr>
              <a:t>/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-40" i="1">
                <a:latin typeface="Lucida Sans"/>
                <a:cs typeface="Lucida Sans"/>
              </a:rPr>
              <a:t>not</a:t>
            </a:r>
            <a:r>
              <a:rPr dirty="0" sz="1450" spc="-70" i="1">
                <a:latin typeface="Lucida Sans"/>
                <a:cs typeface="Lucida Sans"/>
              </a:rPr>
              <a:t> </a:t>
            </a:r>
            <a:r>
              <a:rPr dirty="0" sz="1450" spc="-45" i="1">
                <a:latin typeface="Lucida Sans"/>
                <a:cs typeface="Lucida Sans"/>
              </a:rPr>
              <a:t>enrolled</a:t>
            </a:r>
            <a:r>
              <a:rPr dirty="0" sz="1450" spc="-45">
                <a:latin typeface="Gill Sans MT"/>
                <a:cs typeface="Gill Sans MT"/>
              </a:rPr>
              <a:t>)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related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-25">
                <a:latin typeface="Gill Sans MT"/>
                <a:cs typeface="Gill Sans MT"/>
              </a:rPr>
              <a:t>to</a:t>
            </a:r>
            <a:endParaRPr sz="1450">
              <a:latin typeface="Gill Sans MT"/>
              <a:cs typeface="Gill Sans MT"/>
            </a:endParaRPr>
          </a:p>
          <a:p>
            <a:pPr marL="393065">
              <a:lnSpc>
                <a:spcPts val="1735"/>
              </a:lnSpc>
            </a:pPr>
            <a:r>
              <a:rPr dirty="0" sz="1450" spc="-25" b="1">
                <a:latin typeface="Trebuchet MS"/>
                <a:cs typeface="Trebuchet MS"/>
              </a:rPr>
              <a:t>socioeconomic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status</a:t>
            </a:r>
            <a:r>
              <a:rPr dirty="0" sz="1450" spc="-10" b="1">
                <a:latin typeface="Trebuchet MS"/>
                <a:cs typeface="Trebuchet MS"/>
              </a:rPr>
              <a:t> </a:t>
            </a:r>
            <a:r>
              <a:rPr dirty="0" sz="1450" spc="-25">
                <a:latin typeface="Gill Sans MT"/>
                <a:cs typeface="Gill Sans MT"/>
              </a:rPr>
              <a:t>(</a:t>
            </a:r>
            <a:r>
              <a:rPr dirty="0" sz="1450" spc="-25" i="1">
                <a:latin typeface="Lucida Sans"/>
                <a:cs typeface="Lucida Sans"/>
              </a:rPr>
              <a:t>high-</a:t>
            </a:r>
            <a:r>
              <a:rPr dirty="0" sz="1450" spc="-40" i="1">
                <a:latin typeface="Lucida Sans"/>
                <a:cs typeface="Lucida Sans"/>
              </a:rPr>
              <a:t>income</a:t>
            </a:r>
            <a:r>
              <a:rPr dirty="0" sz="1450" spc="-40">
                <a:latin typeface="Gill Sans MT"/>
                <a:cs typeface="Gill Sans MT"/>
              </a:rPr>
              <a:t>,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-30" i="1">
                <a:latin typeface="Lucida Sans"/>
                <a:cs typeface="Lucida Sans"/>
              </a:rPr>
              <a:t>mid-</a:t>
            </a:r>
            <a:r>
              <a:rPr dirty="0" sz="1450" spc="-40" i="1">
                <a:latin typeface="Lucida Sans"/>
                <a:cs typeface="Lucida Sans"/>
              </a:rPr>
              <a:t>income</a:t>
            </a:r>
            <a:r>
              <a:rPr dirty="0" sz="1450" spc="-40">
                <a:latin typeface="Gill Sans MT"/>
                <a:cs typeface="Gill Sans MT"/>
              </a:rPr>
              <a:t>,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low-income</a:t>
            </a:r>
            <a:r>
              <a:rPr dirty="0" sz="1450" spc="-10">
                <a:latin typeface="Gill Sans MT"/>
                <a:cs typeface="Gill Sans MT"/>
              </a:rPr>
              <a:t>)?</a:t>
            </a:r>
            <a:endParaRPr sz="1450">
              <a:latin typeface="Gill Sans MT"/>
              <a:cs typeface="Gill Sans MT"/>
            </a:endParaRPr>
          </a:p>
          <a:p>
            <a:pPr marL="12700" marR="5080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Gill Sans MT"/>
                <a:cs typeface="Gill Sans MT"/>
              </a:rPr>
              <a:t>When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both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variables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research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question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are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categorical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(measured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on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nominal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-25">
                <a:latin typeface="Gill Sans MT"/>
                <a:cs typeface="Gill Sans MT"/>
              </a:rPr>
              <a:t>or </a:t>
            </a:r>
            <a:r>
              <a:rPr dirty="0" sz="1450" spc="75">
                <a:latin typeface="Gill Sans MT"/>
                <a:cs typeface="Gill Sans MT"/>
              </a:rPr>
              <a:t>ordinal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scale),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we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can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examine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whether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membership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categories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one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variable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is </a:t>
            </a:r>
            <a:r>
              <a:rPr dirty="0" sz="1450" spc="65">
                <a:latin typeface="Gill Sans MT"/>
                <a:cs typeface="Gill Sans MT"/>
              </a:rPr>
              <a:t>related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to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membership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categories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other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variable.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8800" y="206375"/>
            <a:ext cx="7432040" cy="82550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0"/>
              </a:spcBef>
            </a:pPr>
            <a:r>
              <a:rPr dirty="0" spc="-165"/>
              <a:t>Are</a:t>
            </a:r>
            <a:r>
              <a:rPr dirty="0" spc="-140"/>
              <a:t> </a:t>
            </a:r>
            <a:r>
              <a:rPr dirty="0" spc="-135"/>
              <a:t>Emily</a:t>
            </a:r>
            <a:r>
              <a:rPr dirty="0" spc="-140"/>
              <a:t> </a:t>
            </a:r>
            <a:r>
              <a:rPr dirty="0" spc="-65"/>
              <a:t>and</a:t>
            </a:r>
            <a:r>
              <a:rPr dirty="0" spc="-135"/>
              <a:t> </a:t>
            </a:r>
            <a:r>
              <a:rPr dirty="0" spc="-170"/>
              <a:t>Greg</a:t>
            </a:r>
            <a:r>
              <a:rPr dirty="0" spc="-140"/>
              <a:t> </a:t>
            </a:r>
            <a:r>
              <a:rPr dirty="0" spc="-130"/>
              <a:t>more</a:t>
            </a:r>
            <a:r>
              <a:rPr dirty="0" spc="-140"/>
              <a:t> </a:t>
            </a:r>
            <a:r>
              <a:rPr dirty="0" spc="-105"/>
              <a:t>employable</a:t>
            </a:r>
            <a:r>
              <a:rPr dirty="0" spc="-135"/>
              <a:t> </a:t>
            </a:r>
            <a:r>
              <a:rPr dirty="0" spc="-95"/>
              <a:t>than</a:t>
            </a:r>
            <a:r>
              <a:rPr dirty="0" spc="-140"/>
              <a:t> </a:t>
            </a:r>
            <a:r>
              <a:rPr dirty="0" spc="-75"/>
              <a:t>Lakisha</a:t>
            </a:r>
            <a:r>
              <a:rPr dirty="0" spc="-140"/>
              <a:t> </a:t>
            </a:r>
            <a:r>
              <a:rPr dirty="0" spc="-25"/>
              <a:t>and </a:t>
            </a:r>
            <a:r>
              <a:rPr dirty="0" spc="-10"/>
              <a:t>Jamal?</a:t>
            </a:r>
          </a:p>
        </p:txBody>
      </p:sp>
      <p:sp>
        <p:nvSpPr>
          <p:cNvPr id="3" name="object 3"/>
          <p:cNvSpPr/>
          <p:nvPr/>
        </p:nvSpPr>
        <p:spPr>
          <a:xfrm>
            <a:off x="771524" y="17049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1524" y="21145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71524" y="25145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1524" y="29146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58800" y="1195069"/>
            <a:ext cx="7380605" cy="3283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b="1">
                <a:latin typeface="Trebuchet MS"/>
                <a:cs typeface="Trebuchet MS"/>
              </a:rPr>
              <a:t>Study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context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410"/>
              </a:spcBef>
            </a:pPr>
            <a:r>
              <a:rPr dirty="0" sz="1450" spc="70">
                <a:latin typeface="Gill Sans MT"/>
                <a:cs typeface="Gill Sans MT"/>
              </a:rPr>
              <a:t>Field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experiment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replying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to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real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job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25">
                <a:latin typeface="Gill Sans MT"/>
                <a:cs typeface="Gill Sans MT"/>
              </a:rPr>
              <a:t>ads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Boston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35">
                <a:latin typeface="Gill Sans MT"/>
                <a:cs typeface="Gill Sans MT"/>
              </a:rPr>
              <a:t>&amp;</a:t>
            </a:r>
            <a:r>
              <a:rPr dirty="0" sz="1450" spc="-10">
                <a:latin typeface="Gill Sans MT"/>
                <a:cs typeface="Gill Sans MT"/>
              </a:rPr>
              <a:t> Chicago</a:t>
            </a:r>
            <a:endParaRPr sz="1450">
              <a:latin typeface="Gill Sans MT"/>
              <a:cs typeface="Gill Sans MT"/>
            </a:endParaRPr>
          </a:p>
          <a:p>
            <a:pPr marL="393065" marR="320040">
              <a:lnSpc>
                <a:spcPct val="181000"/>
              </a:lnSpc>
              <a:spcBef>
                <a:spcPts val="75"/>
              </a:spcBef>
            </a:pPr>
            <a:r>
              <a:rPr dirty="0" sz="1450" spc="85">
                <a:latin typeface="Gill Sans MT"/>
                <a:cs typeface="Gill Sans MT"/>
              </a:rPr>
              <a:t>Randomly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assigned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racialized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first/last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names</a:t>
            </a:r>
            <a:r>
              <a:rPr dirty="0" sz="1450">
                <a:latin typeface="Gill Sans MT"/>
                <a:cs typeface="Gill Sans MT"/>
              </a:rPr>
              <a:t> to </a:t>
            </a:r>
            <a:r>
              <a:rPr dirty="0" sz="1450" spc="55">
                <a:latin typeface="Gill Sans MT"/>
                <a:cs typeface="Gill Sans MT"/>
              </a:rPr>
              <a:t>otherwise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similar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résumés</a:t>
            </a:r>
            <a:r>
              <a:rPr dirty="0" sz="1450" spc="50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Sent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~5,000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résumés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to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more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than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1,300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ads;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measured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callback</a:t>
            </a:r>
            <a:r>
              <a:rPr dirty="0" sz="1450" spc="-5" b="1">
                <a:latin typeface="Trebuchet MS"/>
                <a:cs typeface="Trebuchet MS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interview </a:t>
            </a:r>
            <a:r>
              <a:rPr dirty="0" sz="1450">
                <a:latin typeface="Gill Sans MT"/>
                <a:cs typeface="Gill Sans MT"/>
              </a:rPr>
              <a:t>We’ll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use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aggregate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contingency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table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(based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on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Table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-30">
                <a:latin typeface="Gill Sans MT"/>
                <a:cs typeface="Gill Sans MT"/>
              </a:rPr>
              <a:t>1)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today’s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example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 spc="-20" b="1">
                <a:latin typeface="Trebuchet MS"/>
                <a:cs typeface="Trebuchet MS"/>
              </a:rPr>
              <a:t>Source</a:t>
            </a:r>
            <a:r>
              <a:rPr dirty="0" sz="1450" spc="-20">
                <a:latin typeface="Gill Sans MT"/>
                <a:cs typeface="Gill Sans MT"/>
              </a:rPr>
              <a:t>: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5">
                <a:solidFill>
                  <a:srgbClr val="3F97B4"/>
                </a:solidFill>
                <a:latin typeface="Gill Sans MT"/>
                <a:cs typeface="Gill Sans MT"/>
                <a:hlinkClick r:id="rId2"/>
              </a:rPr>
              <a:t>Bertrand</a:t>
            </a:r>
            <a:r>
              <a:rPr dirty="0" sz="1450" spc="-5">
                <a:solidFill>
                  <a:srgbClr val="3F97B4"/>
                </a:solidFill>
                <a:latin typeface="Gill Sans MT"/>
                <a:cs typeface="Gill Sans MT"/>
                <a:hlinkClick r:id="rId2"/>
              </a:rPr>
              <a:t> </a:t>
            </a:r>
            <a:r>
              <a:rPr dirty="0" sz="1450" spc="135">
                <a:solidFill>
                  <a:srgbClr val="3F97B4"/>
                </a:solidFill>
                <a:latin typeface="Gill Sans MT"/>
                <a:cs typeface="Gill Sans MT"/>
                <a:hlinkClick r:id="rId2"/>
              </a:rPr>
              <a:t>&amp;</a:t>
            </a:r>
            <a:r>
              <a:rPr dirty="0" sz="1450" spc="-5">
                <a:solidFill>
                  <a:srgbClr val="3F97B4"/>
                </a:solidFill>
                <a:latin typeface="Gill Sans MT"/>
                <a:cs typeface="Gill Sans MT"/>
                <a:hlinkClick r:id="rId2"/>
              </a:rPr>
              <a:t> </a:t>
            </a:r>
            <a:r>
              <a:rPr dirty="0" sz="1450" spc="95">
                <a:solidFill>
                  <a:srgbClr val="3F97B4"/>
                </a:solidFill>
                <a:latin typeface="Gill Sans MT"/>
                <a:cs typeface="Gill Sans MT"/>
                <a:hlinkClick r:id="rId2"/>
              </a:rPr>
              <a:t>Mullainathan,</a:t>
            </a:r>
            <a:r>
              <a:rPr dirty="0" sz="1450" spc="-10">
                <a:solidFill>
                  <a:srgbClr val="3F97B4"/>
                </a:solidFill>
                <a:latin typeface="Gill Sans MT"/>
                <a:cs typeface="Gill Sans MT"/>
                <a:hlinkClick r:id="rId2"/>
              </a:rPr>
              <a:t> </a:t>
            </a:r>
            <a:r>
              <a:rPr dirty="0" sz="1450">
                <a:solidFill>
                  <a:srgbClr val="3F97B4"/>
                </a:solidFill>
                <a:latin typeface="Gill Sans MT"/>
                <a:cs typeface="Gill Sans MT"/>
                <a:hlinkClick r:id="rId2"/>
              </a:rPr>
              <a:t>2003,</a:t>
            </a:r>
            <a:r>
              <a:rPr dirty="0" sz="1450" spc="-5">
                <a:solidFill>
                  <a:srgbClr val="3F97B4"/>
                </a:solidFill>
                <a:latin typeface="Gill Sans MT"/>
                <a:cs typeface="Gill Sans MT"/>
                <a:hlinkClick r:id="rId2"/>
              </a:rPr>
              <a:t> </a:t>
            </a:r>
            <a:r>
              <a:rPr dirty="0" sz="1450">
                <a:solidFill>
                  <a:srgbClr val="3F97B4"/>
                </a:solidFill>
                <a:latin typeface="Gill Sans MT"/>
                <a:cs typeface="Gill Sans MT"/>
                <a:hlinkClick r:id="rId2"/>
              </a:rPr>
              <a:t>NBER</a:t>
            </a:r>
            <a:r>
              <a:rPr dirty="0" sz="1450" spc="-5">
                <a:solidFill>
                  <a:srgbClr val="3F97B4"/>
                </a:solidFill>
                <a:latin typeface="Gill Sans MT"/>
                <a:cs typeface="Gill Sans MT"/>
                <a:hlinkClick r:id="rId2"/>
              </a:rPr>
              <a:t> </a:t>
            </a:r>
            <a:r>
              <a:rPr dirty="0" sz="1450">
                <a:solidFill>
                  <a:srgbClr val="3F97B4"/>
                </a:solidFill>
                <a:latin typeface="Gill Sans MT"/>
                <a:cs typeface="Gill Sans MT"/>
                <a:hlinkClick r:id="rId2"/>
              </a:rPr>
              <a:t>Working</a:t>
            </a:r>
            <a:r>
              <a:rPr dirty="0" sz="1450" spc="-10">
                <a:solidFill>
                  <a:srgbClr val="3F97B4"/>
                </a:solidFill>
                <a:latin typeface="Gill Sans MT"/>
                <a:cs typeface="Gill Sans MT"/>
                <a:hlinkClick r:id="rId2"/>
              </a:rPr>
              <a:t> </a:t>
            </a:r>
            <a:r>
              <a:rPr dirty="0" sz="1450" spc="70">
                <a:solidFill>
                  <a:srgbClr val="3F97B4"/>
                </a:solidFill>
                <a:latin typeface="Gill Sans MT"/>
                <a:cs typeface="Gill Sans MT"/>
                <a:hlinkClick r:id="rId2"/>
              </a:rPr>
              <a:t>Paper</a:t>
            </a:r>
            <a:r>
              <a:rPr dirty="0" sz="1450" spc="-5">
                <a:solidFill>
                  <a:srgbClr val="3F97B4"/>
                </a:solidFill>
                <a:latin typeface="Gill Sans MT"/>
                <a:cs typeface="Gill Sans MT"/>
                <a:hlinkClick r:id="rId2"/>
              </a:rPr>
              <a:t> </a:t>
            </a:r>
            <a:r>
              <a:rPr dirty="0" sz="1450" spc="-20">
                <a:solidFill>
                  <a:srgbClr val="3F97B4"/>
                </a:solidFill>
                <a:latin typeface="Gill Sans MT"/>
                <a:cs typeface="Gill Sans MT"/>
                <a:hlinkClick r:id="rId2"/>
              </a:rPr>
              <a:t>9873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 spc="-35" b="1">
                <a:latin typeface="Trebuchet MS"/>
                <a:cs typeface="Trebuchet MS"/>
              </a:rPr>
              <a:t>Research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hypothesis: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1550"/>
              </a:spcBef>
            </a:pPr>
            <a:r>
              <a:rPr dirty="0" sz="1450">
                <a:latin typeface="Gill Sans MT"/>
                <a:cs typeface="Gill Sans MT"/>
              </a:rPr>
              <a:t>There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significant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relationship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between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receiving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callback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(yes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vs.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no)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racialized </a:t>
            </a:r>
            <a:r>
              <a:rPr dirty="0" sz="1450" spc="114">
                <a:latin typeface="Gill Sans MT"/>
                <a:cs typeface="Gill Sans MT"/>
              </a:rPr>
              <a:t>name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group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(White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vs.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African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35">
                <a:latin typeface="Gill Sans MT"/>
                <a:cs typeface="Gill Sans MT"/>
              </a:rPr>
              <a:t>American).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85974" y="238125"/>
          <a:ext cx="4552950" cy="1806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7025"/>
                <a:gridCol w="581025"/>
                <a:gridCol w="438150"/>
                <a:gridCol w="581025"/>
              </a:tblGrid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b="1">
                          <a:latin typeface="Arial"/>
                          <a:cs typeface="Arial"/>
                        </a:rPr>
                        <a:t>Callback </a:t>
                      </a:r>
                      <a:r>
                        <a:rPr dirty="0" sz="1350" spc="-10" b="1">
                          <a:latin typeface="Arial"/>
                          <a:cs typeface="Arial"/>
                        </a:rPr>
                        <a:t>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2,199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246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American-associated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2,281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164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71524" y="27241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39800" y="2614295"/>
            <a:ext cx="6937375" cy="189293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Gill Sans MT"/>
                <a:cs typeface="Gill Sans MT"/>
              </a:rPr>
              <a:t>When </a:t>
            </a:r>
            <a:r>
              <a:rPr dirty="0" sz="1450" spc="65">
                <a:latin typeface="Gill Sans MT"/>
                <a:cs typeface="Gill Sans MT"/>
              </a:rPr>
              <a:t>you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have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two </a:t>
            </a:r>
            <a:r>
              <a:rPr dirty="0" sz="1450" spc="65">
                <a:latin typeface="Gill Sans MT"/>
                <a:cs typeface="Gill Sans MT"/>
              </a:rPr>
              <a:t>categorical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variables,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data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can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be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summarized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two-</a:t>
            </a:r>
            <a:r>
              <a:rPr dirty="0" sz="1450" spc="30">
                <a:latin typeface="Gill Sans MT"/>
                <a:cs typeface="Gill Sans MT"/>
              </a:rPr>
              <a:t>way </a:t>
            </a:r>
            <a:r>
              <a:rPr dirty="0" sz="1450" spc="70">
                <a:latin typeface="Gill Sans MT"/>
                <a:cs typeface="Gill Sans MT"/>
              </a:rPr>
              <a:t>table.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450">
                <a:latin typeface="Gill Sans MT"/>
                <a:cs typeface="Gill Sans MT"/>
              </a:rPr>
              <a:t>This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table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called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contingency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table.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>
                <a:latin typeface="Gill Sans MT"/>
                <a:cs typeface="Gill Sans MT"/>
              </a:rPr>
              <a:t>The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table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above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2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x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2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contingency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table.</a:t>
            </a:r>
            <a:endParaRPr sz="1450">
              <a:latin typeface="Gill Sans MT"/>
              <a:cs typeface="Gill Sans MT"/>
            </a:endParaRPr>
          </a:p>
          <a:p>
            <a:pPr marL="12700" marR="107314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Gill Sans MT"/>
                <a:cs typeface="Gill Sans MT"/>
              </a:rPr>
              <a:t>The </a:t>
            </a:r>
            <a:r>
              <a:rPr dirty="0" sz="1450" spc="95">
                <a:latin typeface="Gill Sans MT"/>
                <a:cs typeface="Gill Sans MT"/>
              </a:rPr>
              <a:t>dimensions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table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are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equal</a:t>
            </a:r>
            <a:r>
              <a:rPr dirty="0" sz="1450">
                <a:latin typeface="Gill Sans MT"/>
                <a:cs typeface="Gill Sans MT"/>
              </a:rPr>
              <a:t> to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number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levels</a:t>
            </a:r>
            <a:r>
              <a:rPr dirty="0" sz="1450">
                <a:latin typeface="Gill Sans MT"/>
                <a:cs typeface="Gill Sans MT"/>
              </a:rPr>
              <a:t> for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both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categorical </a:t>
            </a:r>
            <a:r>
              <a:rPr dirty="0" sz="1450" spc="75">
                <a:latin typeface="Gill Sans MT"/>
                <a:cs typeface="Gill Sans MT"/>
              </a:rPr>
              <a:t>variables.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1524" y="33527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71524" y="37528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71524" y="41528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85974" y="238125"/>
          <a:ext cx="4552950" cy="1806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7025"/>
                <a:gridCol w="581025"/>
                <a:gridCol w="438150"/>
                <a:gridCol w="581025"/>
              </a:tblGrid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b="1">
                          <a:latin typeface="Arial"/>
                          <a:cs typeface="Arial"/>
                        </a:rPr>
                        <a:t>Callback </a:t>
                      </a:r>
                      <a:r>
                        <a:rPr dirty="0" sz="1350" spc="-10" b="1">
                          <a:latin typeface="Arial"/>
                          <a:cs typeface="Arial"/>
                        </a:rPr>
                        <a:t>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2,199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246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American-associated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2,281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164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8800" y="2614295"/>
            <a:ext cx="7119620" cy="145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35" b="1">
                <a:latin typeface="Trebuchet MS"/>
                <a:cs typeface="Trebuchet MS"/>
              </a:rPr>
              <a:t>Row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Marginals</a:t>
            </a:r>
            <a:r>
              <a:rPr dirty="0" sz="1450">
                <a:latin typeface="Gill Sans MT"/>
                <a:cs typeface="Gill Sans MT"/>
              </a:rPr>
              <a:t>: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total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number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observations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each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-20">
                <a:latin typeface="Gill Sans MT"/>
                <a:cs typeface="Gill Sans MT"/>
              </a:rPr>
              <a:t>row.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1450">
                <a:latin typeface="Gill Sans MT"/>
                <a:cs typeface="Gill Sans MT"/>
              </a:rPr>
              <a:t>There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are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2,445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applications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with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White-</a:t>
            </a:r>
            <a:r>
              <a:rPr dirty="0" sz="1450" spc="85">
                <a:latin typeface="Gill Sans MT"/>
                <a:cs typeface="Gill Sans MT"/>
              </a:rPr>
              <a:t>associated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names.</a:t>
            </a:r>
            <a:endParaRPr sz="1450">
              <a:latin typeface="Gill Sans MT"/>
              <a:cs typeface="Gill Sans MT"/>
            </a:endParaRPr>
          </a:p>
          <a:p>
            <a:pPr marL="12700" marR="5080">
              <a:lnSpc>
                <a:spcPct val="181000"/>
              </a:lnSpc>
            </a:pPr>
            <a:r>
              <a:rPr dirty="0" sz="1450">
                <a:latin typeface="Gill Sans MT"/>
                <a:cs typeface="Gill Sans MT"/>
              </a:rPr>
              <a:t>There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are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2,445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applications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with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African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American-</a:t>
            </a:r>
            <a:r>
              <a:rPr dirty="0" sz="1450" spc="85">
                <a:latin typeface="Gill Sans MT"/>
                <a:cs typeface="Gill Sans MT"/>
              </a:rPr>
              <a:t>associated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names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personality. </a:t>
            </a:r>
            <a:r>
              <a:rPr dirty="0" sz="1450" spc="50">
                <a:latin typeface="Gill Sans MT"/>
                <a:cs typeface="Gill Sans MT"/>
              </a:rPr>
              <a:t>These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numbers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represent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marginal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distribution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for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racial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soundingness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of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names</a:t>
            </a:r>
            <a:r>
              <a:rPr dirty="0" sz="1450" spc="-10">
                <a:latin typeface="Gill Sans MT"/>
                <a:cs typeface="Gill Sans MT"/>
              </a:rPr>
              <a:t>.</a:t>
            </a:r>
            <a:endParaRPr sz="145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85974" y="238125"/>
          <a:ext cx="4552950" cy="1806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7025"/>
                <a:gridCol w="581025"/>
                <a:gridCol w="438150"/>
                <a:gridCol w="581025"/>
              </a:tblGrid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b="1">
                          <a:latin typeface="Arial"/>
                          <a:cs typeface="Arial"/>
                        </a:rPr>
                        <a:t>Callback </a:t>
                      </a:r>
                      <a:r>
                        <a:rPr dirty="0" sz="1350" spc="-10" b="1">
                          <a:latin typeface="Arial"/>
                          <a:cs typeface="Arial"/>
                        </a:rPr>
                        <a:t>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2,199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246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American-associated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2,281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164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8800" y="2614295"/>
            <a:ext cx="6227445" cy="145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40" b="1">
                <a:latin typeface="Trebuchet MS"/>
                <a:cs typeface="Trebuchet MS"/>
              </a:rPr>
              <a:t>Column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Marginals</a:t>
            </a:r>
            <a:r>
              <a:rPr dirty="0" sz="1450">
                <a:latin typeface="Gill Sans MT"/>
                <a:cs typeface="Gill Sans MT"/>
              </a:rPr>
              <a:t>: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total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number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observations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each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column.</a:t>
            </a:r>
            <a:endParaRPr sz="1450">
              <a:latin typeface="Gill Sans MT"/>
              <a:cs typeface="Gill Sans MT"/>
            </a:endParaRPr>
          </a:p>
          <a:p>
            <a:pPr marL="12700" marR="1558290">
              <a:lnSpc>
                <a:spcPct val="181000"/>
              </a:lnSpc>
              <a:spcBef>
                <a:spcPts val="75"/>
              </a:spcBef>
            </a:pPr>
            <a:r>
              <a:rPr dirty="0" sz="1450">
                <a:latin typeface="Gill Sans MT"/>
                <a:cs typeface="Gill Sans MT"/>
              </a:rPr>
              <a:t>There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are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4,480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applications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with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no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call-</a:t>
            </a:r>
            <a:r>
              <a:rPr dirty="0" sz="1450" spc="85">
                <a:latin typeface="Gill Sans MT"/>
                <a:cs typeface="Gill Sans MT"/>
              </a:rPr>
              <a:t>back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response. </a:t>
            </a:r>
            <a:r>
              <a:rPr dirty="0" sz="1450">
                <a:latin typeface="Gill Sans MT"/>
                <a:cs typeface="Gill Sans MT"/>
              </a:rPr>
              <a:t>There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are</a:t>
            </a:r>
            <a:r>
              <a:rPr dirty="0" sz="1450" spc="-10">
                <a:latin typeface="Gill Sans MT"/>
                <a:cs typeface="Gill Sans MT"/>
              </a:rPr>
              <a:t> 410 </a:t>
            </a:r>
            <a:r>
              <a:rPr dirty="0" sz="1450" spc="95">
                <a:latin typeface="Gill Sans MT"/>
                <a:cs typeface="Gill Sans MT"/>
              </a:rPr>
              <a:t>applications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with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call-</a:t>
            </a:r>
            <a:r>
              <a:rPr dirty="0" sz="1450" spc="85">
                <a:latin typeface="Gill Sans MT"/>
                <a:cs typeface="Gill Sans MT"/>
              </a:rPr>
              <a:t>back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response.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 spc="50">
                <a:latin typeface="Gill Sans MT"/>
                <a:cs typeface="Gill Sans MT"/>
              </a:rPr>
              <a:t>These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numbers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represent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marginal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distribution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for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call-</a:t>
            </a:r>
            <a:r>
              <a:rPr dirty="0" sz="1450" spc="-20" b="1">
                <a:latin typeface="Trebuchet MS"/>
                <a:cs typeface="Trebuchet MS"/>
              </a:rPr>
              <a:t>back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response</a:t>
            </a:r>
            <a:r>
              <a:rPr dirty="0" sz="1450" spc="-10">
                <a:latin typeface="Gill Sans MT"/>
                <a:cs typeface="Gill Sans MT"/>
              </a:rPr>
              <a:t>.</a:t>
            </a:r>
            <a:endParaRPr sz="145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85974" y="238125"/>
          <a:ext cx="4552950" cy="1806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7025"/>
                <a:gridCol w="581025"/>
                <a:gridCol w="438150"/>
                <a:gridCol w="581025"/>
              </a:tblGrid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b="1">
                          <a:latin typeface="Arial"/>
                          <a:cs typeface="Arial"/>
                        </a:rPr>
                        <a:t>Callback </a:t>
                      </a:r>
                      <a:r>
                        <a:rPr dirty="0" sz="1350" spc="-10" b="1">
                          <a:latin typeface="Arial"/>
                          <a:cs typeface="Arial"/>
                        </a:rPr>
                        <a:t>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2,199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246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American-associated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2,281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164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8800" y="2614295"/>
            <a:ext cx="625983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55">
                <a:latin typeface="Gill Sans MT"/>
                <a:cs typeface="Gill Sans MT"/>
              </a:rPr>
              <a:t>Conditional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distribution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Call-back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response</a:t>
            </a:r>
            <a:r>
              <a:rPr dirty="0" sz="1450" spc="5" b="1">
                <a:latin typeface="Trebuchet MS"/>
                <a:cs typeface="Trebuchet MS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White-</a:t>
            </a:r>
            <a:r>
              <a:rPr dirty="0" sz="1450" spc="-10" b="1">
                <a:latin typeface="Trebuchet MS"/>
                <a:cs typeface="Trebuchet MS"/>
              </a:rPr>
              <a:t>associated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Names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85974" y="238125"/>
          <a:ext cx="4552950" cy="1806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7025"/>
                <a:gridCol w="581025"/>
                <a:gridCol w="438150"/>
                <a:gridCol w="581025"/>
              </a:tblGrid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b="1">
                          <a:latin typeface="Arial"/>
                          <a:cs typeface="Arial"/>
                        </a:rPr>
                        <a:t>Callback </a:t>
                      </a:r>
                      <a:r>
                        <a:rPr dirty="0" sz="1350" spc="-10" b="1">
                          <a:latin typeface="Arial"/>
                          <a:cs typeface="Arial"/>
                        </a:rPr>
                        <a:t>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2,199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246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American-associated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2,281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164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8800" y="2614295"/>
            <a:ext cx="7192009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55">
                <a:latin typeface="Gill Sans MT"/>
                <a:cs typeface="Gill Sans MT"/>
              </a:rPr>
              <a:t>Conditional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distribution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Call-back</a:t>
            </a:r>
            <a:r>
              <a:rPr dirty="0" sz="1450" spc="-4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response</a:t>
            </a:r>
            <a:r>
              <a:rPr dirty="0" sz="1450" spc="5" b="1">
                <a:latin typeface="Trebuchet MS"/>
                <a:cs typeface="Trebuchet MS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African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American-</a:t>
            </a:r>
            <a:r>
              <a:rPr dirty="0" sz="1450" spc="-10" b="1">
                <a:latin typeface="Trebuchet MS"/>
                <a:cs typeface="Trebuchet MS"/>
              </a:rPr>
              <a:t>associated</a:t>
            </a:r>
            <a:r>
              <a:rPr dirty="0" sz="1450" spc="-4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Names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33400" y="394970"/>
            <a:ext cx="5742305" cy="1057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450" spc="-20" b="1">
                <a:latin typeface="Trebuchet MS"/>
                <a:cs typeface="Trebuchet MS"/>
              </a:rPr>
              <a:t>Null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and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Alternative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Hypotheses</a:t>
            </a:r>
            <a:r>
              <a:rPr dirty="0" sz="1450" spc="-10">
                <a:latin typeface="Gill Sans MT"/>
                <a:cs typeface="Gill Sans MT"/>
              </a:rPr>
              <a:t>:</a:t>
            </a:r>
            <a:endParaRPr sz="1450">
              <a:latin typeface="Gill Sans MT"/>
              <a:cs typeface="Gill Sans MT"/>
            </a:endParaRPr>
          </a:p>
          <a:p>
            <a:pPr marL="38100">
              <a:lnSpc>
                <a:spcPct val="100000"/>
              </a:lnSpc>
              <a:spcBef>
                <a:spcPts val="1310"/>
              </a:spcBef>
            </a:pPr>
            <a:r>
              <a:rPr dirty="0" sz="1550" i="1">
                <a:latin typeface="Arial"/>
                <a:cs typeface="Arial"/>
              </a:rPr>
              <a:t>H</a:t>
            </a:r>
            <a:r>
              <a:rPr dirty="0" baseline="-13227" sz="1575">
                <a:latin typeface="Lucida Sans"/>
                <a:cs typeface="Lucida Sans"/>
              </a:rPr>
              <a:t>0</a:t>
            </a:r>
            <a:r>
              <a:rPr dirty="0" sz="1450">
                <a:latin typeface="Gill Sans MT"/>
                <a:cs typeface="Gill Sans MT"/>
              </a:rPr>
              <a:t>: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Call-</a:t>
            </a:r>
            <a:r>
              <a:rPr dirty="0" sz="1450" spc="85">
                <a:latin typeface="Gill Sans MT"/>
                <a:cs typeface="Gill Sans MT"/>
              </a:rPr>
              <a:t>back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response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not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associated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with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racialized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114">
                <a:latin typeface="Gill Sans MT"/>
                <a:cs typeface="Gill Sans MT"/>
              </a:rPr>
              <a:t>name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group.</a:t>
            </a:r>
            <a:endParaRPr sz="1450">
              <a:latin typeface="Gill Sans MT"/>
              <a:cs typeface="Gill Sans MT"/>
            </a:endParaRPr>
          </a:p>
          <a:p>
            <a:pPr marL="38100">
              <a:lnSpc>
                <a:spcPct val="100000"/>
              </a:lnSpc>
              <a:spcBef>
                <a:spcPts val="1365"/>
              </a:spcBef>
            </a:pPr>
            <a:r>
              <a:rPr dirty="0" sz="1550" spc="65" i="1">
                <a:latin typeface="Arial"/>
                <a:cs typeface="Arial"/>
              </a:rPr>
              <a:t>H</a:t>
            </a:r>
            <a:r>
              <a:rPr dirty="0" baseline="-12626" sz="1650" spc="97" i="1">
                <a:latin typeface="Arial"/>
                <a:cs typeface="Arial"/>
              </a:rPr>
              <a:t>A</a:t>
            </a:r>
            <a:r>
              <a:rPr dirty="0" sz="1450" spc="65">
                <a:latin typeface="Gill Sans MT"/>
                <a:cs typeface="Gill Sans MT"/>
              </a:rPr>
              <a:t>: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Call-</a:t>
            </a:r>
            <a:r>
              <a:rPr dirty="0" sz="1450" spc="85">
                <a:latin typeface="Gill Sans MT"/>
                <a:cs typeface="Gill Sans MT"/>
              </a:rPr>
              <a:t>back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response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associated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with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racialized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114">
                <a:latin typeface="Gill Sans MT"/>
                <a:cs typeface="Gill Sans MT"/>
              </a:rPr>
              <a:t>name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group.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8800" y="2004695"/>
            <a:ext cx="7383780" cy="108331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 spc="-40">
                <a:latin typeface="Gill Sans MT"/>
                <a:cs typeface="Gill Sans MT"/>
              </a:rPr>
              <a:t>Two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variables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are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independent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(no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association)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when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conditional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distribution</a:t>
            </a:r>
            <a:r>
              <a:rPr dirty="0" sz="1450" spc="-35" b="1">
                <a:latin typeface="Trebuchet MS"/>
                <a:cs typeface="Trebuchet MS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one </a:t>
            </a:r>
            <a:r>
              <a:rPr dirty="0" sz="1450" spc="90">
                <a:latin typeface="Gill Sans MT"/>
                <a:cs typeface="Gill Sans MT"/>
              </a:rPr>
              <a:t>variable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the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same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for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every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level</a:t>
            </a:r>
            <a:r>
              <a:rPr dirty="0" sz="1450" spc="-20" b="1">
                <a:latin typeface="Trebuchet MS"/>
                <a:cs typeface="Trebuchet MS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other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variable.</a:t>
            </a:r>
            <a:endParaRPr sz="1450">
              <a:latin typeface="Gill Sans MT"/>
              <a:cs typeface="Gill Sans MT"/>
            </a:endParaRPr>
          </a:p>
          <a:p>
            <a:pPr marL="12700" marR="178435">
              <a:lnSpc>
                <a:spcPts val="1730"/>
              </a:lnSpc>
              <a:spcBef>
                <a:spcPts val="1415"/>
              </a:spcBef>
            </a:pPr>
            <a:r>
              <a:rPr dirty="0" sz="1450" spc="85">
                <a:latin typeface="Gill Sans MT"/>
                <a:cs typeface="Gill Sans MT"/>
              </a:rPr>
              <a:t>In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this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context,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callback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rate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should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be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same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both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racialized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114">
                <a:latin typeface="Gill Sans MT"/>
                <a:cs typeface="Gill Sans MT"/>
              </a:rPr>
              <a:t>name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groups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if </a:t>
            </a:r>
            <a:r>
              <a:rPr dirty="0" sz="1450">
                <a:latin typeface="Gill Sans MT"/>
                <a:cs typeface="Gill Sans MT"/>
              </a:rPr>
              <a:t>there</a:t>
            </a:r>
            <a:r>
              <a:rPr dirty="0" sz="1450" spc="6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6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no</a:t>
            </a:r>
            <a:r>
              <a:rPr dirty="0" sz="1450" spc="6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relationship.</a:t>
            </a:r>
            <a:endParaRPr sz="145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85974" y="238125"/>
          <a:ext cx="4552950" cy="1806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7025"/>
                <a:gridCol w="581025"/>
                <a:gridCol w="438150"/>
                <a:gridCol w="581025"/>
              </a:tblGrid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b="1">
                          <a:latin typeface="Arial"/>
                          <a:cs typeface="Arial"/>
                        </a:rPr>
                        <a:t>Callback </a:t>
                      </a:r>
                      <a:r>
                        <a:rPr dirty="0" sz="1350" spc="-10" b="1">
                          <a:latin typeface="Arial"/>
                          <a:cs typeface="Arial"/>
                        </a:rPr>
                        <a:t>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American-associated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8800" y="2614295"/>
            <a:ext cx="7202170" cy="8737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100">
                <a:latin typeface="Gill Sans MT"/>
                <a:cs typeface="Gill Sans MT"/>
              </a:rPr>
              <a:t>Suppose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we fix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value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>
                <a:latin typeface="Gill Sans MT"/>
                <a:cs typeface="Gill Sans MT"/>
              </a:rPr>
              <a:t> row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columns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marginals.</a:t>
            </a:r>
            <a:endParaRPr sz="1450">
              <a:latin typeface="Gill Sans MT"/>
              <a:cs typeface="Gill Sans MT"/>
            </a:endParaRPr>
          </a:p>
          <a:p>
            <a:pPr marL="12700" marR="5080">
              <a:lnSpc>
                <a:spcPts val="1720"/>
              </a:lnSpc>
              <a:spcBef>
                <a:spcPts val="1560"/>
              </a:spcBef>
            </a:pPr>
            <a:r>
              <a:rPr dirty="0" sz="1450" spc="75">
                <a:latin typeface="Gill Sans MT"/>
                <a:cs typeface="Gill Sans MT"/>
              </a:rPr>
              <a:t>Assuming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that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null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hypothesis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true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(there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no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association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between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call-</a:t>
            </a:r>
            <a:r>
              <a:rPr dirty="0" sz="1450" spc="65">
                <a:latin typeface="Gill Sans MT"/>
                <a:cs typeface="Gill Sans MT"/>
              </a:rPr>
              <a:t>back </a:t>
            </a:r>
            <a:r>
              <a:rPr dirty="0" sz="1450" spc="70">
                <a:latin typeface="Gill Sans MT"/>
                <a:cs typeface="Gill Sans MT"/>
              </a:rPr>
              <a:t>response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racialized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14">
                <a:latin typeface="Gill Sans MT"/>
                <a:cs typeface="Gill Sans MT"/>
              </a:rPr>
              <a:t>name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group),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what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value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would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you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expect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to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see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each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cell?</a:t>
            </a:r>
            <a:endParaRPr sz="145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85974" y="238125"/>
          <a:ext cx="4552950" cy="1806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7025"/>
                <a:gridCol w="581025"/>
                <a:gridCol w="438150"/>
                <a:gridCol w="581025"/>
              </a:tblGrid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b="1">
                          <a:latin typeface="Arial"/>
                          <a:cs typeface="Arial"/>
                        </a:rPr>
                        <a:t>Callback </a:t>
                      </a:r>
                      <a:r>
                        <a:rPr dirty="0" sz="1350" spc="-10" b="1">
                          <a:latin typeface="Arial"/>
                          <a:cs typeface="Arial"/>
                        </a:rPr>
                        <a:t>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50">
                          <a:latin typeface="Arial"/>
                          <a:cs typeface="Arial"/>
                        </a:rPr>
                        <a:t>?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American-associated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58800" y="2614295"/>
            <a:ext cx="7524115" cy="68326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>
              <a:lnSpc>
                <a:spcPts val="1720"/>
              </a:lnSpc>
              <a:spcBef>
                <a:spcPts val="165"/>
              </a:spcBef>
            </a:pPr>
            <a:r>
              <a:rPr dirty="0" sz="1450">
                <a:latin typeface="Gill Sans MT"/>
                <a:cs typeface="Gill Sans MT"/>
              </a:rPr>
              <a:t>An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easy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way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computing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expected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values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each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cell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under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null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hypothesis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-25">
                <a:latin typeface="Gill Sans MT"/>
                <a:cs typeface="Gill Sans MT"/>
              </a:rPr>
              <a:t>to </a:t>
            </a:r>
            <a:r>
              <a:rPr dirty="0" sz="1450" spc="90">
                <a:latin typeface="Gill Sans MT"/>
                <a:cs typeface="Gill Sans MT"/>
              </a:rPr>
              <a:t>multiply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corresponding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row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column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marginal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values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divide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it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by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total </a:t>
            </a:r>
            <a:r>
              <a:rPr dirty="0" sz="1450" spc="85">
                <a:latin typeface="Gill Sans MT"/>
                <a:cs typeface="Gill Sans MT"/>
              </a:rPr>
              <a:t>number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observations.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49626" y="3536634"/>
            <a:ext cx="58483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60">
                <a:latin typeface="Lucida Sans"/>
                <a:cs typeface="Lucida Sans"/>
              </a:rPr>
              <a:t>=</a:t>
            </a:r>
            <a:r>
              <a:rPr dirty="0" sz="1500" spc="-75">
                <a:latin typeface="Lucida Sans"/>
                <a:cs typeface="Lucida Sans"/>
              </a:rPr>
              <a:t> </a:t>
            </a:r>
            <a:r>
              <a:rPr dirty="0" sz="1500" spc="-165">
                <a:latin typeface="Lucida Sans"/>
                <a:cs typeface="Lucida Sans"/>
              </a:rPr>
              <a:t>2240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54561" y="3412809"/>
            <a:ext cx="92964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235">
                <a:latin typeface="Lucida Sans"/>
                <a:cs typeface="Lucida Sans"/>
              </a:rPr>
              <a:t>2445</a:t>
            </a:r>
            <a:r>
              <a:rPr dirty="0" sz="1500" spc="-150">
                <a:latin typeface="Lucida Sans"/>
                <a:cs typeface="Lucida Sans"/>
              </a:rPr>
              <a:t> </a:t>
            </a:r>
            <a:r>
              <a:rPr dirty="0" sz="1500" spc="-600">
                <a:latin typeface="Lucida Sans"/>
                <a:cs typeface="Lucida Sans"/>
              </a:rPr>
              <a:t>∗</a:t>
            </a:r>
            <a:r>
              <a:rPr dirty="0" sz="1500" spc="-145">
                <a:latin typeface="Lucida Sans"/>
                <a:cs typeface="Lucida Sans"/>
              </a:rPr>
              <a:t> </a:t>
            </a:r>
            <a:r>
              <a:rPr dirty="0" sz="1500" spc="-295">
                <a:latin typeface="Lucida Sans"/>
                <a:cs typeface="Lucida Sans"/>
              </a:rPr>
              <a:t>4480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23791" y="3660459"/>
            <a:ext cx="39116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225">
                <a:latin typeface="Lucida Sans"/>
                <a:cs typeface="Lucida Sans"/>
              </a:rPr>
              <a:t>4890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52824" y="3695699"/>
            <a:ext cx="933450" cy="9525"/>
          </a:xfrm>
          <a:custGeom>
            <a:avLst/>
            <a:gdLst/>
            <a:ahLst/>
            <a:cxnLst/>
            <a:rect l="l" t="t" r="r" b="b"/>
            <a:pathLst>
              <a:path w="933450" h="9525">
                <a:moveTo>
                  <a:pt x="933449" y="9524"/>
                </a:moveTo>
                <a:lnTo>
                  <a:pt x="0" y="9524"/>
                </a:lnTo>
                <a:lnTo>
                  <a:pt x="0" y="0"/>
                </a:lnTo>
                <a:lnTo>
                  <a:pt x="933449" y="0"/>
                </a:lnTo>
                <a:lnTo>
                  <a:pt x="9334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85974" y="238125"/>
          <a:ext cx="4552950" cy="1806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7025"/>
                <a:gridCol w="581025"/>
                <a:gridCol w="438150"/>
                <a:gridCol w="581025"/>
              </a:tblGrid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b="1">
                          <a:latin typeface="Arial"/>
                          <a:cs typeface="Arial"/>
                        </a:rPr>
                        <a:t>Callback </a:t>
                      </a:r>
                      <a:r>
                        <a:rPr dirty="0" sz="1350" spc="-10" b="1">
                          <a:latin typeface="Arial"/>
                          <a:cs typeface="Arial"/>
                        </a:rPr>
                        <a:t>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50">
                          <a:latin typeface="Arial"/>
                          <a:cs typeface="Arial"/>
                        </a:rPr>
                        <a:t>?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American-associated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549626" y="2698435"/>
            <a:ext cx="49339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60">
                <a:latin typeface="Lucida Sans"/>
                <a:cs typeface="Lucida Sans"/>
              </a:rPr>
              <a:t>=</a:t>
            </a:r>
            <a:r>
              <a:rPr dirty="0" sz="1500" spc="-75">
                <a:latin typeface="Lucida Sans"/>
                <a:cs typeface="Lucida Sans"/>
              </a:rPr>
              <a:t> </a:t>
            </a:r>
            <a:r>
              <a:rPr dirty="0" sz="1500" spc="-145">
                <a:latin typeface="Lucida Sans"/>
                <a:cs typeface="Lucida Sans"/>
              </a:rPr>
              <a:t>205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45941" y="2574610"/>
            <a:ext cx="83820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235">
                <a:latin typeface="Lucida Sans"/>
                <a:cs typeface="Lucida Sans"/>
              </a:rPr>
              <a:t>2445</a:t>
            </a:r>
            <a:r>
              <a:rPr dirty="0" sz="1500" spc="-150">
                <a:latin typeface="Lucida Sans"/>
                <a:cs typeface="Lucida Sans"/>
              </a:rPr>
              <a:t> </a:t>
            </a:r>
            <a:r>
              <a:rPr dirty="0" sz="1500" spc="-600">
                <a:latin typeface="Lucida Sans"/>
                <a:cs typeface="Lucida Sans"/>
              </a:rPr>
              <a:t>∗</a:t>
            </a:r>
            <a:r>
              <a:rPr dirty="0" sz="1500" spc="-145">
                <a:latin typeface="Lucida Sans"/>
                <a:cs typeface="Lucida Sans"/>
              </a:rPr>
              <a:t> </a:t>
            </a:r>
            <a:r>
              <a:rPr dirty="0" sz="1500" spc="-310">
                <a:latin typeface="Lucida Sans"/>
                <a:cs typeface="Lucida Sans"/>
              </a:rPr>
              <a:t>410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69481" y="2822260"/>
            <a:ext cx="39116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225">
                <a:latin typeface="Lucida Sans"/>
                <a:cs typeface="Lucida Sans"/>
              </a:rPr>
              <a:t>4890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38549" y="2847974"/>
            <a:ext cx="847725" cy="9525"/>
          </a:xfrm>
          <a:custGeom>
            <a:avLst/>
            <a:gdLst/>
            <a:ahLst/>
            <a:cxnLst/>
            <a:rect l="l" t="t" r="r" b="b"/>
            <a:pathLst>
              <a:path w="847725" h="9525">
                <a:moveTo>
                  <a:pt x="847724" y="9524"/>
                </a:moveTo>
                <a:lnTo>
                  <a:pt x="0" y="9524"/>
                </a:lnTo>
                <a:lnTo>
                  <a:pt x="0" y="0"/>
                </a:lnTo>
                <a:lnTo>
                  <a:pt x="847724" y="0"/>
                </a:lnTo>
                <a:lnTo>
                  <a:pt x="84772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85974" y="238125"/>
          <a:ext cx="4552950" cy="1806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7025"/>
                <a:gridCol w="581025"/>
                <a:gridCol w="438150"/>
                <a:gridCol w="581025"/>
              </a:tblGrid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b="1">
                          <a:latin typeface="Arial"/>
                          <a:cs typeface="Arial"/>
                        </a:rPr>
                        <a:t>Callback </a:t>
                      </a:r>
                      <a:r>
                        <a:rPr dirty="0" sz="1350" spc="-10" b="1">
                          <a:latin typeface="Arial"/>
                          <a:cs typeface="Arial"/>
                        </a:rPr>
                        <a:t>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American-associated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50">
                          <a:latin typeface="Arial"/>
                          <a:cs typeface="Arial"/>
                        </a:rPr>
                        <a:t>?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549626" y="2698435"/>
            <a:ext cx="58483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60">
                <a:latin typeface="Lucida Sans"/>
                <a:cs typeface="Lucida Sans"/>
              </a:rPr>
              <a:t>=</a:t>
            </a:r>
            <a:r>
              <a:rPr dirty="0" sz="1500" spc="-75">
                <a:latin typeface="Lucida Sans"/>
                <a:cs typeface="Lucida Sans"/>
              </a:rPr>
              <a:t> </a:t>
            </a:r>
            <a:r>
              <a:rPr dirty="0" sz="1500" spc="-165">
                <a:latin typeface="Lucida Sans"/>
                <a:cs typeface="Lucida Sans"/>
              </a:rPr>
              <a:t>2240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4561" y="2574610"/>
            <a:ext cx="92964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235">
                <a:latin typeface="Lucida Sans"/>
                <a:cs typeface="Lucida Sans"/>
              </a:rPr>
              <a:t>2445</a:t>
            </a:r>
            <a:r>
              <a:rPr dirty="0" sz="1500" spc="-150">
                <a:latin typeface="Lucida Sans"/>
                <a:cs typeface="Lucida Sans"/>
              </a:rPr>
              <a:t> </a:t>
            </a:r>
            <a:r>
              <a:rPr dirty="0" sz="1500" spc="-600">
                <a:latin typeface="Lucida Sans"/>
                <a:cs typeface="Lucida Sans"/>
              </a:rPr>
              <a:t>∗</a:t>
            </a:r>
            <a:r>
              <a:rPr dirty="0" sz="1500" spc="-145">
                <a:latin typeface="Lucida Sans"/>
                <a:cs typeface="Lucida Sans"/>
              </a:rPr>
              <a:t> </a:t>
            </a:r>
            <a:r>
              <a:rPr dirty="0" sz="1500" spc="-295">
                <a:latin typeface="Lucida Sans"/>
                <a:cs typeface="Lucida Sans"/>
              </a:rPr>
              <a:t>4480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23791" y="2822260"/>
            <a:ext cx="39116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225">
                <a:latin typeface="Lucida Sans"/>
                <a:cs typeface="Lucida Sans"/>
              </a:rPr>
              <a:t>4890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52824" y="2847974"/>
            <a:ext cx="933450" cy="9525"/>
          </a:xfrm>
          <a:custGeom>
            <a:avLst/>
            <a:gdLst/>
            <a:ahLst/>
            <a:cxnLst/>
            <a:rect l="l" t="t" r="r" b="b"/>
            <a:pathLst>
              <a:path w="933450" h="9525">
                <a:moveTo>
                  <a:pt x="933449" y="9524"/>
                </a:moveTo>
                <a:lnTo>
                  <a:pt x="0" y="9524"/>
                </a:lnTo>
                <a:lnTo>
                  <a:pt x="0" y="0"/>
                </a:lnTo>
                <a:lnTo>
                  <a:pt x="933449" y="0"/>
                </a:lnTo>
                <a:lnTo>
                  <a:pt x="9334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85974" y="238125"/>
          <a:ext cx="4552950" cy="1806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7025"/>
                <a:gridCol w="581025"/>
                <a:gridCol w="438150"/>
                <a:gridCol w="581025"/>
              </a:tblGrid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b="1">
                          <a:latin typeface="Arial"/>
                          <a:cs typeface="Arial"/>
                        </a:rPr>
                        <a:t>Callback </a:t>
                      </a:r>
                      <a:r>
                        <a:rPr dirty="0" sz="1350" spc="-10" b="1">
                          <a:latin typeface="Arial"/>
                          <a:cs typeface="Arial"/>
                        </a:rPr>
                        <a:t>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American-associated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50">
                          <a:latin typeface="Arial"/>
                          <a:cs typeface="Arial"/>
                        </a:rPr>
                        <a:t>?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549626" y="2698435"/>
            <a:ext cx="49339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60">
                <a:latin typeface="Lucida Sans"/>
                <a:cs typeface="Lucida Sans"/>
              </a:rPr>
              <a:t>=</a:t>
            </a:r>
            <a:r>
              <a:rPr dirty="0" sz="1500" spc="-75">
                <a:latin typeface="Lucida Sans"/>
                <a:cs typeface="Lucida Sans"/>
              </a:rPr>
              <a:t> </a:t>
            </a:r>
            <a:r>
              <a:rPr dirty="0" sz="1500" spc="-145">
                <a:latin typeface="Lucida Sans"/>
                <a:cs typeface="Lucida Sans"/>
              </a:rPr>
              <a:t>205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45941" y="2574610"/>
            <a:ext cx="83820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235">
                <a:latin typeface="Lucida Sans"/>
                <a:cs typeface="Lucida Sans"/>
              </a:rPr>
              <a:t>2445</a:t>
            </a:r>
            <a:r>
              <a:rPr dirty="0" sz="1500" spc="-150">
                <a:latin typeface="Lucida Sans"/>
                <a:cs typeface="Lucida Sans"/>
              </a:rPr>
              <a:t> </a:t>
            </a:r>
            <a:r>
              <a:rPr dirty="0" sz="1500" spc="-600">
                <a:latin typeface="Lucida Sans"/>
                <a:cs typeface="Lucida Sans"/>
              </a:rPr>
              <a:t>∗</a:t>
            </a:r>
            <a:r>
              <a:rPr dirty="0" sz="1500" spc="-145">
                <a:latin typeface="Lucida Sans"/>
                <a:cs typeface="Lucida Sans"/>
              </a:rPr>
              <a:t> </a:t>
            </a:r>
            <a:r>
              <a:rPr dirty="0" sz="1500" spc="-310">
                <a:latin typeface="Lucida Sans"/>
                <a:cs typeface="Lucida Sans"/>
              </a:rPr>
              <a:t>410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69481" y="2822260"/>
            <a:ext cx="39116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225">
                <a:latin typeface="Lucida Sans"/>
                <a:cs typeface="Lucida Sans"/>
              </a:rPr>
              <a:t>4890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38549" y="2847974"/>
            <a:ext cx="847725" cy="9525"/>
          </a:xfrm>
          <a:custGeom>
            <a:avLst/>
            <a:gdLst/>
            <a:ahLst/>
            <a:cxnLst/>
            <a:rect l="l" t="t" r="r" b="b"/>
            <a:pathLst>
              <a:path w="847725" h="9525">
                <a:moveTo>
                  <a:pt x="847724" y="9524"/>
                </a:moveTo>
                <a:lnTo>
                  <a:pt x="0" y="9524"/>
                </a:lnTo>
                <a:lnTo>
                  <a:pt x="0" y="0"/>
                </a:lnTo>
                <a:lnTo>
                  <a:pt x="847724" y="0"/>
                </a:lnTo>
                <a:lnTo>
                  <a:pt x="84772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85974" y="857249"/>
          <a:ext cx="4552950" cy="1806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7025"/>
                <a:gridCol w="581025"/>
                <a:gridCol w="438150"/>
                <a:gridCol w="581025"/>
              </a:tblGrid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b="1">
                          <a:latin typeface="Arial"/>
                          <a:cs typeface="Arial"/>
                        </a:rPr>
                        <a:t>Callback </a:t>
                      </a:r>
                      <a:r>
                        <a:rPr dirty="0" sz="1350" spc="-10" b="1">
                          <a:latin typeface="Arial"/>
                          <a:cs typeface="Arial"/>
                        </a:rPr>
                        <a:t>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0">
                          <a:latin typeface="Arial"/>
                          <a:cs typeface="Arial"/>
                        </a:rPr>
                        <a:t>2240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205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American-associated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0">
                          <a:latin typeface="Arial"/>
                          <a:cs typeface="Arial"/>
                        </a:rPr>
                        <a:t>2240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205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85343" y="394970"/>
            <a:ext cx="267779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450" spc="-45" b="1">
                <a:latin typeface="Trebuchet MS"/>
                <a:cs typeface="Trebuchet MS"/>
              </a:rPr>
              <a:t>Expected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Frequencies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under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H</a:t>
            </a:r>
            <a:r>
              <a:rPr dirty="0" baseline="-16203" sz="1800" spc="-37" b="1">
                <a:latin typeface="Trebuchet MS"/>
                <a:cs typeface="Trebuchet MS"/>
              </a:rPr>
              <a:t>0</a:t>
            </a:r>
            <a:endParaRPr baseline="-16203"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8800" y="2833370"/>
            <a:ext cx="7191375" cy="87376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>
              <a:lnSpc>
                <a:spcPts val="1720"/>
              </a:lnSpc>
              <a:spcBef>
                <a:spcPts val="165"/>
              </a:spcBef>
            </a:pPr>
            <a:r>
              <a:rPr dirty="0" sz="1450">
                <a:latin typeface="Gill Sans MT"/>
                <a:cs typeface="Gill Sans MT"/>
              </a:rPr>
              <a:t>This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table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shows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expected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frequencies</a:t>
            </a:r>
            <a:r>
              <a:rPr dirty="0" sz="1450" spc="-20" b="1">
                <a:latin typeface="Trebuchet MS"/>
                <a:cs typeface="Trebuchet MS"/>
              </a:rPr>
              <a:t> </a:t>
            </a:r>
            <a:r>
              <a:rPr dirty="0" sz="1450">
                <a:latin typeface="Gill Sans MT"/>
                <a:cs typeface="Gill Sans MT"/>
              </a:rPr>
              <a:t>we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would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observe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if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two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variables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-20">
                <a:latin typeface="Gill Sans MT"/>
                <a:cs typeface="Gill Sans MT"/>
              </a:rPr>
              <a:t>were </a:t>
            </a:r>
            <a:r>
              <a:rPr dirty="0" sz="1450" spc="55">
                <a:latin typeface="Gill Sans MT"/>
                <a:cs typeface="Gill Sans MT"/>
              </a:rPr>
              <a:t>truly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independent</a:t>
            </a:r>
            <a:r>
              <a:rPr dirty="0" sz="1450" spc="-10">
                <a:latin typeface="Gill Sans MT"/>
                <a:cs typeface="Gill Sans MT"/>
              </a:rPr>
              <a:t>.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450" spc="85">
                <a:latin typeface="Gill Sans MT"/>
                <a:cs typeface="Gill Sans MT"/>
              </a:rPr>
              <a:t>In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other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words,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this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what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data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would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look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like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if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the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null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hypothesis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70" b="1">
                <a:latin typeface="Trebuchet MS"/>
                <a:cs typeface="Trebuchet MS"/>
              </a:rPr>
              <a:t>were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true</a:t>
            </a:r>
            <a:r>
              <a:rPr dirty="0" sz="1450" spc="-10">
                <a:latin typeface="Gill Sans MT"/>
                <a:cs typeface="Gill Sans MT"/>
              </a:rPr>
              <a:t>.</a:t>
            </a:r>
            <a:endParaRPr sz="145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85974" y="819150"/>
          <a:ext cx="4552950" cy="1806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7025"/>
                <a:gridCol w="581025"/>
                <a:gridCol w="438150"/>
                <a:gridCol w="581025"/>
              </a:tblGrid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b="1">
                          <a:latin typeface="Arial"/>
                          <a:cs typeface="Arial"/>
                        </a:rPr>
                        <a:t>Callback </a:t>
                      </a:r>
                      <a:r>
                        <a:rPr dirty="0" sz="1350" spc="-10" b="1">
                          <a:latin typeface="Arial"/>
                          <a:cs typeface="Arial"/>
                        </a:rPr>
                        <a:t>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0">
                          <a:latin typeface="Arial"/>
                          <a:cs typeface="Arial"/>
                        </a:rPr>
                        <a:t>2199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246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American-associated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0">
                          <a:latin typeface="Arial"/>
                          <a:cs typeface="Arial"/>
                        </a:rPr>
                        <a:t>2281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164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85974" y="3267074"/>
          <a:ext cx="4552950" cy="1806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7025"/>
                <a:gridCol w="581025"/>
                <a:gridCol w="438150"/>
                <a:gridCol w="581025"/>
              </a:tblGrid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b="1">
                          <a:latin typeface="Arial"/>
                          <a:cs typeface="Arial"/>
                        </a:rPr>
                        <a:t>Callback </a:t>
                      </a:r>
                      <a:r>
                        <a:rPr dirty="0" sz="1350" spc="-10" b="1">
                          <a:latin typeface="Arial"/>
                          <a:cs typeface="Arial"/>
                        </a:rPr>
                        <a:t>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0">
                          <a:latin typeface="Arial"/>
                          <a:cs typeface="Arial"/>
                        </a:rPr>
                        <a:t>2240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205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American-associated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0">
                          <a:latin typeface="Arial"/>
                          <a:cs typeface="Arial"/>
                        </a:rPr>
                        <a:t>2240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205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388915" y="394970"/>
            <a:ext cx="187071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20" b="1">
                <a:latin typeface="Trebuchet MS"/>
                <a:cs typeface="Trebuchet MS"/>
              </a:rPr>
              <a:t>Observed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Frequencies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85343" y="2804795"/>
            <a:ext cx="267779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450" spc="-45" b="1">
                <a:latin typeface="Trebuchet MS"/>
                <a:cs typeface="Trebuchet MS"/>
              </a:rPr>
              <a:t>Expected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Frequencies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under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H</a:t>
            </a:r>
            <a:r>
              <a:rPr dirty="0" baseline="-16203" sz="1800" spc="-37" b="1">
                <a:latin typeface="Trebuchet MS"/>
                <a:cs typeface="Trebuchet MS"/>
              </a:rPr>
              <a:t>0</a:t>
            </a:r>
            <a:endParaRPr baseline="-16203"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800" y="5243194"/>
            <a:ext cx="622363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Gill Sans MT"/>
                <a:cs typeface="Gill Sans MT"/>
              </a:rPr>
              <a:t>How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different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observed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values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are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from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expected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values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under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-25">
                <a:latin typeface="Gill Sans MT"/>
                <a:cs typeface="Gill Sans MT"/>
              </a:rPr>
              <a:t>H0?</a:t>
            </a:r>
            <a:endParaRPr sz="145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76999"/>
            <a:ext cx="8648700" cy="9525"/>
          </a:xfrm>
          <a:custGeom>
            <a:avLst/>
            <a:gdLst/>
            <a:ahLst/>
            <a:cxnLst/>
            <a:rect l="l" t="t" r="r" b="b"/>
            <a:pathLst>
              <a:path w="8648700" h="9525">
                <a:moveTo>
                  <a:pt x="0" y="0"/>
                </a:moveTo>
                <a:lnTo>
                  <a:pt x="8648699" y="0"/>
                </a:lnTo>
                <a:lnTo>
                  <a:pt x="8648699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71499" y="819150"/>
          <a:ext cx="3600450" cy="2406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1200"/>
                <a:gridCol w="552450"/>
                <a:gridCol w="428625"/>
                <a:gridCol w="552450"/>
              </a:tblGrid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94970" marR="387350" indent="18415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Callback 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52069" marR="605790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associated 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20">
                          <a:latin typeface="Arial"/>
                          <a:cs typeface="Arial"/>
                        </a:rPr>
                        <a:t>2199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246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52069" marR="510540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American-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2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2281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164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1499" y="3867149"/>
          <a:ext cx="3600450" cy="2406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1200"/>
                <a:gridCol w="552450"/>
                <a:gridCol w="428625"/>
                <a:gridCol w="552450"/>
              </a:tblGrid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94970" marR="387350" indent="18415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Callback 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52069" marR="605790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associated 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0">
                          <a:latin typeface="Arial"/>
                          <a:cs typeface="Arial"/>
                        </a:rPr>
                        <a:t>2240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205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52069" marR="510540">
                        <a:lnSpc>
                          <a:spcPts val="1570"/>
                        </a:lnSpc>
                        <a:spcBef>
                          <a:spcPts val="58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American-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2240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205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399976" y="394970"/>
            <a:ext cx="187071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20" b="1">
                <a:latin typeface="Trebuchet MS"/>
                <a:cs typeface="Trebuchet MS"/>
              </a:rPr>
              <a:t>Observed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Frequencies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6404" y="3404869"/>
            <a:ext cx="267779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450" spc="-45" b="1">
                <a:latin typeface="Trebuchet MS"/>
                <a:cs typeface="Trebuchet MS"/>
              </a:rPr>
              <a:t>Expected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Frequencies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under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H</a:t>
            </a:r>
            <a:r>
              <a:rPr dirty="0" baseline="-16203" sz="1800" spc="-37" b="1">
                <a:latin typeface="Trebuchet MS"/>
                <a:cs typeface="Trebuchet MS"/>
              </a:rPr>
              <a:t>0</a:t>
            </a:r>
            <a:endParaRPr baseline="-16203"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11426" y="394970"/>
            <a:ext cx="3089275" cy="68580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38100" marR="30480">
              <a:lnSpc>
                <a:spcPts val="1730"/>
              </a:lnSpc>
              <a:spcBef>
                <a:spcPts val="155"/>
              </a:spcBef>
            </a:pPr>
            <a:r>
              <a:rPr dirty="0" sz="1450" spc="-70" b="1">
                <a:latin typeface="Trebuchet MS"/>
                <a:cs typeface="Trebuchet MS"/>
              </a:rPr>
              <a:t>A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Measure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of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Discrepancy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Between </a:t>
            </a:r>
            <a:r>
              <a:rPr dirty="0" sz="1450" spc="-20" b="1">
                <a:latin typeface="Trebuchet MS"/>
                <a:cs typeface="Trebuchet MS"/>
              </a:rPr>
              <a:t>Observed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Frequencies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and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Expected </a:t>
            </a:r>
            <a:r>
              <a:rPr dirty="0" sz="1450" spc="-55" b="1">
                <a:latin typeface="Trebuchet MS"/>
                <a:cs typeface="Trebuchet MS"/>
              </a:rPr>
              <a:t>Frequencies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under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550" spc="-25" i="1">
                <a:latin typeface="Arial"/>
                <a:cs typeface="Arial"/>
              </a:rPr>
              <a:t>H</a:t>
            </a:r>
            <a:r>
              <a:rPr dirty="0" baseline="-13227" sz="1575" spc="-37">
                <a:latin typeface="Lucida Sans"/>
                <a:cs typeface="Lucida Sans"/>
              </a:rPr>
              <a:t>0</a:t>
            </a:r>
            <a:endParaRPr baseline="-13227" sz="1575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93333" y="1355409"/>
            <a:ext cx="16827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50">
                <a:latin typeface="Lucida Sans"/>
                <a:cs typeface="Lucida Sans"/>
              </a:rPr>
              <a:t>=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85931" y="1355409"/>
            <a:ext cx="54419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60">
                <a:latin typeface="Lucida Sans"/>
                <a:cs typeface="Lucida Sans"/>
              </a:rPr>
              <a:t>=</a:t>
            </a:r>
            <a:r>
              <a:rPr dirty="0" sz="1500" spc="-75">
                <a:latin typeface="Lucida Sans"/>
                <a:cs typeface="Lucida Sans"/>
              </a:rPr>
              <a:t> </a:t>
            </a:r>
            <a:r>
              <a:rPr dirty="0" sz="1500" spc="-130">
                <a:latin typeface="Lucida Sans"/>
                <a:cs typeface="Lucida Sans"/>
              </a:rPr>
              <a:t>0.75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71999" y="1504949"/>
            <a:ext cx="1962150" cy="9525"/>
          </a:xfrm>
          <a:custGeom>
            <a:avLst/>
            <a:gdLst/>
            <a:ahLst/>
            <a:cxnLst/>
            <a:rect l="l" t="t" r="r" b="b"/>
            <a:pathLst>
              <a:path w="1962150" h="9525">
                <a:moveTo>
                  <a:pt x="1962149" y="9524"/>
                </a:moveTo>
                <a:lnTo>
                  <a:pt x="0" y="9524"/>
                </a:lnTo>
                <a:lnTo>
                  <a:pt x="0" y="0"/>
                </a:lnTo>
                <a:lnTo>
                  <a:pt x="1962149" y="0"/>
                </a:lnTo>
                <a:lnTo>
                  <a:pt x="19621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536975" y="1219746"/>
            <a:ext cx="351409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2300605" algn="l"/>
              </a:tabLst>
            </a:pPr>
            <a:r>
              <a:rPr dirty="0" sz="1500" spc="-105">
                <a:latin typeface="Lucida Sans"/>
                <a:cs typeface="Lucida Sans"/>
              </a:rPr>
              <a:t>(</a:t>
            </a:r>
            <a:r>
              <a:rPr dirty="0" sz="1550" spc="-105" i="1">
                <a:latin typeface="Arial"/>
                <a:cs typeface="Arial"/>
              </a:rPr>
              <a:t>Observed</a:t>
            </a:r>
            <a:r>
              <a:rPr dirty="0" sz="1550" spc="-75" i="1">
                <a:latin typeface="Arial"/>
                <a:cs typeface="Arial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−</a:t>
            </a:r>
            <a:r>
              <a:rPr dirty="0" sz="1500" spc="-114">
                <a:latin typeface="Lucida Sans"/>
                <a:cs typeface="Lucida Sans"/>
              </a:rPr>
              <a:t> </a:t>
            </a:r>
            <a:r>
              <a:rPr dirty="0" sz="1550" spc="-10" i="1">
                <a:latin typeface="Arial"/>
                <a:cs typeface="Arial"/>
              </a:rPr>
              <a:t>Expected</a:t>
            </a:r>
            <a:r>
              <a:rPr dirty="0" sz="1500" spc="-10">
                <a:latin typeface="Lucida Sans"/>
                <a:cs typeface="Lucida Sans"/>
              </a:rPr>
              <a:t>)</a:t>
            </a:r>
            <a:r>
              <a:rPr dirty="0" baseline="26455" sz="1575" spc="-15">
                <a:latin typeface="Lucida Sans"/>
                <a:cs typeface="Lucida Sans"/>
              </a:rPr>
              <a:t>2</a:t>
            </a:r>
            <a:r>
              <a:rPr dirty="0" baseline="26455" sz="1575">
                <a:latin typeface="Lucida Sans"/>
                <a:cs typeface="Lucida Sans"/>
              </a:rPr>
              <a:t>	</a:t>
            </a:r>
            <a:r>
              <a:rPr dirty="0" sz="1500" spc="-175">
                <a:latin typeface="Lucida Sans"/>
                <a:cs typeface="Lucida Sans"/>
              </a:rPr>
              <a:t>(2199</a:t>
            </a:r>
            <a:r>
              <a:rPr dirty="0" sz="1500" spc="-150">
                <a:latin typeface="Lucida Sans"/>
                <a:cs typeface="Lucida Sans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−</a:t>
            </a:r>
            <a:r>
              <a:rPr dirty="0" sz="1500" spc="-140">
                <a:latin typeface="Lucida Sans"/>
                <a:cs typeface="Lucida Sans"/>
              </a:rPr>
              <a:t> </a:t>
            </a:r>
            <a:r>
              <a:rPr dirty="0" sz="1500" spc="-160">
                <a:latin typeface="Lucida Sans"/>
                <a:cs typeface="Lucida Sans"/>
              </a:rPr>
              <a:t>2240)</a:t>
            </a:r>
            <a:r>
              <a:rPr dirty="0" baseline="26455" sz="1575" spc="-240">
                <a:latin typeface="Lucida Sans"/>
                <a:cs typeface="Lucida Sans"/>
              </a:rPr>
              <a:t>2</a:t>
            </a:r>
            <a:endParaRPr baseline="26455" sz="1575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65774" y="1476921"/>
            <a:ext cx="245364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74545" algn="l"/>
              </a:tabLst>
            </a:pPr>
            <a:r>
              <a:rPr dirty="0" sz="1550" spc="-10" i="1">
                <a:latin typeface="Arial"/>
                <a:cs typeface="Arial"/>
              </a:rPr>
              <a:t>Expected</a:t>
            </a:r>
            <a:r>
              <a:rPr dirty="0" sz="1550" i="1">
                <a:latin typeface="Arial"/>
                <a:cs typeface="Arial"/>
              </a:rPr>
              <a:t>	</a:t>
            </a:r>
            <a:r>
              <a:rPr dirty="0" sz="1500" spc="-225">
                <a:latin typeface="Lucida Sans"/>
                <a:cs typeface="Lucida Sans"/>
              </a:rPr>
              <a:t>2240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19899" y="1504949"/>
            <a:ext cx="1209675" cy="9525"/>
          </a:xfrm>
          <a:custGeom>
            <a:avLst/>
            <a:gdLst/>
            <a:ahLst/>
            <a:cxnLst/>
            <a:rect l="l" t="t" r="r" b="b"/>
            <a:pathLst>
              <a:path w="1209675" h="9525">
                <a:moveTo>
                  <a:pt x="1209674" y="9524"/>
                </a:moveTo>
                <a:lnTo>
                  <a:pt x="0" y="9524"/>
                </a:lnTo>
                <a:lnTo>
                  <a:pt x="0" y="0"/>
                </a:lnTo>
                <a:lnTo>
                  <a:pt x="1209674" y="0"/>
                </a:lnTo>
                <a:lnTo>
                  <a:pt x="12096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76999"/>
            <a:ext cx="8648700" cy="9525"/>
          </a:xfrm>
          <a:custGeom>
            <a:avLst/>
            <a:gdLst/>
            <a:ahLst/>
            <a:cxnLst/>
            <a:rect l="l" t="t" r="r" b="b"/>
            <a:pathLst>
              <a:path w="8648700" h="9525">
                <a:moveTo>
                  <a:pt x="0" y="0"/>
                </a:moveTo>
                <a:lnTo>
                  <a:pt x="8648699" y="0"/>
                </a:lnTo>
                <a:lnTo>
                  <a:pt x="8648699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71499" y="819150"/>
          <a:ext cx="3600450" cy="2406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1200"/>
                <a:gridCol w="552450"/>
                <a:gridCol w="428625"/>
                <a:gridCol w="552450"/>
              </a:tblGrid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94970" marR="387350" indent="18415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Callback 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52069" marR="605790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associated 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2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2199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246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52069" marR="510540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American-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2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2281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164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1499" y="3867149"/>
          <a:ext cx="3600450" cy="2406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1200"/>
                <a:gridCol w="552450"/>
                <a:gridCol w="428625"/>
                <a:gridCol w="552450"/>
              </a:tblGrid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94970" marR="387350" indent="18415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Callback 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52069" marR="605790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associated 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2240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205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52069" marR="510540">
                        <a:lnSpc>
                          <a:spcPts val="1570"/>
                        </a:lnSpc>
                        <a:spcBef>
                          <a:spcPts val="58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American-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2240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205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399976" y="394970"/>
            <a:ext cx="187071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20" b="1">
                <a:latin typeface="Trebuchet MS"/>
                <a:cs typeface="Trebuchet MS"/>
              </a:rPr>
              <a:t>Observed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Frequencies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6404" y="3404869"/>
            <a:ext cx="267779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450" spc="-45" b="1">
                <a:latin typeface="Trebuchet MS"/>
                <a:cs typeface="Trebuchet MS"/>
              </a:rPr>
              <a:t>Expected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Frequencies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under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H</a:t>
            </a:r>
            <a:r>
              <a:rPr dirty="0" baseline="-16203" sz="1800" spc="-37" b="1">
                <a:latin typeface="Trebuchet MS"/>
                <a:cs typeface="Trebuchet MS"/>
              </a:rPr>
              <a:t>0</a:t>
            </a:r>
            <a:endParaRPr baseline="-16203"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11426" y="394970"/>
            <a:ext cx="3089275" cy="68580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38100" marR="30480">
              <a:lnSpc>
                <a:spcPts val="1730"/>
              </a:lnSpc>
              <a:spcBef>
                <a:spcPts val="155"/>
              </a:spcBef>
            </a:pPr>
            <a:r>
              <a:rPr dirty="0" sz="1450" spc="-70" b="1">
                <a:latin typeface="Trebuchet MS"/>
                <a:cs typeface="Trebuchet MS"/>
              </a:rPr>
              <a:t>A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Measure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of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Discrepancy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Between </a:t>
            </a:r>
            <a:r>
              <a:rPr dirty="0" sz="1450" spc="-20" b="1">
                <a:latin typeface="Trebuchet MS"/>
                <a:cs typeface="Trebuchet MS"/>
              </a:rPr>
              <a:t>Observed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Frequencies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and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Expected </a:t>
            </a:r>
            <a:r>
              <a:rPr dirty="0" sz="1450" spc="-55" b="1">
                <a:latin typeface="Trebuchet MS"/>
                <a:cs typeface="Trebuchet MS"/>
              </a:rPr>
              <a:t>Frequencies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under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550" spc="-25" i="1">
                <a:latin typeface="Arial"/>
                <a:cs typeface="Arial"/>
              </a:rPr>
              <a:t>H</a:t>
            </a:r>
            <a:r>
              <a:rPr dirty="0" baseline="-13227" sz="1575" spc="-37">
                <a:latin typeface="Lucida Sans"/>
                <a:cs typeface="Lucida Sans"/>
              </a:rPr>
              <a:t>0</a:t>
            </a:r>
            <a:endParaRPr baseline="-13227" sz="1575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93333" y="1355409"/>
            <a:ext cx="16827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50">
                <a:latin typeface="Lucida Sans"/>
                <a:cs typeface="Lucida Sans"/>
              </a:rPr>
              <a:t>=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03021" y="1355409"/>
            <a:ext cx="45275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60">
                <a:latin typeface="Lucida Sans"/>
                <a:cs typeface="Lucida Sans"/>
              </a:rPr>
              <a:t>=</a:t>
            </a:r>
            <a:r>
              <a:rPr dirty="0" sz="1500" spc="-75">
                <a:latin typeface="Lucida Sans"/>
                <a:cs typeface="Lucida Sans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8.2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71999" y="1504949"/>
            <a:ext cx="1962150" cy="9525"/>
          </a:xfrm>
          <a:custGeom>
            <a:avLst/>
            <a:gdLst/>
            <a:ahLst/>
            <a:cxnLst/>
            <a:rect l="l" t="t" r="r" b="b"/>
            <a:pathLst>
              <a:path w="1962150" h="9525">
                <a:moveTo>
                  <a:pt x="1962149" y="9524"/>
                </a:moveTo>
                <a:lnTo>
                  <a:pt x="0" y="9524"/>
                </a:lnTo>
                <a:lnTo>
                  <a:pt x="0" y="0"/>
                </a:lnTo>
                <a:lnTo>
                  <a:pt x="1962149" y="0"/>
                </a:lnTo>
                <a:lnTo>
                  <a:pt x="19621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536975" y="1219746"/>
            <a:ext cx="333121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2300605" algn="l"/>
              </a:tabLst>
            </a:pPr>
            <a:r>
              <a:rPr dirty="0" sz="1500" spc="-105">
                <a:latin typeface="Lucida Sans"/>
                <a:cs typeface="Lucida Sans"/>
              </a:rPr>
              <a:t>(</a:t>
            </a:r>
            <a:r>
              <a:rPr dirty="0" sz="1550" spc="-105" i="1">
                <a:latin typeface="Arial"/>
                <a:cs typeface="Arial"/>
              </a:rPr>
              <a:t>Observed</a:t>
            </a:r>
            <a:r>
              <a:rPr dirty="0" sz="1550" spc="-75" i="1">
                <a:latin typeface="Arial"/>
                <a:cs typeface="Arial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−</a:t>
            </a:r>
            <a:r>
              <a:rPr dirty="0" sz="1500" spc="-114">
                <a:latin typeface="Lucida Sans"/>
                <a:cs typeface="Lucida Sans"/>
              </a:rPr>
              <a:t> </a:t>
            </a:r>
            <a:r>
              <a:rPr dirty="0" sz="1550" spc="-10" i="1">
                <a:latin typeface="Arial"/>
                <a:cs typeface="Arial"/>
              </a:rPr>
              <a:t>Expected</a:t>
            </a:r>
            <a:r>
              <a:rPr dirty="0" sz="1500" spc="-10">
                <a:latin typeface="Lucida Sans"/>
                <a:cs typeface="Lucida Sans"/>
              </a:rPr>
              <a:t>)</a:t>
            </a:r>
            <a:r>
              <a:rPr dirty="0" baseline="26455" sz="1575" spc="-15">
                <a:latin typeface="Lucida Sans"/>
                <a:cs typeface="Lucida Sans"/>
              </a:rPr>
              <a:t>2</a:t>
            </a:r>
            <a:r>
              <a:rPr dirty="0" baseline="26455" sz="1575">
                <a:latin typeface="Lucida Sans"/>
                <a:cs typeface="Lucida Sans"/>
              </a:rPr>
              <a:t>	</a:t>
            </a:r>
            <a:r>
              <a:rPr dirty="0" sz="1500" spc="-165">
                <a:latin typeface="Lucida Sans"/>
                <a:cs typeface="Lucida Sans"/>
              </a:rPr>
              <a:t>(246</a:t>
            </a:r>
            <a:r>
              <a:rPr dirty="0" sz="1500" spc="-140">
                <a:latin typeface="Lucida Sans"/>
                <a:cs typeface="Lucida Sans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−</a:t>
            </a:r>
            <a:r>
              <a:rPr dirty="0" sz="1500" spc="-135">
                <a:latin typeface="Lucida Sans"/>
                <a:cs typeface="Lucida Sans"/>
              </a:rPr>
              <a:t> </a:t>
            </a:r>
            <a:r>
              <a:rPr dirty="0" sz="1500" spc="-150">
                <a:latin typeface="Lucida Sans"/>
                <a:cs typeface="Lucida Sans"/>
              </a:rPr>
              <a:t>205)</a:t>
            </a:r>
            <a:r>
              <a:rPr dirty="0" baseline="26455" sz="1575" spc="-225">
                <a:latin typeface="Lucida Sans"/>
                <a:cs typeface="Lucida Sans"/>
              </a:rPr>
              <a:t>2</a:t>
            </a:r>
            <a:endParaRPr baseline="26455" sz="1575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65774" y="1476921"/>
            <a:ext cx="231648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28825" algn="l"/>
              </a:tabLst>
            </a:pPr>
            <a:r>
              <a:rPr dirty="0" sz="1550" spc="-10" i="1">
                <a:latin typeface="Arial"/>
                <a:cs typeface="Arial"/>
              </a:rPr>
              <a:t>Expected</a:t>
            </a:r>
            <a:r>
              <a:rPr dirty="0" sz="1550" i="1">
                <a:latin typeface="Arial"/>
                <a:cs typeface="Arial"/>
              </a:rPr>
              <a:t>	</a:t>
            </a:r>
            <a:r>
              <a:rPr dirty="0" sz="1500" spc="-220">
                <a:latin typeface="Lucida Sans"/>
                <a:cs typeface="Lucida Sans"/>
              </a:rPr>
              <a:t>205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19899" y="1504949"/>
            <a:ext cx="1019175" cy="9525"/>
          </a:xfrm>
          <a:custGeom>
            <a:avLst/>
            <a:gdLst/>
            <a:ahLst/>
            <a:cxnLst/>
            <a:rect l="l" t="t" r="r" b="b"/>
            <a:pathLst>
              <a:path w="1019175" h="9525">
                <a:moveTo>
                  <a:pt x="1019174" y="9524"/>
                </a:moveTo>
                <a:lnTo>
                  <a:pt x="0" y="9524"/>
                </a:lnTo>
                <a:lnTo>
                  <a:pt x="0" y="0"/>
                </a:lnTo>
                <a:lnTo>
                  <a:pt x="1019174" y="0"/>
                </a:lnTo>
                <a:lnTo>
                  <a:pt x="10191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76999"/>
            <a:ext cx="8648700" cy="9525"/>
          </a:xfrm>
          <a:custGeom>
            <a:avLst/>
            <a:gdLst/>
            <a:ahLst/>
            <a:cxnLst/>
            <a:rect l="l" t="t" r="r" b="b"/>
            <a:pathLst>
              <a:path w="8648700" h="9525">
                <a:moveTo>
                  <a:pt x="0" y="0"/>
                </a:moveTo>
                <a:lnTo>
                  <a:pt x="8648699" y="0"/>
                </a:lnTo>
                <a:lnTo>
                  <a:pt x="8648699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71499" y="819150"/>
          <a:ext cx="3600450" cy="2406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1200"/>
                <a:gridCol w="552450"/>
                <a:gridCol w="428625"/>
                <a:gridCol w="552450"/>
              </a:tblGrid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94970" marR="387350" indent="18415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Callback 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52069" marR="605790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associated 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2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2199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246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52069" marR="510540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American-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20">
                          <a:latin typeface="Arial"/>
                          <a:cs typeface="Arial"/>
                        </a:rPr>
                        <a:t>2281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164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1499" y="3867149"/>
          <a:ext cx="3600450" cy="2406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1200"/>
                <a:gridCol w="552450"/>
                <a:gridCol w="428625"/>
                <a:gridCol w="552450"/>
              </a:tblGrid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94970" marR="387350" indent="18415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Callback 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52069" marR="605790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associated 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2240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205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52069" marR="510540">
                        <a:lnSpc>
                          <a:spcPts val="1570"/>
                        </a:lnSpc>
                        <a:spcBef>
                          <a:spcPts val="58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American-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0">
                          <a:latin typeface="Arial"/>
                          <a:cs typeface="Arial"/>
                        </a:rPr>
                        <a:t>2240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205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399976" y="394970"/>
            <a:ext cx="187071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20" b="1">
                <a:latin typeface="Trebuchet MS"/>
                <a:cs typeface="Trebuchet MS"/>
              </a:rPr>
              <a:t>Observed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Frequencies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6404" y="3404869"/>
            <a:ext cx="267779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450" spc="-45" b="1">
                <a:latin typeface="Trebuchet MS"/>
                <a:cs typeface="Trebuchet MS"/>
              </a:rPr>
              <a:t>Expected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Frequencies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under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H</a:t>
            </a:r>
            <a:r>
              <a:rPr dirty="0" baseline="-16203" sz="1800" spc="-37" b="1">
                <a:latin typeface="Trebuchet MS"/>
                <a:cs typeface="Trebuchet MS"/>
              </a:rPr>
              <a:t>0</a:t>
            </a:r>
            <a:endParaRPr baseline="-16203"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11426" y="394970"/>
            <a:ext cx="3089275" cy="68580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38100" marR="30480">
              <a:lnSpc>
                <a:spcPts val="1730"/>
              </a:lnSpc>
              <a:spcBef>
                <a:spcPts val="155"/>
              </a:spcBef>
            </a:pPr>
            <a:r>
              <a:rPr dirty="0" sz="1450" spc="-70" b="1">
                <a:latin typeface="Trebuchet MS"/>
                <a:cs typeface="Trebuchet MS"/>
              </a:rPr>
              <a:t>A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Measure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of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Discrepancy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Between </a:t>
            </a:r>
            <a:r>
              <a:rPr dirty="0" sz="1450" spc="-20" b="1">
                <a:latin typeface="Trebuchet MS"/>
                <a:cs typeface="Trebuchet MS"/>
              </a:rPr>
              <a:t>Observed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Frequencies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and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Expected </a:t>
            </a:r>
            <a:r>
              <a:rPr dirty="0" sz="1450" spc="-55" b="1">
                <a:latin typeface="Trebuchet MS"/>
                <a:cs typeface="Trebuchet MS"/>
              </a:rPr>
              <a:t>Frequencies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under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550" spc="-25" i="1">
                <a:latin typeface="Arial"/>
                <a:cs typeface="Arial"/>
              </a:rPr>
              <a:t>H</a:t>
            </a:r>
            <a:r>
              <a:rPr dirty="0" baseline="-13227" sz="1575" spc="-37">
                <a:latin typeface="Lucida Sans"/>
                <a:cs typeface="Lucida Sans"/>
              </a:rPr>
              <a:t>0</a:t>
            </a:r>
            <a:endParaRPr baseline="-13227" sz="1575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93333" y="1355409"/>
            <a:ext cx="16827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50">
                <a:latin typeface="Lucida Sans"/>
                <a:cs typeface="Lucida Sans"/>
              </a:rPr>
              <a:t>=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85931" y="1355409"/>
            <a:ext cx="54419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60">
                <a:latin typeface="Lucida Sans"/>
                <a:cs typeface="Lucida Sans"/>
              </a:rPr>
              <a:t>=</a:t>
            </a:r>
            <a:r>
              <a:rPr dirty="0" sz="1500" spc="-75">
                <a:latin typeface="Lucida Sans"/>
                <a:cs typeface="Lucida Sans"/>
              </a:rPr>
              <a:t> </a:t>
            </a:r>
            <a:r>
              <a:rPr dirty="0" sz="1500" spc="-130">
                <a:latin typeface="Lucida Sans"/>
                <a:cs typeface="Lucida Sans"/>
              </a:rPr>
              <a:t>0.75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71999" y="1504949"/>
            <a:ext cx="1962150" cy="9525"/>
          </a:xfrm>
          <a:custGeom>
            <a:avLst/>
            <a:gdLst/>
            <a:ahLst/>
            <a:cxnLst/>
            <a:rect l="l" t="t" r="r" b="b"/>
            <a:pathLst>
              <a:path w="1962150" h="9525">
                <a:moveTo>
                  <a:pt x="1962149" y="9524"/>
                </a:moveTo>
                <a:lnTo>
                  <a:pt x="0" y="9524"/>
                </a:lnTo>
                <a:lnTo>
                  <a:pt x="0" y="0"/>
                </a:lnTo>
                <a:lnTo>
                  <a:pt x="1962149" y="0"/>
                </a:lnTo>
                <a:lnTo>
                  <a:pt x="19621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536975" y="1219746"/>
            <a:ext cx="351409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2300605" algn="l"/>
              </a:tabLst>
            </a:pPr>
            <a:r>
              <a:rPr dirty="0" sz="1500" spc="-105">
                <a:latin typeface="Lucida Sans"/>
                <a:cs typeface="Lucida Sans"/>
              </a:rPr>
              <a:t>(</a:t>
            </a:r>
            <a:r>
              <a:rPr dirty="0" sz="1550" spc="-105" i="1">
                <a:latin typeface="Arial"/>
                <a:cs typeface="Arial"/>
              </a:rPr>
              <a:t>Observed</a:t>
            </a:r>
            <a:r>
              <a:rPr dirty="0" sz="1550" spc="-75" i="1">
                <a:latin typeface="Arial"/>
                <a:cs typeface="Arial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−</a:t>
            </a:r>
            <a:r>
              <a:rPr dirty="0" sz="1500" spc="-114">
                <a:latin typeface="Lucida Sans"/>
                <a:cs typeface="Lucida Sans"/>
              </a:rPr>
              <a:t> </a:t>
            </a:r>
            <a:r>
              <a:rPr dirty="0" sz="1550" spc="-10" i="1">
                <a:latin typeface="Arial"/>
                <a:cs typeface="Arial"/>
              </a:rPr>
              <a:t>Expected</a:t>
            </a:r>
            <a:r>
              <a:rPr dirty="0" sz="1500" spc="-10">
                <a:latin typeface="Lucida Sans"/>
                <a:cs typeface="Lucida Sans"/>
              </a:rPr>
              <a:t>)</a:t>
            </a:r>
            <a:r>
              <a:rPr dirty="0" baseline="26455" sz="1575" spc="-15">
                <a:latin typeface="Lucida Sans"/>
                <a:cs typeface="Lucida Sans"/>
              </a:rPr>
              <a:t>2</a:t>
            </a:r>
            <a:r>
              <a:rPr dirty="0" baseline="26455" sz="1575">
                <a:latin typeface="Lucida Sans"/>
                <a:cs typeface="Lucida Sans"/>
              </a:rPr>
              <a:t>	</a:t>
            </a:r>
            <a:r>
              <a:rPr dirty="0" sz="1500" spc="-175">
                <a:latin typeface="Lucida Sans"/>
                <a:cs typeface="Lucida Sans"/>
              </a:rPr>
              <a:t>(2281</a:t>
            </a:r>
            <a:r>
              <a:rPr dirty="0" sz="1500" spc="-150">
                <a:latin typeface="Lucida Sans"/>
                <a:cs typeface="Lucida Sans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−</a:t>
            </a:r>
            <a:r>
              <a:rPr dirty="0" sz="1500" spc="-140">
                <a:latin typeface="Lucida Sans"/>
                <a:cs typeface="Lucida Sans"/>
              </a:rPr>
              <a:t> </a:t>
            </a:r>
            <a:r>
              <a:rPr dirty="0" sz="1500" spc="-160">
                <a:latin typeface="Lucida Sans"/>
                <a:cs typeface="Lucida Sans"/>
              </a:rPr>
              <a:t>2240)</a:t>
            </a:r>
            <a:r>
              <a:rPr dirty="0" baseline="26455" sz="1575" spc="-240">
                <a:latin typeface="Lucida Sans"/>
                <a:cs typeface="Lucida Sans"/>
              </a:rPr>
              <a:t>2</a:t>
            </a:r>
            <a:endParaRPr baseline="26455" sz="1575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65774" y="1476921"/>
            <a:ext cx="245364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74545" algn="l"/>
              </a:tabLst>
            </a:pPr>
            <a:r>
              <a:rPr dirty="0" sz="1550" spc="-10" i="1">
                <a:latin typeface="Arial"/>
                <a:cs typeface="Arial"/>
              </a:rPr>
              <a:t>Expected</a:t>
            </a:r>
            <a:r>
              <a:rPr dirty="0" sz="1550" i="1">
                <a:latin typeface="Arial"/>
                <a:cs typeface="Arial"/>
              </a:rPr>
              <a:t>	</a:t>
            </a:r>
            <a:r>
              <a:rPr dirty="0" sz="1500" spc="-225">
                <a:latin typeface="Lucida Sans"/>
                <a:cs typeface="Lucida Sans"/>
              </a:rPr>
              <a:t>2281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19899" y="1504949"/>
            <a:ext cx="1209675" cy="9525"/>
          </a:xfrm>
          <a:custGeom>
            <a:avLst/>
            <a:gdLst/>
            <a:ahLst/>
            <a:cxnLst/>
            <a:rect l="l" t="t" r="r" b="b"/>
            <a:pathLst>
              <a:path w="1209675" h="9525">
                <a:moveTo>
                  <a:pt x="1209674" y="9524"/>
                </a:moveTo>
                <a:lnTo>
                  <a:pt x="0" y="9524"/>
                </a:lnTo>
                <a:lnTo>
                  <a:pt x="0" y="0"/>
                </a:lnTo>
                <a:lnTo>
                  <a:pt x="1209674" y="0"/>
                </a:lnTo>
                <a:lnTo>
                  <a:pt x="12096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76999"/>
            <a:ext cx="8648700" cy="9525"/>
          </a:xfrm>
          <a:custGeom>
            <a:avLst/>
            <a:gdLst/>
            <a:ahLst/>
            <a:cxnLst/>
            <a:rect l="l" t="t" r="r" b="b"/>
            <a:pathLst>
              <a:path w="8648700" h="9525">
                <a:moveTo>
                  <a:pt x="0" y="0"/>
                </a:moveTo>
                <a:lnTo>
                  <a:pt x="8648699" y="0"/>
                </a:lnTo>
                <a:lnTo>
                  <a:pt x="8648699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71499" y="819150"/>
          <a:ext cx="3600450" cy="2406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1200"/>
                <a:gridCol w="552450"/>
                <a:gridCol w="428625"/>
                <a:gridCol w="552450"/>
              </a:tblGrid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94970" marR="387350" indent="18415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Callback 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52069" marR="605790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associated 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2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2199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246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52069" marR="510540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American-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2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2281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164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1499" y="3867149"/>
          <a:ext cx="3600450" cy="2406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1200"/>
                <a:gridCol w="552450"/>
                <a:gridCol w="428625"/>
                <a:gridCol w="552450"/>
              </a:tblGrid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94970" marR="387350" indent="18415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Callback 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52069" marR="605790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associated 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2240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205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52069" marR="510540">
                        <a:lnSpc>
                          <a:spcPts val="1570"/>
                        </a:lnSpc>
                        <a:spcBef>
                          <a:spcPts val="58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American-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2240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205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2,445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4,480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4,890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399976" y="394970"/>
            <a:ext cx="187071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20" b="1">
                <a:latin typeface="Trebuchet MS"/>
                <a:cs typeface="Trebuchet MS"/>
              </a:rPr>
              <a:t>Observed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Frequencies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6404" y="3404869"/>
            <a:ext cx="267779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450" spc="-45" b="1">
                <a:latin typeface="Trebuchet MS"/>
                <a:cs typeface="Trebuchet MS"/>
              </a:rPr>
              <a:t>Expected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Frequencies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under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H</a:t>
            </a:r>
            <a:r>
              <a:rPr dirty="0" baseline="-16203" sz="1800" spc="-37" b="1">
                <a:latin typeface="Trebuchet MS"/>
                <a:cs typeface="Trebuchet MS"/>
              </a:rPr>
              <a:t>0</a:t>
            </a:r>
            <a:endParaRPr baseline="-16203"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11426" y="394970"/>
            <a:ext cx="3089275" cy="68580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38100" marR="30480">
              <a:lnSpc>
                <a:spcPts val="1730"/>
              </a:lnSpc>
              <a:spcBef>
                <a:spcPts val="155"/>
              </a:spcBef>
            </a:pPr>
            <a:r>
              <a:rPr dirty="0" sz="1450" spc="-70" b="1">
                <a:latin typeface="Trebuchet MS"/>
                <a:cs typeface="Trebuchet MS"/>
              </a:rPr>
              <a:t>A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Measure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of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Discrepancy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Between </a:t>
            </a:r>
            <a:r>
              <a:rPr dirty="0" sz="1450" spc="-20" b="1">
                <a:latin typeface="Trebuchet MS"/>
                <a:cs typeface="Trebuchet MS"/>
              </a:rPr>
              <a:t>Observed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Frequencies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and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Expected </a:t>
            </a:r>
            <a:r>
              <a:rPr dirty="0" sz="1450" spc="-55" b="1">
                <a:latin typeface="Trebuchet MS"/>
                <a:cs typeface="Trebuchet MS"/>
              </a:rPr>
              <a:t>Frequencies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under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550" spc="-25" i="1">
                <a:latin typeface="Arial"/>
                <a:cs typeface="Arial"/>
              </a:rPr>
              <a:t>H</a:t>
            </a:r>
            <a:r>
              <a:rPr dirty="0" baseline="-13227" sz="1575" spc="-37">
                <a:latin typeface="Lucida Sans"/>
                <a:cs typeface="Lucida Sans"/>
              </a:rPr>
              <a:t>0</a:t>
            </a:r>
            <a:endParaRPr baseline="-13227" sz="1575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93333" y="1355409"/>
            <a:ext cx="16827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50">
                <a:latin typeface="Lucida Sans"/>
                <a:cs typeface="Lucida Sans"/>
              </a:rPr>
              <a:t>=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03021" y="1355409"/>
            <a:ext cx="45275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60">
                <a:latin typeface="Lucida Sans"/>
                <a:cs typeface="Lucida Sans"/>
              </a:rPr>
              <a:t>=</a:t>
            </a:r>
            <a:r>
              <a:rPr dirty="0" sz="1500" spc="-75">
                <a:latin typeface="Lucida Sans"/>
                <a:cs typeface="Lucida Sans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8.2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71999" y="1504949"/>
            <a:ext cx="1962150" cy="9525"/>
          </a:xfrm>
          <a:custGeom>
            <a:avLst/>
            <a:gdLst/>
            <a:ahLst/>
            <a:cxnLst/>
            <a:rect l="l" t="t" r="r" b="b"/>
            <a:pathLst>
              <a:path w="1962150" h="9525">
                <a:moveTo>
                  <a:pt x="1962149" y="9524"/>
                </a:moveTo>
                <a:lnTo>
                  <a:pt x="0" y="9524"/>
                </a:lnTo>
                <a:lnTo>
                  <a:pt x="0" y="0"/>
                </a:lnTo>
                <a:lnTo>
                  <a:pt x="1962149" y="0"/>
                </a:lnTo>
                <a:lnTo>
                  <a:pt x="19621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536975" y="1219746"/>
            <a:ext cx="333121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2300605" algn="l"/>
              </a:tabLst>
            </a:pPr>
            <a:r>
              <a:rPr dirty="0" sz="1500" spc="-105">
                <a:latin typeface="Lucida Sans"/>
                <a:cs typeface="Lucida Sans"/>
              </a:rPr>
              <a:t>(</a:t>
            </a:r>
            <a:r>
              <a:rPr dirty="0" sz="1550" spc="-105" i="1">
                <a:latin typeface="Arial"/>
                <a:cs typeface="Arial"/>
              </a:rPr>
              <a:t>Observed</a:t>
            </a:r>
            <a:r>
              <a:rPr dirty="0" sz="1550" spc="-75" i="1">
                <a:latin typeface="Arial"/>
                <a:cs typeface="Arial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−</a:t>
            </a:r>
            <a:r>
              <a:rPr dirty="0" sz="1500" spc="-114">
                <a:latin typeface="Lucida Sans"/>
                <a:cs typeface="Lucida Sans"/>
              </a:rPr>
              <a:t> </a:t>
            </a:r>
            <a:r>
              <a:rPr dirty="0" sz="1550" spc="-10" i="1">
                <a:latin typeface="Arial"/>
                <a:cs typeface="Arial"/>
              </a:rPr>
              <a:t>Expected</a:t>
            </a:r>
            <a:r>
              <a:rPr dirty="0" sz="1500" spc="-10">
                <a:latin typeface="Lucida Sans"/>
                <a:cs typeface="Lucida Sans"/>
              </a:rPr>
              <a:t>)</a:t>
            </a:r>
            <a:r>
              <a:rPr dirty="0" baseline="26455" sz="1575" spc="-15">
                <a:latin typeface="Lucida Sans"/>
                <a:cs typeface="Lucida Sans"/>
              </a:rPr>
              <a:t>2</a:t>
            </a:r>
            <a:r>
              <a:rPr dirty="0" baseline="26455" sz="1575">
                <a:latin typeface="Lucida Sans"/>
                <a:cs typeface="Lucida Sans"/>
              </a:rPr>
              <a:t>	</a:t>
            </a:r>
            <a:r>
              <a:rPr dirty="0" sz="1500" spc="-165">
                <a:latin typeface="Lucida Sans"/>
                <a:cs typeface="Lucida Sans"/>
              </a:rPr>
              <a:t>(164</a:t>
            </a:r>
            <a:r>
              <a:rPr dirty="0" sz="1500" spc="-140">
                <a:latin typeface="Lucida Sans"/>
                <a:cs typeface="Lucida Sans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−</a:t>
            </a:r>
            <a:r>
              <a:rPr dirty="0" sz="1500" spc="-135">
                <a:latin typeface="Lucida Sans"/>
                <a:cs typeface="Lucida Sans"/>
              </a:rPr>
              <a:t> </a:t>
            </a:r>
            <a:r>
              <a:rPr dirty="0" sz="1500" spc="-150">
                <a:latin typeface="Lucida Sans"/>
                <a:cs typeface="Lucida Sans"/>
              </a:rPr>
              <a:t>205)</a:t>
            </a:r>
            <a:r>
              <a:rPr dirty="0" baseline="26455" sz="1575" spc="-225">
                <a:latin typeface="Lucida Sans"/>
                <a:cs typeface="Lucida Sans"/>
              </a:rPr>
              <a:t>2</a:t>
            </a:r>
            <a:endParaRPr baseline="26455" sz="1575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65774" y="1476921"/>
            <a:ext cx="231648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28825" algn="l"/>
              </a:tabLst>
            </a:pPr>
            <a:r>
              <a:rPr dirty="0" sz="1550" spc="-10" i="1">
                <a:latin typeface="Arial"/>
                <a:cs typeface="Arial"/>
              </a:rPr>
              <a:t>Expected</a:t>
            </a:r>
            <a:r>
              <a:rPr dirty="0" sz="1550" i="1">
                <a:latin typeface="Arial"/>
                <a:cs typeface="Arial"/>
              </a:rPr>
              <a:t>	</a:t>
            </a:r>
            <a:r>
              <a:rPr dirty="0" sz="1500" spc="-220">
                <a:latin typeface="Lucida Sans"/>
                <a:cs typeface="Lucida Sans"/>
              </a:rPr>
              <a:t>205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19899" y="1504949"/>
            <a:ext cx="1019175" cy="9525"/>
          </a:xfrm>
          <a:custGeom>
            <a:avLst/>
            <a:gdLst/>
            <a:ahLst/>
            <a:cxnLst/>
            <a:rect l="l" t="t" r="r" b="b"/>
            <a:pathLst>
              <a:path w="1019175" h="9525">
                <a:moveTo>
                  <a:pt x="1019174" y="9524"/>
                </a:moveTo>
                <a:lnTo>
                  <a:pt x="0" y="9524"/>
                </a:lnTo>
                <a:lnTo>
                  <a:pt x="0" y="0"/>
                </a:lnTo>
                <a:lnTo>
                  <a:pt x="1019174" y="0"/>
                </a:lnTo>
                <a:lnTo>
                  <a:pt x="10191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71499" y="819150"/>
          <a:ext cx="3600450" cy="2263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7875"/>
                <a:gridCol w="447675"/>
                <a:gridCol w="457200"/>
                <a:gridCol w="561975"/>
              </a:tblGrid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61950" marR="353695" indent="18415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Callback 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890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11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12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1.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52069" marR="577215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American-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baseline="14403" sz="2025" spc="-37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21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baseline="14403" sz="2025" spc="-37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22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890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.1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.2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..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99976" y="394970"/>
            <a:ext cx="187071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20" b="1">
                <a:latin typeface="Trebuchet MS"/>
                <a:cs typeface="Trebuchet MS"/>
              </a:rPr>
              <a:t>Observed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Frequencies</a:t>
            </a:r>
            <a:endParaRPr sz="1450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52949" y="819150"/>
          <a:ext cx="3600450" cy="2263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7875"/>
                <a:gridCol w="438150"/>
                <a:gridCol w="457200"/>
                <a:gridCol w="571500"/>
              </a:tblGrid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61950" marR="353695" indent="18415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Callback 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890"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11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12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1.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48895" marR="580390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American-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baseline="14403" sz="2025" spc="-37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21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dirty="0" baseline="14403" sz="2025" spc="-37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22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890"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.1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.2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..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395862" y="394970"/>
            <a:ext cx="183515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45" b="1">
                <a:latin typeface="Trebuchet MS"/>
                <a:cs typeface="Trebuchet MS"/>
              </a:rPr>
              <a:t>Expected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Frequencies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1917" y="3471544"/>
            <a:ext cx="240474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5" b="1">
                <a:latin typeface="Trebuchet MS"/>
                <a:cs typeface="Trebuchet MS"/>
              </a:rPr>
              <a:t>Total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Amount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of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Discrepancy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1524" y="47434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1700" y="4620171"/>
            <a:ext cx="4541520" cy="6896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1550" spc="65" i="1">
                <a:latin typeface="Arial"/>
                <a:cs typeface="Arial"/>
              </a:rPr>
              <a:t>O</a:t>
            </a:r>
            <a:r>
              <a:rPr dirty="0" baseline="-12626" sz="1650" spc="97" i="1">
                <a:latin typeface="Arial"/>
                <a:cs typeface="Arial"/>
              </a:rPr>
              <a:t>ij</a:t>
            </a:r>
            <a:r>
              <a:rPr dirty="0" sz="1450" spc="65">
                <a:latin typeface="Gill Sans MT"/>
                <a:cs typeface="Gill Sans MT"/>
              </a:rPr>
              <a:t>: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observed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cell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frequency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550" spc="60" i="1">
                <a:latin typeface="Arial"/>
                <a:cs typeface="Arial"/>
              </a:rPr>
              <a:t>i</a:t>
            </a:r>
            <a:r>
              <a:rPr dirty="0" baseline="25252" sz="1650" spc="89" i="1">
                <a:latin typeface="Arial"/>
                <a:cs typeface="Arial"/>
              </a:rPr>
              <a:t>th</a:t>
            </a:r>
            <a:r>
              <a:rPr dirty="0" baseline="25252" sz="1650" spc="254" i="1">
                <a:latin typeface="Arial"/>
                <a:cs typeface="Arial"/>
              </a:rPr>
              <a:t> </a:t>
            </a:r>
            <a:r>
              <a:rPr dirty="0" sz="1450">
                <a:latin typeface="Gill Sans MT"/>
                <a:cs typeface="Gill Sans MT"/>
              </a:rPr>
              <a:t>row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550" spc="90" i="1">
                <a:latin typeface="Arial"/>
                <a:cs typeface="Arial"/>
              </a:rPr>
              <a:t>j</a:t>
            </a:r>
            <a:r>
              <a:rPr dirty="0" baseline="25252" sz="1650" spc="135" i="1">
                <a:latin typeface="Arial"/>
                <a:cs typeface="Arial"/>
              </a:rPr>
              <a:t>th</a:t>
            </a:r>
            <a:r>
              <a:rPr dirty="0" baseline="25252" sz="1650" spc="254" i="1">
                <a:latin typeface="Arial"/>
                <a:cs typeface="Arial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column</a:t>
            </a:r>
            <a:endParaRPr sz="1450">
              <a:latin typeface="Gill Sans MT"/>
              <a:cs typeface="Gill Sans MT"/>
            </a:endParaRPr>
          </a:p>
          <a:p>
            <a:pPr marL="50800">
              <a:lnSpc>
                <a:spcPct val="100000"/>
              </a:lnSpc>
              <a:spcBef>
                <a:spcPts val="1515"/>
              </a:spcBef>
            </a:pPr>
            <a:r>
              <a:rPr dirty="0" sz="1550" spc="100" i="1">
                <a:latin typeface="Arial"/>
                <a:cs typeface="Arial"/>
              </a:rPr>
              <a:t>E</a:t>
            </a:r>
            <a:r>
              <a:rPr dirty="0" baseline="-12626" sz="1650" spc="150" i="1">
                <a:latin typeface="Arial"/>
                <a:cs typeface="Arial"/>
              </a:rPr>
              <a:t>ij</a:t>
            </a:r>
            <a:r>
              <a:rPr dirty="0" sz="1450" spc="100">
                <a:latin typeface="Gill Sans MT"/>
                <a:cs typeface="Gill Sans MT"/>
              </a:rPr>
              <a:t>: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expected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cell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frequency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550" spc="60" i="1">
                <a:latin typeface="Arial"/>
                <a:cs typeface="Arial"/>
              </a:rPr>
              <a:t>i</a:t>
            </a:r>
            <a:r>
              <a:rPr dirty="0" baseline="25252" sz="1650" spc="89" i="1">
                <a:latin typeface="Arial"/>
                <a:cs typeface="Arial"/>
              </a:rPr>
              <a:t>th</a:t>
            </a:r>
            <a:r>
              <a:rPr dirty="0" baseline="25252" sz="1650" spc="247" i="1">
                <a:latin typeface="Arial"/>
                <a:cs typeface="Arial"/>
              </a:rPr>
              <a:t> </a:t>
            </a:r>
            <a:r>
              <a:rPr dirty="0" sz="1450">
                <a:latin typeface="Gill Sans MT"/>
                <a:cs typeface="Gill Sans MT"/>
              </a:rPr>
              <a:t>row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550" spc="90" i="1">
                <a:latin typeface="Arial"/>
                <a:cs typeface="Arial"/>
              </a:rPr>
              <a:t>j</a:t>
            </a:r>
            <a:r>
              <a:rPr dirty="0" baseline="25252" sz="1650" spc="135" i="1">
                <a:latin typeface="Arial"/>
                <a:cs typeface="Arial"/>
              </a:rPr>
              <a:t>th</a:t>
            </a:r>
            <a:r>
              <a:rPr dirty="0" baseline="25252" sz="1650" spc="247" i="1">
                <a:latin typeface="Arial"/>
                <a:cs typeface="Arial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column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1524" y="51720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516610" y="3895619"/>
            <a:ext cx="584200" cy="55499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dirty="0" sz="2000" spc="640">
                <a:latin typeface="Arial"/>
                <a:cs typeface="Arial"/>
              </a:rPr>
              <a:t>∑</a:t>
            </a:r>
            <a:r>
              <a:rPr dirty="0" sz="2000" spc="-315">
                <a:latin typeface="Arial"/>
                <a:cs typeface="Arial"/>
              </a:rPr>
              <a:t> </a:t>
            </a:r>
            <a:r>
              <a:rPr dirty="0" sz="2000" spc="590">
                <a:latin typeface="Arial"/>
                <a:cs typeface="Arial"/>
              </a:rPr>
              <a:t>∑</a:t>
            </a:r>
            <a:endParaRPr sz="2000">
              <a:latin typeface="Arial"/>
              <a:cs typeface="Arial"/>
            </a:endParaRPr>
          </a:p>
          <a:p>
            <a:pPr algn="ctr" marL="3810">
              <a:lnSpc>
                <a:spcPct val="100000"/>
              </a:lnSpc>
              <a:spcBef>
                <a:spcPts val="150"/>
              </a:spcBef>
              <a:tabLst>
                <a:tab pos="294005" algn="l"/>
              </a:tabLst>
            </a:pPr>
            <a:r>
              <a:rPr dirty="0" sz="1100" spc="50" i="1">
                <a:latin typeface="Arial"/>
                <a:cs typeface="Arial"/>
              </a:rPr>
              <a:t>i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120" i="1">
                <a:latin typeface="Arial"/>
                <a:cs typeface="Arial"/>
              </a:rPr>
              <a:t>j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16585" y="3848646"/>
            <a:ext cx="99568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00" spc="55">
                <a:latin typeface="Lucida Sans"/>
                <a:cs typeface="Lucida Sans"/>
              </a:rPr>
              <a:t>(</a:t>
            </a:r>
            <a:r>
              <a:rPr dirty="0" sz="1550" spc="55" i="1">
                <a:latin typeface="Arial"/>
                <a:cs typeface="Arial"/>
              </a:rPr>
              <a:t>O</a:t>
            </a:r>
            <a:r>
              <a:rPr dirty="0" baseline="-12626" sz="1650" spc="82" i="1">
                <a:latin typeface="Arial"/>
                <a:cs typeface="Arial"/>
              </a:rPr>
              <a:t>ij</a:t>
            </a:r>
            <a:r>
              <a:rPr dirty="0" baseline="-12626" sz="1650" spc="127" i="1">
                <a:latin typeface="Arial"/>
                <a:cs typeface="Arial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−</a:t>
            </a:r>
            <a:r>
              <a:rPr dirty="0" sz="1500" spc="-150">
                <a:latin typeface="Lucida Sans"/>
                <a:cs typeface="Lucida Sans"/>
              </a:rPr>
              <a:t> </a:t>
            </a:r>
            <a:r>
              <a:rPr dirty="0" sz="1550" spc="35" i="1">
                <a:latin typeface="Arial"/>
                <a:cs typeface="Arial"/>
              </a:rPr>
              <a:t>E</a:t>
            </a:r>
            <a:r>
              <a:rPr dirty="0" baseline="-12626" sz="1650" spc="52" i="1">
                <a:latin typeface="Arial"/>
                <a:cs typeface="Arial"/>
              </a:rPr>
              <a:t>ij</a:t>
            </a:r>
            <a:r>
              <a:rPr dirty="0" sz="1500" spc="35">
                <a:latin typeface="Lucida Sans"/>
                <a:cs typeface="Lucida Sans"/>
              </a:rPr>
              <a:t>)</a:t>
            </a:r>
            <a:r>
              <a:rPr dirty="0" baseline="26455" sz="1575" spc="52">
                <a:latin typeface="Lucida Sans"/>
                <a:cs typeface="Lucida Sans"/>
              </a:rPr>
              <a:t>2</a:t>
            </a:r>
            <a:endParaRPr baseline="26455" sz="1575">
              <a:latin typeface="Lucida Sans"/>
              <a:cs typeface="Lucida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85183" y="4115346"/>
            <a:ext cx="16319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i="1">
                <a:latin typeface="Arial"/>
                <a:cs typeface="Arial"/>
              </a:rPr>
              <a:t>E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20170" y="4201483"/>
            <a:ext cx="123825" cy="1924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10" i="1">
                <a:latin typeface="Arial"/>
                <a:cs typeface="Arial"/>
              </a:rPr>
              <a:t>ij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43374" y="4152899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952499" y="9524"/>
                </a:moveTo>
                <a:lnTo>
                  <a:pt x="0" y="9524"/>
                </a:lnTo>
                <a:lnTo>
                  <a:pt x="0" y="0"/>
                </a:lnTo>
                <a:lnTo>
                  <a:pt x="952499" y="0"/>
                </a:lnTo>
                <a:lnTo>
                  <a:pt x="9524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71499" y="819150"/>
          <a:ext cx="3600450" cy="2263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9775"/>
                <a:gridCol w="533400"/>
                <a:gridCol w="428625"/>
                <a:gridCol w="542925"/>
              </a:tblGrid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82905" marR="370840" indent="18415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Callback 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890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350" spc="-20">
                          <a:latin typeface="Arial"/>
                          <a:cs typeface="Arial"/>
                        </a:rPr>
                        <a:t>2199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06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246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06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1.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52069" marR="539115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American-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0">
                          <a:latin typeface="Arial"/>
                          <a:cs typeface="Arial"/>
                        </a:rPr>
                        <a:t>2281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164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890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.1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.2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..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99976" y="394970"/>
            <a:ext cx="187071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20" b="1">
                <a:latin typeface="Trebuchet MS"/>
                <a:cs typeface="Trebuchet MS"/>
              </a:rPr>
              <a:t>Observed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Frequencies</a:t>
            </a:r>
            <a:endParaRPr sz="1450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52949" y="819150"/>
          <a:ext cx="3600450" cy="2263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9775"/>
                <a:gridCol w="523875"/>
                <a:gridCol w="438150"/>
                <a:gridCol w="542925"/>
              </a:tblGrid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79730" marR="374015" indent="18415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Callback Outcome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890"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White-associated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350" spc="-20">
                          <a:latin typeface="Arial"/>
                          <a:cs typeface="Arial"/>
                        </a:rPr>
                        <a:t>2240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06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205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06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1.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48895" marR="542290">
                        <a:lnSpc>
                          <a:spcPts val="1580"/>
                        </a:lnSpc>
                        <a:spcBef>
                          <a:spcPts val="5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African</a:t>
                      </a:r>
                      <a:r>
                        <a:rPr dirty="0" sz="135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American-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associated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Names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0">
                          <a:latin typeface="Arial"/>
                          <a:cs typeface="Arial"/>
                        </a:rPr>
                        <a:t>2240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205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2.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890"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10" b="1">
                          <a:latin typeface="Arial"/>
                          <a:cs typeface="Arial"/>
                        </a:rPr>
                        <a:t>Total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.1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.2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14403" sz="2025" spc="-37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00" spc="-25">
                          <a:solidFill>
                            <a:srgbClr val="DBDBDB"/>
                          </a:solidFill>
                          <a:latin typeface="Arial"/>
                          <a:cs typeface="Arial"/>
                        </a:rPr>
                        <a:t>..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395862" y="394970"/>
            <a:ext cx="183515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45" b="1">
                <a:latin typeface="Trebuchet MS"/>
                <a:cs typeface="Trebuchet MS"/>
              </a:rPr>
              <a:t>Expected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Frequencies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1524" y="43433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39800" y="4233544"/>
            <a:ext cx="6977380" cy="14452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75">
                <a:latin typeface="Gill Sans MT"/>
                <a:cs typeface="Gill Sans MT"/>
              </a:rPr>
              <a:t>So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what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does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value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-35">
                <a:latin typeface="Gill Sans MT"/>
                <a:cs typeface="Gill Sans MT"/>
              </a:rPr>
              <a:t>17.901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mean?</a:t>
            </a:r>
            <a:endParaRPr sz="1450">
              <a:latin typeface="Gill Sans MT"/>
              <a:cs typeface="Gill Sans MT"/>
            </a:endParaRPr>
          </a:p>
          <a:p>
            <a:pPr marL="12700" marR="3504565">
              <a:lnSpc>
                <a:spcPct val="181000"/>
              </a:lnSpc>
            </a:pPr>
            <a:r>
              <a:rPr dirty="0" sz="1450" spc="80">
                <a:latin typeface="Gill Sans MT"/>
                <a:cs typeface="Gill Sans MT"/>
              </a:rPr>
              <a:t>Is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this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large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discrepancy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or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14">
                <a:latin typeface="Gill Sans MT"/>
                <a:cs typeface="Gill Sans MT"/>
              </a:rPr>
              <a:t>small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one? </a:t>
            </a:r>
            <a:r>
              <a:rPr dirty="0" sz="1450">
                <a:latin typeface="Gill Sans MT"/>
                <a:cs typeface="Gill Sans MT"/>
              </a:rPr>
              <a:t>What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should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we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compare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it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25">
                <a:latin typeface="Gill Sans MT"/>
                <a:cs typeface="Gill Sans MT"/>
              </a:rPr>
              <a:t>to?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>
                <a:latin typeface="Gill Sans MT"/>
                <a:cs typeface="Gill Sans MT"/>
              </a:rPr>
              <a:t>What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would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be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sampling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distribution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this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statistic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under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null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hypothesis?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1524" y="47434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71524" y="51434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71524" y="55435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5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58800" y="3495569"/>
            <a:ext cx="584200" cy="55499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dirty="0" sz="2000" spc="640">
                <a:latin typeface="Arial"/>
                <a:cs typeface="Arial"/>
              </a:rPr>
              <a:t>∑</a:t>
            </a:r>
            <a:r>
              <a:rPr dirty="0" sz="2000" spc="-315">
                <a:latin typeface="Arial"/>
                <a:cs typeface="Arial"/>
              </a:rPr>
              <a:t> </a:t>
            </a:r>
            <a:r>
              <a:rPr dirty="0" sz="2000" spc="590">
                <a:latin typeface="Arial"/>
                <a:cs typeface="Arial"/>
              </a:rPr>
              <a:t>∑</a:t>
            </a:r>
            <a:endParaRPr sz="2000">
              <a:latin typeface="Arial"/>
              <a:cs typeface="Arial"/>
            </a:endParaRPr>
          </a:p>
          <a:p>
            <a:pPr algn="ctr" marL="3810">
              <a:lnSpc>
                <a:spcPct val="100000"/>
              </a:lnSpc>
              <a:spcBef>
                <a:spcPts val="150"/>
              </a:spcBef>
              <a:tabLst>
                <a:tab pos="294005" algn="l"/>
              </a:tabLst>
            </a:pPr>
            <a:r>
              <a:rPr dirty="0" sz="1100" spc="50" i="1">
                <a:latin typeface="Arial"/>
                <a:cs typeface="Arial"/>
              </a:rPr>
              <a:t>i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120" i="1">
                <a:latin typeface="Arial"/>
                <a:cs typeface="Arial"/>
              </a:rPr>
              <a:t>j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99481" y="3593784"/>
            <a:ext cx="16827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50">
                <a:latin typeface="Lucida Sans"/>
                <a:cs typeface="Lucida Sans"/>
              </a:rPr>
              <a:t>=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81809" y="3593784"/>
            <a:ext cx="292925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01750" algn="l"/>
                <a:tab pos="2773680" algn="l"/>
              </a:tabLst>
            </a:pPr>
            <a:r>
              <a:rPr dirty="0" sz="1500" spc="-50">
                <a:latin typeface="Lucida Sans"/>
                <a:cs typeface="Lucida Sans"/>
              </a:rPr>
              <a:t>+</a:t>
            </a:r>
            <a:r>
              <a:rPr dirty="0" sz="1500">
                <a:latin typeface="Lucida Sans"/>
                <a:cs typeface="Lucida Sans"/>
              </a:rPr>
              <a:t>	</a:t>
            </a:r>
            <a:r>
              <a:rPr dirty="0" sz="1500" spc="-50">
                <a:latin typeface="Lucida Sans"/>
                <a:cs typeface="Lucida Sans"/>
              </a:rPr>
              <a:t>+</a:t>
            </a:r>
            <a:r>
              <a:rPr dirty="0" sz="1500">
                <a:latin typeface="Lucida Sans"/>
                <a:cs typeface="Lucida Sans"/>
              </a:rPr>
              <a:t>	</a:t>
            </a:r>
            <a:r>
              <a:rPr dirty="0" sz="1500" spc="-50">
                <a:latin typeface="Lucida Sans"/>
                <a:cs typeface="Lucida Sans"/>
              </a:rPr>
              <a:t>+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42435" y="3593784"/>
            <a:ext cx="72707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60">
                <a:latin typeface="Lucida Sans"/>
                <a:cs typeface="Lucida Sans"/>
              </a:rPr>
              <a:t>=</a:t>
            </a:r>
            <a:r>
              <a:rPr dirty="0" sz="1500" spc="-75">
                <a:latin typeface="Lucida Sans"/>
                <a:cs typeface="Lucida Sans"/>
              </a:rPr>
              <a:t> </a:t>
            </a:r>
            <a:r>
              <a:rPr dirty="0" sz="1500" spc="-165">
                <a:latin typeface="Lucida Sans"/>
                <a:cs typeface="Lucida Sans"/>
              </a:rPr>
              <a:t>17.901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27373" y="3705771"/>
            <a:ext cx="16319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i="1">
                <a:latin typeface="Arial"/>
                <a:cs typeface="Arial"/>
              </a:rPr>
              <a:t>E</a:t>
            </a:r>
            <a:endParaRPr sz="15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62360" y="3791908"/>
            <a:ext cx="123825" cy="1924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10" i="1">
                <a:latin typeface="Arial"/>
                <a:cs typeface="Arial"/>
              </a:rPr>
              <a:t>ij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81099" y="3743324"/>
            <a:ext cx="962025" cy="9525"/>
          </a:xfrm>
          <a:custGeom>
            <a:avLst/>
            <a:gdLst/>
            <a:ahLst/>
            <a:cxnLst/>
            <a:rect l="l" t="t" r="r" b="b"/>
            <a:pathLst>
              <a:path w="962025" h="9525">
                <a:moveTo>
                  <a:pt x="962024" y="9524"/>
                </a:moveTo>
                <a:lnTo>
                  <a:pt x="0" y="9524"/>
                </a:lnTo>
                <a:lnTo>
                  <a:pt x="0" y="0"/>
                </a:lnTo>
                <a:lnTo>
                  <a:pt x="962024" y="0"/>
                </a:lnTo>
                <a:lnTo>
                  <a:pt x="96202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428874" y="3743324"/>
            <a:ext cx="1200150" cy="9525"/>
          </a:xfrm>
          <a:custGeom>
            <a:avLst/>
            <a:gdLst/>
            <a:ahLst/>
            <a:cxnLst/>
            <a:rect l="l" t="t" r="r" b="b"/>
            <a:pathLst>
              <a:path w="1200150" h="9525">
                <a:moveTo>
                  <a:pt x="1200149" y="9524"/>
                </a:moveTo>
                <a:lnTo>
                  <a:pt x="0" y="9524"/>
                </a:lnTo>
                <a:lnTo>
                  <a:pt x="0" y="0"/>
                </a:lnTo>
                <a:lnTo>
                  <a:pt x="1200149" y="0"/>
                </a:lnTo>
                <a:lnTo>
                  <a:pt x="12001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895724" y="3743324"/>
            <a:ext cx="1028700" cy="9525"/>
          </a:xfrm>
          <a:custGeom>
            <a:avLst/>
            <a:gdLst/>
            <a:ahLst/>
            <a:cxnLst/>
            <a:rect l="l" t="t" r="r" b="b"/>
            <a:pathLst>
              <a:path w="1028700" h="9525">
                <a:moveTo>
                  <a:pt x="1028699" y="9524"/>
                </a:moveTo>
                <a:lnTo>
                  <a:pt x="0" y="9524"/>
                </a:lnTo>
                <a:lnTo>
                  <a:pt x="0" y="0"/>
                </a:lnTo>
                <a:lnTo>
                  <a:pt x="1028699" y="0"/>
                </a:lnTo>
                <a:lnTo>
                  <a:pt x="10286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191124" y="3743324"/>
            <a:ext cx="1200150" cy="9525"/>
          </a:xfrm>
          <a:custGeom>
            <a:avLst/>
            <a:gdLst/>
            <a:ahLst/>
            <a:cxnLst/>
            <a:rect l="l" t="t" r="r" b="b"/>
            <a:pathLst>
              <a:path w="1200150" h="9525">
                <a:moveTo>
                  <a:pt x="1200149" y="9524"/>
                </a:moveTo>
                <a:lnTo>
                  <a:pt x="0" y="9524"/>
                </a:lnTo>
                <a:lnTo>
                  <a:pt x="0" y="0"/>
                </a:lnTo>
                <a:lnTo>
                  <a:pt x="1200149" y="0"/>
                </a:lnTo>
                <a:lnTo>
                  <a:pt x="12001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146075" y="3458121"/>
            <a:ext cx="657415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297305" algn="l"/>
                <a:tab pos="2769235" algn="l"/>
                <a:tab pos="4058920" algn="l"/>
                <a:tab pos="5530850" algn="l"/>
              </a:tabLst>
            </a:pPr>
            <a:r>
              <a:rPr dirty="0" baseline="1851" sz="2250" spc="82">
                <a:latin typeface="Lucida Sans"/>
                <a:cs typeface="Lucida Sans"/>
              </a:rPr>
              <a:t>(</a:t>
            </a:r>
            <a:r>
              <a:rPr dirty="0" baseline="1792" sz="2325" spc="82" i="1">
                <a:latin typeface="Arial"/>
                <a:cs typeface="Arial"/>
              </a:rPr>
              <a:t>O</a:t>
            </a:r>
            <a:r>
              <a:rPr dirty="0" baseline="-7575" sz="1650" spc="82" i="1">
                <a:latin typeface="Arial"/>
                <a:cs typeface="Arial"/>
              </a:rPr>
              <a:t>ij</a:t>
            </a:r>
            <a:r>
              <a:rPr dirty="0" baseline="-7575" sz="1650" spc="127" i="1">
                <a:latin typeface="Arial"/>
                <a:cs typeface="Arial"/>
              </a:rPr>
              <a:t> </a:t>
            </a:r>
            <a:r>
              <a:rPr dirty="0" baseline="1851" sz="2250" spc="-135">
                <a:latin typeface="Lucida Sans"/>
                <a:cs typeface="Lucida Sans"/>
              </a:rPr>
              <a:t>−</a:t>
            </a:r>
            <a:r>
              <a:rPr dirty="0" baseline="1851" sz="2250" spc="-225">
                <a:latin typeface="Lucida Sans"/>
                <a:cs typeface="Lucida Sans"/>
              </a:rPr>
              <a:t> </a:t>
            </a:r>
            <a:r>
              <a:rPr dirty="0" baseline="1792" sz="2325" spc="52" i="1">
                <a:latin typeface="Arial"/>
                <a:cs typeface="Arial"/>
              </a:rPr>
              <a:t>E</a:t>
            </a:r>
            <a:r>
              <a:rPr dirty="0" baseline="-7575" sz="1650" spc="52" i="1">
                <a:latin typeface="Arial"/>
                <a:cs typeface="Arial"/>
              </a:rPr>
              <a:t>ij</a:t>
            </a:r>
            <a:r>
              <a:rPr dirty="0" baseline="1851" sz="2250" spc="52">
                <a:latin typeface="Lucida Sans"/>
                <a:cs typeface="Lucida Sans"/>
              </a:rPr>
              <a:t>)</a:t>
            </a:r>
            <a:r>
              <a:rPr dirty="0" baseline="31746" sz="1575" spc="52">
                <a:latin typeface="Lucida Sans"/>
                <a:cs typeface="Lucida Sans"/>
              </a:rPr>
              <a:t>2</a:t>
            </a:r>
            <a:r>
              <a:rPr dirty="0" baseline="31746" sz="1575">
                <a:latin typeface="Lucida Sans"/>
                <a:cs typeface="Lucida Sans"/>
              </a:rPr>
              <a:t>	</a:t>
            </a:r>
            <a:r>
              <a:rPr dirty="0" sz="1500" spc="-175">
                <a:latin typeface="Lucida Sans"/>
                <a:cs typeface="Lucida Sans"/>
              </a:rPr>
              <a:t>(2199</a:t>
            </a:r>
            <a:r>
              <a:rPr dirty="0" sz="1500" spc="-150">
                <a:latin typeface="Lucida Sans"/>
                <a:cs typeface="Lucida Sans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−</a:t>
            </a:r>
            <a:r>
              <a:rPr dirty="0" sz="1500" spc="-140">
                <a:latin typeface="Lucida Sans"/>
                <a:cs typeface="Lucida Sans"/>
              </a:rPr>
              <a:t> </a:t>
            </a:r>
            <a:r>
              <a:rPr dirty="0" sz="1500" spc="-10">
                <a:latin typeface="Lucida Sans"/>
                <a:cs typeface="Lucida Sans"/>
              </a:rPr>
              <a:t>2240)</a:t>
            </a:r>
            <a:r>
              <a:rPr dirty="0" baseline="26455" sz="1575" spc="-15">
                <a:latin typeface="Lucida Sans"/>
                <a:cs typeface="Lucida Sans"/>
              </a:rPr>
              <a:t>2</a:t>
            </a:r>
            <a:r>
              <a:rPr dirty="0" baseline="26455" sz="1575">
                <a:latin typeface="Lucida Sans"/>
                <a:cs typeface="Lucida Sans"/>
              </a:rPr>
              <a:t>	</a:t>
            </a:r>
            <a:r>
              <a:rPr dirty="0" sz="1500" spc="-165">
                <a:latin typeface="Lucida Sans"/>
                <a:cs typeface="Lucida Sans"/>
              </a:rPr>
              <a:t>(246</a:t>
            </a:r>
            <a:r>
              <a:rPr dirty="0" sz="1500" spc="-140">
                <a:latin typeface="Lucida Sans"/>
                <a:cs typeface="Lucida Sans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−</a:t>
            </a:r>
            <a:r>
              <a:rPr dirty="0" sz="1500" spc="-135">
                <a:latin typeface="Lucida Sans"/>
                <a:cs typeface="Lucida Sans"/>
              </a:rPr>
              <a:t> </a:t>
            </a:r>
            <a:r>
              <a:rPr dirty="0" sz="1500" spc="-10">
                <a:latin typeface="Lucida Sans"/>
                <a:cs typeface="Lucida Sans"/>
              </a:rPr>
              <a:t>205)</a:t>
            </a:r>
            <a:r>
              <a:rPr dirty="0" baseline="26455" sz="1575" spc="-15">
                <a:latin typeface="Lucida Sans"/>
                <a:cs typeface="Lucida Sans"/>
              </a:rPr>
              <a:t>2</a:t>
            </a:r>
            <a:r>
              <a:rPr dirty="0" baseline="26455" sz="1575">
                <a:latin typeface="Lucida Sans"/>
                <a:cs typeface="Lucida Sans"/>
              </a:rPr>
              <a:t>	</a:t>
            </a:r>
            <a:r>
              <a:rPr dirty="0" sz="1500" spc="-175">
                <a:latin typeface="Lucida Sans"/>
                <a:cs typeface="Lucida Sans"/>
              </a:rPr>
              <a:t>(2281</a:t>
            </a:r>
            <a:r>
              <a:rPr dirty="0" sz="1500" spc="-150">
                <a:latin typeface="Lucida Sans"/>
                <a:cs typeface="Lucida Sans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−</a:t>
            </a:r>
            <a:r>
              <a:rPr dirty="0" sz="1500" spc="-140">
                <a:latin typeface="Lucida Sans"/>
                <a:cs typeface="Lucida Sans"/>
              </a:rPr>
              <a:t> </a:t>
            </a:r>
            <a:r>
              <a:rPr dirty="0" sz="1500" spc="-10">
                <a:latin typeface="Lucida Sans"/>
                <a:cs typeface="Lucida Sans"/>
              </a:rPr>
              <a:t>2240)</a:t>
            </a:r>
            <a:r>
              <a:rPr dirty="0" baseline="26455" sz="1575" spc="-15">
                <a:latin typeface="Lucida Sans"/>
                <a:cs typeface="Lucida Sans"/>
              </a:rPr>
              <a:t>2</a:t>
            </a:r>
            <a:r>
              <a:rPr dirty="0" baseline="26455" sz="1575">
                <a:latin typeface="Lucida Sans"/>
                <a:cs typeface="Lucida Sans"/>
              </a:rPr>
              <a:t>	</a:t>
            </a:r>
            <a:r>
              <a:rPr dirty="0" sz="1500" spc="-165">
                <a:latin typeface="Lucida Sans"/>
                <a:cs typeface="Lucida Sans"/>
              </a:rPr>
              <a:t>(164</a:t>
            </a:r>
            <a:r>
              <a:rPr dirty="0" sz="1500" spc="-140">
                <a:latin typeface="Lucida Sans"/>
                <a:cs typeface="Lucida Sans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−</a:t>
            </a:r>
            <a:r>
              <a:rPr dirty="0" sz="1500" spc="-135">
                <a:latin typeface="Lucida Sans"/>
                <a:cs typeface="Lucida Sans"/>
              </a:rPr>
              <a:t> </a:t>
            </a:r>
            <a:r>
              <a:rPr dirty="0" sz="1500" spc="-130">
                <a:latin typeface="Lucida Sans"/>
                <a:cs typeface="Lucida Sans"/>
              </a:rPr>
              <a:t>205)</a:t>
            </a:r>
            <a:r>
              <a:rPr dirty="0" baseline="26455" sz="1575" spc="-195">
                <a:latin typeface="Lucida Sans"/>
                <a:cs typeface="Lucida Sans"/>
              </a:rPr>
              <a:t>2</a:t>
            </a:r>
            <a:endParaRPr baseline="26455" sz="1575">
              <a:latin typeface="Lucida Sans"/>
              <a:cs typeface="Lucida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34084" y="3717609"/>
            <a:ext cx="448754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438275" algn="l"/>
                <a:tab pos="2773680" algn="l"/>
                <a:tab pos="4199890" algn="l"/>
              </a:tabLst>
            </a:pPr>
            <a:r>
              <a:rPr dirty="0" sz="1500" spc="-20">
                <a:latin typeface="Lucida Sans"/>
                <a:cs typeface="Lucida Sans"/>
              </a:rPr>
              <a:t>2240</a:t>
            </a:r>
            <a:r>
              <a:rPr dirty="0" sz="1500">
                <a:latin typeface="Lucida Sans"/>
                <a:cs typeface="Lucida Sans"/>
              </a:rPr>
              <a:t>	</a:t>
            </a:r>
            <a:r>
              <a:rPr dirty="0" sz="1500" spc="-25">
                <a:latin typeface="Lucida Sans"/>
                <a:cs typeface="Lucida Sans"/>
              </a:rPr>
              <a:t>205</a:t>
            </a:r>
            <a:r>
              <a:rPr dirty="0" sz="1500">
                <a:latin typeface="Lucida Sans"/>
                <a:cs typeface="Lucida Sans"/>
              </a:rPr>
              <a:t>	</a:t>
            </a:r>
            <a:r>
              <a:rPr dirty="0" sz="1500" spc="-20">
                <a:latin typeface="Lucida Sans"/>
                <a:cs typeface="Lucida Sans"/>
              </a:rPr>
              <a:t>2240</a:t>
            </a:r>
            <a:r>
              <a:rPr dirty="0" sz="1500">
                <a:latin typeface="Lucida Sans"/>
                <a:cs typeface="Lucida Sans"/>
              </a:rPr>
              <a:t>	</a:t>
            </a:r>
            <a:r>
              <a:rPr dirty="0" sz="1500" spc="-220">
                <a:latin typeface="Lucida Sans"/>
                <a:cs typeface="Lucida Sans"/>
              </a:rPr>
              <a:t>205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657974" y="3743324"/>
            <a:ext cx="1028700" cy="9525"/>
          </a:xfrm>
          <a:custGeom>
            <a:avLst/>
            <a:gdLst/>
            <a:ahLst/>
            <a:cxnLst/>
            <a:rect l="l" t="t" r="r" b="b"/>
            <a:pathLst>
              <a:path w="1028700" h="9525">
                <a:moveTo>
                  <a:pt x="1028699" y="9524"/>
                </a:moveTo>
                <a:lnTo>
                  <a:pt x="0" y="9524"/>
                </a:lnTo>
                <a:lnTo>
                  <a:pt x="0" y="0"/>
                </a:lnTo>
                <a:lnTo>
                  <a:pt x="1028699" y="0"/>
                </a:lnTo>
                <a:lnTo>
                  <a:pt x="10286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8800" y="394970"/>
            <a:ext cx="7164070" cy="464184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 spc="-25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Demonstration</a:t>
            </a:r>
            <a:r>
              <a:rPr dirty="0" sz="1450" spc="-60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450" spc="-10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of</a:t>
            </a:r>
            <a:r>
              <a:rPr dirty="0" sz="1450" spc="-60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450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Sampling</a:t>
            </a:r>
            <a:r>
              <a:rPr dirty="0" sz="1450" spc="-60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450" spc="-20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Distribution</a:t>
            </a:r>
            <a:r>
              <a:rPr dirty="0" sz="1450" spc="-60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450" spc="-10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of</a:t>
            </a:r>
            <a:r>
              <a:rPr dirty="0" sz="1450" spc="-55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450" spc="-30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Discrepancy</a:t>
            </a:r>
            <a:r>
              <a:rPr dirty="0" sz="1450" spc="-60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450" spc="-10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Statistic</a:t>
            </a:r>
            <a:r>
              <a:rPr dirty="0" sz="1450" spc="-60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450" spc="-30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for</a:t>
            </a:r>
            <a:r>
              <a:rPr dirty="0" sz="1450" spc="-60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450" spc="-10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Random</a:t>
            </a:r>
            <a:r>
              <a:rPr dirty="0" sz="1450" spc="-60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450" spc="-50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Two-</a:t>
            </a:r>
            <a:r>
              <a:rPr dirty="0" sz="1450" spc="-25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way</a:t>
            </a:r>
            <a:r>
              <a:rPr dirty="0" sz="1450" spc="-25" b="1">
                <a:solidFill>
                  <a:srgbClr val="3F97B4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Tables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800" y="394970"/>
            <a:ext cx="7153275" cy="464184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Gill Sans MT"/>
                <a:cs typeface="Gill Sans MT"/>
              </a:rPr>
              <a:t>Under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null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hypothesis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(and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sufficiently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large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samples),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sample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discrepancy </a:t>
            </a:r>
            <a:r>
              <a:rPr dirty="0" sz="1450" spc="70">
                <a:latin typeface="Gill Sans MT"/>
                <a:cs typeface="Gill Sans MT"/>
              </a:rPr>
              <a:t>statistic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approximately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distributed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20">
                <a:latin typeface="Gill Sans MT"/>
                <a:cs typeface="Gill Sans MT"/>
              </a:rPr>
              <a:t>as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chi-</a:t>
            </a:r>
            <a:r>
              <a:rPr dirty="0" sz="1450" spc="85">
                <a:latin typeface="Gill Sans MT"/>
                <a:cs typeface="Gill Sans MT"/>
              </a:rPr>
              <a:t>square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random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variable.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1524" y="1885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39800" y="1776095"/>
            <a:ext cx="3837304" cy="1057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Gill Sans MT"/>
                <a:cs typeface="Gill Sans MT"/>
              </a:rPr>
              <a:t>I: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number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rows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contingency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table</a:t>
            </a:r>
            <a:endParaRPr sz="1450">
              <a:latin typeface="Gill Sans MT"/>
              <a:cs typeface="Gill Sans MT"/>
            </a:endParaRPr>
          </a:p>
          <a:p>
            <a:pPr marL="12700" marR="5080">
              <a:lnSpc>
                <a:spcPct val="175300"/>
              </a:lnSpc>
              <a:spcBef>
                <a:spcPts val="175"/>
              </a:spcBef>
            </a:pPr>
            <a:r>
              <a:rPr dirty="0" sz="1450" spc="50">
                <a:latin typeface="Gill Sans MT"/>
                <a:cs typeface="Gill Sans MT"/>
              </a:rPr>
              <a:t>J: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number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columns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contingency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table </a:t>
            </a:r>
            <a:r>
              <a:rPr dirty="0" sz="1450">
                <a:latin typeface="Gill Sans MT"/>
                <a:cs typeface="Gill Sans MT"/>
              </a:rPr>
              <a:t>Degrees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freedom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-145">
                <a:latin typeface="Gill Sans MT"/>
                <a:cs typeface="Gill Sans MT"/>
              </a:rPr>
              <a:t>=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500" spc="130">
                <a:latin typeface="Lucida Sans"/>
                <a:cs typeface="Lucida Sans"/>
              </a:rPr>
              <a:t>(</a:t>
            </a:r>
            <a:r>
              <a:rPr dirty="0" sz="1550" spc="130" i="1">
                <a:latin typeface="Arial"/>
                <a:cs typeface="Arial"/>
              </a:rPr>
              <a:t>I</a:t>
            </a:r>
            <a:r>
              <a:rPr dirty="0" sz="1550" spc="5" i="1">
                <a:latin typeface="Arial"/>
                <a:cs typeface="Arial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−</a:t>
            </a:r>
            <a:r>
              <a:rPr dirty="0" sz="1500" spc="-130">
                <a:latin typeface="Lucida Sans"/>
                <a:cs typeface="Lucida Sans"/>
              </a:rPr>
              <a:t> </a:t>
            </a:r>
            <a:r>
              <a:rPr dirty="0" sz="1500">
                <a:latin typeface="Lucida Sans"/>
                <a:cs typeface="Lucida Sans"/>
              </a:rPr>
              <a:t>1)(</a:t>
            </a:r>
            <a:r>
              <a:rPr dirty="0" sz="1550" i="1">
                <a:latin typeface="Arial"/>
                <a:cs typeface="Arial"/>
              </a:rPr>
              <a:t>J</a:t>
            </a:r>
            <a:r>
              <a:rPr dirty="0" sz="1550" spc="25" i="1">
                <a:latin typeface="Arial"/>
                <a:cs typeface="Arial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−</a:t>
            </a:r>
            <a:r>
              <a:rPr dirty="0" sz="1500" spc="-130">
                <a:latin typeface="Lucida Sans"/>
                <a:cs typeface="Lucida Sans"/>
              </a:rPr>
              <a:t> </a:t>
            </a:r>
            <a:r>
              <a:rPr dirty="0" sz="1500" spc="-25">
                <a:latin typeface="Lucida Sans"/>
                <a:cs typeface="Lucida Sans"/>
              </a:rPr>
              <a:t>1)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1524" y="22955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1524" y="2695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2315319" y="3066507"/>
            <a:ext cx="3319145" cy="2507615"/>
            <a:chOff x="2315319" y="3066507"/>
            <a:chExt cx="3319145" cy="2507615"/>
          </a:xfrm>
        </p:grpSpPr>
        <p:sp>
          <p:nvSpPr>
            <p:cNvPr id="8" name="object 8"/>
            <p:cNvSpPr/>
            <p:nvPr/>
          </p:nvSpPr>
          <p:spPr>
            <a:xfrm>
              <a:off x="2649177" y="5134383"/>
              <a:ext cx="2980055" cy="0"/>
            </a:xfrm>
            <a:custGeom>
              <a:avLst/>
              <a:gdLst/>
              <a:ahLst/>
              <a:cxnLst/>
              <a:rect l="l" t="t" r="r" b="b"/>
              <a:pathLst>
                <a:path w="2980054" h="0">
                  <a:moveTo>
                    <a:pt x="0" y="0"/>
                  </a:moveTo>
                  <a:lnTo>
                    <a:pt x="2979985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649177" y="4684141"/>
              <a:ext cx="2980055" cy="0"/>
            </a:xfrm>
            <a:custGeom>
              <a:avLst/>
              <a:gdLst/>
              <a:ahLst/>
              <a:cxnLst/>
              <a:rect l="l" t="t" r="r" b="b"/>
              <a:pathLst>
                <a:path w="2980054" h="0">
                  <a:moveTo>
                    <a:pt x="0" y="0"/>
                  </a:moveTo>
                  <a:lnTo>
                    <a:pt x="2979985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649177" y="4233899"/>
              <a:ext cx="2980055" cy="0"/>
            </a:xfrm>
            <a:custGeom>
              <a:avLst/>
              <a:gdLst/>
              <a:ahLst/>
              <a:cxnLst/>
              <a:rect l="l" t="t" r="r" b="b"/>
              <a:pathLst>
                <a:path w="2980054" h="0">
                  <a:moveTo>
                    <a:pt x="0" y="0"/>
                  </a:moveTo>
                  <a:lnTo>
                    <a:pt x="2979985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649177" y="3783657"/>
              <a:ext cx="2980055" cy="0"/>
            </a:xfrm>
            <a:custGeom>
              <a:avLst/>
              <a:gdLst/>
              <a:ahLst/>
              <a:cxnLst/>
              <a:rect l="l" t="t" r="r" b="b"/>
              <a:pathLst>
                <a:path w="2980054" h="0">
                  <a:moveTo>
                    <a:pt x="0" y="0"/>
                  </a:moveTo>
                  <a:lnTo>
                    <a:pt x="2979985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649177" y="3333377"/>
              <a:ext cx="2980055" cy="0"/>
            </a:xfrm>
            <a:custGeom>
              <a:avLst/>
              <a:gdLst/>
              <a:ahLst/>
              <a:cxnLst/>
              <a:rect l="l" t="t" r="r" b="b"/>
              <a:pathLst>
                <a:path w="2980054" h="0">
                  <a:moveTo>
                    <a:pt x="0" y="0"/>
                  </a:moveTo>
                  <a:lnTo>
                    <a:pt x="2979985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122079" y="3071626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w="0"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799693" y="3071626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w="0"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477307" y="3071626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w="0"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154922" y="3071626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w="0"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49177" y="5359523"/>
              <a:ext cx="2980055" cy="0"/>
            </a:xfrm>
            <a:custGeom>
              <a:avLst/>
              <a:gdLst/>
              <a:ahLst/>
              <a:cxnLst/>
              <a:rect l="l" t="t" r="r" b="b"/>
              <a:pathLst>
                <a:path w="2980054" h="0">
                  <a:moveTo>
                    <a:pt x="0" y="0"/>
                  </a:moveTo>
                  <a:lnTo>
                    <a:pt x="2979985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49177" y="4909281"/>
              <a:ext cx="2980055" cy="0"/>
            </a:xfrm>
            <a:custGeom>
              <a:avLst/>
              <a:gdLst/>
              <a:ahLst/>
              <a:cxnLst/>
              <a:rect l="l" t="t" r="r" b="b"/>
              <a:pathLst>
                <a:path w="2980054" h="0">
                  <a:moveTo>
                    <a:pt x="0" y="0"/>
                  </a:moveTo>
                  <a:lnTo>
                    <a:pt x="2979985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649177" y="4459039"/>
              <a:ext cx="2980055" cy="0"/>
            </a:xfrm>
            <a:custGeom>
              <a:avLst/>
              <a:gdLst/>
              <a:ahLst/>
              <a:cxnLst/>
              <a:rect l="l" t="t" r="r" b="b"/>
              <a:pathLst>
                <a:path w="2980054" h="0">
                  <a:moveTo>
                    <a:pt x="0" y="0"/>
                  </a:moveTo>
                  <a:lnTo>
                    <a:pt x="2979985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649177" y="4008759"/>
              <a:ext cx="2980055" cy="0"/>
            </a:xfrm>
            <a:custGeom>
              <a:avLst/>
              <a:gdLst/>
              <a:ahLst/>
              <a:cxnLst/>
              <a:rect l="l" t="t" r="r" b="b"/>
              <a:pathLst>
                <a:path w="2980054" h="0">
                  <a:moveTo>
                    <a:pt x="0" y="0"/>
                  </a:moveTo>
                  <a:lnTo>
                    <a:pt x="2979985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649177" y="3558517"/>
              <a:ext cx="2980055" cy="0"/>
            </a:xfrm>
            <a:custGeom>
              <a:avLst/>
              <a:gdLst/>
              <a:ahLst/>
              <a:cxnLst/>
              <a:rect l="l" t="t" r="r" b="b"/>
              <a:pathLst>
                <a:path w="2980054" h="0">
                  <a:moveTo>
                    <a:pt x="0" y="0"/>
                  </a:moveTo>
                  <a:lnTo>
                    <a:pt x="2979985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649177" y="3108275"/>
              <a:ext cx="2980055" cy="0"/>
            </a:xfrm>
            <a:custGeom>
              <a:avLst/>
              <a:gdLst/>
              <a:ahLst/>
              <a:cxnLst/>
              <a:rect l="l" t="t" r="r" b="b"/>
              <a:pathLst>
                <a:path w="2980054" h="0">
                  <a:moveTo>
                    <a:pt x="0" y="0"/>
                  </a:moveTo>
                  <a:lnTo>
                    <a:pt x="2979985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83271" y="3071626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w="0"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460886" y="3071626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w="0"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138500" y="3071626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w="0"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816115" y="3071626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w="0"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493729" y="3071626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w="0"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9529" y="3175486"/>
              <a:ext cx="2719281" cy="218911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649177" y="3071589"/>
              <a:ext cx="2980055" cy="2397125"/>
            </a:xfrm>
            <a:custGeom>
              <a:avLst/>
              <a:gdLst/>
              <a:ahLst/>
              <a:cxnLst/>
              <a:rect l="l" t="t" r="r" b="b"/>
              <a:pathLst>
                <a:path w="2980054" h="2397125">
                  <a:moveTo>
                    <a:pt x="0" y="2396876"/>
                  </a:moveTo>
                  <a:lnTo>
                    <a:pt x="2979985" y="2396876"/>
                  </a:lnTo>
                  <a:lnTo>
                    <a:pt x="2979985" y="0"/>
                  </a:lnTo>
                  <a:lnTo>
                    <a:pt x="0" y="0"/>
                  </a:lnTo>
                  <a:lnTo>
                    <a:pt x="0" y="2396876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2785" y="5329944"/>
              <a:ext cx="155910" cy="5923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2786" y="4879701"/>
              <a:ext cx="155901" cy="5923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42786" y="3528826"/>
              <a:ext cx="155752" cy="5897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42786" y="3078584"/>
              <a:ext cx="155901" cy="5934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623095" y="3108275"/>
              <a:ext cx="838200" cy="2386330"/>
            </a:xfrm>
            <a:custGeom>
              <a:avLst/>
              <a:gdLst/>
              <a:ahLst/>
              <a:cxnLst/>
              <a:rect l="l" t="t" r="r" b="b"/>
              <a:pathLst>
                <a:path w="838200" h="2386329">
                  <a:moveTo>
                    <a:pt x="0" y="2251248"/>
                  </a:moveTo>
                  <a:lnTo>
                    <a:pt x="26082" y="2251248"/>
                  </a:lnTo>
                </a:path>
                <a:path w="838200" h="2386329">
                  <a:moveTo>
                    <a:pt x="0" y="1801006"/>
                  </a:moveTo>
                  <a:lnTo>
                    <a:pt x="26082" y="1801006"/>
                  </a:lnTo>
                </a:path>
                <a:path w="838200" h="2386329">
                  <a:moveTo>
                    <a:pt x="0" y="1350763"/>
                  </a:moveTo>
                  <a:lnTo>
                    <a:pt x="26082" y="1350763"/>
                  </a:lnTo>
                </a:path>
                <a:path w="838200" h="2386329">
                  <a:moveTo>
                    <a:pt x="0" y="900484"/>
                  </a:moveTo>
                  <a:lnTo>
                    <a:pt x="26082" y="900484"/>
                  </a:lnTo>
                </a:path>
                <a:path w="838200" h="2386329">
                  <a:moveTo>
                    <a:pt x="0" y="450242"/>
                  </a:moveTo>
                  <a:lnTo>
                    <a:pt x="26082" y="450242"/>
                  </a:lnTo>
                </a:path>
                <a:path w="838200" h="2386329">
                  <a:moveTo>
                    <a:pt x="0" y="0"/>
                  </a:moveTo>
                  <a:lnTo>
                    <a:pt x="26082" y="0"/>
                  </a:lnTo>
                </a:path>
                <a:path w="838200" h="2386329">
                  <a:moveTo>
                    <a:pt x="160176" y="2386310"/>
                  </a:moveTo>
                  <a:lnTo>
                    <a:pt x="160176" y="2360190"/>
                  </a:lnTo>
                </a:path>
                <a:path w="838200" h="2386329">
                  <a:moveTo>
                    <a:pt x="837790" y="2386310"/>
                  </a:moveTo>
                  <a:lnTo>
                    <a:pt x="837790" y="2360190"/>
                  </a:lnTo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15319" y="3979291"/>
              <a:ext cx="283368" cy="50914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138500" y="5468465"/>
              <a:ext cx="1355725" cy="26670"/>
            </a:xfrm>
            <a:custGeom>
              <a:avLst/>
              <a:gdLst/>
              <a:ahLst/>
              <a:cxnLst/>
              <a:rect l="l" t="t" r="r" b="b"/>
              <a:pathLst>
                <a:path w="1355725" h="26670">
                  <a:moveTo>
                    <a:pt x="0" y="26119"/>
                  </a:moveTo>
                  <a:lnTo>
                    <a:pt x="0" y="0"/>
                  </a:lnTo>
                </a:path>
                <a:path w="1355725" h="26670">
                  <a:moveTo>
                    <a:pt x="677614" y="26119"/>
                  </a:moveTo>
                  <a:lnTo>
                    <a:pt x="677614" y="0"/>
                  </a:lnTo>
                </a:path>
                <a:path w="1355725" h="26670">
                  <a:moveTo>
                    <a:pt x="1355228" y="26119"/>
                  </a:moveTo>
                  <a:lnTo>
                    <a:pt x="1355228" y="0"/>
                  </a:lnTo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763786" y="5514606"/>
              <a:ext cx="2773045" cy="59690"/>
            </a:xfrm>
            <a:custGeom>
              <a:avLst/>
              <a:gdLst/>
              <a:ahLst/>
              <a:cxnLst/>
              <a:rect l="l" t="t" r="r" b="b"/>
              <a:pathLst>
                <a:path w="2773045" h="59689">
                  <a:moveTo>
                    <a:pt x="39052" y="21170"/>
                  </a:moveTo>
                  <a:lnTo>
                    <a:pt x="33870" y="6362"/>
                  </a:lnTo>
                  <a:lnTo>
                    <a:pt x="33172" y="5473"/>
                  </a:lnTo>
                  <a:lnTo>
                    <a:pt x="32575" y="4838"/>
                  </a:lnTo>
                  <a:lnTo>
                    <a:pt x="31496" y="3835"/>
                  </a:lnTo>
                  <a:lnTo>
                    <a:pt x="31496" y="20167"/>
                  </a:lnTo>
                  <a:lnTo>
                    <a:pt x="31457" y="38925"/>
                  </a:lnTo>
                  <a:lnTo>
                    <a:pt x="29527" y="46329"/>
                  </a:lnTo>
                  <a:lnTo>
                    <a:pt x="29324" y="46850"/>
                  </a:lnTo>
                  <a:lnTo>
                    <a:pt x="22237" y="53022"/>
                  </a:lnTo>
                  <a:lnTo>
                    <a:pt x="22542" y="53022"/>
                  </a:lnTo>
                  <a:lnTo>
                    <a:pt x="20599" y="53289"/>
                  </a:lnTo>
                  <a:lnTo>
                    <a:pt x="18288" y="53289"/>
                  </a:lnTo>
                  <a:lnTo>
                    <a:pt x="16332" y="53022"/>
                  </a:lnTo>
                  <a:lnTo>
                    <a:pt x="16649" y="53022"/>
                  </a:lnTo>
                  <a:lnTo>
                    <a:pt x="15087" y="52578"/>
                  </a:lnTo>
                  <a:lnTo>
                    <a:pt x="7429" y="38925"/>
                  </a:lnTo>
                  <a:lnTo>
                    <a:pt x="7429" y="20167"/>
                  </a:lnTo>
                  <a:lnTo>
                    <a:pt x="16167" y="6362"/>
                  </a:lnTo>
                  <a:lnTo>
                    <a:pt x="22936" y="6362"/>
                  </a:lnTo>
                  <a:lnTo>
                    <a:pt x="28105" y="9931"/>
                  </a:lnTo>
                  <a:lnTo>
                    <a:pt x="28486" y="10426"/>
                  </a:lnTo>
                  <a:lnTo>
                    <a:pt x="31496" y="20167"/>
                  </a:lnTo>
                  <a:lnTo>
                    <a:pt x="31496" y="3835"/>
                  </a:lnTo>
                  <a:lnTo>
                    <a:pt x="23609" y="342"/>
                  </a:lnTo>
                  <a:lnTo>
                    <a:pt x="15455" y="342"/>
                  </a:lnTo>
                  <a:lnTo>
                    <a:pt x="0" y="20167"/>
                  </a:lnTo>
                  <a:lnTo>
                    <a:pt x="12" y="38925"/>
                  </a:lnTo>
                  <a:lnTo>
                    <a:pt x="16090" y="59093"/>
                  </a:lnTo>
                  <a:lnTo>
                    <a:pt x="22644" y="59093"/>
                  </a:lnTo>
                  <a:lnTo>
                    <a:pt x="38938" y="38696"/>
                  </a:lnTo>
                  <a:lnTo>
                    <a:pt x="39052" y="21170"/>
                  </a:lnTo>
                  <a:close/>
                </a:path>
                <a:path w="2773045" h="59689">
                  <a:moveTo>
                    <a:pt x="716889" y="39738"/>
                  </a:moveTo>
                  <a:lnTo>
                    <a:pt x="699960" y="21767"/>
                  </a:lnTo>
                  <a:lnTo>
                    <a:pt x="695934" y="21805"/>
                  </a:lnTo>
                  <a:lnTo>
                    <a:pt x="693115" y="22250"/>
                  </a:lnTo>
                  <a:lnTo>
                    <a:pt x="690130" y="23253"/>
                  </a:lnTo>
                  <a:lnTo>
                    <a:pt x="687603" y="24523"/>
                  </a:lnTo>
                  <a:lnTo>
                    <a:pt x="686346" y="25412"/>
                  </a:lnTo>
                  <a:lnTo>
                    <a:pt x="687451" y="7112"/>
                  </a:lnTo>
                  <a:lnTo>
                    <a:pt x="713536" y="7112"/>
                  </a:lnTo>
                  <a:lnTo>
                    <a:pt x="713536" y="863"/>
                  </a:lnTo>
                  <a:lnTo>
                    <a:pt x="680758" y="863"/>
                  </a:lnTo>
                  <a:lnTo>
                    <a:pt x="678827" y="31889"/>
                  </a:lnTo>
                  <a:lnTo>
                    <a:pt x="686003" y="31889"/>
                  </a:lnTo>
                  <a:lnTo>
                    <a:pt x="690435" y="28943"/>
                  </a:lnTo>
                  <a:lnTo>
                    <a:pt x="693331" y="28054"/>
                  </a:lnTo>
                  <a:lnTo>
                    <a:pt x="695312" y="27800"/>
                  </a:lnTo>
                  <a:lnTo>
                    <a:pt x="697915" y="27762"/>
                  </a:lnTo>
                  <a:lnTo>
                    <a:pt x="700557" y="28168"/>
                  </a:lnTo>
                  <a:lnTo>
                    <a:pt x="709218" y="40525"/>
                  </a:lnTo>
                  <a:lnTo>
                    <a:pt x="708660" y="44615"/>
                  </a:lnTo>
                  <a:lnTo>
                    <a:pt x="696010" y="53314"/>
                  </a:lnTo>
                  <a:lnTo>
                    <a:pt x="692886" y="52984"/>
                  </a:lnTo>
                  <a:lnTo>
                    <a:pt x="684593" y="44767"/>
                  </a:lnTo>
                  <a:lnTo>
                    <a:pt x="677151" y="45618"/>
                  </a:lnTo>
                  <a:lnTo>
                    <a:pt x="696417" y="59347"/>
                  </a:lnTo>
                  <a:lnTo>
                    <a:pt x="698398" y="59270"/>
                  </a:lnTo>
                  <a:lnTo>
                    <a:pt x="716546" y="43865"/>
                  </a:lnTo>
                  <a:lnTo>
                    <a:pt x="716889" y="39738"/>
                  </a:lnTo>
                  <a:close/>
                </a:path>
                <a:path w="2773045" h="59689">
                  <a:moveTo>
                    <a:pt x="1370609" y="52235"/>
                  </a:moveTo>
                  <a:lnTo>
                    <a:pt x="1356588" y="52235"/>
                  </a:lnTo>
                  <a:lnTo>
                    <a:pt x="1356588" y="863"/>
                  </a:lnTo>
                  <a:lnTo>
                    <a:pt x="1349781" y="863"/>
                  </a:lnTo>
                  <a:lnTo>
                    <a:pt x="1336167" y="10236"/>
                  </a:lnTo>
                  <a:lnTo>
                    <a:pt x="1336167" y="17195"/>
                  </a:lnTo>
                  <a:lnTo>
                    <a:pt x="1349184" y="7886"/>
                  </a:lnTo>
                  <a:lnTo>
                    <a:pt x="1349184" y="52235"/>
                  </a:lnTo>
                  <a:lnTo>
                    <a:pt x="1334490" y="52235"/>
                  </a:lnTo>
                  <a:lnTo>
                    <a:pt x="1334490" y="58534"/>
                  </a:lnTo>
                  <a:lnTo>
                    <a:pt x="1370609" y="58534"/>
                  </a:lnTo>
                  <a:lnTo>
                    <a:pt x="1370609" y="52235"/>
                  </a:lnTo>
                  <a:close/>
                </a:path>
                <a:path w="2773045" h="59689">
                  <a:moveTo>
                    <a:pt x="1417561" y="37922"/>
                  </a:moveTo>
                  <a:lnTo>
                    <a:pt x="1416380" y="14884"/>
                  </a:lnTo>
                  <a:lnTo>
                    <a:pt x="1415821" y="13068"/>
                  </a:lnTo>
                  <a:lnTo>
                    <a:pt x="1410169" y="3937"/>
                  </a:lnTo>
                  <a:lnTo>
                    <a:pt x="1410169" y="21170"/>
                  </a:lnTo>
                  <a:lnTo>
                    <a:pt x="1410131" y="37922"/>
                  </a:lnTo>
                  <a:lnTo>
                    <a:pt x="1400746" y="53022"/>
                  </a:lnTo>
                  <a:lnTo>
                    <a:pt x="1401064" y="53022"/>
                  </a:lnTo>
                  <a:lnTo>
                    <a:pt x="1399120" y="53289"/>
                  </a:lnTo>
                  <a:lnTo>
                    <a:pt x="1396809" y="53289"/>
                  </a:lnTo>
                  <a:lnTo>
                    <a:pt x="1394853" y="53022"/>
                  </a:lnTo>
                  <a:lnTo>
                    <a:pt x="1395171" y="53022"/>
                  </a:lnTo>
                  <a:lnTo>
                    <a:pt x="1393647" y="52578"/>
                  </a:lnTo>
                  <a:lnTo>
                    <a:pt x="1385938" y="38925"/>
                  </a:lnTo>
                  <a:lnTo>
                    <a:pt x="1385951" y="20167"/>
                  </a:lnTo>
                  <a:lnTo>
                    <a:pt x="1386255" y="18237"/>
                  </a:lnTo>
                  <a:lnTo>
                    <a:pt x="1386814" y="15671"/>
                  </a:lnTo>
                  <a:lnTo>
                    <a:pt x="1386928" y="15252"/>
                  </a:lnTo>
                  <a:lnTo>
                    <a:pt x="1387043" y="14884"/>
                  </a:lnTo>
                  <a:lnTo>
                    <a:pt x="1387259" y="14135"/>
                  </a:lnTo>
                  <a:lnTo>
                    <a:pt x="1395806" y="6146"/>
                  </a:lnTo>
                  <a:lnTo>
                    <a:pt x="1400416" y="6146"/>
                  </a:lnTo>
                  <a:lnTo>
                    <a:pt x="1408341" y="13068"/>
                  </a:lnTo>
                  <a:lnTo>
                    <a:pt x="1408493" y="13436"/>
                  </a:lnTo>
                  <a:lnTo>
                    <a:pt x="1408976" y="14884"/>
                  </a:lnTo>
                  <a:lnTo>
                    <a:pt x="1409065" y="15252"/>
                  </a:lnTo>
                  <a:lnTo>
                    <a:pt x="1409166" y="15671"/>
                  </a:lnTo>
                  <a:lnTo>
                    <a:pt x="1409369" y="16408"/>
                  </a:lnTo>
                  <a:lnTo>
                    <a:pt x="1409750" y="18237"/>
                  </a:lnTo>
                  <a:lnTo>
                    <a:pt x="1409865" y="18935"/>
                  </a:lnTo>
                  <a:lnTo>
                    <a:pt x="1409903" y="19164"/>
                  </a:lnTo>
                  <a:lnTo>
                    <a:pt x="1410017" y="20167"/>
                  </a:lnTo>
                  <a:lnTo>
                    <a:pt x="1410169" y="21170"/>
                  </a:lnTo>
                  <a:lnTo>
                    <a:pt x="1410169" y="3937"/>
                  </a:lnTo>
                  <a:lnTo>
                    <a:pt x="1400606" y="114"/>
                  </a:lnTo>
                  <a:lnTo>
                    <a:pt x="1395615" y="114"/>
                  </a:lnTo>
                  <a:lnTo>
                    <a:pt x="1378851" y="18237"/>
                  </a:lnTo>
                  <a:lnTo>
                    <a:pt x="1378724" y="18935"/>
                  </a:lnTo>
                  <a:lnTo>
                    <a:pt x="1378699" y="19164"/>
                  </a:lnTo>
                  <a:lnTo>
                    <a:pt x="1378419" y="21170"/>
                  </a:lnTo>
                  <a:lnTo>
                    <a:pt x="1378432" y="37922"/>
                  </a:lnTo>
                  <a:lnTo>
                    <a:pt x="1394612" y="59093"/>
                  </a:lnTo>
                  <a:lnTo>
                    <a:pt x="1401165" y="59093"/>
                  </a:lnTo>
                  <a:lnTo>
                    <a:pt x="1411782" y="53289"/>
                  </a:lnTo>
                  <a:lnTo>
                    <a:pt x="1412697" y="52095"/>
                  </a:lnTo>
                  <a:lnTo>
                    <a:pt x="1417281" y="39890"/>
                  </a:lnTo>
                  <a:lnTo>
                    <a:pt x="1417561" y="37922"/>
                  </a:lnTo>
                  <a:close/>
                </a:path>
                <a:path w="2773045" h="59689">
                  <a:moveTo>
                    <a:pt x="2048230" y="52235"/>
                  </a:moveTo>
                  <a:lnTo>
                    <a:pt x="2034197" y="52235"/>
                  </a:lnTo>
                  <a:lnTo>
                    <a:pt x="2034197" y="863"/>
                  </a:lnTo>
                  <a:lnTo>
                    <a:pt x="2027389" y="863"/>
                  </a:lnTo>
                  <a:lnTo>
                    <a:pt x="2013775" y="10236"/>
                  </a:lnTo>
                  <a:lnTo>
                    <a:pt x="2013775" y="17195"/>
                  </a:lnTo>
                  <a:lnTo>
                    <a:pt x="2026754" y="7886"/>
                  </a:lnTo>
                  <a:lnTo>
                    <a:pt x="2026754" y="52235"/>
                  </a:lnTo>
                  <a:lnTo>
                    <a:pt x="2012099" y="52235"/>
                  </a:lnTo>
                  <a:lnTo>
                    <a:pt x="2012099" y="58534"/>
                  </a:lnTo>
                  <a:lnTo>
                    <a:pt x="2048230" y="58534"/>
                  </a:lnTo>
                  <a:lnTo>
                    <a:pt x="2048230" y="52235"/>
                  </a:lnTo>
                  <a:close/>
                </a:path>
                <a:path w="2773045" h="59689">
                  <a:moveTo>
                    <a:pt x="2095411" y="39738"/>
                  </a:moveTo>
                  <a:lnTo>
                    <a:pt x="2075980" y="21729"/>
                  </a:lnTo>
                  <a:lnTo>
                    <a:pt x="2073719" y="21882"/>
                  </a:lnTo>
                  <a:lnTo>
                    <a:pt x="2069807" y="22809"/>
                  </a:lnTo>
                  <a:lnTo>
                    <a:pt x="2066607" y="24257"/>
                  </a:lnTo>
                  <a:lnTo>
                    <a:pt x="2064893" y="25412"/>
                  </a:lnTo>
                  <a:lnTo>
                    <a:pt x="2065972" y="7112"/>
                  </a:lnTo>
                  <a:lnTo>
                    <a:pt x="2092058" y="7112"/>
                  </a:lnTo>
                  <a:lnTo>
                    <a:pt x="2092058" y="863"/>
                  </a:lnTo>
                  <a:lnTo>
                    <a:pt x="2059279" y="863"/>
                  </a:lnTo>
                  <a:lnTo>
                    <a:pt x="2057349" y="31889"/>
                  </a:lnTo>
                  <a:lnTo>
                    <a:pt x="2064562" y="31889"/>
                  </a:lnTo>
                  <a:lnTo>
                    <a:pt x="2067471" y="29730"/>
                  </a:lnTo>
                  <a:lnTo>
                    <a:pt x="2068995" y="28943"/>
                  </a:lnTo>
                  <a:lnTo>
                    <a:pt x="2073490" y="27838"/>
                  </a:lnTo>
                  <a:lnTo>
                    <a:pt x="2077542" y="27876"/>
                  </a:lnTo>
                  <a:lnTo>
                    <a:pt x="2080044" y="28460"/>
                  </a:lnTo>
                  <a:lnTo>
                    <a:pt x="2087740" y="38849"/>
                  </a:lnTo>
                  <a:lnTo>
                    <a:pt x="2087740" y="41148"/>
                  </a:lnTo>
                  <a:lnTo>
                    <a:pt x="2076767" y="53251"/>
                  </a:lnTo>
                  <a:lnTo>
                    <a:pt x="2073414" y="53251"/>
                  </a:lnTo>
                  <a:lnTo>
                    <a:pt x="2063115" y="44767"/>
                  </a:lnTo>
                  <a:lnTo>
                    <a:pt x="2055672" y="45618"/>
                  </a:lnTo>
                  <a:lnTo>
                    <a:pt x="2074938" y="59347"/>
                  </a:lnTo>
                  <a:lnTo>
                    <a:pt x="2079663" y="58978"/>
                  </a:lnTo>
                  <a:lnTo>
                    <a:pt x="2095220" y="43091"/>
                  </a:lnTo>
                  <a:lnTo>
                    <a:pt x="2095411" y="39738"/>
                  </a:lnTo>
                  <a:close/>
                </a:path>
                <a:path w="2773045" h="59689">
                  <a:moveTo>
                    <a:pt x="2725737" y="52235"/>
                  </a:moveTo>
                  <a:lnTo>
                    <a:pt x="2695625" y="52235"/>
                  </a:lnTo>
                  <a:lnTo>
                    <a:pt x="2696045" y="51308"/>
                  </a:lnTo>
                  <a:lnTo>
                    <a:pt x="2698013" y="48221"/>
                  </a:lnTo>
                  <a:lnTo>
                    <a:pt x="2702331" y="43535"/>
                  </a:lnTo>
                  <a:lnTo>
                    <a:pt x="2712148" y="35242"/>
                  </a:lnTo>
                  <a:lnTo>
                    <a:pt x="2719108" y="28651"/>
                  </a:lnTo>
                  <a:lnTo>
                    <a:pt x="2721978" y="24853"/>
                  </a:lnTo>
                  <a:lnTo>
                    <a:pt x="2723756" y="21323"/>
                  </a:lnTo>
                  <a:lnTo>
                    <a:pt x="2724658" y="18046"/>
                  </a:lnTo>
                  <a:lnTo>
                    <a:pt x="2724797" y="15036"/>
                  </a:lnTo>
                  <a:lnTo>
                    <a:pt x="2724620" y="12839"/>
                  </a:lnTo>
                  <a:lnTo>
                    <a:pt x="2705862" y="0"/>
                  </a:lnTo>
                  <a:lnTo>
                    <a:pt x="2703372" y="190"/>
                  </a:lnTo>
                  <a:lnTo>
                    <a:pt x="2687853" y="15113"/>
                  </a:lnTo>
                  <a:lnTo>
                    <a:pt x="2695371" y="15773"/>
                  </a:lnTo>
                  <a:lnTo>
                    <a:pt x="2695702" y="13957"/>
                  </a:lnTo>
                  <a:lnTo>
                    <a:pt x="2696603" y="11569"/>
                  </a:lnTo>
                  <a:lnTo>
                    <a:pt x="2697975" y="9563"/>
                  </a:lnTo>
                  <a:lnTo>
                    <a:pt x="2699728" y="8039"/>
                  </a:lnTo>
                  <a:lnTo>
                    <a:pt x="2702179" y="6769"/>
                  </a:lnTo>
                  <a:lnTo>
                    <a:pt x="2705011" y="6146"/>
                  </a:lnTo>
                  <a:lnTo>
                    <a:pt x="2708541" y="6146"/>
                  </a:lnTo>
                  <a:lnTo>
                    <a:pt x="2717254" y="15557"/>
                  </a:lnTo>
                  <a:lnTo>
                    <a:pt x="2716987" y="18719"/>
                  </a:lnTo>
                  <a:lnTo>
                    <a:pt x="2696972" y="40068"/>
                  </a:lnTo>
                  <a:lnTo>
                    <a:pt x="2693809" y="43459"/>
                  </a:lnTo>
                  <a:lnTo>
                    <a:pt x="2691422" y="46405"/>
                  </a:lnTo>
                  <a:lnTo>
                    <a:pt x="2688856" y="50533"/>
                  </a:lnTo>
                  <a:lnTo>
                    <a:pt x="2687523" y="53314"/>
                  </a:lnTo>
                  <a:lnTo>
                    <a:pt x="2687523" y="58534"/>
                  </a:lnTo>
                  <a:lnTo>
                    <a:pt x="2725737" y="58534"/>
                  </a:lnTo>
                  <a:lnTo>
                    <a:pt x="2725737" y="52235"/>
                  </a:lnTo>
                  <a:close/>
                </a:path>
                <a:path w="2773045" h="59689">
                  <a:moveTo>
                    <a:pt x="2772702" y="20167"/>
                  </a:moveTo>
                  <a:lnTo>
                    <a:pt x="2765399" y="3962"/>
                  </a:lnTo>
                  <a:lnTo>
                    <a:pt x="2765399" y="21170"/>
                  </a:lnTo>
                  <a:lnTo>
                    <a:pt x="2765361" y="37922"/>
                  </a:lnTo>
                  <a:lnTo>
                    <a:pt x="2765234" y="38735"/>
                  </a:lnTo>
                  <a:lnTo>
                    <a:pt x="2765209" y="38925"/>
                  </a:lnTo>
                  <a:lnTo>
                    <a:pt x="2765056" y="39890"/>
                  </a:lnTo>
                  <a:lnTo>
                    <a:pt x="2755976" y="53022"/>
                  </a:lnTo>
                  <a:lnTo>
                    <a:pt x="2756293" y="53022"/>
                  </a:lnTo>
                  <a:lnTo>
                    <a:pt x="2754350" y="53289"/>
                  </a:lnTo>
                  <a:lnTo>
                    <a:pt x="2752039" y="53289"/>
                  </a:lnTo>
                  <a:lnTo>
                    <a:pt x="2750083" y="53022"/>
                  </a:lnTo>
                  <a:lnTo>
                    <a:pt x="2750401" y="53022"/>
                  </a:lnTo>
                  <a:lnTo>
                    <a:pt x="2748838" y="52578"/>
                  </a:lnTo>
                  <a:lnTo>
                    <a:pt x="2741168" y="38925"/>
                  </a:lnTo>
                  <a:lnTo>
                    <a:pt x="2741180" y="20167"/>
                  </a:lnTo>
                  <a:lnTo>
                    <a:pt x="2749918" y="6362"/>
                  </a:lnTo>
                  <a:lnTo>
                    <a:pt x="2756687" y="6362"/>
                  </a:lnTo>
                  <a:lnTo>
                    <a:pt x="2764942" y="18237"/>
                  </a:lnTo>
                  <a:lnTo>
                    <a:pt x="2765133" y="19164"/>
                  </a:lnTo>
                  <a:lnTo>
                    <a:pt x="2765247" y="20167"/>
                  </a:lnTo>
                  <a:lnTo>
                    <a:pt x="2765399" y="21170"/>
                  </a:lnTo>
                  <a:lnTo>
                    <a:pt x="2765399" y="3962"/>
                  </a:lnTo>
                  <a:lnTo>
                    <a:pt x="2757398" y="342"/>
                  </a:lnTo>
                  <a:lnTo>
                    <a:pt x="2749207" y="342"/>
                  </a:lnTo>
                  <a:lnTo>
                    <a:pt x="2734081" y="18237"/>
                  </a:lnTo>
                  <a:lnTo>
                    <a:pt x="2733751" y="20167"/>
                  </a:lnTo>
                  <a:lnTo>
                    <a:pt x="2743847" y="57150"/>
                  </a:lnTo>
                  <a:lnTo>
                    <a:pt x="2749842" y="59093"/>
                  </a:lnTo>
                  <a:lnTo>
                    <a:pt x="2756395" y="59093"/>
                  </a:lnTo>
                  <a:lnTo>
                    <a:pt x="2767012" y="53289"/>
                  </a:lnTo>
                  <a:lnTo>
                    <a:pt x="2767927" y="52095"/>
                  </a:lnTo>
                  <a:lnTo>
                    <a:pt x="2772651" y="38925"/>
                  </a:lnTo>
                  <a:lnTo>
                    <a:pt x="2772702" y="2016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/>
          <p:nvPr/>
        </p:nvSpPr>
        <p:spPr>
          <a:xfrm>
            <a:off x="5802212" y="4131543"/>
            <a:ext cx="132080" cy="0"/>
          </a:xfrm>
          <a:custGeom>
            <a:avLst/>
            <a:gdLst/>
            <a:ahLst/>
            <a:cxnLst/>
            <a:rect l="l" t="t" r="r" b="b"/>
            <a:pathLst>
              <a:path w="132079" h="0">
                <a:moveTo>
                  <a:pt x="0" y="0"/>
                </a:moveTo>
                <a:lnTo>
                  <a:pt x="131675" y="0"/>
                </a:lnTo>
              </a:path>
              <a:path w="132079" h="0">
                <a:moveTo>
                  <a:pt x="0" y="0"/>
                </a:moveTo>
                <a:lnTo>
                  <a:pt x="131675" y="0"/>
                </a:lnTo>
              </a:path>
              <a:path w="132079" h="0">
                <a:moveTo>
                  <a:pt x="0" y="0"/>
                </a:moveTo>
                <a:lnTo>
                  <a:pt x="131675" y="0"/>
                </a:lnTo>
              </a:path>
            </a:pathLst>
          </a:custGeom>
          <a:ln w="10162">
            <a:solidFill>
              <a:srgbClr val="56B4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802212" y="4296146"/>
            <a:ext cx="132080" cy="0"/>
          </a:xfrm>
          <a:custGeom>
            <a:avLst/>
            <a:gdLst/>
            <a:ahLst/>
            <a:cxnLst/>
            <a:rect l="l" t="t" r="r" b="b"/>
            <a:pathLst>
              <a:path w="132079" h="0">
                <a:moveTo>
                  <a:pt x="0" y="0"/>
                </a:moveTo>
                <a:lnTo>
                  <a:pt x="131675" y="0"/>
                </a:lnTo>
              </a:path>
              <a:path w="132079" h="0">
                <a:moveTo>
                  <a:pt x="0" y="0"/>
                </a:moveTo>
                <a:lnTo>
                  <a:pt x="131675" y="0"/>
                </a:lnTo>
              </a:path>
              <a:path w="132079" h="0">
                <a:moveTo>
                  <a:pt x="0" y="0"/>
                </a:moveTo>
                <a:lnTo>
                  <a:pt x="131675" y="0"/>
                </a:lnTo>
              </a:path>
            </a:pathLst>
          </a:custGeom>
          <a:ln w="10162">
            <a:solidFill>
              <a:srgbClr val="009D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802212" y="4460750"/>
            <a:ext cx="132080" cy="0"/>
          </a:xfrm>
          <a:custGeom>
            <a:avLst/>
            <a:gdLst/>
            <a:ahLst/>
            <a:cxnLst/>
            <a:rect l="l" t="t" r="r" b="b"/>
            <a:pathLst>
              <a:path w="132079" h="0">
                <a:moveTo>
                  <a:pt x="0" y="0"/>
                </a:moveTo>
                <a:lnTo>
                  <a:pt x="131675" y="0"/>
                </a:lnTo>
              </a:path>
              <a:path w="132079" h="0">
                <a:moveTo>
                  <a:pt x="0" y="0"/>
                </a:moveTo>
                <a:lnTo>
                  <a:pt x="131675" y="0"/>
                </a:lnTo>
              </a:path>
              <a:path w="132079" h="0">
                <a:moveTo>
                  <a:pt x="0" y="0"/>
                </a:moveTo>
                <a:lnTo>
                  <a:pt x="131675" y="0"/>
                </a:lnTo>
              </a:path>
            </a:pathLst>
          </a:custGeom>
          <a:ln w="10162">
            <a:solidFill>
              <a:srgbClr val="E69E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1" name="object 4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06851" y="4099656"/>
            <a:ext cx="218702" cy="78097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06851" y="4264223"/>
            <a:ext cx="218702" cy="78097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06851" y="4428826"/>
            <a:ext cx="265323" cy="78097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2873672" y="1020542"/>
            <a:ext cx="584200" cy="58229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dirty="0" sz="2000" spc="640">
                <a:latin typeface="Arial"/>
                <a:cs typeface="Arial"/>
              </a:rPr>
              <a:t>∑</a:t>
            </a:r>
            <a:r>
              <a:rPr dirty="0" sz="2000" spc="-315">
                <a:latin typeface="Arial"/>
                <a:cs typeface="Arial"/>
              </a:rPr>
              <a:t> </a:t>
            </a:r>
            <a:r>
              <a:rPr dirty="0" sz="2000" spc="590">
                <a:latin typeface="Arial"/>
                <a:cs typeface="Arial"/>
              </a:rPr>
              <a:t>∑</a:t>
            </a:r>
            <a:endParaRPr sz="2000">
              <a:latin typeface="Arial"/>
              <a:cs typeface="Arial"/>
            </a:endParaRPr>
          </a:p>
          <a:p>
            <a:pPr algn="ctr" marL="3810">
              <a:lnSpc>
                <a:spcPct val="100000"/>
              </a:lnSpc>
              <a:spcBef>
                <a:spcPts val="225"/>
              </a:spcBef>
              <a:tabLst>
                <a:tab pos="294005" algn="l"/>
              </a:tabLst>
            </a:pPr>
            <a:r>
              <a:rPr dirty="0" sz="1100" spc="50" i="1">
                <a:latin typeface="Arial"/>
                <a:cs typeface="Arial"/>
              </a:rPr>
              <a:t>i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120" i="1">
                <a:latin typeface="Arial"/>
                <a:cs typeface="Arial"/>
              </a:rPr>
              <a:t>j</a:t>
            </a:r>
            <a:endParaRPr sz="11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488953" y="1134021"/>
            <a:ext cx="44894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00" spc="-60">
                <a:latin typeface="Lucida Sans"/>
                <a:cs typeface="Lucida Sans"/>
              </a:rPr>
              <a:t>≈</a:t>
            </a:r>
            <a:r>
              <a:rPr dirty="0" sz="1500" spc="-75">
                <a:latin typeface="Lucida Sans"/>
                <a:cs typeface="Lucida Sans"/>
              </a:rPr>
              <a:t> </a:t>
            </a:r>
            <a:r>
              <a:rPr dirty="0" sz="1550" spc="-25" i="1">
                <a:latin typeface="Arial"/>
                <a:cs typeface="Arial"/>
              </a:rPr>
              <a:t>χ</a:t>
            </a:r>
            <a:r>
              <a:rPr dirty="0" baseline="26455" sz="1575" spc="-37">
                <a:latin typeface="Lucida Sans"/>
                <a:cs typeface="Lucida Sans"/>
              </a:rPr>
              <a:t>2</a:t>
            </a:r>
            <a:endParaRPr baseline="26455" sz="1575">
              <a:latin typeface="Lucida Sans"/>
              <a:cs typeface="Lucida San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822130" y="1267783"/>
            <a:ext cx="944244" cy="1924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i="1">
                <a:latin typeface="Arial"/>
                <a:cs typeface="Arial"/>
              </a:rPr>
              <a:t>df</a:t>
            </a:r>
            <a:r>
              <a:rPr dirty="0" sz="1050" spc="-10">
                <a:latin typeface="Lucida Sans"/>
                <a:cs typeface="Lucida Sans"/>
              </a:rPr>
              <a:t>=(</a:t>
            </a:r>
            <a:r>
              <a:rPr dirty="0" sz="1100" spc="-10" i="1">
                <a:latin typeface="Arial"/>
                <a:cs typeface="Arial"/>
              </a:rPr>
              <a:t>I</a:t>
            </a:r>
            <a:r>
              <a:rPr dirty="0" sz="1050" spc="-10">
                <a:latin typeface="Lucida Sans"/>
                <a:cs typeface="Lucida Sans"/>
              </a:rPr>
              <a:t>−1)(</a:t>
            </a:r>
            <a:r>
              <a:rPr dirty="0" sz="1100" spc="-10" i="1">
                <a:latin typeface="Arial"/>
                <a:cs typeface="Arial"/>
              </a:rPr>
              <a:t>J</a:t>
            </a:r>
            <a:r>
              <a:rPr dirty="0" sz="1050" spc="-10">
                <a:latin typeface="Lucida Sans"/>
                <a:cs typeface="Lucida Sans"/>
              </a:rPr>
              <a:t>−1)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7" name="object 47" descr="$PPTXTitle"/>
          <p:cNvSpPr txBox="1">
            <a:spLocks noGrp="1"/>
          </p:cNvSpPr>
          <p:nvPr>
            <p:ph type="title"/>
          </p:nvPr>
        </p:nvSpPr>
        <p:spPr>
          <a:xfrm>
            <a:off x="3473648" y="1000671"/>
            <a:ext cx="995680" cy="2609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00" spc="55">
                <a:solidFill>
                  <a:srgbClr val="000000"/>
                </a:solidFill>
                <a:latin typeface="Lucida Sans"/>
                <a:cs typeface="Lucida Sans"/>
              </a:rPr>
              <a:t>(</a:t>
            </a:r>
            <a:r>
              <a:rPr dirty="0" sz="1550" spc="55" i="1">
                <a:solidFill>
                  <a:srgbClr val="000000"/>
                </a:solidFill>
                <a:latin typeface="Arial"/>
                <a:cs typeface="Arial"/>
              </a:rPr>
              <a:t>O</a:t>
            </a:r>
            <a:r>
              <a:rPr dirty="0" baseline="-12626" sz="1650" spc="82" i="1">
                <a:solidFill>
                  <a:srgbClr val="000000"/>
                </a:solidFill>
                <a:latin typeface="Arial"/>
                <a:cs typeface="Arial"/>
              </a:rPr>
              <a:t>ij</a:t>
            </a:r>
            <a:r>
              <a:rPr dirty="0" baseline="-12626" sz="1650" spc="127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500" spc="-90">
                <a:solidFill>
                  <a:srgbClr val="000000"/>
                </a:solidFill>
                <a:latin typeface="Lucida Sans"/>
                <a:cs typeface="Lucida Sans"/>
              </a:rPr>
              <a:t>−</a:t>
            </a:r>
            <a:r>
              <a:rPr dirty="0" sz="1500" spc="-150">
                <a:solidFill>
                  <a:srgbClr val="000000"/>
                </a:solidFill>
                <a:latin typeface="Lucida Sans"/>
                <a:cs typeface="Lucida Sans"/>
              </a:rPr>
              <a:t> </a:t>
            </a:r>
            <a:r>
              <a:rPr dirty="0" sz="1550" spc="35" i="1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dirty="0" baseline="-12626" sz="1650" spc="52" i="1">
                <a:solidFill>
                  <a:srgbClr val="000000"/>
                </a:solidFill>
                <a:latin typeface="Arial"/>
                <a:cs typeface="Arial"/>
              </a:rPr>
              <a:t>ij</a:t>
            </a:r>
            <a:r>
              <a:rPr dirty="0" sz="1500" spc="35">
                <a:solidFill>
                  <a:srgbClr val="000000"/>
                </a:solidFill>
                <a:latin typeface="Lucida Sans"/>
                <a:cs typeface="Lucida Sans"/>
              </a:rPr>
              <a:t>)</a:t>
            </a:r>
            <a:r>
              <a:rPr dirty="0" baseline="26455" sz="1575" spc="52">
                <a:solidFill>
                  <a:srgbClr val="000000"/>
                </a:solidFill>
                <a:latin typeface="Lucida Sans"/>
                <a:cs typeface="Lucida Sans"/>
              </a:rPr>
              <a:t>2</a:t>
            </a:r>
            <a:endParaRPr baseline="26455" sz="1575">
              <a:latin typeface="Lucida Sans"/>
              <a:cs typeface="Lucida San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816846" y="1286421"/>
            <a:ext cx="30924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7168" sz="2325" spc="112" i="1">
                <a:latin typeface="Arial"/>
                <a:cs typeface="Arial"/>
              </a:rPr>
              <a:t>E</a:t>
            </a:r>
            <a:r>
              <a:rPr dirty="0" sz="1100" spc="75" i="1">
                <a:latin typeface="Arial"/>
                <a:cs typeface="Arial"/>
              </a:rPr>
              <a:t>ij</a:t>
            </a:r>
            <a:endParaRPr sz="11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495674" y="1295399"/>
            <a:ext cx="962025" cy="9525"/>
          </a:xfrm>
          <a:custGeom>
            <a:avLst/>
            <a:gdLst/>
            <a:ahLst/>
            <a:cxnLst/>
            <a:rect l="l" t="t" r="r" b="b"/>
            <a:pathLst>
              <a:path w="962025" h="9525">
                <a:moveTo>
                  <a:pt x="962024" y="9524"/>
                </a:moveTo>
                <a:lnTo>
                  <a:pt x="0" y="9524"/>
                </a:lnTo>
                <a:lnTo>
                  <a:pt x="0" y="0"/>
                </a:lnTo>
                <a:lnTo>
                  <a:pt x="962024" y="0"/>
                </a:lnTo>
                <a:lnTo>
                  <a:pt x="96202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71524" y="9143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1524" y="13430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71524" y="17621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1524" y="25812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71524" y="30003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2600" y="394970"/>
            <a:ext cx="5908675" cy="27457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90"/>
              </a:spcBef>
            </a:pPr>
            <a:r>
              <a:rPr dirty="0" sz="1450" spc="-140">
                <a:latin typeface="Gill Sans MT"/>
                <a:cs typeface="Gill Sans MT"/>
              </a:rPr>
              <a:t>We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can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use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three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R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functions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chi-</a:t>
            </a:r>
            <a:r>
              <a:rPr dirty="0" sz="1450" spc="85">
                <a:latin typeface="Gill Sans MT"/>
                <a:cs typeface="Gill Sans MT"/>
              </a:rPr>
              <a:t>square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distribution:</a:t>
            </a:r>
            <a:endParaRPr sz="1450">
              <a:latin typeface="Gill Sans MT"/>
              <a:cs typeface="Gill Sans MT"/>
            </a:endParaRPr>
          </a:p>
          <a:p>
            <a:pPr marL="469265">
              <a:lnSpc>
                <a:spcPct val="100000"/>
              </a:lnSpc>
              <a:spcBef>
                <a:spcPts val="1285"/>
              </a:spcBef>
            </a:pP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dchisq()</a:t>
            </a:r>
            <a:r>
              <a:rPr dirty="0" sz="1650" spc="-61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450">
                <a:latin typeface="Arial"/>
                <a:cs typeface="Arial"/>
              </a:rPr>
              <a:t>→</a:t>
            </a:r>
            <a:r>
              <a:rPr dirty="0" sz="1450" spc="-50">
                <a:latin typeface="Arial"/>
                <a:cs typeface="Arial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density</a:t>
            </a:r>
            <a:r>
              <a:rPr dirty="0" sz="1450" spc="-3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at</a:t>
            </a:r>
            <a:r>
              <a:rPr dirty="0" sz="1450" spc="-35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3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given</a:t>
            </a:r>
            <a:r>
              <a:rPr dirty="0" sz="1450" spc="-35">
                <a:latin typeface="Gill Sans MT"/>
                <a:cs typeface="Gill Sans MT"/>
              </a:rPr>
              <a:t> </a:t>
            </a:r>
            <a:r>
              <a:rPr dirty="0" sz="1550" i="1">
                <a:latin typeface="Arial"/>
                <a:cs typeface="Arial"/>
              </a:rPr>
              <a:t>χ</a:t>
            </a:r>
            <a:r>
              <a:rPr dirty="0" baseline="26455" sz="1575">
                <a:latin typeface="Lucida Sans"/>
                <a:cs typeface="Lucida Sans"/>
              </a:rPr>
              <a:t>2</a:t>
            </a:r>
            <a:r>
              <a:rPr dirty="0" baseline="26455" sz="1575" spc="165">
                <a:latin typeface="Lucida Sans"/>
                <a:cs typeface="Lucida Sans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value</a:t>
            </a:r>
            <a:endParaRPr sz="1450">
              <a:latin typeface="Gill Sans MT"/>
              <a:cs typeface="Gill Sans MT"/>
            </a:endParaRPr>
          </a:p>
          <a:p>
            <a:pPr marL="469265">
              <a:lnSpc>
                <a:spcPct val="100000"/>
              </a:lnSpc>
              <a:spcBef>
                <a:spcPts val="1395"/>
              </a:spcBef>
            </a:pP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pchisq()</a:t>
            </a:r>
            <a:r>
              <a:rPr dirty="0" sz="1650" spc="-61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450">
                <a:latin typeface="Arial"/>
                <a:cs typeface="Arial"/>
              </a:rPr>
              <a:t>→</a:t>
            </a:r>
            <a:r>
              <a:rPr dirty="0" sz="1450" spc="-20">
                <a:latin typeface="Arial"/>
                <a:cs typeface="Arial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cumulative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probability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114">
                <a:latin typeface="Gill Sans MT"/>
                <a:cs typeface="Gill Sans MT"/>
              </a:rPr>
              <a:t>up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to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given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550" i="1">
                <a:latin typeface="Arial"/>
                <a:cs typeface="Arial"/>
              </a:rPr>
              <a:t>χ</a:t>
            </a:r>
            <a:r>
              <a:rPr dirty="0" baseline="26455" sz="1575">
                <a:latin typeface="Lucida Sans"/>
                <a:cs typeface="Lucida Sans"/>
              </a:rPr>
              <a:t>2</a:t>
            </a:r>
            <a:r>
              <a:rPr dirty="0" baseline="26455" sz="1575" spc="187">
                <a:latin typeface="Lucida Sans"/>
                <a:cs typeface="Lucida Sans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value</a:t>
            </a:r>
            <a:endParaRPr sz="1450">
              <a:latin typeface="Gill Sans MT"/>
              <a:cs typeface="Gill Sans MT"/>
            </a:endParaRPr>
          </a:p>
          <a:p>
            <a:pPr marL="88900" marR="476884" indent="381000">
              <a:lnSpc>
                <a:spcPts val="3229"/>
              </a:lnSpc>
              <a:spcBef>
                <a:spcPts val="385"/>
              </a:spcBef>
            </a:pP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qchisq()</a:t>
            </a:r>
            <a:r>
              <a:rPr dirty="0" sz="1650" spc="-59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450">
                <a:latin typeface="Arial"/>
                <a:cs typeface="Arial"/>
              </a:rPr>
              <a:t>→</a:t>
            </a:r>
            <a:r>
              <a:rPr dirty="0" sz="1450" spc="-5">
                <a:latin typeface="Arial"/>
                <a:cs typeface="Arial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quantile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(critical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value)</a:t>
            </a:r>
            <a:r>
              <a:rPr dirty="0" sz="1450">
                <a:latin typeface="Gill Sans MT"/>
                <a:cs typeface="Gill Sans MT"/>
              </a:rPr>
              <a:t> for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given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probability </a:t>
            </a:r>
            <a:r>
              <a:rPr dirty="0" sz="1450" spc="50">
                <a:latin typeface="Gill Sans MT"/>
                <a:cs typeface="Gill Sans MT"/>
              </a:rPr>
              <a:t>These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are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analogous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-25">
                <a:latin typeface="Gill Sans MT"/>
                <a:cs typeface="Gill Sans MT"/>
              </a:rPr>
              <a:t>to</a:t>
            </a:r>
            <a:endParaRPr sz="1450">
              <a:latin typeface="Gill Sans MT"/>
              <a:cs typeface="Gill Sans MT"/>
            </a:endParaRPr>
          </a:p>
          <a:p>
            <a:pPr marL="469265">
              <a:lnSpc>
                <a:spcPct val="100000"/>
              </a:lnSpc>
              <a:spcBef>
                <a:spcPts val="925"/>
              </a:spcBef>
            </a:pPr>
            <a:r>
              <a:rPr dirty="0" sz="1650" spc="-125">
                <a:solidFill>
                  <a:srgbClr val="007834"/>
                </a:solidFill>
                <a:latin typeface="Lucida Console"/>
                <a:cs typeface="Lucida Console"/>
              </a:rPr>
              <a:t>dnorm()</a:t>
            </a:r>
            <a:r>
              <a:rPr dirty="0" sz="1450" spc="-125">
                <a:latin typeface="Gill Sans MT"/>
                <a:cs typeface="Gill Sans MT"/>
              </a:rPr>
              <a:t>,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650" spc="-125">
                <a:solidFill>
                  <a:srgbClr val="007834"/>
                </a:solidFill>
                <a:latin typeface="Lucida Console"/>
                <a:cs typeface="Lucida Console"/>
              </a:rPr>
              <a:t>pnorm()</a:t>
            </a:r>
            <a:r>
              <a:rPr dirty="0" sz="1450" spc="-125">
                <a:latin typeface="Gill Sans MT"/>
                <a:cs typeface="Gill Sans MT"/>
              </a:rPr>
              <a:t>,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qnorm()</a:t>
            </a:r>
            <a:r>
              <a:rPr dirty="0" sz="1650" spc="-58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normal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distribution,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-25">
                <a:latin typeface="Gill Sans MT"/>
                <a:cs typeface="Gill Sans MT"/>
              </a:rPr>
              <a:t>or</a:t>
            </a:r>
            <a:endParaRPr sz="1450">
              <a:latin typeface="Gill Sans MT"/>
              <a:cs typeface="Gill Sans MT"/>
            </a:endParaRPr>
          </a:p>
          <a:p>
            <a:pPr marL="469265">
              <a:lnSpc>
                <a:spcPct val="100000"/>
              </a:lnSpc>
              <a:spcBef>
                <a:spcPts val="1320"/>
              </a:spcBef>
            </a:pPr>
            <a:r>
              <a:rPr dirty="0" sz="1650" spc="-114">
                <a:solidFill>
                  <a:srgbClr val="007834"/>
                </a:solidFill>
                <a:latin typeface="Lucida Console"/>
                <a:cs typeface="Lucida Console"/>
              </a:rPr>
              <a:t>dt()</a:t>
            </a:r>
            <a:r>
              <a:rPr dirty="0" sz="1450" spc="-114">
                <a:latin typeface="Gill Sans MT"/>
                <a:cs typeface="Gill Sans MT"/>
              </a:rPr>
              <a:t>,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650" spc="-114">
                <a:solidFill>
                  <a:srgbClr val="007834"/>
                </a:solidFill>
                <a:latin typeface="Lucida Console"/>
                <a:cs typeface="Lucida Console"/>
              </a:rPr>
              <a:t>pt()</a:t>
            </a:r>
            <a:r>
              <a:rPr dirty="0" sz="1450" spc="-114">
                <a:latin typeface="Gill Sans MT"/>
                <a:cs typeface="Gill Sans MT"/>
              </a:rPr>
              <a:t>,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qt()</a:t>
            </a:r>
            <a:r>
              <a:rPr dirty="0" sz="1650" spc="-58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-50" i="1">
                <a:latin typeface="Lucida Sans"/>
                <a:cs typeface="Lucida Sans"/>
              </a:rPr>
              <a:t>t </a:t>
            </a:r>
            <a:r>
              <a:rPr dirty="0" sz="1450" spc="60">
                <a:latin typeface="Gill Sans MT"/>
                <a:cs typeface="Gill Sans MT"/>
              </a:rPr>
              <a:t>distribution.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44252" y="2566094"/>
            <a:ext cx="2308860" cy="0"/>
          </a:xfrm>
          <a:custGeom>
            <a:avLst/>
            <a:gdLst/>
            <a:ahLst/>
            <a:cxnLst/>
            <a:rect l="l" t="t" r="r" b="b"/>
            <a:pathLst>
              <a:path w="2308860" h="0">
                <a:moveTo>
                  <a:pt x="0" y="0"/>
                </a:moveTo>
                <a:lnTo>
                  <a:pt x="230877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44252" y="2158975"/>
            <a:ext cx="2308860" cy="0"/>
          </a:xfrm>
          <a:custGeom>
            <a:avLst/>
            <a:gdLst/>
            <a:ahLst/>
            <a:cxnLst/>
            <a:rect l="l" t="t" r="r" b="b"/>
            <a:pathLst>
              <a:path w="2308860" h="0">
                <a:moveTo>
                  <a:pt x="0" y="0"/>
                </a:moveTo>
                <a:lnTo>
                  <a:pt x="230877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44252" y="1751818"/>
            <a:ext cx="2308860" cy="0"/>
          </a:xfrm>
          <a:custGeom>
            <a:avLst/>
            <a:gdLst/>
            <a:ahLst/>
            <a:cxnLst/>
            <a:rect l="l" t="t" r="r" b="b"/>
            <a:pathLst>
              <a:path w="2308860" h="0">
                <a:moveTo>
                  <a:pt x="0" y="0"/>
                </a:moveTo>
                <a:lnTo>
                  <a:pt x="230877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44252" y="1344699"/>
            <a:ext cx="2308860" cy="0"/>
          </a:xfrm>
          <a:custGeom>
            <a:avLst/>
            <a:gdLst/>
            <a:ahLst/>
            <a:cxnLst/>
            <a:rect l="l" t="t" r="r" b="b"/>
            <a:pathLst>
              <a:path w="2308860" h="0">
                <a:moveTo>
                  <a:pt x="0" y="0"/>
                </a:moveTo>
                <a:lnTo>
                  <a:pt x="230877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1339171" y="695824"/>
            <a:ext cx="2319020" cy="2177415"/>
            <a:chOff x="1339171" y="695824"/>
            <a:chExt cx="2319020" cy="2177415"/>
          </a:xfrm>
        </p:grpSpPr>
        <p:sp>
          <p:nvSpPr>
            <p:cNvPr id="8" name="object 8"/>
            <p:cNvSpPr/>
            <p:nvPr/>
          </p:nvSpPr>
          <p:spPr>
            <a:xfrm>
              <a:off x="1344252" y="937579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 h="0">
                  <a:moveTo>
                    <a:pt x="0" y="0"/>
                  </a:moveTo>
                  <a:lnTo>
                    <a:pt x="23087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711560" y="700906"/>
              <a:ext cx="0" cy="2167255"/>
            </a:xfrm>
            <a:custGeom>
              <a:avLst/>
              <a:gdLst/>
              <a:ahLst/>
              <a:cxnLst/>
              <a:rect l="l" t="t" r="r" b="b"/>
              <a:pathLst>
                <a:path w="0" h="2167255">
                  <a:moveTo>
                    <a:pt x="0" y="2167235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236291" y="700906"/>
              <a:ext cx="0" cy="2167255"/>
            </a:xfrm>
            <a:custGeom>
              <a:avLst/>
              <a:gdLst/>
              <a:ahLst/>
              <a:cxnLst/>
              <a:rect l="l" t="t" r="r" b="b"/>
              <a:pathLst>
                <a:path w="0" h="2167255">
                  <a:moveTo>
                    <a:pt x="0" y="2167235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760984" y="700906"/>
              <a:ext cx="0" cy="2167255"/>
            </a:xfrm>
            <a:custGeom>
              <a:avLst/>
              <a:gdLst/>
              <a:ahLst/>
              <a:cxnLst/>
              <a:rect l="l" t="t" r="r" b="b"/>
              <a:pathLst>
                <a:path w="0" h="2167255">
                  <a:moveTo>
                    <a:pt x="0" y="2167235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285715" y="700906"/>
              <a:ext cx="0" cy="2167255"/>
            </a:xfrm>
            <a:custGeom>
              <a:avLst/>
              <a:gdLst/>
              <a:ahLst/>
              <a:cxnLst/>
              <a:rect l="l" t="t" r="r" b="b"/>
              <a:pathLst>
                <a:path w="0" h="2167255">
                  <a:moveTo>
                    <a:pt x="0" y="2167235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344252" y="2769653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 h="0">
                  <a:moveTo>
                    <a:pt x="0" y="0"/>
                  </a:moveTo>
                  <a:lnTo>
                    <a:pt x="23087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344252" y="2362534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 h="0">
                  <a:moveTo>
                    <a:pt x="0" y="0"/>
                  </a:moveTo>
                  <a:lnTo>
                    <a:pt x="23087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344252" y="1955415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 h="0">
                  <a:moveTo>
                    <a:pt x="0" y="0"/>
                  </a:moveTo>
                  <a:lnTo>
                    <a:pt x="23087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344252" y="1548258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 h="0">
                  <a:moveTo>
                    <a:pt x="0" y="0"/>
                  </a:moveTo>
                  <a:lnTo>
                    <a:pt x="23087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344252" y="1141139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 h="0">
                  <a:moveTo>
                    <a:pt x="0" y="0"/>
                  </a:moveTo>
                  <a:lnTo>
                    <a:pt x="23087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344252" y="734020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 h="0">
                  <a:moveTo>
                    <a:pt x="0" y="0"/>
                  </a:moveTo>
                  <a:lnTo>
                    <a:pt x="23087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449176" y="700906"/>
              <a:ext cx="0" cy="2167255"/>
            </a:xfrm>
            <a:custGeom>
              <a:avLst/>
              <a:gdLst/>
              <a:ahLst/>
              <a:cxnLst/>
              <a:rect l="l" t="t" r="r" b="b"/>
              <a:pathLst>
                <a:path w="0" h="2167255">
                  <a:moveTo>
                    <a:pt x="0" y="2167235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973907" y="700906"/>
              <a:ext cx="0" cy="2167255"/>
            </a:xfrm>
            <a:custGeom>
              <a:avLst/>
              <a:gdLst/>
              <a:ahLst/>
              <a:cxnLst/>
              <a:rect l="l" t="t" r="r" b="b"/>
              <a:pathLst>
                <a:path w="0" h="2167255">
                  <a:moveTo>
                    <a:pt x="0" y="2167235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498637" y="700906"/>
              <a:ext cx="0" cy="2167255"/>
            </a:xfrm>
            <a:custGeom>
              <a:avLst/>
              <a:gdLst/>
              <a:ahLst/>
              <a:cxnLst/>
              <a:rect l="l" t="t" r="r" b="b"/>
              <a:pathLst>
                <a:path w="0" h="2167255">
                  <a:moveTo>
                    <a:pt x="0" y="2167235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023368" y="700906"/>
              <a:ext cx="0" cy="2167255"/>
            </a:xfrm>
            <a:custGeom>
              <a:avLst/>
              <a:gdLst/>
              <a:ahLst/>
              <a:cxnLst/>
              <a:rect l="l" t="t" r="r" b="b"/>
              <a:pathLst>
                <a:path w="0" h="2167255">
                  <a:moveTo>
                    <a:pt x="0" y="2167235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548099" y="700906"/>
              <a:ext cx="0" cy="2167255"/>
            </a:xfrm>
            <a:custGeom>
              <a:avLst/>
              <a:gdLst/>
              <a:ahLst/>
              <a:cxnLst/>
              <a:rect l="l" t="t" r="r" b="b"/>
              <a:pathLst>
                <a:path w="0" h="2167255">
                  <a:moveTo>
                    <a:pt x="0" y="2167235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449176" y="799393"/>
              <a:ext cx="2099310" cy="1970405"/>
            </a:xfrm>
            <a:custGeom>
              <a:avLst/>
              <a:gdLst/>
              <a:ahLst/>
              <a:cxnLst/>
              <a:rect l="l" t="t" r="r" b="b"/>
              <a:pathLst>
                <a:path w="2099310" h="1970405">
                  <a:moveTo>
                    <a:pt x="0" y="1970260"/>
                  </a:moveTo>
                  <a:lnTo>
                    <a:pt x="2120" y="1647043"/>
                  </a:lnTo>
                  <a:lnTo>
                    <a:pt x="4204" y="1515442"/>
                  </a:lnTo>
                  <a:lnTo>
                    <a:pt x="6325" y="1415987"/>
                  </a:lnTo>
                  <a:lnTo>
                    <a:pt x="8408" y="1333425"/>
                  </a:lnTo>
                  <a:lnTo>
                    <a:pt x="10529" y="1261839"/>
                  </a:lnTo>
                  <a:lnTo>
                    <a:pt x="12613" y="1198066"/>
                  </a:lnTo>
                  <a:lnTo>
                    <a:pt x="14696" y="1140358"/>
                  </a:lnTo>
                  <a:lnTo>
                    <a:pt x="16817" y="1087487"/>
                  </a:lnTo>
                  <a:lnTo>
                    <a:pt x="18901" y="1038634"/>
                  </a:lnTo>
                  <a:lnTo>
                    <a:pt x="21021" y="993129"/>
                  </a:lnTo>
                  <a:lnTo>
                    <a:pt x="23105" y="950527"/>
                  </a:lnTo>
                  <a:lnTo>
                    <a:pt x="25189" y="910530"/>
                  </a:lnTo>
                  <a:lnTo>
                    <a:pt x="29393" y="837009"/>
                  </a:lnTo>
                  <a:lnTo>
                    <a:pt x="33597" y="770818"/>
                  </a:lnTo>
                  <a:lnTo>
                    <a:pt x="37802" y="710691"/>
                  </a:lnTo>
                  <a:lnTo>
                    <a:pt x="42006" y="655773"/>
                  </a:lnTo>
                  <a:lnTo>
                    <a:pt x="46211" y="605358"/>
                  </a:lnTo>
                  <a:lnTo>
                    <a:pt x="50378" y="558849"/>
                  </a:lnTo>
                  <a:lnTo>
                    <a:pt x="54582" y="515801"/>
                  </a:lnTo>
                  <a:lnTo>
                    <a:pt x="58787" y="475915"/>
                  </a:lnTo>
                  <a:lnTo>
                    <a:pt x="65075" y="421332"/>
                  </a:lnTo>
                  <a:lnTo>
                    <a:pt x="71363" y="372256"/>
                  </a:lnTo>
                  <a:lnTo>
                    <a:pt x="77688" y="328054"/>
                  </a:lnTo>
                  <a:lnTo>
                    <a:pt x="83976" y="288205"/>
                  </a:lnTo>
                  <a:lnTo>
                    <a:pt x="92385" y="241027"/>
                  </a:lnTo>
                  <a:lnTo>
                    <a:pt x="100756" y="199913"/>
                  </a:lnTo>
                  <a:lnTo>
                    <a:pt x="111249" y="155934"/>
                  </a:lnTo>
                  <a:lnTo>
                    <a:pt x="121741" y="119136"/>
                  </a:lnTo>
                  <a:lnTo>
                    <a:pt x="136438" y="78023"/>
                  </a:lnTo>
                  <a:lnTo>
                    <a:pt x="153255" y="43569"/>
                  </a:lnTo>
                  <a:lnTo>
                    <a:pt x="178407" y="12315"/>
                  </a:lnTo>
                  <a:lnTo>
                    <a:pt x="209922" y="0"/>
                  </a:lnTo>
                  <a:lnTo>
                    <a:pt x="212005" y="74"/>
                  </a:lnTo>
                  <a:lnTo>
                    <a:pt x="247687" y="14250"/>
                  </a:lnTo>
                  <a:lnTo>
                    <a:pt x="268671" y="32407"/>
                  </a:lnTo>
                  <a:lnTo>
                    <a:pt x="270792" y="34528"/>
                  </a:lnTo>
                  <a:lnTo>
                    <a:pt x="274959" y="38992"/>
                  </a:lnTo>
                  <a:lnTo>
                    <a:pt x="277080" y="41299"/>
                  </a:lnTo>
                  <a:lnTo>
                    <a:pt x="279164" y="43681"/>
                  </a:lnTo>
                  <a:lnTo>
                    <a:pt x="281285" y="46099"/>
                  </a:lnTo>
                  <a:lnTo>
                    <a:pt x="283368" y="48555"/>
                  </a:lnTo>
                  <a:lnTo>
                    <a:pt x="285452" y="51085"/>
                  </a:lnTo>
                  <a:lnTo>
                    <a:pt x="287573" y="53652"/>
                  </a:lnTo>
                  <a:lnTo>
                    <a:pt x="289656" y="56257"/>
                  </a:lnTo>
                  <a:lnTo>
                    <a:pt x="291777" y="58898"/>
                  </a:lnTo>
                  <a:lnTo>
                    <a:pt x="293861" y="61614"/>
                  </a:lnTo>
                  <a:lnTo>
                    <a:pt x="295944" y="64368"/>
                  </a:lnTo>
                  <a:lnTo>
                    <a:pt x="298065" y="67158"/>
                  </a:lnTo>
                  <a:lnTo>
                    <a:pt x="300149" y="69986"/>
                  </a:lnTo>
                  <a:lnTo>
                    <a:pt x="310641" y="84794"/>
                  </a:lnTo>
                  <a:lnTo>
                    <a:pt x="312762" y="87883"/>
                  </a:lnTo>
                  <a:lnTo>
                    <a:pt x="314845" y="90971"/>
                  </a:lnTo>
                  <a:lnTo>
                    <a:pt x="316966" y="94133"/>
                  </a:lnTo>
                  <a:lnTo>
                    <a:pt x="319050" y="97296"/>
                  </a:lnTo>
                  <a:lnTo>
                    <a:pt x="321133" y="100533"/>
                  </a:lnTo>
                  <a:lnTo>
                    <a:pt x="323254" y="103807"/>
                  </a:lnTo>
                  <a:lnTo>
                    <a:pt x="325338" y="107081"/>
                  </a:lnTo>
                  <a:lnTo>
                    <a:pt x="327459" y="110393"/>
                  </a:lnTo>
                  <a:lnTo>
                    <a:pt x="329542" y="113741"/>
                  </a:lnTo>
                  <a:lnTo>
                    <a:pt x="331626" y="117127"/>
                  </a:lnTo>
                  <a:lnTo>
                    <a:pt x="333747" y="120550"/>
                  </a:lnTo>
                  <a:lnTo>
                    <a:pt x="335830" y="124011"/>
                  </a:lnTo>
                  <a:lnTo>
                    <a:pt x="337951" y="127471"/>
                  </a:lnTo>
                  <a:lnTo>
                    <a:pt x="340035" y="131005"/>
                  </a:lnTo>
                  <a:lnTo>
                    <a:pt x="342155" y="134503"/>
                  </a:lnTo>
                  <a:lnTo>
                    <a:pt x="344239" y="138075"/>
                  </a:lnTo>
                  <a:lnTo>
                    <a:pt x="346323" y="141684"/>
                  </a:lnTo>
                  <a:lnTo>
                    <a:pt x="348443" y="145293"/>
                  </a:lnTo>
                  <a:lnTo>
                    <a:pt x="350527" y="148939"/>
                  </a:lnTo>
                  <a:lnTo>
                    <a:pt x="352648" y="152586"/>
                  </a:lnTo>
                  <a:lnTo>
                    <a:pt x="354731" y="156269"/>
                  </a:lnTo>
                  <a:lnTo>
                    <a:pt x="356815" y="159990"/>
                  </a:lnTo>
                  <a:lnTo>
                    <a:pt x="358936" y="163748"/>
                  </a:lnTo>
                  <a:lnTo>
                    <a:pt x="361019" y="167506"/>
                  </a:lnTo>
                  <a:lnTo>
                    <a:pt x="363140" y="171301"/>
                  </a:lnTo>
                  <a:lnTo>
                    <a:pt x="365224" y="175096"/>
                  </a:lnTo>
                  <a:lnTo>
                    <a:pt x="367307" y="178928"/>
                  </a:lnTo>
                  <a:lnTo>
                    <a:pt x="369428" y="182760"/>
                  </a:lnTo>
                  <a:lnTo>
                    <a:pt x="371512" y="186630"/>
                  </a:lnTo>
                  <a:lnTo>
                    <a:pt x="373632" y="190537"/>
                  </a:lnTo>
                  <a:lnTo>
                    <a:pt x="375716" y="194443"/>
                  </a:lnTo>
                  <a:lnTo>
                    <a:pt x="377837" y="198350"/>
                  </a:lnTo>
                  <a:lnTo>
                    <a:pt x="379920" y="202294"/>
                  </a:lnTo>
                  <a:lnTo>
                    <a:pt x="382004" y="206275"/>
                  </a:lnTo>
                  <a:lnTo>
                    <a:pt x="384125" y="210256"/>
                  </a:lnTo>
                  <a:lnTo>
                    <a:pt x="386208" y="214275"/>
                  </a:lnTo>
                  <a:lnTo>
                    <a:pt x="388329" y="218256"/>
                  </a:lnTo>
                  <a:lnTo>
                    <a:pt x="392496" y="226367"/>
                  </a:lnTo>
                  <a:lnTo>
                    <a:pt x="394617" y="230423"/>
                  </a:lnTo>
                  <a:lnTo>
                    <a:pt x="396701" y="234515"/>
                  </a:lnTo>
                  <a:lnTo>
                    <a:pt x="398822" y="238608"/>
                  </a:lnTo>
                  <a:lnTo>
                    <a:pt x="400905" y="242701"/>
                  </a:lnTo>
                  <a:lnTo>
                    <a:pt x="402989" y="246831"/>
                  </a:lnTo>
                  <a:lnTo>
                    <a:pt x="405110" y="250961"/>
                  </a:lnTo>
                  <a:lnTo>
                    <a:pt x="407193" y="255091"/>
                  </a:lnTo>
                  <a:lnTo>
                    <a:pt x="409314" y="259258"/>
                  </a:lnTo>
                  <a:lnTo>
                    <a:pt x="411398" y="263425"/>
                  </a:lnTo>
                  <a:lnTo>
                    <a:pt x="413481" y="267630"/>
                  </a:lnTo>
                  <a:lnTo>
                    <a:pt x="415602" y="271834"/>
                  </a:lnTo>
                  <a:lnTo>
                    <a:pt x="417686" y="276038"/>
                  </a:lnTo>
                  <a:lnTo>
                    <a:pt x="419806" y="280243"/>
                  </a:lnTo>
                  <a:lnTo>
                    <a:pt x="421890" y="284484"/>
                  </a:lnTo>
                  <a:lnTo>
                    <a:pt x="424011" y="288726"/>
                  </a:lnTo>
                  <a:lnTo>
                    <a:pt x="426094" y="292968"/>
                  </a:lnTo>
                  <a:lnTo>
                    <a:pt x="428178" y="297246"/>
                  </a:lnTo>
                  <a:lnTo>
                    <a:pt x="430299" y="301488"/>
                  </a:lnTo>
                  <a:lnTo>
                    <a:pt x="432382" y="305767"/>
                  </a:lnTo>
                  <a:lnTo>
                    <a:pt x="434503" y="310083"/>
                  </a:lnTo>
                  <a:lnTo>
                    <a:pt x="436587" y="314362"/>
                  </a:lnTo>
                  <a:lnTo>
                    <a:pt x="438670" y="318678"/>
                  </a:lnTo>
                  <a:lnTo>
                    <a:pt x="440791" y="322994"/>
                  </a:lnTo>
                  <a:lnTo>
                    <a:pt x="442875" y="327310"/>
                  </a:lnTo>
                  <a:lnTo>
                    <a:pt x="444996" y="331626"/>
                  </a:lnTo>
                  <a:lnTo>
                    <a:pt x="447079" y="335942"/>
                  </a:lnTo>
                  <a:lnTo>
                    <a:pt x="449163" y="340295"/>
                  </a:lnTo>
                  <a:lnTo>
                    <a:pt x="451284" y="344648"/>
                  </a:lnTo>
                  <a:lnTo>
                    <a:pt x="453367" y="349001"/>
                  </a:lnTo>
                  <a:lnTo>
                    <a:pt x="455488" y="353355"/>
                  </a:lnTo>
                  <a:lnTo>
                    <a:pt x="457572" y="357708"/>
                  </a:lnTo>
                  <a:lnTo>
                    <a:pt x="459692" y="362061"/>
                  </a:lnTo>
                  <a:lnTo>
                    <a:pt x="461776" y="366452"/>
                  </a:lnTo>
                  <a:lnTo>
                    <a:pt x="463860" y="370805"/>
                  </a:lnTo>
                  <a:lnTo>
                    <a:pt x="465980" y="375195"/>
                  </a:lnTo>
                  <a:lnTo>
                    <a:pt x="468064" y="379586"/>
                  </a:lnTo>
                  <a:lnTo>
                    <a:pt x="470185" y="383976"/>
                  </a:lnTo>
                  <a:lnTo>
                    <a:pt x="474352" y="392757"/>
                  </a:lnTo>
                  <a:lnTo>
                    <a:pt x="476473" y="397147"/>
                  </a:lnTo>
                  <a:lnTo>
                    <a:pt x="478556" y="401575"/>
                  </a:lnTo>
                  <a:lnTo>
                    <a:pt x="480677" y="405965"/>
                  </a:lnTo>
                  <a:lnTo>
                    <a:pt x="482761" y="410356"/>
                  </a:lnTo>
                  <a:lnTo>
                    <a:pt x="484844" y="414783"/>
                  </a:lnTo>
                  <a:lnTo>
                    <a:pt x="486965" y="419211"/>
                  </a:lnTo>
                  <a:lnTo>
                    <a:pt x="489049" y="423602"/>
                  </a:lnTo>
                  <a:lnTo>
                    <a:pt x="491169" y="428029"/>
                  </a:lnTo>
                  <a:lnTo>
                    <a:pt x="493253" y="432457"/>
                  </a:lnTo>
                  <a:lnTo>
                    <a:pt x="495374" y="436847"/>
                  </a:lnTo>
                  <a:lnTo>
                    <a:pt x="499541" y="445702"/>
                  </a:lnTo>
                  <a:lnTo>
                    <a:pt x="501662" y="450130"/>
                  </a:lnTo>
                  <a:lnTo>
                    <a:pt x="503745" y="454521"/>
                  </a:lnTo>
                  <a:lnTo>
                    <a:pt x="505866" y="458948"/>
                  </a:lnTo>
                  <a:lnTo>
                    <a:pt x="510033" y="467803"/>
                  </a:lnTo>
                  <a:lnTo>
                    <a:pt x="512154" y="472231"/>
                  </a:lnTo>
                  <a:lnTo>
                    <a:pt x="514238" y="476622"/>
                  </a:lnTo>
                  <a:lnTo>
                    <a:pt x="516359" y="481049"/>
                  </a:lnTo>
                  <a:lnTo>
                    <a:pt x="520526" y="489904"/>
                  </a:lnTo>
                  <a:lnTo>
                    <a:pt x="522647" y="494295"/>
                  </a:lnTo>
                  <a:lnTo>
                    <a:pt x="524730" y="498723"/>
                  </a:lnTo>
                  <a:lnTo>
                    <a:pt x="526851" y="503150"/>
                  </a:lnTo>
                  <a:lnTo>
                    <a:pt x="528935" y="507541"/>
                  </a:lnTo>
                  <a:lnTo>
                    <a:pt x="531055" y="511968"/>
                  </a:lnTo>
                  <a:lnTo>
                    <a:pt x="533139" y="516359"/>
                  </a:lnTo>
                  <a:lnTo>
                    <a:pt x="535223" y="520786"/>
                  </a:lnTo>
                  <a:lnTo>
                    <a:pt x="537343" y="525177"/>
                  </a:lnTo>
                  <a:lnTo>
                    <a:pt x="539427" y="529567"/>
                  </a:lnTo>
                  <a:lnTo>
                    <a:pt x="541548" y="533995"/>
                  </a:lnTo>
                  <a:lnTo>
                    <a:pt x="545715" y="542776"/>
                  </a:lnTo>
                  <a:lnTo>
                    <a:pt x="547836" y="547166"/>
                  </a:lnTo>
                  <a:lnTo>
                    <a:pt x="549919" y="551556"/>
                  </a:lnTo>
                  <a:lnTo>
                    <a:pt x="552040" y="555947"/>
                  </a:lnTo>
                  <a:lnTo>
                    <a:pt x="554124" y="560300"/>
                  </a:lnTo>
                  <a:lnTo>
                    <a:pt x="556207" y="564691"/>
                  </a:lnTo>
                  <a:lnTo>
                    <a:pt x="558328" y="569081"/>
                  </a:lnTo>
                  <a:lnTo>
                    <a:pt x="560412" y="573434"/>
                  </a:lnTo>
                  <a:lnTo>
                    <a:pt x="562533" y="577787"/>
                  </a:lnTo>
                  <a:lnTo>
                    <a:pt x="564616" y="582178"/>
                  </a:lnTo>
                  <a:lnTo>
                    <a:pt x="566737" y="586531"/>
                  </a:lnTo>
                  <a:lnTo>
                    <a:pt x="570904" y="595238"/>
                  </a:lnTo>
                  <a:lnTo>
                    <a:pt x="573025" y="599591"/>
                  </a:lnTo>
                  <a:lnTo>
                    <a:pt x="575109" y="603907"/>
                  </a:lnTo>
                  <a:lnTo>
                    <a:pt x="577229" y="608260"/>
                  </a:lnTo>
                  <a:lnTo>
                    <a:pt x="581397" y="616892"/>
                  </a:lnTo>
                  <a:lnTo>
                    <a:pt x="583517" y="621245"/>
                  </a:lnTo>
                  <a:lnTo>
                    <a:pt x="585601" y="625561"/>
                  </a:lnTo>
                  <a:lnTo>
                    <a:pt x="587722" y="629840"/>
                  </a:lnTo>
                  <a:lnTo>
                    <a:pt x="591889" y="638472"/>
                  </a:lnTo>
                  <a:lnTo>
                    <a:pt x="594010" y="642751"/>
                  </a:lnTo>
                  <a:lnTo>
                    <a:pt x="596093" y="647030"/>
                  </a:lnTo>
                  <a:lnTo>
                    <a:pt x="598214" y="651346"/>
                  </a:lnTo>
                  <a:lnTo>
                    <a:pt x="600298" y="655625"/>
                  </a:lnTo>
                  <a:lnTo>
                    <a:pt x="602418" y="659866"/>
                  </a:lnTo>
                  <a:lnTo>
                    <a:pt x="606586" y="668424"/>
                  </a:lnTo>
                  <a:lnTo>
                    <a:pt x="608706" y="672665"/>
                  </a:lnTo>
                  <a:lnTo>
                    <a:pt x="610790" y="676907"/>
                  </a:lnTo>
                  <a:lnTo>
                    <a:pt x="612911" y="681149"/>
                  </a:lnTo>
                  <a:lnTo>
                    <a:pt x="614994" y="685390"/>
                  </a:lnTo>
                  <a:lnTo>
                    <a:pt x="617078" y="689595"/>
                  </a:lnTo>
                  <a:lnTo>
                    <a:pt x="619199" y="693836"/>
                  </a:lnTo>
                  <a:lnTo>
                    <a:pt x="621282" y="698041"/>
                  </a:lnTo>
                  <a:lnTo>
                    <a:pt x="623403" y="702245"/>
                  </a:lnTo>
                  <a:lnTo>
                    <a:pt x="627570" y="710654"/>
                  </a:lnTo>
                  <a:lnTo>
                    <a:pt x="629691" y="714858"/>
                  </a:lnTo>
                  <a:lnTo>
                    <a:pt x="631775" y="719025"/>
                  </a:lnTo>
                  <a:lnTo>
                    <a:pt x="633896" y="723193"/>
                  </a:lnTo>
                  <a:lnTo>
                    <a:pt x="638063" y="731527"/>
                  </a:lnTo>
                  <a:lnTo>
                    <a:pt x="640184" y="735694"/>
                  </a:lnTo>
                  <a:lnTo>
                    <a:pt x="642267" y="739824"/>
                  </a:lnTo>
                  <a:lnTo>
                    <a:pt x="644388" y="743954"/>
                  </a:lnTo>
                  <a:lnTo>
                    <a:pt x="646472" y="748084"/>
                  </a:lnTo>
                  <a:lnTo>
                    <a:pt x="648592" y="752214"/>
                  </a:lnTo>
                  <a:lnTo>
                    <a:pt x="650676" y="756344"/>
                  </a:lnTo>
                  <a:lnTo>
                    <a:pt x="652760" y="760437"/>
                  </a:lnTo>
                  <a:lnTo>
                    <a:pt x="654880" y="764530"/>
                  </a:lnTo>
                  <a:lnTo>
                    <a:pt x="656964" y="768622"/>
                  </a:lnTo>
                  <a:lnTo>
                    <a:pt x="659085" y="772715"/>
                  </a:lnTo>
                  <a:lnTo>
                    <a:pt x="661168" y="776808"/>
                  </a:lnTo>
                  <a:lnTo>
                    <a:pt x="663252" y="780863"/>
                  </a:lnTo>
                  <a:lnTo>
                    <a:pt x="665373" y="784919"/>
                  </a:lnTo>
                  <a:lnTo>
                    <a:pt x="667456" y="788975"/>
                  </a:lnTo>
                  <a:lnTo>
                    <a:pt x="669577" y="793030"/>
                  </a:lnTo>
                  <a:lnTo>
                    <a:pt x="671661" y="797048"/>
                  </a:lnTo>
                  <a:lnTo>
                    <a:pt x="673744" y="801104"/>
                  </a:lnTo>
                  <a:lnTo>
                    <a:pt x="675865" y="805122"/>
                  </a:lnTo>
                  <a:lnTo>
                    <a:pt x="677949" y="809104"/>
                  </a:lnTo>
                  <a:lnTo>
                    <a:pt x="680070" y="813122"/>
                  </a:lnTo>
                  <a:lnTo>
                    <a:pt x="682153" y="817103"/>
                  </a:lnTo>
                  <a:lnTo>
                    <a:pt x="684274" y="821121"/>
                  </a:lnTo>
                  <a:lnTo>
                    <a:pt x="686358" y="825103"/>
                  </a:lnTo>
                  <a:lnTo>
                    <a:pt x="688441" y="829047"/>
                  </a:lnTo>
                  <a:lnTo>
                    <a:pt x="690562" y="833028"/>
                  </a:lnTo>
                  <a:lnTo>
                    <a:pt x="692646" y="836972"/>
                  </a:lnTo>
                  <a:lnTo>
                    <a:pt x="694766" y="840916"/>
                  </a:lnTo>
                  <a:lnTo>
                    <a:pt x="696850" y="844859"/>
                  </a:lnTo>
                  <a:lnTo>
                    <a:pt x="698934" y="848766"/>
                  </a:lnTo>
                  <a:lnTo>
                    <a:pt x="701054" y="852710"/>
                  </a:lnTo>
                  <a:lnTo>
                    <a:pt x="703138" y="856617"/>
                  </a:lnTo>
                  <a:lnTo>
                    <a:pt x="705259" y="860524"/>
                  </a:lnTo>
                  <a:lnTo>
                    <a:pt x="707342" y="864393"/>
                  </a:lnTo>
                  <a:lnTo>
                    <a:pt x="709426" y="868300"/>
                  </a:lnTo>
                  <a:lnTo>
                    <a:pt x="711547" y="872169"/>
                  </a:lnTo>
                  <a:lnTo>
                    <a:pt x="713630" y="876039"/>
                  </a:lnTo>
                  <a:lnTo>
                    <a:pt x="715751" y="879871"/>
                  </a:lnTo>
                  <a:lnTo>
                    <a:pt x="717835" y="883741"/>
                  </a:lnTo>
                  <a:lnTo>
                    <a:pt x="719956" y="887573"/>
                  </a:lnTo>
                  <a:lnTo>
                    <a:pt x="724123" y="895238"/>
                  </a:lnTo>
                  <a:lnTo>
                    <a:pt x="726243" y="899033"/>
                  </a:lnTo>
                  <a:lnTo>
                    <a:pt x="728327" y="902828"/>
                  </a:lnTo>
                  <a:lnTo>
                    <a:pt x="730448" y="906623"/>
                  </a:lnTo>
                  <a:lnTo>
                    <a:pt x="734615" y="914213"/>
                  </a:lnTo>
                  <a:lnTo>
                    <a:pt x="736736" y="917971"/>
                  </a:lnTo>
                  <a:lnTo>
                    <a:pt x="738819" y="921729"/>
                  </a:lnTo>
                  <a:lnTo>
                    <a:pt x="740940" y="925487"/>
                  </a:lnTo>
                  <a:lnTo>
                    <a:pt x="745107" y="932929"/>
                  </a:lnTo>
                  <a:lnTo>
                    <a:pt x="747228" y="936649"/>
                  </a:lnTo>
                  <a:lnTo>
                    <a:pt x="749312" y="940370"/>
                  </a:lnTo>
                  <a:lnTo>
                    <a:pt x="751433" y="944091"/>
                  </a:lnTo>
                  <a:lnTo>
                    <a:pt x="753516" y="947774"/>
                  </a:lnTo>
                  <a:lnTo>
                    <a:pt x="755637" y="951458"/>
                  </a:lnTo>
                  <a:lnTo>
                    <a:pt x="757721" y="955141"/>
                  </a:lnTo>
                  <a:lnTo>
                    <a:pt x="759804" y="958787"/>
                  </a:lnTo>
                  <a:lnTo>
                    <a:pt x="761925" y="962434"/>
                  </a:lnTo>
                  <a:lnTo>
                    <a:pt x="764009" y="966080"/>
                  </a:lnTo>
                  <a:lnTo>
                    <a:pt x="766129" y="969726"/>
                  </a:lnTo>
                  <a:lnTo>
                    <a:pt x="768213" y="973373"/>
                  </a:lnTo>
                  <a:lnTo>
                    <a:pt x="770297" y="976982"/>
                  </a:lnTo>
                  <a:lnTo>
                    <a:pt x="772417" y="980591"/>
                  </a:lnTo>
                  <a:lnTo>
                    <a:pt x="774501" y="984200"/>
                  </a:lnTo>
                  <a:lnTo>
                    <a:pt x="776622" y="987772"/>
                  </a:lnTo>
                  <a:lnTo>
                    <a:pt x="780789" y="994915"/>
                  </a:lnTo>
                  <a:lnTo>
                    <a:pt x="782910" y="998487"/>
                  </a:lnTo>
                  <a:lnTo>
                    <a:pt x="784993" y="1002022"/>
                  </a:lnTo>
                  <a:lnTo>
                    <a:pt x="787114" y="1005594"/>
                  </a:lnTo>
                  <a:lnTo>
                    <a:pt x="789198" y="1009129"/>
                  </a:lnTo>
                  <a:lnTo>
                    <a:pt x="791319" y="1012626"/>
                  </a:lnTo>
                  <a:lnTo>
                    <a:pt x="793402" y="1016161"/>
                  </a:lnTo>
                  <a:lnTo>
                    <a:pt x="795486" y="1019658"/>
                  </a:lnTo>
                  <a:lnTo>
                    <a:pt x="797607" y="1023156"/>
                  </a:lnTo>
                  <a:lnTo>
                    <a:pt x="799690" y="1026616"/>
                  </a:lnTo>
                  <a:lnTo>
                    <a:pt x="801811" y="1030113"/>
                  </a:lnTo>
                  <a:lnTo>
                    <a:pt x="805978" y="1037034"/>
                  </a:lnTo>
                  <a:lnTo>
                    <a:pt x="808099" y="1040457"/>
                  </a:lnTo>
                  <a:lnTo>
                    <a:pt x="810183" y="1043917"/>
                  </a:lnTo>
                  <a:lnTo>
                    <a:pt x="812303" y="1047340"/>
                  </a:lnTo>
                  <a:lnTo>
                    <a:pt x="814387" y="1050763"/>
                  </a:lnTo>
                  <a:lnTo>
                    <a:pt x="816471" y="1054149"/>
                  </a:lnTo>
                  <a:lnTo>
                    <a:pt x="818591" y="1057572"/>
                  </a:lnTo>
                  <a:lnTo>
                    <a:pt x="820675" y="1060958"/>
                  </a:lnTo>
                  <a:lnTo>
                    <a:pt x="822796" y="1064344"/>
                  </a:lnTo>
                  <a:lnTo>
                    <a:pt x="824879" y="1067692"/>
                  </a:lnTo>
                  <a:lnTo>
                    <a:pt x="827000" y="1071041"/>
                  </a:lnTo>
                  <a:lnTo>
                    <a:pt x="831167" y="1077738"/>
                  </a:lnTo>
                  <a:lnTo>
                    <a:pt x="833288" y="1081087"/>
                  </a:lnTo>
                  <a:lnTo>
                    <a:pt x="835372" y="1084398"/>
                  </a:lnTo>
                  <a:lnTo>
                    <a:pt x="837493" y="1087710"/>
                  </a:lnTo>
                  <a:lnTo>
                    <a:pt x="839576" y="1091021"/>
                  </a:lnTo>
                  <a:lnTo>
                    <a:pt x="841660" y="1094295"/>
                  </a:lnTo>
                  <a:lnTo>
                    <a:pt x="843780" y="1097570"/>
                  </a:lnTo>
                  <a:lnTo>
                    <a:pt x="845864" y="1100844"/>
                  </a:lnTo>
                  <a:lnTo>
                    <a:pt x="847985" y="1104118"/>
                  </a:lnTo>
                  <a:lnTo>
                    <a:pt x="850068" y="1107392"/>
                  </a:lnTo>
                  <a:lnTo>
                    <a:pt x="852152" y="1110629"/>
                  </a:lnTo>
                  <a:lnTo>
                    <a:pt x="854273" y="1113866"/>
                  </a:lnTo>
                  <a:lnTo>
                    <a:pt x="856356" y="1117066"/>
                  </a:lnTo>
                  <a:lnTo>
                    <a:pt x="858477" y="1120303"/>
                  </a:lnTo>
                  <a:lnTo>
                    <a:pt x="862644" y="1126703"/>
                  </a:lnTo>
                  <a:lnTo>
                    <a:pt x="864765" y="1129903"/>
                  </a:lnTo>
                  <a:lnTo>
                    <a:pt x="866849" y="1133065"/>
                  </a:lnTo>
                  <a:lnTo>
                    <a:pt x="868970" y="1136228"/>
                  </a:lnTo>
                  <a:lnTo>
                    <a:pt x="871053" y="1139390"/>
                  </a:lnTo>
                  <a:lnTo>
                    <a:pt x="873174" y="1142553"/>
                  </a:lnTo>
                  <a:lnTo>
                    <a:pt x="877341" y="1148804"/>
                  </a:lnTo>
                  <a:lnTo>
                    <a:pt x="879462" y="1151929"/>
                  </a:lnTo>
                  <a:lnTo>
                    <a:pt x="881546" y="1155017"/>
                  </a:lnTo>
                  <a:lnTo>
                    <a:pt x="883666" y="1158143"/>
                  </a:lnTo>
                  <a:lnTo>
                    <a:pt x="887834" y="1164319"/>
                  </a:lnTo>
                  <a:lnTo>
                    <a:pt x="889954" y="1167370"/>
                  </a:lnTo>
                  <a:lnTo>
                    <a:pt x="892038" y="1170458"/>
                  </a:lnTo>
                  <a:lnTo>
                    <a:pt x="894159" y="1173509"/>
                  </a:lnTo>
                  <a:lnTo>
                    <a:pt x="896242" y="1176523"/>
                  </a:lnTo>
                  <a:lnTo>
                    <a:pt x="898326" y="1179574"/>
                  </a:lnTo>
                  <a:lnTo>
                    <a:pt x="900447" y="1182588"/>
                  </a:lnTo>
                  <a:lnTo>
                    <a:pt x="902530" y="1185601"/>
                  </a:lnTo>
                  <a:lnTo>
                    <a:pt x="904651" y="1188615"/>
                  </a:lnTo>
                  <a:lnTo>
                    <a:pt x="906735" y="1191629"/>
                  </a:lnTo>
                  <a:lnTo>
                    <a:pt x="908856" y="1194606"/>
                  </a:lnTo>
                  <a:lnTo>
                    <a:pt x="913023" y="1200559"/>
                  </a:lnTo>
                  <a:lnTo>
                    <a:pt x="915144" y="1203498"/>
                  </a:lnTo>
                  <a:lnTo>
                    <a:pt x="917227" y="1206475"/>
                  </a:lnTo>
                  <a:lnTo>
                    <a:pt x="919348" y="1209414"/>
                  </a:lnTo>
                  <a:lnTo>
                    <a:pt x="921432" y="1212316"/>
                  </a:lnTo>
                  <a:lnTo>
                    <a:pt x="923515" y="1215255"/>
                  </a:lnTo>
                  <a:lnTo>
                    <a:pt x="925636" y="1218158"/>
                  </a:lnTo>
                  <a:lnTo>
                    <a:pt x="927720" y="1221060"/>
                  </a:lnTo>
                  <a:lnTo>
                    <a:pt x="929840" y="1223962"/>
                  </a:lnTo>
                  <a:lnTo>
                    <a:pt x="931924" y="1226864"/>
                  </a:lnTo>
                  <a:lnTo>
                    <a:pt x="934008" y="1229729"/>
                  </a:lnTo>
                  <a:lnTo>
                    <a:pt x="936128" y="1232594"/>
                  </a:lnTo>
                  <a:lnTo>
                    <a:pt x="938212" y="1235459"/>
                  </a:lnTo>
                  <a:lnTo>
                    <a:pt x="940333" y="1238287"/>
                  </a:lnTo>
                  <a:lnTo>
                    <a:pt x="942416" y="1241114"/>
                  </a:lnTo>
                  <a:lnTo>
                    <a:pt x="944537" y="1243942"/>
                  </a:lnTo>
                  <a:lnTo>
                    <a:pt x="948704" y="1249598"/>
                  </a:lnTo>
                  <a:lnTo>
                    <a:pt x="950825" y="1252388"/>
                  </a:lnTo>
                  <a:lnTo>
                    <a:pt x="952909" y="1255179"/>
                  </a:lnTo>
                  <a:lnTo>
                    <a:pt x="955030" y="1257969"/>
                  </a:lnTo>
                  <a:lnTo>
                    <a:pt x="957113" y="1260760"/>
                  </a:lnTo>
                  <a:lnTo>
                    <a:pt x="959197" y="1263513"/>
                  </a:lnTo>
                  <a:lnTo>
                    <a:pt x="961317" y="1266266"/>
                  </a:lnTo>
                  <a:lnTo>
                    <a:pt x="963401" y="1269020"/>
                  </a:lnTo>
                  <a:lnTo>
                    <a:pt x="965522" y="1271736"/>
                  </a:lnTo>
                  <a:lnTo>
                    <a:pt x="967605" y="1274489"/>
                  </a:lnTo>
                  <a:lnTo>
                    <a:pt x="969689" y="1277205"/>
                  </a:lnTo>
                  <a:lnTo>
                    <a:pt x="971810" y="1279921"/>
                  </a:lnTo>
                  <a:lnTo>
                    <a:pt x="973893" y="1282600"/>
                  </a:lnTo>
                  <a:lnTo>
                    <a:pt x="976014" y="1285316"/>
                  </a:lnTo>
                  <a:lnTo>
                    <a:pt x="978098" y="1287995"/>
                  </a:lnTo>
                  <a:lnTo>
                    <a:pt x="980219" y="1290674"/>
                  </a:lnTo>
                  <a:lnTo>
                    <a:pt x="982302" y="1293316"/>
                  </a:lnTo>
                  <a:lnTo>
                    <a:pt x="984386" y="1295995"/>
                  </a:lnTo>
                  <a:lnTo>
                    <a:pt x="986507" y="1298636"/>
                  </a:lnTo>
                  <a:lnTo>
                    <a:pt x="988590" y="1301278"/>
                  </a:lnTo>
                  <a:lnTo>
                    <a:pt x="990711" y="1303883"/>
                  </a:lnTo>
                  <a:lnTo>
                    <a:pt x="992795" y="1306524"/>
                  </a:lnTo>
                  <a:lnTo>
                    <a:pt x="994878" y="1309129"/>
                  </a:lnTo>
                  <a:lnTo>
                    <a:pt x="996999" y="1311733"/>
                  </a:lnTo>
                  <a:lnTo>
                    <a:pt x="999083" y="1314338"/>
                  </a:lnTo>
                  <a:lnTo>
                    <a:pt x="1001203" y="1316905"/>
                  </a:lnTo>
                  <a:lnTo>
                    <a:pt x="1003287" y="1319510"/>
                  </a:lnTo>
                  <a:lnTo>
                    <a:pt x="1005371" y="1322077"/>
                  </a:lnTo>
                  <a:lnTo>
                    <a:pt x="1007491" y="1324607"/>
                  </a:lnTo>
                  <a:lnTo>
                    <a:pt x="1009575" y="1327174"/>
                  </a:lnTo>
                  <a:lnTo>
                    <a:pt x="1011696" y="1329704"/>
                  </a:lnTo>
                  <a:lnTo>
                    <a:pt x="1013779" y="1332234"/>
                  </a:lnTo>
                  <a:lnTo>
                    <a:pt x="1015900" y="1334764"/>
                  </a:lnTo>
                  <a:lnTo>
                    <a:pt x="1017984" y="1337295"/>
                  </a:lnTo>
                  <a:lnTo>
                    <a:pt x="1020067" y="1339787"/>
                  </a:lnTo>
                  <a:lnTo>
                    <a:pt x="1022188" y="1342317"/>
                  </a:lnTo>
                  <a:lnTo>
                    <a:pt x="1024272" y="1344810"/>
                  </a:lnTo>
                  <a:lnTo>
                    <a:pt x="1026393" y="1347266"/>
                  </a:lnTo>
                  <a:lnTo>
                    <a:pt x="1028476" y="1349759"/>
                  </a:lnTo>
                  <a:lnTo>
                    <a:pt x="1030560" y="1352215"/>
                  </a:lnTo>
                  <a:lnTo>
                    <a:pt x="1032681" y="1354670"/>
                  </a:lnTo>
                  <a:lnTo>
                    <a:pt x="1034764" y="1357126"/>
                  </a:lnTo>
                  <a:lnTo>
                    <a:pt x="1036885" y="1359544"/>
                  </a:lnTo>
                  <a:lnTo>
                    <a:pt x="1038969" y="1362000"/>
                  </a:lnTo>
                  <a:lnTo>
                    <a:pt x="1041052" y="1364418"/>
                  </a:lnTo>
                  <a:lnTo>
                    <a:pt x="1043173" y="1366837"/>
                  </a:lnTo>
                  <a:lnTo>
                    <a:pt x="1045257" y="1369218"/>
                  </a:lnTo>
                  <a:lnTo>
                    <a:pt x="1047377" y="1371637"/>
                  </a:lnTo>
                  <a:lnTo>
                    <a:pt x="1049461" y="1374018"/>
                  </a:lnTo>
                  <a:lnTo>
                    <a:pt x="1051582" y="1376399"/>
                  </a:lnTo>
                  <a:lnTo>
                    <a:pt x="1053665" y="1378780"/>
                  </a:lnTo>
                  <a:lnTo>
                    <a:pt x="1055749" y="1381124"/>
                  </a:lnTo>
                  <a:lnTo>
                    <a:pt x="1057870" y="1383506"/>
                  </a:lnTo>
                  <a:lnTo>
                    <a:pt x="1059953" y="1385850"/>
                  </a:lnTo>
                  <a:lnTo>
                    <a:pt x="1062074" y="1388194"/>
                  </a:lnTo>
                  <a:lnTo>
                    <a:pt x="1064158" y="1390501"/>
                  </a:lnTo>
                  <a:lnTo>
                    <a:pt x="1066241" y="1392845"/>
                  </a:lnTo>
                  <a:lnTo>
                    <a:pt x="1068362" y="1395151"/>
                  </a:lnTo>
                  <a:lnTo>
                    <a:pt x="1070446" y="1397458"/>
                  </a:lnTo>
                  <a:lnTo>
                    <a:pt x="1072567" y="1399765"/>
                  </a:lnTo>
                  <a:lnTo>
                    <a:pt x="1074650" y="1402035"/>
                  </a:lnTo>
                  <a:lnTo>
                    <a:pt x="1076734" y="1404342"/>
                  </a:lnTo>
                  <a:lnTo>
                    <a:pt x="1078854" y="1406611"/>
                  </a:lnTo>
                  <a:lnTo>
                    <a:pt x="1080938" y="1408881"/>
                  </a:lnTo>
                  <a:lnTo>
                    <a:pt x="1083059" y="1411113"/>
                  </a:lnTo>
                  <a:lnTo>
                    <a:pt x="1085142" y="1413383"/>
                  </a:lnTo>
                  <a:lnTo>
                    <a:pt x="1087226" y="1415615"/>
                  </a:lnTo>
                  <a:lnTo>
                    <a:pt x="1089347" y="1417848"/>
                  </a:lnTo>
                  <a:lnTo>
                    <a:pt x="1091430" y="1420080"/>
                  </a:lnTo>
                  <a:lnTo>
                    <a:pt x="1093551" y="1422275"/>
                  </a:lnTo>
                  <a:lnTo>
                    <a:pt x="1095635" y="1424508"/>
                  </a:lnTo>
                  <a:lnTo>
                    <a:pt x="1097756" y="1426703"/>
                  </a:lnTo>
                  <a:lnTo>
                    <a:pt x="1101923" y="1431093"/>
                  </a:lnTo>
                  <a:lnTo>
                    <a:pt x="1104044" y="1433251"/>
                  </a:lnTo>
                  <a:lnTo>
                    <a:pt x="1106127" y="1435447"/>
                  </a:lnTo>
                  <a:lnTo>
                    <a:pt x="1108248" y="1437605"/>
                  </a:lnTo>
                  <a:lnTo>
                    <a:pt x="1110332" y="1439763"/>
                  </a:lnTo>
                  <a:lnTo>
                    <a:pt x="1112415" y="1441883"/>
                  </a:lnTo>
                  <a:lnTo>
                    <a:pt x="1114536" y="1444041"/>
                  </a:lnTo>
                  <a:lnTo>
                    <a:pt x="1116620" y="1446162"/>
                  </a:lnTo>
                  <a:lnTo>
                    <a:pt x="1118740" y="1448283"/>
                  </a:lnTo>
                  <a:lnTo>
                    <a:pt x="1122908" y="1452525"/>
                  </a:lnTo>
                  <a:lnTo>
                    <a:pt x="1125028" y="1454608"/>
                  </a:lnTo>
                  <a:lnTo>
                    <a:pt x="1127112" y="1456729"/>
                  </a:lnTo>
                  <a:lnTo>
                    <a:pt x="1129233" y="1458813"/>
                  </a:lnTo>
                  <a:lnTo>
                    <a:pt x="1131316" y="1460859"/>
                  </a:lnTo>
                  <a:lnTo>
                    <a:pt x="1133437" y="1462943"/>
                  </a:lnTo>
                  <a:lnTo>
                    <a:pt x="1135521" y="1465026"/>
                  </a:lnTo>
                  <a:lnTo>
                    <a:pt x="1137604" y="1467073"/>
                  </a:lnTo>
                  <a:lnTo>
                    <a:pt x="1139725" y="1469119"/>
                  </a:lnTo>
                  <a:lnTo>
                    <a:pt x="1141809" y="1471165"/>
                  </a:lnTo>
                  <a:lnTo>
                    <a:pt x="1143930" y="1473175"/>
                  </a:lnTo>
                  <a:lnTo>
                    <a:pt x="1146013" y="1475221"/>
                  </a:lnTo>
                  <a:lnTo>
                    <a:pt x="1148097" y="1477230"/>
                  </a:lnTo>
                  <a:lnTo>
                    <a:pt x="1150218" y="1479239"/>
                  </a:lnTo>
                  <a:lnTo>
                    <a:pt x="1152301" y="1481249"/>
                  </a:lnTo>
                  <a:lnTo>
                    <a:pt x="1154422" y="1483220"/>
                  </a:lnTo>
                  <a:lnTo>
                    <a:pt x="1156506" y="1485230"/>
                  </a:lnTo>
                  <a:lnTo>
                    <a:pt x="1158589" y="1487202"/>
                  </a:lnTo>
                  <a:lnTo>
                    <a:pt x="1160710" y="1489174"/>
                  </a:lnTo>
                  <a:lnTo>
                    <a:pt x="1162794" y="1491146"/>
                  </a:lnTo>
                  <a:lnTo>
                    <a:pt x="1164914" y="1493118"/>
                  </a:lnTo>
                  <a:lnTo>
                    <a:pt x="1166998" y="1495052"/>
                  </a:lnTo>
                  <a:lnTo>
                    <a:pt x="1169119" y="1497024"/>
                  </a:lnTo>
                  <a:lnTo>
                    <a:pt x="1171202" y="1498959"/>
                  </a:lnTo>
                  <a:lnTo>
                    <a:pt x="1173286" y="1500857"/>
                  </a:lnTo>
                  <a:lnTo>
                    <a:pt x="1175407" y="1502791"/>
                  </a:lnTo>
                  <a:lnTo>
                    <a:pt x="1177490" y="1504726"/>
                  </a:lnTo>
                  <a:lnTo>
                    <a:pt x="1179611" y="1506624"/>
                  </a:lnTo>
                  <a:lnTo>
                    <a:pt x="1183778" y="1510419"/>
                  </a:lnTo>
                  <a:lnTo>
                    <a:pt x="1185899" y="1512316"/>
                  </a:lnTo>
                  <a:lnTo>
                    <a:pt x="1187983" y="1514177"/>
                  </a:lnTo>
                  <a:lnTo>
                    <a:pt x="1190103" y="1516074"/>
                  </a:lnTo>
                  <a:lnTo>
                    <a:pt x="1194271" y="1519795"/>
                  </a:lnTo>
                  <a:lnTo>
                    <a:pt x="1196391" y="1521655"/>
                  </a:lnTo>
                  <a:lnTo>
                    <a:pt x="1198475" y="1523478"/>
                  </a:lnTo>
                  <a:lnTo>
                    <a:pt x="1200596" y="1525339"/>
                  </a:lnTo>
                  <a:lnTo>
                    <a:pt x="1202680" y="1527162"/>
                  </a:lnTo>
                  <a:lnTo>
                    <a:pt x="1204800" y="1528985"/>
                  </a:lnTo>
                  <a:lnTo>
                    <a:pt x="1208967" y="1532631"/>
                  </a:lnTo>
                  <a:lnTo>
                    <a:pt x="1211088" y="1534417"/>
                  </a:lnTo>
                  <a:lnTo>
                    <a:pt x="1213172" y="1536203"/>
                  </a:lnTo>
                  <a:lnTo>
                    <a:pt x="1215293" y="1538026"/>
                  </a:lnTo>
                  <a:lnTo>
                    <a:pt x="1217376" y="1539812"/>
                  </a:lnTo>
                  <a:lnTo>
                    <a:pt x="1219460" y="1541561"/>
                  </a:lnTo>
                  <a:lnTo>
                    <a:pt x="1221581" y="1543347"/>
                  </a:lnTo>
                  <a:lnTo>
                    <a:pt x="1223664" y="1545096"/>
                  </a:lnTo>
                  <a:lnTo>
                    <a:pt x="1225785" y="1546882"/>
                  </a:lnTo>
                  <a:lnTo>
                    <a:pt x="1229952" y="1550379"/>
                  </a:lnTo>
                  <a:lnTo>
                    <a:pt x="1232073" y="1552091"/>
                  </a:lnTo>
                  <a:lnTo>
                    <a:pt x="1234157" y="1553839"/>
                  </a:lnTo>
                  <a:lnTo>
                    <a:pt x="1236277" y="1555551"/>
                  </a:lnTo>
                  <a:lnTo>
                    <a:pt x="1238361" y="1557262"/>
                  </a:lnTo>
                  <a:lnTo>
                    <a:pt x="1240482" y="1558974"/>
                  </a:lnTo>
                  <a:lnTo>
                    <a:pt x="1244649" y="1562397"/>
                  </a:lnTo>
                  <a:lnTo>
                    <a:pt x="1246770" y="1564071"/>
                  </a:lnTo>
                  <a:lnTo>
                    <a:pt x="1248853" y="1565783"/>
                  </a:lnTo>
                  <a:lnTo>
                    <a:pt x="1250974" y="1567457"/>
                  </a:lnTo>
                  <a:lnTo>
                    <a:pt x="1253058" y="1569131"/>
                  </a:lnTo>
                  <a:lnTo>
                    <a:pt x="1255141" y="1570769"/>
                  </a:lnTo>
                  <a:lnTo>
                    <a:pt x="1257262" y="1572443"/>
                  </a:lnTo>
                  <a:lnTo>
                    <a:pt x="1259346" y="1574117"/>
                  </a:lnTo>
                  <a:lnTo>
                    <a:pt x="1261467" y="1575754"/>
                  </a:lnTo>
                  <a:lnTo>
                    <a:pt x="1265634" y="1579029"/>
                  </a:lnTo>
                  <a:lnTo>
                    <a:pt x="1267755" y="1580666"/>
                  </a:lnTo>
                  <a:lnTo>
                    <a:pt x="1269838" y="1582266"/>
                  </a:lnTo>
                  <a:lnTo>
                    <a:pt x="1271959" y="1583903"/>
                  </a:lnTo>
                  <a:lnTo>
                    <a:pt x="1274043" y="1585503"/>
                  </a:lnTo>
                  <a:lnTo>
                    <a:pt x="1276163" y="1587102"/>
                  </a:lnTo>
                  <a:lnTo>
                    <a:pt x="1280331" y="1590302"/>
                  </a:lnTo>
                  <a:lnTo>
                    <a:pt x="1282451" y="1591865"/>
                  </a:lnTo>
                  <a:lnTo>
                    <a:pt x="1284535" y="1593465"/>
                  </a:lnTo>
                  <a:lnTo>
                    <a:pt x="1286656" y="1595028"/>
                  </a:lnTo>
                  <a:lnTo>
                    <a:pt x="1290823" y="1598153"/>
                  </a:lnTo>
                  <a:lnTo>
                    <a:pt x="1292944" y="1599716"/>
                  </a:lnTo>
                  <a:lnTo>
                    <a:pt x="1295027" y="1601278"/>
                  </a:lnTo>
                  <a:lnTo>
                    <a:pt x="1297148" y="1602804"/>
                  </a:lnTo>
                  <a:lnTo>
                    <a:pt x="1301315" y="1605855"/>
                  </a:lnTo>
                  <a:lnTo>
                    <a:pt x="1303436" y="1607380"/>
                  </a:lnTo>
                  <a:lnTo>
                    <a:pt x="1305520" y="1608906"/>
                  </a:lnTo>
                  <a:lnTo>
                    <a:pt x="1307641" y="1610431"/>
                  </a:lnTo>
                  <a:lnTo>
                    <a:pt x="1309724" y="1611920"/>
                  </a:lnTo>
                  <a:lnTo>
                    <a:pt x="1311808" y="1613445"/>
                  </a:lnTo>
                  <a:lnTo>
                    <a:pt x="1313928" y="1614933"/>
                  </a:lnTo>
                  <a:lnTo>
                    <a:pt x="1316012" y="1616422"/>
                  </a:lnTo>
                  <a:lnTo>
                    <a:pt x="1318133" y="1617910"/>
                  </a:lnTo>
                  <a:lnTo>
                    <a:pt x="1320216" y="1619398"/>
                  </a:lnTo>
                  <a:lnTo>
                    <a:pt x="1322337" y="1620849"/>
                  </a:lnTo>
                  <a:lnTo>
                    <a:pt x="1324421" y="1622338"/>
                  </a:lnTo>
                  <a:lnTo>
                    <a:pt x="1326505" y="1623789"/>
                  </a:lnTo>
                  <a:lnTo>
                    <a:pt x="1328625" y="1625240"/>
                  </a:lnTo>
                  <a:lnTo>
                    <a:pt x="1330709" y="1626691"/>
                  </a:lnTo>
                  <a:lnTo>
                    <a:pt x="1332830" y="1628142"/>
                  </a:lnTo>
                  <a:lnTo>
                    <a:pt x="1334913" y="1629593"/>
                  </a:lnTo>
                  <a:lnTo>
                    <a:pt x="1336997" y="1631007"/>
                  </a:lnTo>
                  <a:lnTo>
                    <a:pt x="1339118" y="1632421"/>
                  </a:lnTo>
                  <a:lnTo>
                    <a:pt x="1341201" y="1633872"/>
                  </a:lnTo>
                  <a:lnTo>
                    <a:pt x="1343322" y="1635286"/>
                  </a:lnTo>
                  <a:lnTo>
                    <a:pt x="1345406" y="1636699"/>
                  </a:lnTo>
                  <a:lnTo>
                    <a:pt x="1347489" y="1638076"/>
                  </a:lnTo>
                  <a:lnTo>
                    <a:pt x="1349610" y="1639490"/>
                  </a:lnTo>
                  <a:lnTo>
                    <a:pt x="1351694" y="1640867"/>
                  </a:lnTo>
                  <a:lnTo>
                    <a:pt x="1353814" y="1642281"/>
                  </a:lnTo>
                  <a:lnTo>
                    <a:pt x="1355898" y="1643657"/>
                  </a:lnTo>
                  <a:lnTo>
                    <a:pt x="1358019" y="1645034"/>
                  </a:lnTo>
                  <a:lnTo>
                    <a:pt x="1360102" y="1646410"/>
                  </a:lnTo>
                  <a:lnTo>
                    <a:pt x="1362186" y="1647750"/>
                  </a:lnTo>
                  <a:lnTo>
                    <a:pt x="1364307" y="1649127"/>
                  </a:lnTo>
                  <a:lnTo>
                    <a:pt x="1366390" y="1650503"/>
                  </a:lnTo>
                  <a:lnTo>
                    <a:pt x="1368511" y="1651843"/>
                  </a:lnTo>
                  <a:lnTo>
                    <a:pt x="1372678" y="1654522"/>
                  </a:lnTo>
                  <a:lnTo>
                    <a:pt x="1374799" y="1655861"/>
                  </a:lnTo>
                  <a:lnTo>
                    <a:pt x="1376883" y="1657201"/>
                  </a:lnTo>
                  <a:lnTo>
                    <a:pt x="1379004" y="1658503"/>
                  </a:lnTo>
                  <a:lnTo>
                    <a:pt x="1381087" y="1659842"/>
                  </a:lnTo>
                  <a:lnTo>
                    <a:pt x="1383171" y="1661144"/>
                  </a:lnTo>
                  <a:lnTo>
                    <a:pt x="1385292" y="1662447"/>
                  </a:lnTo>
                  <a:lnTo>
                    <a:pt x="1387375" y="1663749"/>
                  </a:lnTo>
                  <a:lnTo>
                    <a:pt x="1389496" y="1665051"/>
                  </a:lnTo>
                  <a:lnTo>
                    <a:pt x="1391580" y="1666353"/>
                  </a:lnTo>
                  <a:lnTo>
                    <a:pt x="1393700" y="1667619"/>
                  </a:lnTo>
                  <a:lnTo>
                    <a:pt x="1395784" y="1668921"/>
                  </a:lnTo>
                  <a:lnTo>
                    <a:pt x="1397868" y="1670186"/>
                  </a:lnTo>
                  <a:lnTo>
                    <a:pt x="1399988" y="1671451"/>
                  </a:lnTo>
                  <a:lnTo>
                    <a:pt x="1402072" y="1672716"/>
                  </a:lnTo>
                  <a:lnTo>
                    <a:pt x="1404193" y="1673981"/>
                  </a:lnTo>
                  <a:lnTo>
                    <a:pt x="1408360" y="1676511"/>
                  </a:lnTo>
                  <a:lnTo>
                    <a:pt x="1410481" y="1677739"/>
                  </a:lnTo>
                  <a:lnTo>
                    <a:pt x="1412564" y="1679004"/>
                  </a:lnTo>
                  <a:lnTo>
                    <a:pt x="1414685" y="1680232"/>
                  </a:lnTo>
                  <a:lnTo>
                    <a:pt x="1418852" y="1682687"/>
                  </a:lnTo>
                  <a:lnTo>
                    <a:pt x="1420973" y="1683915"/>
                  </a:lnTo>
                  <a:lnTo>
                    <a:pt x="1423057" y="1685143"/>
                  </a:lnTo>
                  <a:lnTo>
                    <a:pt x="1425178" y="1686334"/>
                  </a:lnTo>
                  <a:lnTo>
                    <a:pt x="1427261" y="1687562"/>
                  </a:lnTo>
                  <a:lnTo>
                    <a:pt x="1429382" y="1688752"/>
                  </a:lnTo>
                  <a:lnTo>
                    <a:pt x="1433549" y="1691133"/>
                  </a:lnTo>
                  <a:lnTo>
                    <a:pt x="1435670" y="1692324"/>
                  </a:lnTo>
                  <a:lnTo>
                    <a:pt x="1437753" y="1693515"/>
                  </a:lnTo>
                  <a:lnTo>
                    <a:pt x="1439874" y="1694705"/>
                  </a:lnTo>
                  <a:lnTo>
                    <a:pt x="1441958" y="1695859"/>
                  </a:lnTo>
                  <a:lnTo>
                    <a:pt x="1444041" y="1697049"/>
                  </a:lnTo>
                  <a:lnTo>
                    <a:pt x="1446162" y="1698203"/>
                  </a:lnTo>
                  <a:lnTo>
                    <a:pt x="1448246" y="1699356"/>
                  </a:lnTo>
                  <a:lnTo>
                    <a:pt x="1450367" y="1700510"/>
                  </a:lnTo>
                  <a:lnTo>
                    <a:pt x="1454534" y="1702816"/>
                  </a:lnTo>
                  <a:lnTo>
                    <a:pt x="1456655" y="1703970"/>
                  </a:lnTo>
                  <a:lnTo>
                    <a:pt x="1458738" y="1705086"/>
                  </a:lnTo>
                  <a:lnTo>
                    <a:pt x="1460859" y="1706239"/>
                  </a:lnTo>
                  <a:lnTo>
                    <a:pt x="1462943" y="1707356"/>
                  </a:lnTo>
                  <a:lnTo>
                    <a:pt x="1465063" y="1708472"/>
                  </a:lnTo>
                  <a:lnTo>
                    <a:pt x="1469231" y="1710704"/>
                  </a:lnTo>
                  <a:lnTo>
                    <a:pt x="1471351" y="1711820"/>
                  </a:lnTo>
                  <a:lnTo>
                    <a:pt x="1473435" y="1712937"/>
                  </a:lnTo>
                  <a:lnTo>
                    <a:pt x="1475556" y="1714053"/>
                  </a:lnTo>
                  <a:lnTo>
                    <a:pt x="1479723" y="1716211"/>
                  </a:lnTo>
                  <a:lnTo>
                    <a:pt x="1481844" y="1717327"/>
                  </a:lnTo>
                  <a:lnTo>
                    <a:pt x="1483927" y="1718406"/>
                  </a:lnTo>
                  <a:lnTo>
                    <a:pt x="1486048" y="1719485"/>
                  </a:lnTo>
                  <a:lnTo>
                    <a:pt x="1488132" y="1720564"/>
                  </a:lnTo>
                  <a:lnTo>
                    <a:pt x="1490215" y="1721606"/>
                  </a:lnTo>
                  <a:lnTo>
                    <a:pt x="1492336" y="1722685"/>
                  </a:lnTo>
                  <a:lnTo>
                    <a:pt x="1494420" y="1723764"/>
                  </a:lnTo>
                  <a:lnTo>
                    <a:pt x="1496541" y="1724806"/>
                  </a:lnTo>
                  <a:lnTo>
                    <a:pt x="1498624" y="1725848"/>
                  </a:lnTo>
                  <a:lnTo>
                    <a:pt x="1500745" y="1726889"/>
                  </a:lnTo>
                  <a:lnTo>
                    <a:pt x="1502829" y="1727968"/>
                  </a:lnTo>
                  <a:lnTo>
                    <a:pt x="1504912" y="1728973"/>
                  </a:lnTo>
                  <a:lnTo>
                    <a:pt x="1507033" y="1730015"/>
                  </a:lnTo>
                  <a:lnTo>
                    <a:pt x="1509117" y="1731056"/>
                  </a:lnTo>
                  <a:lnTo>
                    <a:pt x="1511237" y="1732098"/>
                  </a:lnTo>
                  <a:lnTo>
                    <a:pt x="1513321" y="1733103"/>
                  </a:lnTo>
                  <a:lnTo>
                    <a:pt x="1515405" y="1734145"/>
                  </a:lnTo>
                  <a:lnTo>
                    <a:pt x="1517525" y="1735149"/>
                  </a:lnTo>
                  <a:lnTo>
                    <a:pt x="1519609" y="1736154"/>
                  </a:lnTo>
                  <a:lnTo>
                    <a:pt x="1521730" y="1737158"/>
                  </a:lnTo>
                  <a:lnTo>
                    <a:pt x="1525897" y="1739168"/>
                  </a:lnTo>
                  <a:lnTo>
                    <a:pt x="1528018" y="1740172"/>
                  </a:lnTo>
                  <a:lnTo>
                    <a:pt x="1530101" y="1741140"/>
                  </a:lnTo>
                  <a:lnTo>
                    <a:pt x="1532222" y="1742144"/>
                  </a:lnTo>
                  <a:lnTo>
                    <a:pt x="1536389" y="1744079"/>
                  </a:lnTo>
                  <a:lnTo>
                    <a:pt x="1538510" y="1745084"/>
                  </a:lnTo>
                  <a:lnTo>
                    <a:pt x="1540594" y="1746051"/>
                  </a:lnTo>
                  <a:lnTo>
                    <a:pt x="1542715" y="1747018"/>
                  </a:lnTo>
                  <a:lnTo>
                    <a:pt x="1544798" y="1747948"/>
                  </a:lnTo>
                  <a:lnTo>
                    <a:pt x="1546919" y="1748916"/>
                  </a:lnTo>
                  <a:lnTo>
                    <a:pt x="1549002" y="1749883"/>
                  </a:lnTo>
                  <a:lnTo>
                    <a:pt x="1551086" y="1750813"/>
                  </a:lnTo>
                  <a:lnTo>
                    <a:pt x="1553207" y="1751781"/>
                  </a:lnTo>
                  <a:lnTo>
                    <a:pt x="1555291" y="1752711"/>
                  </a:lnTo>
                  <a:lnTo>
                    <a:pt x="1557411" y="1753641"/>
                  </a:lnTo>
                  <a:lnTo>
                    <a:pt x="1559495" y="1754609"/>
                  </a:lnTo>
                  <a:lnTo>
                    <a:pt x="1561578" y="1755539"/>
                  </a:lnTo>
                  <a:lnTo>
                    <a:pt x="1563699" y="1756469"/>
                  </a:lnTo>
                  <a:lnTo>
                    <a:pt x="1565783" y="1757362"/>
                  </a:lnTo>
                  <a:lnTo>
                    <a:pt x="1567904" y="1758292"/>
                  </a:lnTo>
                  <a:lnTo>
                    <a:pt x="1569987" y="1759222"/>
                  </a:lnTo>
                  <a:lnTo>
                    <a:pt x="1572071" y="1760115"/>
                  </a:lnTo>
                  <a:lnTo>
                    <a:pt x="1574192" y="1761045"/>
                  </a:lnTo>
                  <a:lnTo>
                    <a:pt x="1576275" y="1761938"/>
                  </a:lnTo>
                  <a:lnTo>
                    <a:pt x="1578396" y="1762831"/>
                  </a:lnTo>
                  <a:lnTo>
                    <a:pt x="1580480" y="1763724"/>
                  </a:lnTo>
                  <a:lnTo>
                    <a:pt x="1582600" y="1764617"/>
                  </a:lnTo>
                  <a:lnTo>
                    <a:pt x="1586768" y="1766403"/>
                  </a:lnTo>
                  <a:lnTo>
                    <a:pt x="1588888" y="1767296"/>
                  </a:lnTo>
                  <a:lnTo>
                    <a:pt x="1590972" y="1768152"/>
                  </a:lnTo>
                  <a:lnTo>
                    <a:pt x="1593093" y="1769045"/>
                  </a:lnTo>
                  <a:lnTo>
                    <a:pt x="1595176" y="1769901"/>
                  </a:lnTo>
                  <a:lnTo>
                    <a:pt x="1597260" y="1770794"/>
                  </a:lnTo>
                  <a:lnTo>
                    <a:pt x="1599381" y="1771649"/>
                  </a:lnTo>
                  <a:lnTo>
                    <a:pt x="1601464" y="1772505"/>
                  </a:lnTo>
                  <a:lnTo>
                    <a:pt x="1603585" y="1773361"/>
                  </a:lnTo>
                  <a:lnTo>
                    <a:pt x="1607752" y="1775072"/>
                  </a:lnTo>
                  <a:lnTo>
                    <a:pt x="1609873" y="1775928"/>
                  </a:lnTo>
                  <a:lnTo>
                    <a:pt x="1611957" y="1776747"/>
                  </a:lnTo>
                  <a:lnTo>
                    <a:pt x="1614078" y="1777602"/>
                  </a:lnTo>
                  <a:lnTo>
                    <a:pt x="1616161" y="1778421"/>
                  </a:lnTo>
                  <a:lnTo>
                    <a:pt x="1618282" y="1779277"/>
                  </a:lnTo>
                  <a:lnTo>
                    <a:pt x="1622449" y="1780914"/>
                  </a:lnTo>
                  <a:lnTo>
                    <a:pt x="1624570" y="1781733"/>
                  </a:lnTo>
                  <a:lnTo>
                    <a:pt x="1626654" y="1782551"/>
                  </a:lnTo>
                  <a:lnTo>
                    <a:pt x="1628774" y="1783370"/>
                  </a:lnTo>
                  <a:lnTo>
                    <a:pt x="1632942" y="1785007"/>
                  </a:lnTo>
                  <a:lnTo>
                    <a:pt x="1635062" y="1785788"/>
                  </a:lnTo>
                  <a:lnTo>
                    <a:pt x="1637146" y="1786607"/>
                  </a:lnTo>
                  <a:lnTo>
                    <a:pt x="1639267" y="1787425"/>
                  </a:lnTo>
                  <a:lnTo>
                    <a:pt x="1643434" y="1788988"/>
                  </a:lnTo>
                  <a:lnTo>
                    <a:pt x="1645555" y="1789769"/>
                  </a:lnTo>
                  <a:lnTo>
                    <a:pt x="1647638" y="1790551"/>
                  </a:lnTo>
                  <a:lnTo>
                    <a:pt x="1649759" y="1791369"/>
                  </a:lnTo>
                  <a:lnTo>
                    <a:pt x="1651843" y="1792113"/>
                  </a:lnTo>
                  <a:lnTo>
                    <a:pt x="1653964" y="1792895"/>
                  </a:lnTo>
                  <a:lnTo>
                    <a:pt x="1658131" y="1794457"/>
                  </a:lnTo>
                  <a:lnTo>
                    <a:pt x="1660252" y="1795201"/>
                  </a:lnTo>
                  <a:lnTo>
                    <a:pt x="1662335" y="1795983"/>
                  </a:lnTo>
                  <a:lnTo>
                    <a:pt x="1664456" y="1796727"/>
                  </a:lnTo>
                  <a:lnTo>
                    <a:pt x="1666540" y="1797508"/>
                  </a:lnTo>
                  <a:lnTo>
                    <a:pt x="1668623" y="1798252"/>
                  </a:lnTo>
                  <a:lnTo>
                    <a:pt x="1670744" y="1798997"/>
                  </a:lnTo>
                  <a:lnTo>
                    <a:pt x="1672827" y="1799741"/>
                  </a:lnTo>
                  <a:lnTo>
                    <a:pt x="1674948" y="1800485"/>
                  </a:lnTo>
                  <a:lnTo>
                    <a:pt x="1679116" y="1801973"/>
                  </a:lnTo>
                  <a:lnTo>
                    <a:pt x="1681236" y="1802717"/>
                  </a:lnTo>
                  <a:lnTo>
                    <a:pt x="1683320" y="1803424"/>
                  </a:lnTo>
                  <a:lnTo>
                    <a:pt x="1685441" y="1804168"/>
                  </a:lnTo>
                  <a:lnTo>
                    <a:pt x="1687524" y="1804875"/>
                  </a:lnTo>
                  <a:lnTo>
                    <a:pt x="1689645" y="1805619"/>
                  </a:lnTo>
                  <a:lnTo>
                    <a:pt x="1693812" y="1807033"/>
                  </a:lnTo>
                  <a:lnTo>
                    <a:pt x="1695933" y="1807740"/>
                  </a:lnTo>
                  <a:lnTo>
                    <a:pt x="1698017" y="1808484"/>
                  </a:lnTo>
                  <a:lnTo>
                    <a:pt x="1700137" y="1809191"/>
                  </a:lnTo>
                  <a:lnTo>
                    <a:pt x="1702221" y="1809898"/>
                  </a:lnTo>
                  <a:lnTo>
                    <a:pt x="1704305" y="1810568"/>
                  </a:lnTo>
                  <a:lnTo>
                    <a:pt x="1706425" y="1811275"/>
                  </a:lnTo>
                  <a:lnTo>
                    <a:pt x="1708509" y="1811982"/>
                  </a:lnTo>
                  <a:lnTo>
                    <a:pt x="1710630" y="1812652"/>
                  </a:lnTo>
                  <a:lnTo>
                    <a:pt x="1712713" y="1813358"/>
                  </a:lnTo>
                  <a:lnTo>
                    <a:pt x="1714797" y="1814028"/>
                  </a:lnTo>
                  <a:lnTo>
                    <a:pt x="1716918" y="1814735"/>
                  </a:lnTo>
                  <a:lnTo>
                    <a:pt x="1719001" y="1815405"/>
                  </a:lnTo>
                  <a:lnTo>
                    <a:pt x="1721122" y="1816075"/>
                  </a:lnTo>
                  <a:lnTo>
                    <a:pt x="1723206" y="1816781"/>
                  </a:lnTo>
                  <a:lnTo>
                    <a:pt x="1725327" y="1817451"/>
                  </a:lnTo>
                  <a:lnTo>
                    <a:pt x="1729494" y="1818791"/>
                  </a:lnTo>
                  <a:lnTo>
                    <a:pt x="1731615" y="1819423"/>
                  </a:lnTo>
                  <a:lnTo>
                    <a:pt x="1733698" y="1820093"/>
                  </a:lnTo>
                  <a:lnTo>
                    <a:pt x="1735819" y="1820763"/>
                  </a:lnTo>
                  <a:lnTo>
                    <a:pt x="1737903" y="1821395"/>
                  </a:lnTo>
                  <a:lnTo>
                    <a:pt x="1739986" y="1822065"/>
                  </a:lnTo>
                  <a:lnTo>
                    <a:pt x="1742107" y="1822735"/>
                  </a:lnTo>
                  <a:lnTo>
                    <a:pt x="1744191" y="1823367"/>
                  </a:lnTo>
                  <a:lnTo>
                    <a:pt x="1746311" y="1824000"/>
                  </a:lnTo>
                  <a:lnTo>
                    <a:pt x="1748395" y="1824632"/>
                  </a:lnTo>
                  <a:lnTo>
                    <a:pt x="1750479" y="1825302"/>
                  </a:lnTo>
                  <a:lnTo>
                    <a:pt x="1752599" y="1825934"/>
                  </a:lnTo>
                  <a:lnTo>
                    <a:pt x="1754683" y="1826567"/>
                  </a:lnTo>
                  <a:lnTo>
                    <a:pt x="1756804" y="1827199"/>
                  </a:lnTo>
                  <a:lnTo>
                    <a:pt x="1758887" y="1827832"/>
                  </a:lnTo>
                  <a:lnTo>
                    <a:pt x="1760971" y="1828427"/>
                  </a:lnTo>
                  <a:lnTo>
                    <a:pt x="1763092" y="1829060"/>
                  </a:lnTo>
                  <a:lnTo>
                    <a:pt x="1765175" y="1829692"/>
                  </a:lnTo>
                  <a:lnTo>
                    <a:pt x="1767296" y="1830325"/>
                  </a:lnTo>
                  <a:lnTo>
                    <a:pt x="1769380" y="1830920"/>
                  </a:lnTo>
                  <a:lnTo>
                    <a:pt x="1771501" y="1831553"/>
                  </a:lnTo>
                  <a:lnTo>
                    <a:pt x="1775668" y="1832743"/>
                  </a:lnTo>
                  <a:lnTo>
                    <a:pt x="1777788" y="1833376"/>
                  </a:lnTo>
                  <a:lnTo>
                    <a:pt x="1779872" y="1833971"/>
                  </a:lnTo>
                  <a:lnTo>
                    <a:pt x="1781993" y="1834566"/>
                  </a:lnTo>
                  <a:lnTo>
                    <a:pt x="1786160" y="1835757"/>
                  </a:lnTo>
                  <a:lnTo>
                    <a:pt x="1788281" y="1836352"/>
                  </a:lnTo>
                  <a:lnTo>
                    <a:pt x="1790365" y="1836948"/>
                  </a:lnTo>
                  <a:lnTo>
                    <a:pt x="1792485" y="1837506"/>
                  </a:lnTo>
                  <a:lnTo>
                    <a:pt x="1796652" y="1838696"/>
                  </a:lnTo>
                  <a:lnTo>
                    <a:pt x="1798773" y="1839255"/>
                  </a:lnTo>
                  <a:lnTo>
                    <a:pt x="1800857" y="1839850"/>
                  </a:lnTo>
                  <a:lnTo>
                    <a:pt x="1802978" y="1840408"/>
                  </a:lnTo>
                  <a:lnTo>
                    <a:pt x="1805061" y="1841003"/>
                  </a:lnTo>
                  <a:lnTo>
                    <a:pt x="1807182" y="1841561"/>
                  </a:lnTo>
                  <a:lnTo>
                    <a:pt x="1811349" y="1842678"/>
                  </a:lnTo>
                  <a:lnTo>
                    <a:pt x="1813470" y="1843273"/>
                  </a:lnTo>
                  <a:lnTo>
                    <a:pt x="1815554" y="1843831"/>
                  </a:lnTo>
                  <a:lnTo>
                    <a:pt x="1817674" y="1844389"/>
                  </a:lnTo>
                  <a:lnTo>
                    <a:pt x="1819758" y="1844947"/>
                  </a:lnTo>
                  <a:lnTo>
                    <a:pt x="1821842" y="1845468"/>
                  </a:lnTo>
                  <a:lnTo>
                    <a:pt x="1823962" y="1846026"/>
                  </a:lnTo>
                  <a:lnTo>
                    <a:pt x="1826046" y="1846584"/>
                  </a:lnTo>
                  <a:lnTo>
                    <a:pt x="1828167" y="1847142"/>
                  </a:lnTo>
                  <a:lnTo>
                    <a:pt x="1830250" y="1847663"/>
                  </a:lnTo>
                  <a:lnTo>
                    <a:pt x="1832334" y="1848221"/>
                  </a:lnTo>
                  <a:lnTo>
                    <a:pt x="1834455" y="1848742"/>
                  </a:lnTo>
                  <a:lnTo>
                    <a:pt x="1836538" y="1849300"/>
                  </a:lnTo>
                  <a:lnTo>
                    <a:pt x="1838659" y="1849821"/>
                  </a:lnTo>
                  <a:lnTo>
                    <a:pt x="1840743" y="1850342"/>
                  </a:lnTo>
                  <a:lnTo>
                    <a:pt x="1842864" y="1850900"/>
                  </a:lnTo>
                  <a:lnTo>
                    <a:pt x="1847031" y="1851942"/>
                  </a:lnTo>
                  <a:lnTo>
                    <a:pt x="1849152" y="1852463"/>
                  </a:lnTo>
                  <a:lnTo>
                    <a:pt x="1851235" y="1852984"/>
                  </a:lnTo>
                  <a:lnTo>
                    <a:pt x="1853356" y="1853505"/>
                  </a:lnTo>
                  <a:lnTo>
                    <a:pt x="1857523" y="1854547"/>
                  </a:lnTo>
                  <a:lnTo>
                    <a:pt x="1859644" y="1855030"/>
                  </a:lnTo>
                  <a:lnTo>
                    <a:pt x="1861728" y="1855551"/>
                  </a:lnTo>
                  <a:lnTo>
                    <a:pt x="1863848" y="1856072"/>
                  </a:lnTo>
                  <a:lnTo>
                    <a:pt x="1865932" y="1856556"/>
                  </a:lnTo>
                  <a:lnTo>
                    <a:pt x="1868016" y="1857077"/>
                  </a:lnTo>
                  <a:lnTo>
                    <a:pt x="1870136" y="1857560"/>
                  </a:lnTo>
                  <a:lnTo>
                    <a:pt x="1872220" y="1858081"/>
                  </a:lnTo>
                  <a:lnTo>
                    <a:pt x="1874341" y="1858565"/>
                  </a:lnTo>
                  <a:lnTo>
                    <a:pt x="1876424" y="1859049"/>
                  </a:lnTo>
                  <a:lnTo>
                    <a:pt x="1878545" y="1859570"/>
                  </a:lnTo>
                  <a:lnTo>
                    <a:pt x="1882712" y="1860537"/>
                  </a:lnTo>
                  <a:lnTo>
                    <a:pt x="1884833" y="1861021"/>
                  </a:lnTo>
                  <a:lnTo>
                    <a:pt x="1886917" y="1861504"/>
                  </a:lnTo>
                  <a:lnTo>
                    <a:pt x="1889038" y="1861988"/>
                  </a:lnTo>
                  <a:lnTo>
                    <a:pt x="1893205" y="1862955"/>
                  </a:lnTo>
                  <a:lnTo>
                    <a:pt x="1895326" y="1863439"/>
                  </a:lnTo>
                  <a:lnTo>
                    <a:pt x="1897409" y="1863886"/>
                  </a:lnTo>
                  <a:lnTo>
                    <a:pt x="1899530" y="1864369"/>
                  </a:lnTo>
                  <a:lnTo>
                    <a:pt x="1901613" y="1864853"/>
                  </a:lnTo>
                  <a:lnTo>
                    <a:pt x="1903697" y="1865299"/>
                  </a:lnTo>
                  <a:lnTo>
                    <a:pt x="1905818" y="1865783"/>
                  </a:lnTo>
                  <a:lnTo>
                    <a:pt x="1907902" y="1866230"/>
                  </a:lnTo>
                  <a:lnTo>
                    <a:pt x="1910022" y="1866713"/>
                  </a:lnTo>
                  <a:lnTo>
                    <a:pt x="1912106" y="1867160"/>
                  </a:lnTo>
                  <a:lnTo>
                    <a:pt x="1914227" y="1867606"/>
                  </a:lnTo>
                  <a:lnTo>
                    <a:pt x="1916310" y="1868053"/>
                  </a:lnTo>
                  <a:lnTo>
                    <a:pt x="1918394" y="1868536"/>
                  </a:lnTo>
                  <a:lnTo>
                    <a:pt x="1920515" y="1868983"/>
                  </a:lnTo>
                  <a:lnTo>
                    <a:pt x="1922598" y="1869429"/>
                  </a:lnTo>
                  <a:lnTo>
                    <a:pt x="1924719" y="1869876"/>
                  </a:lnTo>
                  <a:lnTo>
                    <a:pt x="1928886" y="1870769"/>
                  </a:lnTo>
                  <a:lnTo>
                    <a:pt x="1931007" y="1871215"/>
                  </a:lnTo>
                  <a:lnTo>
                    <a:pt x="1933091" y="1871662"/>
                  </a:lnTo>
                  <a:lnTo>
                    <a:pt x="1935211" y="1872071"/>
                  </a:lnTo>
                  <a:lnTo>
                    <a:pt x="1939379" y="1872964"/>
                  </a:lnTo>
                  <a:lnTo>
                    <a:pt x="1941499" y="1873373"/>
                  </a:lnTo>
                  <a:lnTo>
                    <a:pt x="1943583" y="1873820"/>
                  </a:lnTo>
                  <a:lnTo>
                    <a:pt x="1945704" y="1874266"/>
                  </a:lnTo>
                  <a:lnTo>
                    <a:pt x="1947787" y="1874676"/>
                  </a:lnTo>
                  <a:lnTo>
                    <a:pt x="1949908" y="1875122"/>
                  </a:lnTo>
                  <a:lnTo>
                    <a:pt x="1954075" y="1875941"/>
                  </a:lnTo>
                  <a:lnTo>
                    <a:pt x="1956196" y="1876387"/>
                  </a:lnTo>
                  <a:lnTo>
                    <a:pt x="1958280" y="1876796"/>
                  </a:lnTo>
                  <a:lnTo>
                    <a:pt x="1960401" y="1877206"/>
                  </a:lnTo>
                  <a:lnTo>
                    <a:pt x="1964568" y="1878024"/>
                  </a:lnTo>
                  <a:lnTo>
                    <a:pt x="1966689" y="1878434"/>
                  </a:lnTo>
                  <a:lnTo>
                    <a:pt x="1968772" y="1878843"/>
                  </a:lnTo>
                  <a:lnTo>
                    <a:pt x="1970893" y="1879252"/>
                  </a:lnTo>
                  <a:lnTo>
                    <a:pt x="1975060" y="1880071"/>
                  </a:lnTo>
                  <a:lnTo>
                    <a:pt x="1977181" y="1880480"/>
                  </a:lnTo>
                  <a:lnTo>
                    <a:pt x="1979265" y="1880852"/>
                  </a:lnTo>
                  <a:lnTo>
                    <a:pt x="1981385" y="1881261"/>
                  </a:lnTo>
                  <a:lnTo>
                    <a:pt x="1983469" y="1881671"/>
                  </a:lnTo>
                  <a:lnTo>
                    <a:pt x="1985553" y="1882043"/>
                  </a:lnTo>
                  <a:lnTo>
                    <a:pt x="1987673" y="1882452"/>
                  </a:lnTo>
                  <a:lnTo>
                    <a:pt x="1989757" y="1882861"/>
                  </a:lnTo>
                  <a:lnTo>
                    <a:pt x="1991878" y="1883233"/>
                  </a:lnTo>
                  <a:lnTo>
                    <a:pt x="1993961" y="1883642"/>
                  </a:lnTo>
                  <a:lnTo>
                    <a:pt x="1996082" y="1884015"/>
                  </a:lnTo>
                  <a:lnTo>
                    <a:pt x="1998166" y="1884387"/>
                  </a:lnTo>
                  <a:lnTo>
                    <a:pt x="2000249" y="1884796"/>
                  </a:lnTo>
                  <a:lnTo>
                    <a:pt x="2002370" y="1885168"/>
                  </a:lnTo>
                  <a:lnTo>
                    <a:pt x="2004454" y="1885540"/>
                  </a:lnTo>
                  <a:lnTo>
                    <a:pt x="2006575" y="1885912"/>
                  </a:lnTo>
                  <a:lnTo>
                    <a:pt x="2010742" y="1886656"/>
                  </a:lnTo>
                  <a:lnTo>
                    <a:pt x="2012863" y="1887028"/>
                  </a:lnTo>
                  <a:lnTo>
                    <a:pt x="2014946" y="1887400"/>
                  </a:lnTo>
                  <a:lnTo>
                    <a:pt x="2017067" y="1887773"/>
                  </a:lnTo>
                  <a:lnTo>
                    <a:pt x="2021234" y="1888517"/>
                  </a:lnTo>
                  <a:lnTo>
                    <a:pt x="2023355" y="1888889"/>
                  </a:lnTo>
                  <a:lnTo>
                    <a:pt x="2025438" y="1889261"/>
                  </a:lnTo>
                  <a:lnTo>
                    <a:pt x="2027559" y="1889596"/>
                  </a:lnTo>
                  <a:lnTo>
                    <a:pt x="2029643" y="1889968"/>
                  </a:lnTo>
                  <a:lnTo>
                    <a:pt x="2031764" y="1890340"/>
                  </a:lnTo>
                  <a:lnTo>
                    <a:pt x="2033847" y="1890675"/>
                  </a:lnTo>
                  <a:lnTo>
                    <a:pt x="2035931" y="1891047"/>
                  </a:lnTo>
                  <a:lnTo>
                    <a:pt x="2038052" y="1891419"/>
                  </a:lnTo>
                  <a:lnTo>
                    <a:pt x="2040135" y="1891754"/>
                  </a:lnTo>
                  <a:lnTo>
                    <a:pt x="2042256" y="1892088"/>
                  </a:lnTo>
                  <a:lnTo>
                    <a:pt x="2044340" y="1892461"/>
                  </a:lnTo>
                  <a:lnTo>
                    <a:pt x="2046423" y="1892795"/>
                  </a:lnTo>
                  <a:lnTo>
                    <a:pt x="2048544" y="1893167"/>
                  </a:lnTo>
                  <a:lnTo>
                    <a:pt x="2050628" y="1893502"/>
                  </a:lnTo>
                  <a:lnTo>
                    <a:pt x="2052748" y="1893837"/>
                  </a:lnTo>
                  <a:lnTo>
                    <a:pt x="2056916" y="1894507"/>
                  </a:lnTo>
                  <a:lnTo>
                    <a:pt x="2059036" y="1894879"/>
                  </a:lnTo>
                  <a:lnTo>
                    <a:pt x="2061120" y="1895214"/>
                  </a:lnTo>
                  <a:lnTo>
                    <a:pt x="2063241" y="1895549"/>
                  </a:lnTo>
                  <a:lnTo>
                    <a:pt x="2065324" y="1895884"/>
                  </a:lnTo>
                  <a:lnTo>
                    <a:pt x="2067445" y="1896219"/>
                  </a:lnTo>
                  <a:lnTo>
                    <a:pt x="2069529" y="1896553"/>
                  </a:lnTo>
                  <a:lnTo>
                    <a:pt x="2071612" y="1896851"/>
                  </a:lnTo>
                  <a:lnTo>
                    <a:pt x="2073733" y="1897186"/>
                  </a:lnTo>
                  <a:lnTo>
                    <a:pt x="2075817" y="1897521"/>
                  </a:lnTo>
                  <a:lnTo>
                    <a:pt x="2077938" y="1897856"/>
                  </a:lnTo>
                  <a:lnTo>
                    <a:pt x="2080021" y="1898190"/>
                  </a:lnTo>
                  <a:lnTo>
                    <a:pt x="2082105" y="1898488"/>
                  </a:lnTo>
                  <a:lnTo>
                    <a:pt x="2084226" y="1898823"/>
                  </a:lnTo>
                  <a:lnTo>
                    <a:pt x="2086309" y="1899121"/>
                  </a:lnTo>
                  <a:lnTo>
                    <a:pt x="2088430" y="1899456"/>
                  </a:lnTo>
                  <a:lnTo>
                    <a:pt x="2090514" y="1899790"/>
                  </a:lnTo>
                  <a:lnTo>
                    <a:pt x="2092597" y="1900088"/>
                  </a:lnTo>
                  <a:lnTo>
                    <a:pt x="2094718" y="1900423"/>
                  </a:lnTo>
                  <a:lnTo>
                    <a:pt x="2096802" y="1900721"/>
                  </a:lnTo>
                  <a:lnTo>
                    <a:pt x="2098922" y="1901018"/>
                  </a:lnTo>
                </a:path>
              </a:pathLst>
            </a:custGeom>
            <a:ln w="101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498638" y="2173411"/>
              <a:ext cx="0" cy="596265"/>
            </a:xfrm>
            <a:custGeom>
              <a:avLst/>
              <a:gdLst/>
              <a:ahLst/>
              <a:cxnLst/>
              <a:rect l="l" t="t" r="r" b="b"/>
              <a:pathLst>
                <a:path w="0" h="596264">
                  <a:moveTo>
                    <a:pt x="0" y="0"/>
                  </a:moveTo>
                  <a:lnTo>
                    <a:pt x="0" y="596242"/>
                  </a:lnTo>
                </a:path>
              </a:pathLst>
            </a:custGeom>
            <a:ln w="10163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344252" y="700906"/>
              <a:ext cx="2308860" cy="2167255"/>
            </a:xfrm>
            <a:custGeom>
              <a:avLst/>
              <a:gdLst/>
              <a:ahLst/>
              <a:cxnLst/>
              <a:rect l="l" t="t" r="r" b="b"/>
              <a:pathLst>
                <a:path w="2308860" h="2167255">
                  <a:moveTo>
                    <a:pt x="0" y="2167235"/>
                  </a:moveTo>
                  <a:lnTo>
                    <a:pt x="2308770" y="2167235"/>
                  </a:lnTo>
                  <a:lnTo>
                    <a:pt x="2308770" y="0"/>
                  </a:lnTo>
                  <a:lnTo>
                    <a:pt x="0" y="0"/>
                  </a:lnTo>
                  <a:lnTo>
                    <a:pt x="0" y="2167235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7861" y="2740074"/>
            <a:ext cx="155682" cy="58973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7861" y="2333029"/>
            <a:ext cx="155901" cy="5915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7861" y="1111485"/>
            <a:ext cx="155909" cy="5908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861" y="704366"/>
            <a:ext cx="155901" cy="59307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1318170" y="2769654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318170" y="2362534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318170" y="1955415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318170" y="1548258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318170" y="1141139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318170" y="734020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7" name="object 37"/>
          <p:cNvGrpSpPr/>
          <p:nvPr/>
        </p:nvGrpSpPr>
        <p:grpSpPr>
          <a:xfrm>
            <a:off x="1394761" y="2868141"/>
            <a:ext cx="109220" cy="105410"/>
            <a:chOff x="1394761" y="2868141"/>
            <a:chExt cx="109220" cy="105410"/>
          </a:xfrm>
        </p:grpSpPr>
        <p:sp>
          <p:nvSpPr>
            <p:cNvPr id="38" name="object 38"/>
            <p:cNvSpPr/>
            <p:nvPr/>
          </p:nvSpPr>
          <p:spPr>
            <a:xfrm>
              <a:off x="1449176" y="2868141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w="0" h="26669">
                  <a:moveTo>
                    <a:pt x="0" y="2611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394752" y="2914395"/>
              <a:ext cx="109220" cy="59055"/>
            </a:xfrm>
            <a:custGeom>
              <a:avLst/>
              <a:gdLst/>
              <a:ahLst/>
              <a:cxnLst/>
              <a:rect l="l" t="t" r="r" b="b"/>
              <a:pathLst>
                <a:path w="109219" h="59055">
                  <a:moveTo>
                    <a:pt x="39052" y="21056"/>
                  </a:moveTo>
                  <a:lnTo>
                    <a:pt x="33870" y="6248"/>
                  </a:lnTo>
                  <a:lnTo>
                    <a:pt x="33172" y="5359"/>
                  </a:lnTo>
                  <a:lnTo>
                    <a:pt x="32575" y="4724"/>
                  </a:lnTo>
                  <a:lnTo>
                    <a:pt x="31496" y="3721"/>
                  </a:lnTo>
                  <a:lnTo>
                    <a:pt x="31496" y="20053"/>
                  </a:lnTo>
                  <a:lnTo>
                    <a:pt x="31457" y="38811"/>
                  </a:lnTo>
                  <a:lnTo>
                    <a:pt x="29527" y="46215"/>
                  </a:lnTo>
                  <a:lnTo>
                    <a:pt x="29324" y="46736"/>
                  </a:lnTo>
                  <a:lnTo>
                    <a:pt x="22237" y="52908"/>
                  </a:lnTo>
                  <a:lnTo>
                    <a:pt x="22555" y="52908"/>
                  </a:lnTo>
                  <a:lnTo>
                    <a:pt x="20599" y="53174"/>
                  </a:lnTo>
                  <a:lnTo>
                    <a:pt x="18288" y="53174"/>
                  </a:lnTo>
                  <a:lnTo>
                    <a:pt x="16332" y="52908"/>
                  </a:lnTo>
                  <a:lnTo>
                    <a:pt x="16649" y="52908"/>
                  </a:lnTo>
                  <a:lnTo>
                    <a:pt x="15087" y="52463"/>
                  </a:lnTo>
                  <a:lnTo>
                    <a:pt x="7429" y="38811"/>
                  </a:lnTo>
                  <a:lnTo>
                    <a:pt x="7429" y="20053"/>
                  </a:lnTo>
                  <a:lnTo>
                    <a:pt x="16167" y="6248"/>
                  </a:lnTo>
                  <a:lnTo>
                    <a:pt x="22936" y="6248"/>
                  </a:lnTo>
                  <a:lnTo>
                    <a:pt x="28117" y="9817"/>
                  </a:lnTo>
                  <a:lnTo>
                    <a:pt x="28486" y="10312"/>
                  </a:lnTo>
                  <a:lnTo>
                    <a:pt x="31496" y="20053"/>
                  </a:lnTo>
                  <a:lnTo>
                    <a:pt x="31496" y="3721"/>
                  </a:lnTo>
                  <a:lnTo>
                    <a:pt x="23609" y="228"/>
                  </a:lnTo>
                  <a:lnTo>
                    <a:pt x="15468" y="228"/>
                  </a:lnTo>
                  <a:lnTo>
                    <a:pt x="0" y="20053"/>
                  </a:lnTo>
                  <a:lnTo>
                    <a:pt x="12" y="38811"/>
                  </a:lnTo>
                  <a:lnTo>
                    <a:pt x="16090" y="58978"/>
                  </a:lnTo>
                  <a:lnTo>
                    <a:pt x="22644" y="58978"/>
                  </a:lnTo>
                  <a:lnTo>
                    <a:pt x="38925" y="38620"/>
                  </a:lnTo>
                  <a:lnTo>
                    <a:pt x="39052" y="21056"/>
                  </a:lnTo>
                  <a:close/>
                </a:path>
                <a:path w="109219" h="59055">
                  <a:moveTo>
                    <a:pt x="58432" y="49453"/>
                  </a:moveTo>
                  <a:lnTo>
                    <a:pt x="50431" y="49453"/>
                  </a:lnTo>
                  <a:lnTo>
                    <a:pt x="50431" y="58420"/>
                  </a:lnTo>
                  <a:lnTo>
                    <a:pt x="58432" y="58420"/>
                  </a:lnTo>
                  <a:lnTo>
                    <a:pt x="58432" y="49453"/>
                  </a:lnTo>
                  <a:close/>
                </a:path>
                <a:path w="109219" h="59055">
                  <a:moveTo>
                    <a:pt x="108966" y="21056"/>
                  </a:moveTo>
                  <a:lnTo>
                    <a:pt x="108661" y="18821"/>
                  </a:lnTo>
                  <a:lnTo>
                    <a:pt x="108546" y="18122"/>
                  </a:lnTo>
                  <a:lnTo>
                    <a:pt x="108445" y="17526"/>
                  </a:lnTo>
                  <a:lnTo>
                    <a:pt x="108381" y="17259"/>
                  </a:lnTo>
                  <a:lnTo>
                    <a:pt x="107886" y="15138"/>
                  </a:lnTo>
                  <a:lnTo>
                    <a:pt x="101409" y="3721"/>
                  </a:lnTo>
                  <a:lnTo>
                    <a:pt x="101409" y="20053"/>
                  </a:lnTo>
                  <a:lnTo>
                    <a:pt x="101371" y="38811"/>
                  </a:lnTo>
                  <a:lnTo>
                    <a:pt x="101041" y="40703"/>
                  </a:lnTo>
                  <a:lnTo>
                    <a:pt x="100939" y="41148"/>
                  </a:lnTo>
                  <a:lnTo>
                    <a:pt x="100850" y="41592"/>
                  </a:lnTo>
                  <a:lnTo>
                    <a:pt x="100685" y="42379"/>
                  </a:lnTo>
                  <a:lnTo>
                    <a:pt x="99999" y="44831"/>
                  </a:lnTo>
                  <a:lnTo>
                    <a:pt x="99656" y="45732"/>
                  </a:lnTo>
                  <a:lnTo>
                    <a:pt x="99441" y="46215"/>
                  </a:lnTo>
                  <a:lnTo>
                    <a:pt x="99174" y="46875"/>
                  </a:lnTo>
                  <a:lnTo>
                    <a:pt x="92151" y="52908"/>
                  </a:lnTo>
                  <a:lnTo>
                    <a:pt x="86525" y="52908"/>
                  </a:lnTo>
                  <a:lnTo>
                    <a:pt x="79197" y="46215"/>
                  </a:lnTo>
                  <a:lnTo>
                    <a:pt x="78905" y="45542"/>
                  </a:lnTo>
                  <a:lnTo>
                    <a:pt x="78422" y="44094"/>
                  </a:lnTo>
                  <a:lnTo>
                    <a:pt x="78193" y="43268"/>
                  </a:lnTo>
                  <a:lnTo>
                    <a:pt x="77787" y="41592"/>
                  </a:lnTo>
                  <a:lnTo>
                    <a:pt x="77711" y="41148"/>
                  </a:lnTo>
                  <a:lnTo>
                    <a:pt x="77635" y="40703"/>
                  </a:lnTo>
                  <a:lnTo>
                    <a:pt x="77482" y="39928"/>
                  </a:lnTo>
                  <a:lnTo>
                    <a:pt x="77495" y="18821"/>
                  </a:lnTo>
                  <a:lnTo>
                    <a:pt x="77787" y="17259"/>
                  </a:lnTo>
                  <a:lnTo>
                    <a:pt x="86080" y="6248"/>
                  </a:lnTo>
                  <a:lnTo>
                    <a:pt x="92811" y="6248"/>
                  </a:lnTo>
                  <a:lnTo>
                    <a:pt x="99237" y="11899"/>
                  </a:lnTo>
                  <a:lnTo>
                    <a:pt x="99593" y="12649"/>
                  </a:lnTo>
                  <a:lnTo>
                    <a:pt x="99695" y="12954"/>
                  </a:lnTo>
                  <a:lnTo>
                    <a:pt x="100114" y="14020"/>
                  </a:lnTo>
                  <a:lnTo>
                    <a:pt x="100558" y="15557"/>
                  </a:lnTo>
                  <a:lnTo>
                    <a:pt x="101117" y="18122"/>
                  </a:lnTo>
                  <a:lnTo>
                    <a:pt x="101219" y="18821"/>
                  </a:lnTo>
                  <a:lnTo>
                    <a:pt x="101257" y="19088"/>
                  </a:lnTo>
                  <a:lnTo>
                    <a:pt x="101409" y="20053"/>
                  </a:lnTo>
                  <a:lnTo>
                    <a:pt x="101409" y="3721"/>
                  </a:lnTo>
                  <a:lnTo>
                    <a:pt x="94310" y="368"/>
                  </a:lnTo>
                  <a:lnTo>
                    <a:pt x="94564" y="368"/>
                  </a:lnTo>
                  <a:lnTo>
                    <a:pt x="91960" y="0"/>
                  </a:lnTo>
                  <a:lnTo>
                    <a:pt x="86931" y="0"/>
                  </a:lnTo>
                  <a:lnTo>
                    <a:pt x="84328" y="368"/>
                  </a:lnTo>
                  <a:lnTo>
                    <a:pt x="84556" y="368"/>
                  </a:lnTo>
                  <a:lnTo>
                    <a:pt x="83769" y="558"/>
                  </a:lnTo>
                  <a:lnTo>
                    <a:pt x="70205" y="18122"/>
                  </a:lnTo>
                  <a:lnTo>
                    <a:pt x="70078" y="18821"/>
                  </a:lnTo>
                  <a:lnTo>
                    <a:pt x="70040" y="19088"/>
                  </a:lnTo>
                  <a:lnTo>
                    <a:pt x="69913" y="20053"/>
                  </a:lnTo>
                  <a:lnTo>
                    <a:pt x="69926" y="38811"/>
                  </a:lnTo>
                  <a:lnTo>
                    <a:pt x="86004" y="58978"/>
                  </a:lnTo>
                  <a:lnTo>
                    <a:pt x="92557" y="58978"/>
                  </a:lnTo>
                  <a:lnTo>
                    <a:pt x="106489" y="47472"/>
                  </a:lnTo>
                  <a:lnTo>
                    <a:pt x="107200" y="45542"/>
                  </a:lnTo>
                  <a:lnTo>
                    <a:pt x="107518" y="44653"/>
                  </a:lnTo>
                  <a:lnTo>
                    <a:pt x="108140" y="42379"/>
                  </a:lnTo>
                  <a:lnTo>
                    <a:pt x="108483" y="40703"/>
                  </a:lnTo>
                  <a:lnTo>
                    <a:pt x="108851" y="38582"/>
                  </a:lnTo>
                  <a:lnTo>
                    <a:pt x="108966" y="2105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0" name="object 4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0394" y="1518791"/>
            <a:ext cx="283368" cy="466018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72904" y="2868141"/>
            <a:ext cx="153036" cy="105221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19882" y="2868141"/>
            <a:ext cx="1158217" cy="241957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34169" y="471301"/>
            <a:ext cx="539799" cy="151320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4552949" y="1257299"/>
            <a:ext cx="3524250" cy="62865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66675" rIns="0" bIns="0" rtlCol="0" vert="horz">
            <a:spAutoFit/>
          </a:bodyPr>
          <a:lstStyle/>
          <a:p>
            <a:pPr algn="r" marR="2096770">
              <a:lnSpc>
                <a:spcPct val="100000"/>
              </a:lnSpc>
              <a:spcBef>
                <a:spcPts val="525"/>
              </a:spcBef>
            </a:pPr>
            <a:r>
              <a:rPr dirty="0" sz="1500" spc="-100">
                <a:solidFill>
                  <a:srgbClr val="333333"/>
                </a:solidFill>
                <a:latin typeface="Lucida Console"/>
                <a:cs typeface="Lucida Console"/>
              </a:rPr>
              <a:t>dchisq(x</a:t>
            </a:r>
            <a:r>
              <a:rPr dirty="0" sz="1500" spc="-8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300">
                <a:solidFill>
                  <a:srgbClr val="333333"/>
                </a:solidFill>
                <a:latin typeface="Century Gothic"/>
                <a:cs typeface="Century Gothic"/>
              </a:rPr>
              <a:t>=</a:t>
            </a:r>
            <a:r>
              <a:rPr dirty="0" sz="1300" spc="465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400" spc="-25">
                <a:solidFill>
                  <a:srgbClr val="008080"/>
                </a:solidFill>
                <a:latin typeface="Courier New"/>
                <a:cs typeface="Courier New"/>
              </a:rPr>
              <a:t>5</a:t>
            </a:r>
            <a:r>
              <a:rPr dirty="0" sz="15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1500">
              <a:latin typeface="Lucida Console"/>
              <a:cs typeface="Lucida Console"/>
            </a:endParaRPr>
          </a:p>
          <a:p>
            <a:pPr algn="r" marR="2096770">
              <a:lnSpc>
                <a:spcPct val="100000"/>
              </a:lnSpc>
            </a:pPr>
            <a:r>
              <a:rPr dirty="0" sz="1500">
                <a:solidFill>
                  <a:srgbClr val="333333"/>
                </a:solidFill>
                <a:latin typeface="Lucida Console"/>
                <a:cs typeface="Lucida Console"/>
              </a:rPr>
              <a:t>df</a:t>
            </a:r>
            <a:r>
              <a:rPr dirty="0" sz="1300">
                <a:solidFill>
                  <a:srgbClr val="333333"/>
                </a:solidFill>
                <a:latin typeface="Century Gothic"/>
                <a:cs typeface="Century Gothic"/>
              </a:rPr>
              <a:t>=</a:t>
            </a:r>
            <a:r>
              <a:rPr dirty="0" sz="1300" spc="275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400" spc="-25">
                <a:solidFill>
                  <a:srgbClr val="008080"/>
                </a:solidFill>
                <a:latin typeface="Courier New"/>
                <a:cs typeface="Courier New"/>
              </a:rPr>
              <a:t>3</a:t>
            </a:r>
            <a:r>
              <a:rPr dirty="0" sz="1500" spc="-25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4536826" y="2016318"/>
            <a:ext cx="1465580" cy="2425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007834"/>
                </a:solidFill>
                <a:latin typeface="Courier New"/>
                <a:cs typeface="Courier New"/>
              </a:rPr>
              <a:t>[1]</a:t>
            </a:r>
            <a:r>
              <a:rPr dirty="0" sz="1400" spc="-140">
                <a:solidFill>
                  <a:srgbClr val="007834"/>
                </a:solidFill>
                <a:latin typeface="Courier New"/>
                <a:cs typeface="Courier New"/>
              </a:rPr>
              <a:t> </a:t>
            </a:r>
            <a:r>
              <a:rPr dirty="0" sz="1400" spc="-20">
                <a:solidFill>
                  <a:srgbClr val="007834"/>
                </a:solidFill>
                <a:latin typeface="Courier New"/>
                <a:cs typeface="Courier New"/>
              </a:rPr>
              <a:t>0.07322491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44252" y="2519585"/>
            <a:ext cx="2308860" cy="0"/>
          </a:xfrm>
          <a:custGeom>
            <a:avLst/>
            <a:gdLst/>
            <a:ahLst/>
            <a:cxnLst/>
            <a:rect l="l" t="t" r="r" b="b"/>
            <a:pathLst>
              <a:path w="2308860" h="0">
                <a:moveTo>
                  <a:pt x="0" y="0"/>
                </a:moveTo>
                <a:lnTo>
                  <a:pt x="230877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44252" y="2122623"/>
            <a:ext cx="2308860" cy="0"/>
          </a:xfrm>
          <a:custGeom>
            <a:avLst/>
            <a:gdLst/>
            <a:ahLst/>
            <a:cxnLst/>
            <a:rect l="l" t="t" r="r" b="b"/>
            <a:pathLst>
              <a:path w="2308860" h="0">
                <a:moveTo>
                  <a:pt x="0" y="0"/>
                </a:moveTo>
                <a:lnTo>
                  <a:pt x="230877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44252" y="1725624"/>
            <a:ext cx="2308860" cy="0"/>
          </a:xfrm>
          <a:custGeom>
            <a:avLst/>
            <a:gdLst/>
            <a:ahLst/>
            <a:cxnLst/>
            <a:rect l="l" t="t" r="r" b="b"/>
            <a:pathLst>
              <a:path w="2308860" h="0">
                <a:moveTo>
                  <a:pt x="0" y="0"/>
                </a:moveTo>
                <a:lnTo>
                  <a:pt x="230877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44252" y="1328662"/>
            <a:ext cx="2308860" cy="0"/>
          </a:xfrm>
          <a:custGeom>
            <a:avLst/>
            <a:gdLst/>
            <a:ahLst/>
            <a:cxnLst/>
            <a:rect l="l" t="t" r="r" b="b"/>
            <a:pathLst>
              <a:path w="2308860" h="0">
                <a:moveTo>
                  <a:pt x="0" y="0"/>
                </a:moveTo>
                <a:lnTo>
                  <a:pt x="230877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1339171" y="695787"/>
            <a:ext cx="2319020" cy="2123440"/>
            <a:chOff x="1339171" y="695787"/>
            <a:chExt cx="2319020" cy="2123440"/>
          </a:xfrm>
        </p:grpSpPr>
        <p:sp>
          <p:nvSpPr>
            <p:cNvPr id="8" name="object 8"/>
            <p:cNvSpPr/>
            <p:nvPr/>
          </p:nvSpPr>
          <p:spPr>
            <a:xfrm>
              <a:off x="1344252" y="931701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 h="0">
                  <a:moveTo>
                    <a:pt x="0" y="0"/>
                  </a:moveTo>
                  <a:lnTo>
                    <a:pt x="23087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344252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54137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64022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973907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183792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93714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603599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813483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023368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233253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443138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653023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344252" y="2718085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 h="0">
                  <a:moveTo>
                    <a:pt x="0" y="0"/>
                  </a:moveTo>
                  <a:lnTo>
                    <a:pt x="23087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344252" y="2321085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 h="0">
                  <a:moveTo>
                    <a:pt x="0" y="0"/>
                  </a:moveTo>
                  <a:lnTo>
                    <a:pt x="23087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344252" y="1924124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 h="0">
                  <a:moveTo>
                    <a:pt x="0" y="0"/>
                  </a:moveTo>
                  <a:lnTo>
                    <a:pt x="23087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344252" y="1527162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 h="0">
                  <a:moveTo>
                    <a:pt x="0" y="0"/>
                  </a:moveTo>
                  <a:lnTo>
                    <a:pt x="23087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344252" y="1130163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 h="0">
                  <a:moveTo>
                    <a:pt x="0" y="0"/>
                  </a:moveTo>
                  <a:lnTo>
                    <a:pt x="23087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344252" y="733201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 h="0">
                  <a:moveTo>
                    <a:pt x="0" y="0"/>
                  </a:moveTo>
                  <a:lnTo>
                    <a:pt x="23087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449176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659098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868983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078868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288753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498637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708522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918407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128292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338214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548099" y="700906"/>
              <a:ext cx="0" cy="2113280"/>
            </a:xfrm>
            <a:custGeom>
              <a:avLst/>
              <a:gdLst/>
              <a:ahLst/>
              <a:cxnLst/>
              <a:rect l="l" t="t" r="r" b="b"/>
              <a:pathLst>
                <a:path w="0" h="2113280">
                  <a:moveTo>
                    <a:pt x="0" y="211321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498637" y="2136725"/>
              <a:ext cx="1049655" cy="581660"/>
            </a:xfrm>
            <a:custGeom>
              <a:avLst/>
              <a:gdLst/>
              <a:ahLst/>
              <a:cxnLst/>
              <a:rect l="l" t="t" r="r" b="b"/>
              <a:pathLst>
                <a:path w="1049654" h="581660">
                  <a:moveTo>
                    <a:pt x="1049461" y="581359"/>
                  </a:moveTo>
                  <a:lnTo>
                    <a:pt x="0" y="581359"/>
                  </a:lnTo>
                  <a:lnTo>
                    <a:pt x="0" y="0"/>
                  </a:lnTo>
                  <a:lnTo>
                    <a:pt x="20984" y="22845"/>
                  </a:lnTo>
                  <a:lnTo>
                    <a:pt x="41969" y="44871"/>
                  </a:lnTo>
                  <a:lnTo>
                    <a:pt x="83976" y="86692"/>
                  </a:lnTo>
                  <a:lnTo>
                    <a:pt x="125945" y="125536"/>
                  </a:lnTo>
                  <a:lnTo>
                    <a:pt x="167915" y="161627"/>
                  </a:lnTo>
                  <a:lnTo>
                    <a:pt x="209884" y="195076"/>
                  </a:lnTo>
                  <a:lnTo>
                    <a:pt x="251854" y="226069"/>
                  </a:lnTo>
                  <a:lnTo>
                    <a:pt x="283368" y="247761"/>
                  </a:lnTo>
                  <a:lnTo>
                    <a:pt x="325338" y="274811"/>
                  </a:lnTo>
                  <a:lnTo>
                    <a:pt x="367307" y="299776"/>
                  </a:lnTo>
                  <a:lnTo>
                    <a:pt x="409277" y="322808"/>
                  </a:lnTo>
                  <a:lnTo>
                    <a:pt x="451284" y="344090"/>
                  </a:lnTo>
                  <a:lnTo>
                    <a:pt x="514238" y="372888"/>
                  </a:lnTo>
                  <a:lnTo>
                    <a:pt x="577192" y="398338"/>
                  </a:lnTo>
                  <a:lnTo>
                    <a:pt x="650676" y="424308"/>
                  </a:lnTo>
                  <a:lnTo>
                    <a:pt x="724123" y="446707"/>
                  </a:lnTo>
                  <a:lnTo>
                    <a:pt x="776585" y="460771"/>
                  </a:lnTo>
                  <a:lnTo>
                    <a:pt x="818554" y="471003"/>
                  </a:lnTo>
                  <a:lnTo>
                    <a:pt x="871053" y="482612"/>
                  </a:lnTo>
                  <a:lnTo>
                    <a:pt x="923515" y="493030"/>
                  </a:lnTo>
                  <a:lnTo>
                    <a:pt x="975977" y="502369"/>
                  </a:lnTo>
                  <a:lnTo>
                    <a:pt x="1017984" y="509140"/>
                  </a:lnTo>
                  <a:lnTo>
                    <a:pt x="1049461" y="513866"/>
                  </a:lnTo>
                  <a:lnTo>
                    <a:pt x="1049461" y="581359"/>
                  </a:lnTo>
                  <a:close/>
                </a:path>
              </a:pathLst>
            </a:custGeom>
            <a:solidFill>
              <a:srgbClr val="0099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449176" y="796937"/>
              <a:ext cx="1049655" cy="1921510"/>
            </a:xfrm>
            <a:custGeom>
              <a:avLst/>
              <a:gdLst/>
              <a:ahLst/>
              <a:cxnLst/>
              <a:rect l="l" t="t" r="r" b="b"/>
              <a:pathLst>
                <a:path w="1049655" h="1921510">
                  <a:moveTo>
                    <a:pt x="1049461" y="1921147"/>
                  </a:moveTo>
                  <a:lnTo>
                    <a:pt x="0" y="1921147"/>
                  </a:lnTo>
                  <a:lnTo>
                    <a:pt x="10529" y="1230361"/>
                  </a:lnTo>
                  <a:lnTo>
                    <a:pt x="21021" y="968387"/>
                  </a:lnTo>
                  <a:lnTo>
                    <a:pt x="31514" y="783059"/>
                  </a:lnTo>
                  <a:lnTo>
                    <a:pt x="42006" y="639439"/>
                  </a:lnTo>
                  <a:lnTo>
                    <a:pt x="52499" y="523540"/>
                  </a:lnTo>
                  <a:lnTo>
                    <a:pt x="62991" y="427955"/>
                  </a:lnTo>
                  <a:lnTo>
                    <a:pt x="73483" y="348108"/>
                  </a:lnTo>
                  <a:lnTo>
                    <a:pt x="83976" y="281024"/>
                  </a:lnTo>
                  <a:lnTo>
                    <a:pt x="94468" y="224507"/>
                  </a:lnTo>
                  <a:lnTo>
                    <a:pt x="104961" y="176882"/>
                  </a:lnTo>
                  <a:lnTo>
                    <a:pt x="115453" y="136884"/>
                  </a:lnTo>
                  <a:lnTo>
                    <a:pt x="136438" y="76051"/>
                  </a:lnTo>
                  <a:lnTo>
                    <a:pt x="157422" y="35867"/>
                  </a:lnTo>
                  <a:lnTo>
                    <a:pt x="188900" y="5171"/>
                  </a:lnTo>
                  <a:lnTo>
                    <a:pt x="209922" y="0"/>
                  </a:lnTo>
                  <a:lnTo>
                    <a:pt x="220414" y="1190"/>
                  </a:lnTo>
                  <a:lnTo>
                    <a:pt x="262383" y="25635"/>
                  </a:lnTo>
                  <a:lnTo>
                    <a:pt x="293861" y="60089"/>
                  </a:lnTo>
                  <a:lnTo>
                    <a:pt x="325338" y="104402"/>
                  </a:lnTo>
                  <a:lnTo>
                    <a:pt x="346323" y="138149"/>
                  </a:lnTo>
                  <a:lnTo>
                    <a:pt x="367307" y="174463"/>
                  </a:lnTo>
                  <a:lnTo>
                    <a:pt x="388329" y="212824"/>
                  </a:lnTo>
                  <a:lnTo>
                    <a:pt x="409314" y="252821"/>
                  </a:lnTo>
                  <a:lnTo>
                    <a:pt x="430299" y="293972"/>
                  </a:lnTo>
                  <a:lnTo>
                    <a:pt x="472268" y="378693"/>
                  </a:lnTo>
                  <a:lnTo>
                    <a:pt x="556207" y="550626"/>
                  </a:lnTo>
                  <a:lnTo>
                    <a:pt x="598214" y="635086"/>
                  </a:lnTo>
                  <a:lnTo>
                    <a:pt x="629691" y="697036"/>
                  </a:lnTo>
                  <a:lnTo>
                    <a:pt x="661168" y="757423"/>
                  </a:lnTo>
                  <a:lnTo>
                    <a:pt x="682153" y="796751"/>
                  </a:lnTo>
                  <a:lnTo>
                    <a:pt x="703138" y="835260"/>
                  </a:lnTo>
                  <a:lnTo>
                    <a:pt x="724123" y="872914"/>
                  </a:lnTo>
                  <a:lnTo>
                    <a:pt x="745107" y="909674"/>
                  </a:lnTo>
                  <a:lnTo>
                    <a:pt x="766129" y="945579"/>
                  </a:lnTo>
                  <a:lnTo>
                    <a:pt x="787114" y="980516"/>
                  </a:lnTo>
                  <a:lnTo>
                    <a:pt x="808099" y="1014524"/>
                  </a:lnTo>
                  <a:lnTo>
                    <a:pt x="829084" y="1047638"/>
                  </a:lnTo>
                  <a:lnTo>
                    <a:pt x="850068" y="1079785"/>
                  </a:lnTo>
                  <a:lnTo>
                    <a:pt x="892038" y="1141288"/>
                  </a:lnTo>
                  <a:lnTo>
                    <a:pt x="934008" y="1199070"/>
                  </a:lnTo>
                  <a:lnTo>
                    <a:pt x="976014" y="1253281"/>
                  </a:lnTo>
                  <a:lnTo>
                    <a:pt x="1017984" y="1303957"/>
                  </a:lnTo>
                  <a:lnTo>
                    <a:pt x="1049461" y="1339787"/>
                  </a:lnTo>
                  <a:lnTo>
                    <a:pt x="1049461" y="192114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344252" y="700868"/>
              <a:ext cx="2308860" cy="2113280"/>
            </a:xfrm>
            <a:custGeom>
              <a:avLst/>
              <a:gdLst/>
              <a:ahLst/>
              <a:cxnLst/>
              <a:rect l="l" t="t" r="r" b="b"/>
              <a:pathLst>
                <a:path w="2308860" h="2113280">
                  <a:moveTo>
                    <a:pt x="0" y="2113247"/>
                  </a:moveTo>
                  <a:lnTo>
                    <a:pt x="2308770" y="2113247"/>
                  </a:lnTo>
                  <a:lnTo>
                    <a:pt x="2308770" y="0"/>
                  </a:lnTo>
                  <a:lnTo>
                    <a:pt x="0" y="0"/>
                  </a:lnTo>
                  <a:lnTo>
                    <a:pt x="0" y="2113247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7861" y="2688505"/>
            <a:ext cx="155682" cy="58861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7861" y="2291618"/>
            <a:ext cx="155901" cy="5908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7861" y="1100509"/>
            <a:ext cx="155682" cy="59084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860" y="703510"/>
            <a:ext cx="155902" cy="59345"/>
          </a:xfrm>
          <a:prstGeom prst="rect">
            <a:avLst/>
          </a:prstGeom>
        </p:spPr>
      </p:pic>
      <p:sp>
        <p:nvSpPr>
          <p:cNvPr id="45" name="object 45"/>
          <p:cNvSpPr/>
          <p:nvPr/>
        </p:nvSpPr>
        <p:spPr>
          <a:xfrm>
            <a:off x="1318170" y="2718085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318170" y="2321086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318170" y="1924124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318170" y="1527162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318170" y="1130163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318170" y="733201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449176" y="2814116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659098" y="2814116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868983" y="2814116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078868" y="2814116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288753" y="2814116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498637" y="2814116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708522" y="2814116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918407" y="2814116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128292" y="2814116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338214" y="2814116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1" name="object 6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0394" y="1497583"/>
            <a:ext cx="283377" cy="456195"/>
          </a:xfrm>
          <a:prstGeom prst="rect">
            <a:avLst/>
          </a:prstGeom>
        </p:spPr>
      </p:pic>
      <p:sp>
        <p:nvSpPr>
          <p:cNvPr id="62" name="object 62"/>
          <p:cNvSpPr/>
          <p:nvPr/>
        </p:nvSpPr>
        <p:spPr>
          <a:xfrm>
            <a:off x="3548099" y="2814116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429601" y="2860364"/>
            <a:ext cx="39370" cy="59055"/>
          </a:xfrm>
          <a:custGeom>
            <a:avLst/>
            <a:gdLst/>
            <a:ahLst/>
            <a:cxnLst/>
            <a:rect l="l" t="t" r="r" b="b"/>
            <a:pathLst>
              <a:path w="39369" h="59055">
                <a:moveTo>
                  <a:pt x="23556" y="58861"/>
                </a:moveTo>
                <a:lnTo>
                  <a:pt x="15407" y="58861"/>
                </a:lnTo>
                <a:lnTo>
                  <a:pt x="13882" y="58489"/>
                </a:lnTo>
                <a:lnTo>
                  <a:pt x="0" y="21059"/>
                </a:lnTo>
                <a:lnTo>
                  <a:pt x="301" y="18826"/>
                </a:lnTo>
                <a:lnTo>
                  <a:pt x="17193" y="0"/>
                </a:lnTo>
                <a:lnTo>
                  <a:pt x="22179" y="0"/>
                </a:lnTo>
                <a:lnTo>
                  <a:pt x="33825" y="6027"/>
                </a:lnTo>
                <a:lnTo>
                  <a:pt x="17379" y="6027"/>
                </a:lnTo>
                <a:lnTo>
                  <a:pt x="16263" y="6250"/>
                </a:lnTo>
                <a:lnTo>
                  <a:pt x="8506" y="15143"/>
                </a:lnTo>
                <a:lnTo>
                  <a:pt x="8386" y="15552"/>
                </a:lnTo>
                <a:lnTo>
                  <a:pt x="7825" y="18119"/>
                </a:lnTo>
                <a:lnTo>
                  <a:pt x="7525" y="20054"/>
                </a:lnTo>
                <a:lnTo>
                  <a:pt x="7519" y="38806"/>
                </a:lnTo>
                <a:lnTo>
                  <a:pt x="7817" y="40741"/>
                </a:lnTo>
                <a:lnTo>
                  <a:pt x="10980" y="49076"/>
                </a:lnTo>
                <a:lnTo>
                  <a:pt x="11314" y="49559"/>
                </a:lnTo>
                <a:lnTo>
                  <a:pt x="16003" y="52722"/>
                </a:lnTo>
                <a:lnTo>
                  <a:pt x="33750" y="52722"/>
                </a:lnTo>
                <a:lnTo>
                  <a:pt x="33192" y="53392"/>
                </a:lnTo>
                <a:lnTo>
                  <a:pt x="25081" y="58489"/>
                </a:lnTo>
                <a:lnTo>
                  <a:pt x="23556" y="58861"/>
                </a:lnTo>
                <a:close/>
              </a:path>
              <a:path w="39369" h="59055">
                <a:moveTo>
                  <a:pt x="33750" y="52722"/>
                </a:moveTo>
                <a:lnTo>
                  <a:pt x="23072" y="52722"/>
                </a:lnTo>
                <a:lnTo>
                  <a:pt x="23853" y="52461"/>
                </a:lnTo>
                <a:lnTo>
                  <a:pt x="24821" y="52015"/>
                </a:lnTo>
                <a:lnTo>
                  <a:pt x="28058" y="49076"/>
                </a:lnTo>
                <a:lnTo>
                  <a:pt x="28430" y="48592"/>
                </a:lnTo>
                <a:lnTo>
                  <a:pt x="28727" y="48034"/>
                </a:lnTo>
                <a:lnTo>
                  <a:pt x="29062" y="47476"/>
                </a:lnTo>
                <a:lnTo>
                  <a:pt x="29658" y="46211"/>
                </a:lnTo>
                <a:lnTo>
                  <a:pt x="31704" y="37802"/>
                </a:lnTo>
                <a:lnTo>
                  <a:pt x="31629" y="20054"/>
                </a:lnTo>
                <a:lnTo>
                  <a:pt x="29922" y="12948"/>
                </a:lnTo>
                <a:lnTo>
                  <a:pt x="29806" y="12650"/>
                </a:lnTo>
                <a:lnTo>
                  <a:pt x="21993" y="6027"/>
                </a:lnTo>
                <a:lnTo>
                  <a:pt x="33825" y="6027"/>
                </a:lnTo>
                <a:lnTo>
                  <a:pt x="39137" y="37802"/>
                </a:lnTo>
                <a:lnTo>
                  <a:pt x="38858" y="39811"/>
                </a:lnTo>
                <a:lnTo>
                  <a:pt x="34836" y="51159"/>
                </a:lnTo>
                <a:lnTo>
                  <a:pt x="33750" y="52722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642169" y="2861108"/>
            <a:ext cx="36195" cy="57785"/>
          </a:xfrm>
          <a:custGeom>
            <a:avLst/>
            <a:gdLst/>
            <a:ahLst/>
            <a:cxnLst/>
            <a:rect l="l" t="t" r="r" b="b"/>
            <a:pathLst>
              <a:path w="36194" h="57785">
                <a:moveTo>
                  <a:pt x="36128" y="57670"/>
                </a:moveTo>
                <a:lnTo>
                  <a:pt x="0" y="57670"/>
                </a:lnTo>
                <a:lnTo>
                  <a:pt x="0" y="51382"/>
                </a:lnTo>
                <a:lnTo>
                  <a:pt x="14696" y="51382"/>
                </a:lnTo>
                <a:lnTo>
                  <a:pt x="14696" y="7032"/>
                </a:lnTo>
                <a:lnTo>
                  <a:pt x="1674" y="16333"/>
                </a:lnTo>
                <a:lnTo>
                  <a:pt x="1674" y="9376"/>
                </a:lnTo>
                <a:lnTo>
                  <a:pt x="15292" y="0"/>
                </a:lnTo>
                <a:lnTo>
                  <a:pt x="22100" y="0"/>
                </a:lnTo>
                <a:lnTo>
                  <a:pt x="22100" y="51382"/>
                </a:lnTo>
                <a:lnTo>
                  <a:pt x="36128" y="51382"/>
                </a:lnTo>
                <a:lnTo>
                  <a:pt x="36128" y="5767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849896" y="2860290"/>
            <a:ext cx="38735" cy="59055"/>
          </a:xfrm>
          <a:custGeom>
            <a:avLst/>
            <a:gdLst/>
            <a:ahLst/>
            <a:cxnLst/>
            <a:rect l="l" t="t" r="r" b="b"/>
            <a:pathLst>
              <a:path w="38735" h="59055">
                <a:moveTo>
                  <a:pt x="38174" y="58489"/>
                </a:moveTo>
                <a:lnTo>
                  <a:pt x="0" y="58489"/>
                </a:lnTo>
                <a:lnTo>
                  <a:pt x="0" y="53280"/>
                </a:lnTo>
                <a:lnTo>
                  <a:pt x="23328" y="28128"/>
                </a:lnTo>
                <a:lnTo>
                  <a:pt x="26193" y="25040"/>
                </a:lnTo>
                <a:lnTo>
                  <a:pt x="27384" y="23403"/>
                </a:lnTo>
                <a:lnTo>
                  <a:pt x="28909" y="20575"/>
                </a:lnTo>
                <a:lnTo>
                  <a:pt x="29542" y="18045"/>
                </a:lnTo>
                <a:lnTo>
                  <a:pt x="29691" y="16705"/>
                </a:lnTo>
                <a:lnTo>
                  <a:pt x="29430" y="13282"/>
                </a:lnTo>
                <a:lnTo>
                  <a:pt x="21021" y="6101"/>
                </a:lnTo>
                <a:lnTo>
                  <a:pt x="17450" y="6101"/>
                </a:lnTo>
                <a:lnTo>
                  <a:pt x="7850" y="15738"/>
                </a:lnTo>
                <a:lnTo>
                  <a:pt x="297" y="15068"/>
                </a:lnTo>
                <a:lnTo>
                  <a:pt x="17450" y="0"/>
                </a:lnTo>
                <a:lnTo>
                  <a:pt x="22473" y="111"/>
                </a:lnTo>
                <a:lnTo>
                  <a:pt x="37244" y="16892"/>
                </a:lnTo>
                <a:lnTo>
                  <a:pt x="37020" y="18603"/>
                </a:lnTo>
                <a:lnTo>
                  <a:pt x="15701" y="42676"/>
                </a:lnTo>
                <a:lnTo>
                  <a:pt x="11534" y="46880"/>
                </a:lnTo>
                <a:lnTo>
                  <a:pt x="9264" y="49931"/>
                </a:lnTo>
                <a:lnTo>
                  <a:pt x="8073" y="52201"/>
                </a:lnTo>
                <a:lnTo>
                  <a:pt x="38174" y="52201"/>
                </a:lnTo>
                <a:lnTo>
                  <a:pt x="38174" y="58489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058739" y="2860253"/>
            <a:ext cx="40005" cy="59690"/>
          </a:xfrm>
          <a:custGeom>
            <a:avLst/>
            <a:gdLst/>
            <a:ahLst/>
            <a:cxnLst/>
            <a:rect l="l" t="t" r="r" b="b"/>
            <a:pathLst>
              <a:path w="40005" h="59689">
                <a:moveTo>
                  <a:pt x="22026" y="59308"/>
                </a:moveTo>
                <a:lnTo>
                  <a:pt x="0" y="43718"/>
                </a:lnTo>
                <a:lnTo>
                  <a:pt x="7627" y="43011"/>
                </a:lnTo>
                <a:lnTo>
                  <a:pt x="8632" y="46806"/>
                </a:lnTo>
                <a:lnTo>
                  <a:pt x="9190" y="47922"/>
                </a:lnTo>
                <a:lnTo>
                  <a:pt x="20203" y="53243"/>
                </a:lnTo>
                <a:lnTo>
                  <a:pt x="22324" y="53131"/>
                </a:lnTo>
                <a:lnTo>
                  <a:pt x="32072" y="43420"/>
                </a:lnTo>
                <a:lnTo>
                  <a:pt x="31960" y="40555"/>
                </a:lnTo>
                <a:lnTo>
                  <a:pt x="18863" y="32370"/>
                </a:lnTo>
                <a:lnTo>
                  <a:pt x="13841" y="32370"/>
                </a:lnTo>
                <a:lnTo>
                  <a:pt x="13841" y="25970"/>
                </a:lnTo>
                <a:lnTo>
                  <a:pt x="30584" y="16036"/>
                </a:lnTo>
                <a:lnTo>
                  <a:pt x="30472" y="14250"/>
                </a:lnTo>
                <a:lnTo>
                  <a:pt x="20835" y="6064"/>
                </a:lnTo>
                <a:lnTo>
                  <a:pt x="17896" y="6139"/>
                </a:lnTo>
                <a:lnTo>
                  <a:pt x="8408" y="15589"/>
                </a:lnTo>
                <a:lnTo>
                  <a:pt x="1004" y="14994"/>
                </a:lnTo>
                <a:lnTo>
                  <a:pt x="19124" y="0"/>
                </a:lnTo>
                <a:lnTo>
                  <a:pt x="21728" y="37"/>
                </a:lnTo>
                <a:lnTo>
                  <a:pt x="38137" y="14622"/>
                </a:lnTo>
                <a:lnTo>
                  <a:pt x="37913" y="18194"/>
                </a:lnTo>
                <a:lnTo>
                  <a:pt x="26082" y="28909"/>
                </a:lnTo>
                <a:lnTo>
                  <a:pt x="26082" y="29095"/>
                </a:lnTo>
                <a:lnTo>
                  <a:pt x="39737" y="42602"/>
                </a:lnTo>
                <a:lnTo>
                  <a:pt x="39439" y="46359"/>
                </a:lnTo>
                <a:lnTo>
                  <a:pt x="25449" y="58935"/>
                </a:lnTo>
                <a:lnTo>
                  <a:pt x="22026" y="59308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267359" y="2861109"/>
            <a:ext cx="42545" cy="57785"/>
          </a:xfrm>
          <a:custGeom>
            <a:avLst/>
            <a:gdLst/>
            <a:ahLst/>
            <a:cxnLst/>
            <a:rect l="l" t="t" r="r" b="b"/>
            <a:pathLst>
              <a:path w="42544" h="57785">
                <a:moveTo>
                  <a:pt x="42229" y="44611"/>
                </a:moveTo>
                <a:lnTo>
                  <a:pt x="0" y="44611"/>
                </a:lnTo>
                <a:lnTo>
                  <a:pt x="101" y="38732"/>
                </a:lnTo>
                <a:lnTo>
                  <a:pt x="26416" y="0"/>
                </a:lnTo>
                <a:lnTo>
                  <a:pt x="34156" y="0"/>
                </a:lnTo>
                <a:lnTo>
                  <a:pt x="34156" y="8297"/>
                </a:lnTo>
                <a:lnTo>
                  <a:pt x="27198" y="8297"/>
                </a:lnTo>
                <a:lnTo>
                  <a:pt x="27198" y="8446"/>
                </a:lnTo>
                <a:lnTo>
                  <a:pt x="27049" y="8594"/>
                </a:lnTo>
                <a:lnTo>
                  <a:pt x="26937" y="8780"/>
                </a:lnTo>
                <a:lnTo>
                  <a:pt x="26826" y="9004"/>
                </a:lnTo>
                <a:lnTo>
                  <a:pt x="26714" y="9227"/>
                </a:lnTo>
                <a:lnTo>
                  <a:pt x="26640" y="9376"/>
                </a:lnTo>
                <a:lnTo>
                  <a:pt x="26491" y="9599"/>
                </a:lnTo>
                <a:lnTo>
                  <a:pt x="25970" y="10566"/>
                </a:lnTo>
                <a:lnTo>
                  <a:pt x="25858" y="10715"/>
                </a:lnTo>
                <a:lnTo>
                  <a:pt x="25375" y="11645"/>
                </a:lnTo>
                <a:lnTo>
                  <a:pt x="25263" y="11794"/>
                </a:lnTo>
                <a:lnTo>
                  <a:pt x="25114" y="12092"/>
                </a:lnTo>
                <a:lnTo>
                  <a:pt x="25003" y="12241"/>
                </a:lnTo>
                <a:lnTo>
                  <a:pt x="24705" y="12724"/>
                </a:lnTo>
                <a:lnTo>
                  <a:pt x="24631" y="12873"/>
                </a:lnTo>
                <a:lnTo>
                  <a:pt x="9673" y="34937"/>
                </a:lnTo>
                <a:lnTo>
                  <a:pt x="9562" y="35086"/>
                </a:lnTo>
                <a:lnTo>
                  <a:pt x="9487" y="35235"/>
                </a:lnTo>
                <a:lnTo>
                  <a:pt x="9338" y="35421"/>
                </a:lnTo>
                <a:lnTo>
                  <a:pt x="9227" y="35607"/>
                </a:lnTo>
                <a:lnTo>
                  <a:pt x="9041" y="35793"/>
                </a:lnTo>
                <a:lnTo>
                  <a:pt x="8371" y="36797"/>
                </a:lnTo>
                <a:lnTo>
                  <a:pt x="7553" y="37876"/>
                </a:lnTo>
                <a:lnTo>
                  <a:pt x="7366" y="38062"/>
                </a:lnTo>
                <a:lnTo>
                  <a:pt x="7218" y="38286"/>
                </a:lnTo>
                <a:lnTo>
                  <a:pt x="7106" y="38434"/>
                </a:lnTo>
                <a:lnTo>
                  <a:pt x="6957" y="38583"/>
                </a:lnTo>
                <a:lnTo>
                  <a:pt x="6846" y="38732"/>
                </a:lnTo>
                <a:lnTo>
                  <a:pt x="42229" y="38732"/>
                </a:lnTo>
                <a:lnTo>
                  <a:pt x="42229" y="44611"/>
                </a:lnTo>
                <a:close/>
              </a:path>
              <a:path w="42544" h="57785">
                <a:moveTo>
                  <a:pt x="34156" y="38732"/>
                </a:moveTo>
                <a:lnTo>
                  <a:pt x="27198" y="38732"/>
                </a:lnTo>
                <a:lnTo>
                  <a:pt x="27198" y="8297"/>
                </a:lnTo>
                <a:lnTo>
                  <a:pt x="34156" y="8297"/>
                </a:lnTo>
                <a:lnTo>
                  <a:pt x="34156" y="38732"/>
                </a:lnTo>
                <a:close/>
              </a:path>
              <a:path w="42544" h="57785">
                <a:moveTo>
                  <a:pt x="34156" y="57670"/>
                </a:moveTo>
                <a:lnTo>
                  <a:pt x="27198" y="57670"/>
                </a:lnTo>
                <a:lnTo>
                  <a:pt x="27198" y="44611"/>
                </a:lnTo>
                <a:lnTo>
                  <a:pt x="34156" y="44611"/>
                </a:lnTo>
                <a:lnTo>
                  <a:pt x="34156" y="5767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478695" y="2861108"/>
            <a:ext cx="40005" cy="59055"/>
          </a:xfrm>
          <a:custGeom>
            <a:avLst/>
            <a:gdLst/>
            <a:ahLst/>
            <a:cxnLst/>
            <a:rect l="l" t="t" r="r" b="b"/>
            <a:pathLst>
              <a:path w="40005" h="59055">
                <a:moveTo>
                  <a:pt x="19273" y="58489"/>
                </a:moveTo>
                <a:lnTo>
                  <a:pt x="0" y="44760"/>
                </a:lnTo>
                <a:lnTo>
                  <a:pt x="7441" y="43904"/>
                </a:lnTo>
                <a:lnTo>
                  <a:pt x="8706" y="47104"/>
                </a:lnTo>
                <a:lnTo>
                  <a:pt x="9673" y="48555"/>
                </a:lnTo>
                <a:lnTo>
                  <a:pt x="11199" y="50080"/>
                </a:lnTo>
                <a:lnTo>
                  <a:pt x="13989" y="51606"/>
                </a:lnTo>
                <a:lnTo>
                  <a:pt x="15738" y="52126"/>
                </a:lnTo>
                <a:lnTo>
                  <a:pt x="18863" y="52461"/>
                </a:lnTo>
                <a:lnTo>
                  <a:pt x="21654" y="52313"/>
                </a:lnTo>
                <a:lnTo>
                  <a:pt x="32072" y="38509"/>
                </a:lnTo>
                <a:lnTo>
                  <a:pt x="31663" y="35532"/>
                </a:lnTo>
                <a:lnTo>
                  <a:pt x="20166" y="26900"/>
                </a:lnTo>
                <a:lnTo>
                  <a:pt x="18157" y="26937"/>
                </a:lnTo>
                <a:lnTo>
                  <a:pt x="16185" y="27198"/>
                </a:lnTo>
                <a:lnTo>
                  <a:pt x="11794" y="28872"/>
                </a:lnTo>
                <a:lnTo>
                  <a:pt x="8892" y="31030"/>
                </a:lnTo>
                <a:lnTo>
                  <a:pt x="1674" y="31030"/>
                </a:lnTo>
                <a:lnTo>
                  <a:pt x="3609" y="0"/>
                </a:lnTo>
                <a:lnTo>
                  <a:pt x="36388" y="0"/>
                </a:lnTo>
                <a:lnTo>
                  <a:pt x="36388" y="6250"/>
                </a:lnTo>
                <a:lnTo>
                  <a:pt x="10306" y="6250"/>
                </a:lnTo>
                <a:lnTo>
                  <a:pt x="9190" y="24556"/>
                </a:lnTo>
                <a:lnTo>
                  <a:pt x="10938" y="23403"/>
                </a:lnTo>
                <a:lnTo>
                  <a:pt x="14696" y="21766"/>
                </a:lnTo>
                <a:lnTo>
                  <a:pt x="17338" y="21133"/>
                </a:lnTo>
                <a:lnTo>
                  <a:pt x="20315" y="20873"/>
                </a:lnTo>
                <a:lnTo>
                  <a:pt x="23626" y="20984"/>
                </a:lnTo>
                <a:lnTo>
                  <a:pt x="39737" y="38881"/>
                </a:lnTo>
                <a:lnTo>
                  <a:pt x="39625" y="41411"/>
                </a:lnTo>
                <a:lnTo>
                  <a:pt x="23105" y="58266"/>
                </a:lnTo>
                <a:lnTo>
                  <a:pt x="19273" y="58489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689884" y="2860327"/>
            <a:ext cx="37465" cy="59055"/>
          </a:xfrm>
          <a:custGeom>
            <a:avLst/>
            <a:gdLst/>
            <a:ahLst/>
            <a:cxnLst/>
            <a:rect l="l" t="t" r="r" b="b"/>
            <a:pathLst>
              <a:path w="37464" h="59055">
                <a:moveTo>
                  <a:pt x="27482" y="892"/>
                </a:moveTo>
                <a:lnTo>
                  <a:pt x="13770" y="892"/>
                </a:lnTo>
                <a:lnTo>
                  <a:pt x="17193" y="0"/>
                </a:lnTo>
                <a:lnTo>
                  <a:pt x="23314" y="0"/>
                </a:lnTo>
                <a:lnTo>
                  <a:pt x="27482" y="892"/>
                </a:lnTo>
                <a:close/>
              </a:path>
              <a:path w="37464" h="59055">
                <a:moveTo>
                  <a:pt x="23503" y="58973"/>
                </a:moveTo>
                <a:lnTo>
                  <a:pt x="15811" y="58973"/>
                </a:lnTo>
                <a:lnTo>
                  <a:pt x="14775" y="58749"/>
                </a:lnTo>
                <a:lnTo>
                  <a:pt x="462" y="41225"/>
                </a:lnTo>
                <a:lnTo>
                  <a:pt x="370" y="40778"/>
                </a:lnTo>
                <a:lnTo>
                  <a:pt x="226" y="39885"/>
                </a:lnTo>
                <a:lnTo>
                  <a:pt x="0" y="38174"/>
                </a:lnTo>
                <a:lnTo>
                  <a:pt x="12" y="23291"/>
                </a:lnTo>
                <a:lnTo>
                  <a:pt x="13950" y="892"/>
                </a:lnTo>
                <a:lnTo>
                  <a:pt x="27040" y="892"/>
                </a:lnTo>
                <a:lnTo>
                  <a:pt x="32405" y="4129"/>
                </a:lnTo>
                <a:lnTo>
                  <a:pt x="32777" y="4464"/>
                </a:lnTo>
                <a:lnTo>
                  <a:pt x="33149" y="4874"/>
                </a:lnTo>
                <a:lnTo>
                  <a:pt x="34070" y="6027"/>
                </a:lnTo>
                <a:lnTo>
                  <a:pt x="18099" y="6027"/>
                </a:lnTo>
                <a:lnTo>
                  <a:pt x="16006" y="6585"/>
                </a:lnTo>
                <a:lnTo>
                  <a:pt x="16183" y="6585"/>
                </a:lnTo>
                <a:lnTo>
                  <a:pt x="15315" y="6957"/>
                </a:lnTo>
                <a:lnTo>
                  <a:pt x="14295" y="7552"/>
                </a:lnTo>
                <a:lnTo>
                  <a:pt x="7850" y="18603"/>
                </a:lnTo>
                <a:lnTo>
                  <a:pt x="7811" y="18752"/>
                </a:lnTo>
                <a:lnTo>
                  <a:pt x="7426" y="21096"/>
                </a:lnTo>
                <a:lnTo>
                  <a:pt x="7334" y="21654"/>
                </a:lnTo>
                <a:lnTo>
                  <a:pt x="7220" y="22696"/>
                </a:lnTo>
                <a:lnTo>
                  <a:pt x="7100" y="23961"/>
                </a:lnTo>
                <a:lnTo>
                  <a:pt x="6979" y="26082"/>
                </a:lnTo>
                <a:lnTo>
                  <a:pt x="6918" y="28761"/>
                </a:lnTo>
                <a:lnTo>
                  <a:pt x="12196" y="28761"/>
                </a:lnTo>
                <a:lnTo>
                  <a:pt x="11048" y="29653"/>
                </a:lnTo>
                <a:lnTo>
                  <a:pt x="7848" y="41225"/>
                </a:lnTo>
                <a:lnTo>
                  <a:pt x="8016" y="42118"/>
                </a:lnTo>
                <a:lnTo>
                  <a:pt x="8051" y="42304"/>
                </a:lnTo>
                <a:lnTo>
                  <a:pt x="9039" y="45690"/>
                </a:lnTo>
                <a:lnTo>
                  <a:pt x="9145" y="45987"/>
                </a:lnTo>
                <a:lnTo>
                  <a:pt x="15293" y="52499"/>
                </a:lnTo>
                <a:lnTo>
                  <a:pt x="25782" y="52499"/>
                </a:lnTo>
                <a:lnTo>
                  <a:pt x="17559" y="53764"/>
                </a:lnTo>
                <a:lnTo>
                  <a:pt x="33484" y="53764"/>
                </a:lnTo>
                <a:lnTo>
                  <a:pt x="33000" y="54284"/>
                </a:lnTo>
                <a:lnTo>
                  <a:pt x="24703" y="58749"/>
                </a:lnTo>
                <a:lnTo>
                  <a:pt x="23503" y="58973"/>
                </a:lnTo>
                <a:close/>
              </a:path>
              <a:path w="37464" h="59055">
                <a:moveTo>
                  <a:pt x="29652" y="12947"/>
                </a:moveTo>
                <a:lnTo>
                  <a:pt x="24129" y="6585"/>
                </a:lnTo>
                <a:lnTo>
                  <a:pt x="24294" y="6585"/>
                </a:lnTo>
                <a:lnTo>
                  <a:pt x="22061" y="6027"/>
                </a:lnTo>
                <a:lnTo>
                  <a:pt x="34082" y="6027"/>
                </a:lnTo>
                <a:lnTo>
                  <a:pt x="35025" y="7552"/>
                </a:lnTo>
                <a:lnTo>
                  <a:pt x="35792" y="9115"/>
                </a:lnTo>
                <a:lnTo>
                  <a:pt x="36457" y="10901"/>
                </a:lnTo>
                <a:lnTo>
                  <a:pt x="36651" y="11534"/>
                </a:lnTo>
                <a:lnTo>
                  <a:pt x="37287" y="11534"/>
                </a:lnTo>
                <a:lnTo>
                  <a:pt x="29652" y="12947"/>
                </a:lnTo>
                <a:close/>
              </a:path>
              <a:path w="37464" h="59055">
                <a:moveTo>
                  <a:pt x="12239" y="28761"/>
                </a:moveTo>
                <a:lnTo>
                  <a:pt x="6918" y="28761"/>
                </a:lnTo>
                <a:lnTo>
                  <a:pt x="7603" y="27570"/>
                </a:lnTo>
                <a:lnTo>
                  <a:pt x="19476" y="21096"/>
                </a:lnTo>
                <a:lnTo>
                  <a:pt x="22310" y="21096"/>
                </a:lnTo>
                <a:lnTo>
                  <a:pt x="25844" y="21654"/>
                </a:lnTo>
                <a:lnTo>
                  <a:pt x="25677" y="21654"/>
                </a:lnTo>
                <a:lnTo>
                  <a:pt x="27382" y="22175"/>
                </a:lnTo>
                <a:lnTo>
                  <a:pt x="34214" y="26937"/>
                </a:lnTo>
                <a:lnTo>
                  <a:pt x="17014" y="26937"/>
                </a:lnTo>
                <a:lnTo>
                  <a:pt x="14694" y="27570"/>
                </a:lnTo>
                <a:lnTo>
                  <a:pt x="13913" y="27868"/>
                </a:lnTo>
                <a:lnTo>
                  <a:pt x="12871" y="28388"/>
                </a:lnTo>
                <a:lnTo>
                  <a:pt x="12239" y="28761"/>
                </a:lnTo>
                <a:close/>
              </a:path>
              <a:path w="37464" h="59055">
                <a:moveTo>
                  <a:pt x="33484" y="53764"/>
                </a:moveTo>
                <a:lnTo>
                  <a:pt x="20077" y="53764"/>
                </a:lnTo>
                <a:lnTo>
                  <a:pt x="14595" y="52499"/>
                </a:lnTo>
                <a:lnTo>
                  <a:pt x="23981" y="52499"/>
                </a:lnTo>
                <a:lnTo>
                  <a:pt x="24554" y="52238"/>
                </a:lnTo>
                <a:lnTo>
                  <a:pt x="25373" y="51792"/>
                </a:lnTo>
                <a:lnTo>
                  <a:pt x="25745" y="51531"/>
                </a:lnTo>
                <a:lnTo>
                  <a:pt x="26117" y="51308"/>
                </a:lnTo>
                <a:lnTo>
                  <a:pt x="26824" y="50713"/>
                </a:lnTo>
                <a:lnTo>
                  <a:pt x="27122" y="50415"/>
                </a:lnTo>
                <a:lnTo>
                  <a:pt x="27457" y="50117"/>
                </a:lnTo>
                <a:lnTo>
                  <a:pt x="28127" y="49299"/>
                </a:lnTo>
                <a:lnTo>
                  <a:pt x="28833" y="48257"/>
                </a:lnTo>
                <a:lnTo>
                  <a:pt x="29202" y="47550"/>
                </a:lnTo>
                <a:lnTo>
                  <a:pt x="29280" y="47401"/>
                </a:lnTo>
                <a:lnTo>
                  <a:pt x="29750" y="46211"/>
                </a:lnTo>
                <a:lnTo>
                  <a:pt x="29838" y="45987"/>
                </a:lnTo>
                <a:lnTo>
                  <a:pt x="30284" y="44499"/>
                </a:lnTo>
                <a:lnTo>
                  <a:pt x="30396" y="43941"/>
                </a:lnTo>
                <a:lnTo>
                  <a:pt x="30507" y="43420"/>
                </a:lnTo>
                <a:lnTo>
                  <a:pt x="30582" y="37095"/>
                </a:lnTo>
                <a:lnTo>
                  <a:pt x="30433" y="36016"/>
                </a:lnTo>
                <a:lnTo>
                  <a:pt x="30321" y="35495"/>
                </a:lnTo>
                <a:lnTo>
                  <a:pt x="30173" y="34974"/>
                </a:lnTo>
                <a:lnTo>
                  <a:pt x="30061" y="34490"/>
                </a:lnTo>
                <a:lnTo>
                  <a:pt x="23649" y="27570"/>
                </a:lnTo>
                <a:lnTo>
                  <a:pt x="23972" y="27570"/>
                </a:lnTo>
                <a:lnTo>
                  <a:pt x="21231" y="26937"/>
                </a:lnTo>
                <a:lnTo>
                  <a:pt x="34227" y="26937"/>
                </a:lnTo>
                <a:lnTo>
                  <a:pt x="37465" y="33300"/>
                </a:lnTo>
                <a:lnTo>
                  <a:pt x="37458" y="46211"/>
                </a:lnTo>
                <a:lnTo>
                  <a:pt x="34509" y="52499"/>
                </a:lnTo>
                <a:lnTo>
                  <a:pt x="33484" y="53764"/>
                </a:lnTo>
                <a:close/>
              </a:path>
              <a:path w="37464" h="59055">
                <a:moveTo>
                  <a:pt x="20077" y="53764"/>
                </a:moveTo>
                <a:lnTo>
                  <a:pt x="17559" y="53764"/>
                </a:lnTo>
                <a:lnTo>
                  <a:pt x="25782" y="52499"/>
                </a:lnTo>
                <a:lnTo>
                  <a:pt x="14595" y="52499"/>
                </a:lnTo>
                <a:lnTo>
                  <a:pt x="20077" y="53764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899394" y="2861108"/>
            <a:ext cx="38100" cy="57785"/>
          </a:xfrm>
          <a:custGeom>
            <a:avLst/>
            <a:gdLst/>
            <a:ahLst/>
            <a:cxnLst/>
            <a:rect l="l" t="t" r="r" b="b"/>
            <a:pathLst>
              <a:path w="38100" h="57785">
                <a:moveTo>
                  <a:pt x="18343" y="57670"/>
                </a:moveTo>
                <a:lnTo>
                  <a:pt x="10641" y="57670"/>
                </a:lnTo>
                <a:lnTo>
                  <a:pt x="10901" y="52164"/>
                </a:lnTo>
                <a:lnTo>
                  <a:pt x="27756" y="11087"/>
                </a:lnTo>
                <a:lnTo>
                  <a:pt x="30993" y="6250"/>
                </a:lnTo>
                <a:lnTo>
                  <a:pt x="0" y="6250"/>
                </a:lnTo>
                <a:lnTo>
                  <a:pt x="0" y="0"/>
                </a:lnTo>
                <a:lnTo>
                  <a:pt x="38099" y="0"/>
                </a:lnTo>
                <a:lnTo>
                  <a:pt x="38099" y="5953"/>
                </a:lnTo>
                <a:lnTo>
                  <a:pt x="32370" y="14994"/>
                </a:lnTo>
                <a:lnTo>
                  <a:pt x="28723" y="21170"/>
                </a:lnTo>
                <a:lnTo>
                  <a:pt x="18566" y="51903"/>
                </a:lnTo>
                <a:lnTo>
                  <a:pt x="18343" y="5767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109279" y="2860417"/>
            <a:ext cx="38735" cy="59055"/>
          </a:xfrm>
          <a:custGeom>
            <a:avLst/>
            <a:gdLst/>
            <a:ahLst/>
            <a:cxnLst/>
            <a:rect l="l" t="t" r="r" b="b"/>
            <a:pathLst>
              <a:path w="38735" h="59055">
                <a:moveTo>
                  <a:pt x="21989" y="59055"/>
                </a:moveTo>
                <a:lnTo>
                  <a:pt x="16110" y="59055"/>
                </a:lnTo>
                <a:lnTo>
                  <a:pt x="13431" y="58674"/>
                </a:lnTo>
                <a:lnTo>
                  <a:pt x="11794" y="58293"/>
                </a:lnTo>
                <a:lnTo>
                  <a:pt x="10269" y="57912"/>
                </a:lnTo>
                <a:lnTo>
                  <a:pt x="9524" y="57531"/>
                </a:lnTo>
                <a:lnTo>
                  <a:pt x="8148" y="57023"/>
                </a:lnTo>
                <a:lnTo>
                  <a:pt x="6288" y="56007"/>
                </a:lnTo>
                <a:lnTo>
                  <a:pt x="5692" y="55626"/>
                </a:lnTo>
                <a:lnTo>
                  <a:pt x="4613" y="54864"/>
                </a:lnTo>
                <a:lnTo>
                  <a:pt x="3646" y="53848"/>
                </a:lnTo>
                <a:lnTo>
                  <a:pt x="3097" y="53340"/>
                </a:lnTo>
                <a:lnTo>
                  <a:pt x="0" y="37592"/>
                </a:lnTo>
                <a:lnTo>
                  <a:pt x="297" y="36703"/>
                </a:lnTo>
                <a:lnTo>
                  <a:pt x="520" y="36195"/>
                </a:lnTo>
                <a:lnTo>
                  <a:pt x="706" y="35687"/>
                </a:lnTo>
                <a:lnTo>
                  <a:pt x="1079" y="35052"/>
                </a:lnTo>
                <a:lnTo>
                  <a:pt x="1276" y="34671"/>
                </a:lnTo>
                <a:lnTo>
                  <a:pt x="2395" y="33020"/>
                </a:lnTo>
                <a:lnTo>
                  <a:pt x="2734" y="32639"/>
                </a:lnTo>
                <a:lnTo>
                  <a:pt x="2902" y="32512"/>
                </a:lnTo>
                <a:lnTo>
                  <a:pt x="3075" y="32258"/>
                </a:lnTo>
                <a:lnTo>
                  <a:pt x="3447" y="31877"/>
                </a:lnTo>
                <a:lnTo>
                  <a:pt x="3571" y="31750"/>
                </a:lnTo>
                <a:lnTo>
                  <a:pt x="3906" y="31496"/>
                </a:lnTo>
                <a:lnTo>
                  <a:pt x="9986" y="28321"/>
                </a:lnTo>
                <a:lnTo>
                  <a:pt x="10194" y="28321"/>
                </a:lnTo>
                <a:lnTo>
                  <a:pt x="10864" y="27940"/>
                </a:lnTo>
                <a:lnTo>
                  <a:pt x="9004" y="27432"/>
                </a:lnTo>
                <a:lnTo>
                  <a:pt x="8557" y="27178"/>
                </a:lnTo>
                <a:lnTo>
                  <a:pt x="8148" y="27051"/>
                </a:lnTo>
                <a:lnTo>
                  <a:pt x="7466" y="26670"/>
                </a:lnTo>
                <a:lnTo>
                  <a:pt x="6920" y="26416"/>
                </a:lnTo>
                <a:lnTo>
                  <a:pt x="6139" y="25908"/>
                </a:lnTo>
                <a:lnTo>
                  <a:pt x="5432" y="25273"/>
                </a:lnTo>
                <a:lnTo>
                  <a:pt x="4799" y="24765"/>
                </a:lnTo>
                <a:lnTo>
                  <a:pt x="3765" y="23622"/>
                </a:lnTo>
                <a:lnTo>
                  <a:pt x="967" y="11811"/>
                </a:lnTo>
                <a:lnTo>
                  <a:pt x="1116" y="11049"/>
                </a:lnTo>
                <a:lnTo>
                  <a:pt x="1557" y="9652"/>
                </a:lnTo>
                <a:lnTo>
                  <a:pt x="1637" y="9398"/>
                </a:lnTo>
                <a:lnTo>
                  <a:pt x="7367" y="2667"/>
                </a:lnTo>
                <a:lnTo>
                  <a:pt x="7925" y="2286"/>
                </a:lnTo>
                <a:lnTo>
                  <a:pt x="8483" y="2032"/>
                </a:lnTo>
                <a:lnTo>
                  <a:pt x="9078" y="1651"/>
                </a:lnTo>
                <a:lnTo>
                  <a:pt x="10343" y="1143"/>
                </a:lnTo>
                <a:lnTo>
                  <a:pt x="12427" y="508"/>
                </a:lnTo>
                <a:lnTo>
                  <a:pt x="13171" y="381"/>
                </a:lnTo>
                <a:lnTo>
                  <a:pt x="13915" y="127"/>
                </a:lnTo>
                <a:lnTo>
                  <a:pt x="15478" y="0"/>
                </a:lnTo>
                <a:lnTo>
                  <a:pt x="22435" y="0"/>
                </a:lnTo>
                <a:lnTo>
                  <a:pt x="23291" y="127"/>
                </a:lnTo>
                <a:lnTo>
                  <a:pt x="24072" y="127"/>
                </a:lnTo>
                <a:lnTo>
                  <a:pt x="24854" y="381"/>
                </a:lnTo>
                <a:lnTo>
                  <a:pt x="25598" y="508"/>
                </a:lnTo>
                <a:lnTo>
                  <a:pt x="27719" y="1143"/>
                </a:lnTo>
                <a:lnTo>
                  <a:pt x="33635" y="5080"/>
                </a:lnTo>
                <a:lnTo>
                  <a:pt x="34044" y="5461"/>
                </a:lnTo>
                <a:lnTo>
                  <a:pt x="15664" y="5461"/>
                </a:lnTo>
                <a:lnTo>
                  <a:pt x="13208" y="6223"/>
                </a:lnTo>
                <a:lnTo>
                  <a:pt x="8818" y="11049"/>
                </a:lnTo>
                <a:lnTo>
                  <a:pt x="8855" y="19177"/>
                </a:lnTo>
                <a:lnTo>
                  <a:pt x="12985" y="24003"/>
                </a:lnTo>
                <a:lnTo>
                  <a:pt x="13208" y="24003"/>
                </a:lnTo>
                <a:lnTo>
                  <a:pt x="13617" y="24257"/>
                </a:lnTo>
                <a:lnTo>
                  <a:pt x="14188" y="24511"/>
                </a:lnTo>
                <a:lnTo>
                  <a:pt x="14696" y="24511"/>
                </a:lnTo>
                <a:lnTo>
                  <a:pt x="15217" y="24765"/>
                </a:lnTo>
                <a:lnTo>
                  <a:pt x="33188" y="24765"/>
                </a:lnTo>
                <a:lnTo>
                  <a:pt x="32652" y="25273"/>
                </a:lnTo>
                <a:lnTo>
                  <a:pt x="31774" y="25908"/>
                </a:lnTo>
                <a:lnTo>
                  <a:pt x="31030" y="26416"/>
                </a:lnTo>
                <a:lnTo>
                  <a:pt x="30621" y="26670"/>
                </a:lnTo>
                <a:lnTo>
                  <a:pt x="30416" y="26670"/>
                </a:lnTo>
                <a:lnTo>
                  <a:pt x="29802" y="27051"/>
                </a:lnTo>
                <a:lnTo>
                  <a:pt x="29356" y="27178"/>
                </a:lnTo>
                <a:lnTo>
                  <a:pt x="28947" y="27432"/>
                </a:lnTo>
                <a:lnTo>
                  <a:pt x="28463" y="27559"/>
                </a:lnTo>
                <a:lnTo>
                  <a:pt x="28984" y="27559"/>
                </a:lnTo>
                <a:lnTo>
                  <a:pt x="26082" y="27940"/>
                </a:lnTo>
                <a:lnTo>
                  <a:pt x="27049" y="27940"/>
                </a:lnTo>
                <a:lnTo>
                  <a:pt x="28500" y="28321"/>
                </a:lnTo>
                <a:lnTo>
                  <a:pt x="29988" y="28829"/>
                </a:lnTo>
                <a:lnTo>
                  <a:pt x="30807" y="29083"/>
                </a:lnTo>
                <a:lnTo>
                  <a:pt x="31663" y="29591"/>
                </a:lnTo>
                <a:lnTo>
                  <a:pt x="31867" y="29591"/>
                </a:lnTo>
                <a:lnTo>
                  <a:pt x="32891" y="30226"/>
                </a:lnTo>
                <a:lnTo>
                  <a:pt x="33635" y="30861"/>
                </a:lnTo>
                <a:lnTo>
                  <a:pt x="15701" y="30861"/>
                </a:lnTo>
                <a:lnTo>
                  <a:pt x="13841" y="31496"/>
                </a:lnTo>
                <a:lnTo>
                  <a:pt x="12910" y="31877"/>
                </a:lnTo>
                <a:lnTo>
                  <a:pt x="12739" y="31877"/>
                </a:lnTo>
                <a:lnTo>
                  <a:pt x="11310" y="32639"/>
                </a:lnTo>
                <a:lnTo>
                  <a:pt x="10938" y="33020"/>
                </a:lnTo>
                <a:lnTo>
                  <a:pt x="10269" y="33528"/>
                </a:lnTo>
                <a:lnTo>
                  <a:pt x="9822" y="33909"/>
                </a:lnTo>
                <a:lnTo>
                  <a:pt x="7627" y="37592"/>
                </a:lnTo>
                <a:lnTo>
                  <a:pt x="7627" y="46482"/>
                </a:lnTo>
                <a:lnTo>
                  <a:pt x="7925" y="47371"/>
                </a:lnTo>
                <a:lnTo>
                  <a:pt x="8371" y="48387"/>
                </a:lnTo>
                <a:lnTo>
                  <a:pt x="8427" y="48514"/>
                </a:lnTo>
                <a:lnTo>
                  <a:pt x="8922" y="49276"/>
                </a:lnTo>
                <a:lnTo>
                  <a:pt x="9450" y="50038"/>
                </a:lnTo>
                <a:lnTo>
                  <a:pt x="10008" y="50546"/>
                </a:lnTo>
                <a:lnTo>
                  <a:pt x="10231" y="50800"/>
                </a:lnTo>
                <a:lnTo>
                  <a:pt x="13469" y="52705"/>
                </a:lnTo>
                <a:lnTo>
                  <a:pt x="13952" y="52959"/>
                </a:lnTo>
                <a:lnTo>
                  <a:pt x="14473" y="52959"/>
                </a:lnTo>
                <a:lnTo>
                  <a:pt x="14957" y="53213"/>
                </a:lnTo>
                <a:lnTo>
                  <a:pt x="34965" y="53213"/>
                </a:lnTo>
                <a:lnTo>
                  <a:pt x="28574" y="57531"/>
                </a:lnTo>
                <a:lnTo>
                  <a:pt x="27868" y="57912"/>
                </a:lnTo>
                <a:lnTo>
                  <a:pt x="24668" y="58674"/>
                </a:lnTo>
                <a:lnTo>
                  <a:pt x="21989" y="59055"/>
                </a:lnTo>
                <a:close/>
              </a:path>
              <a:path w="38735" h="59055">
                <a:moveTo>
                  <a:pt x="33188" y="24765"/>
                </a:moveTo>
                <a:lnTo>
                  <a:pt x="22900" y="24765"/>
                </a:lnTo>
                <a:lnTo>
                  <a:pt x="23384" y="24511"/>
                </a:lnTo>
                <a:lnTo>
                  <a:pt x="23924" y="24511"/>
                </a:lnTo>
                <a:lnTo>
                  <a:pt x="25151" y="24003"/>
                </a:lnTo>
                <a:lnTo>
                  <a:pt x="28835" y="19939"/>
                </a:lnTo>
                <a:lnTo>
                  <a:pt x="29120" y="19177"/>
                </a:lnTo>
                <a:lnTo>
                  <a:pt x="22175" y="5461"/>
                </a:lnTo>
                <a:lnTo>
                  <a:pt x="34044" y="5461"/>
                </a:lnTo>
                <a:lnTo>
                  <a:pt x="37009" y="11811"/>
                </a:lnTo>
                <a:lnTo>
                  <a:pt x="36937" y="17780"/>
                </a:lnTo>
                <a:lnTo>
                  <a:pt x="36834" y="18288"/>
                </a:lnTo>
                <a:lnTo>
                  <a:pt x="36735" y="18542"/>
                </a:lnTo>
                <a:lnTo>
                  <a:pt x="36630" y="18923"/>
                </a:lnTo>
                <a:lnTo>
                  <a:pt x="33486" y="24511"/>
                </a:lnTo>
                <a:lnTo>
                  <a:pt x="33188" y="24765"/>
                </a:lnTo>
                <a:close/>
              </a:path>
              <a:path w="38735" h="59055">
                <a:moveTo>
                  <a:pt x="34965" y="53213"/>
                </a:moveTo>
                <a:lnTo>
                  <a:pt x="23291" y="53213"/>
                </a:lnTo>
                <a:lnTo>
                  <a:pt x="23812" y="52959"/>
                </a:lnTo>
                <a:lnTo>
                  <a:pt x="24296" y="52959"/>
                </a:lnTo>
                <a:lnTo>
                  <a:pt x="25948" y="52197"/>
                </a:lnTo>
                <a:lnTo>
                  <a:pt x="26082" y="52197"/>
                </a:lnTo>
                <a:lnTo>
                  <a:pt x="27198" y="51435"/>
                </a:lnTo>
                <a:lnTo>
                  <a:pt x="30509" y="37592"/>
                </a:lnTo>
                <a:lnTo>
                  <a:pt x="30360" y="37084"/>
                </a:lnTo>
                <a:lnTo>
                  <a:pt x="27235" y="33020"/>
                </a:lnTo>
                <a:lnTo>
                  <a:pt x="26863" y="32639"/>
                </a:lnTo>
                <a:lnTo>
                  <a:pt x="25291" y="31877"/>
                </a:lnTo>
                <a:lnTo>
                  <a:pt x="24259" y="31496"/>
                </a:lnTo>
                <a:lnTo>
                  <a:pt x="22305" y="30861"/>
                </a:lnTo>
                <a:lnTo>
                  <a:pt x="33635" y="30861"/>
                </a:lnTo>
                <a:lnTo>
                  <a:pt x="34342" y="31369"/>
                </a:lnTo>
                <a:lnTo>
                  <a:pt x="35123" y="32258"/>
                </a:lnTo>
                <a:lnTo>
                  <a:pt x="35391" y="32512"/>
                </a:lnTo>
                <a:lnTo>
                  <a:pt x="38286" y="46482"/>
                </a:lnTo>
                <a:lnTo>
                  <a:pt x="38137" y="46990"/>
                </a:lnTo>
                <a:lnTo>
                  <a:pt x="38040" y="47371"/>
                </a:lnTo>
                <a:lnTo>
                  <a:pt x="37951" y="47752"/>
                </a:lnTo>
                <a:lnTo>
                  <a:pt x="37377" y="49276"/>
                </a:lnTo>
                <a:lnTo>
                  <a:pt x="37281" y="49530"/>
                </a:lnTo>
                <a:lnTo>
                  <a:pt x="36827" y="50546"/>
                </a:lnTo>
                <a:lnTo>
                  <a:pt x="36723" y="50800"/>
                </a:lnTo>
                <a:lnTo>
                  <a:pt x="36053" y="51816"/>
                </a:lnTo>
                <a:lnTo>
                  <a:pt x="34965" y="53213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311524" y="2860327"/>
            <a:ext cx="46990" cy="59055"/>
          </a:xfrm>
          <a:custGeom>
            <a:avLst/>
            <a:gdLst/>
            <a:ahLst/>
            <a:cxnLst/>
            <a:rect l="l" t="t" r="r" b="b"/>
            <a:pathLst>
              <a:path w="46989" h="59055">
                <a:moveTo>
                  <a:pt x="25537" y="38844"/>
                </a:moveTo>
                <a:lnTo>
                  <a:pt x="22783" y="38844"/>
                </a:lnTo>
                <a:lnTo>
                  <a:pt x="19818" y="38211"/>
                </a:lnTo>
                <a:lnTo>
                  <a:pt x="8904" y="28426"/>
                </a:lnTo>
                <a:lnTo>
                  <a:pt x="8837" y="28277"/>
                </a:lnTo>
                <a:lnTo>
                  <a:pt x="8719" y="28016"/>
                </a:lnTo>
                <a:lnTo>
                  <a:pt x="7994" y="25598"/>
                </a:lnTo>
                <a:lnTo>
                  <a:pt x="7996" y="13171"/>
                </a:lnTo>
                <a:lnTo>
                  <a:pt x="21370" y="409"/>
                </a:lnTo>
                <a:lnTo>
                  <a:pt x="21097" y="409"/>
                </a:lnTo>
                <a:lnTo>
                  <a:pt x="24098" y="0"/>
                </a:lnTo>
                <a:lnTo>
                  <a:pt x="29313" y="0"/>
                </a:lnTo>
                <a:lnTo>
                  <a:pt x="40415" y="6213"/>
                </a:lnTo>
                <a:lnTo>
                  <a:pt x="23230" y="6213"/>
                </a:lnTo>
                <a:lnTo>
                  <a:pt x="21890" y="6659"/>
                </a:lnTo>
                <a:lnTo>
                  <a:pt x="15206" y="23589"/>
                </a:lnTo>
                <a:lnTo>
                  <a:pt x="15342" y="24221"/>
                </a:lnTo>
                <a:lnTo>
                  <a:pt x="15755" y="25598"/>
                </a:lnTo>
                <a:lnTo>
                  <a:pt x="15944" y="26082"/>
                </a:lnTo>
                <a:lnTo>
                  <a:pt x="16198" y="26602"/>
                </a:lnTo>
                <a:lnTo>
                  <a:pt x="16384" y="27049"/>
                </a:lnTo>
                <a:lnTo>
                  <a:pt x="16533" y="27347"/>
                </a:lnTo>
                <a:lnTo>
                  <a:pt x="16607" y="27495"/>
                </a:lnTo>
                <a:lnTo>
                  <a:pt x="17091" y="28277"/>
                </a:lnTo>
                <a:lnTo>
                  <a:pt x="23588" y="32779"/>
                </a:lnTo>
                <a:lnTo>
                  <a:pt x="37443" y="32779"/>
                </a:lnTo>
                <a:lnTo>
                  <a:pt x="37220" y="33114"/>
                </a:lnTo>
                <a:lnTo>
                  <a:pt x="36922" y="33411"/>
                </a:lnTo>
                <a:lnTo>
                  <a:pt x="36662" y="33746"/>
                </a:lnTo>
                <a:lnTo>
                  <a:pt x="36104" y="34304"/>
                </a:lnTo>
                <a:lnTo>
                  <a:pt x="35545" y="34825"/>
                </a:lnTo>
                <a:lnTo>
                  <a:pt x="34429" y="35718"/>
                </a:lnTo>
                <a:lnTo>
                  <a:pt x="34057" y="35941"/>
                </a:lnTo>
                <a:lnTo>
                  <a:pt x="33722" y="36202"/>
                </a:lnTo>
                <a:lnTo>
                  <a:pt x="33350" y="36425"/>
                </a:lnTo>
                <a:lnTo>
                  <a:pt x="32941" y="36611"/>
                </a:lnTo>
                <a:lnTo>
                  <a:pt x="32261" y="36983"/>
                </a:lnTo>
                <a:lnTo>
                  <a:pt x="31492" y="37355"/>
                </a:lnTo>
                <a:lnTo>
                  <a:pt x="30055" y="37876"/>
                </a:lnTo>
                <a:lnTo>
                  <a:pt x="30188" y="37876"/>
                </a:lnTo>
                <a:lnTo>
                  <a:pt x="28848" y="38211"/>
                </a:lnTo>
                <a:lnTo>
                  <a:pt x="29332" y="38211"/>
                </a:lnTo>
                <a:lnTo>
                  <a:pt x="25537" y="38844"/>
                </a:lnTo>
                <a:close/>
              </a:path>
              <a:path w="46989" h="59055">
                <a:moveTo>
                  <a:pt x="37443" y="32779"/>
                </a:moveTo>
                <a:lnTo>
                  <a:pt x="28765" y="32779"/>
                </a:lnTo>
                <a:lnTo>
                  <a:pt x="31118" y="31960"/>
                </a:lnTo>
                <a:lnTo>
                  <a:pt x="32308" y="31365"/>
                </a:lnTo>
                <a:lnTo>
                  <a:pt x="37815" y="23589"/>
                </a:lnTo>
                <a:lnTo>
                  <a:pt x="37801" y="18157"/>
                </a:lnTo>
                <a:lnTo>
                  <a:pt x="37480" y="16445"/>
                </a:lnTo>
                <a:lnTo>
                  <a:pt x="37359" y="15850"/>
                </a:lnTo>
                <a:lnTo>
                  <a:pt x="37215" y="15292"/>
                </a:lnTo>
                <a:lnTo>
                  <a:pt x="37157" y="15068"/>
                </a:lnTo>
                <a:lnTo>
                  <a:pt x="37071" y="14733"/>
                </a:lnTo>
                <a:lnTo>
                  <a:pt x="36632" y="13506"/>
                </a:lnTo>
                <a:lnTo>
                  <a:pt x="36513" y="13171"/>
                </a:lnTo>
                <a:lnTo>
                  <a:pt x="36066" y="12166"/>
                </a:lnTo>
                <a:lnTo>
                  <a:pt x="29133" y="6213"/>
                </a:lnTo>
                <a:lnTo>
                  <a:pt x="40415" y="6213"/>
                </a:lnTo>
                <a:lnTo>
                  <a:pt x="44093" y="13506"/>
                </a:lnTo>
                <a:lnTo>
                  <a:pt x="44215" y="13878"/>
                </a:lnTo>
                <a:lnTo>
                  <a:pt x="44743" y="15850"/>
                </a:lnTo>
                <a:lnTo>
                  <a:pt x="45219" y="18157"/>
                </a:lnTo>
                <a:lnTo>
                  <a:pt x="45554" y="20501"/>
                </a:lnTo>
                <a:lnTo>
                  <a:pt x="45638" y="21319"/>
                </a:lnTo>
                <a:lnTo>
                  <a:pt x="45757" y="22472"/>
                </a:lnTo>
                <a:lnTo>
                  <a:pt x="45882" y="24221"/>
                </a:lnTo>
                <a:lnTo>
                  <a:pt x="45946" y="30621"/>
                </a:lnTo>
                <a:lnTo>
                  <a:pt x="38745" y="30621"/>
                </a:lnTo>
                <a:lnTo>
                  <a:pt x="38448" y="31216"/>
                </a:lnTo>
                <a:lnTo>
                  <a:pt x="38004" y="31960"/>
                </a:lnTo>
                <a:lnTo>
                  <a:pt x="37443" y="32779"/>
                </a:lnTo>
                <a:close/>
              </a:path>
              <a:path w="46989" h="59055">
                <a:moveTo>
                  <a:pt x="39089" y="53205"/>
                </a:moveTo>
                <a:lnTo>
                  <a:pt x="27267" y="53205"/>
                </a:lnTo>
                <a:lnTo>
                  <a:pt x="29359" y="52647"/>
                </a:lnTo>
                <a:lnTo>
                  <a:pt x="29183" y="52647"/>
                </a:lnTo>
                <a:lnTo>
                  <a:pt x="38745" y="30621"/>
                </a:lnTo>
                <a:lnTo>
                  <a:pt x="45946" y="30621"/>
                </a:lnTo>
                <a:lnTo>
                  <a:pt x="45821" y="33746"/>
                </a:lnTo>
                <a:lnTo>
                  <a:pt x="45720" y="34825"/>
                </a:lnTo>
                <a:lnTo>
                  <a:pt x="45595" y="35941"/>
                </a:lnTo>
                <a:lnTo>
                  <a:pt x="45480" y="36983"/>
                </a:lnTo>
                <a:lnTo>
                  <a:pt x="39701" y="52499"/>
                </a:lnTo>
                <a:lnTo>
                  <a:pt x="39089" y="53205"/>
                </a:lnTo>
                <a:close/>
              </a:path>
              <a:path w="46989" h="59055">
                <a:moveTo>
                  <a:pt x="29026" y="58935"/>
                </a:moveTo>
                <a:lnTo>
                  <a:pt x="20811" y="58935"/>
                </a:lnTo>
                <a:lnTo>
                  <a:pt x="19695" y="58712"/>
                </a:lnTo>
                <a:lnTo>
                  <a:pt x="16961" y="57931"/>
                </a:lnTo>
                <a:lnTo>
                  <a:pt x="17128" y="57931"/>
                </a:lnTo>
                <a:lnTo>
                  <a:pt x="15863" y="57336"/>
                </a:lnTo>
                <a:lnTo>
                  <a:pt x="15114" y="56926"/>
                </a:lnTo>
                <a:lnTo>
                  <a:pt x="14858" y="56740"/>
                </a:lnTo>
                <a:lnTo>
                  <a:pt x="14412" y="56480"/>
                </a:lnTo>
                <a:lnTo>
                  <a:pt x="9503" y="50155"/>
                </a:lnTo>
                <a:lnTo>
                  <a:pt x="9381" y="49894"/>
                </a:lnTo>
                <a:lnTo>
                  <a:pt x="9277" y="49671"/>
                </a:lnTo>
                <a:lnTo>
                  <a:pt x="8868" y="48480"/>
                </a:lnTo>
                <a:lnTo>
                  <a:pt x="8496" y="47215"/>
                </a:lnTo>
                <a:lnTo>
                  <a:pt x="15528" y="46136"/>
                </a:lnTo>
                <a:lnTo>
                  <a:pt x="15646" y="46508"/>
                </a:lnTo>
                <a:lnTo>
                  <a:pt x="15751" y="46843"/>
                </a:lnTo>
                <a:lnTo>
                  <a:pt x="21060" y="52647"/>
                </a:lnTo>
                <a:lnTo>
                  <a:pt x="29359" y="52647"/>
                </a:lnTo>
                <a:lnTo>
                  <a:pt x="27267" y="53205"/>
                </a:lnTo>
                <a:lnTo>
                  <a:pt x="39089" y="53205"/>
                </a:lnTo>
                <a:lnTo>
                  <a:pt x="38703" y="53652"/>
                </a:lnTo>
                <a:lnTo>
                  <a:pt x="30026" y="58712"/>
                </a:lnTo>
                <a:lnTo>
                  <a:pt x="29026" y="58935"/>
                </a:lnTo>
                <a:close/>
              </a:path>
              <a:path w="46989" h="59055">
                <a:moveTo>
                  <a:pt x="46832" y="53205"/>
                </a:moveTo>
                <a:lnTo>
                  <a:pt x="39089" y="53205"/>
                </a:lnTo>
                <a:lnTo>
                  <a:pt x="39572" y="52647"/>
                </a:lnTo>
                <a:lnTo>
                  <a:pt x="0" y="52647"/>
                </a:lnTo>
                <a:lnTo>
                  <a:pt x="46832" y="53205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507828" y="2860598"/>
            <a:ext cx="83185" cy="59055"/>
          </a:xfrm>
          <a:custGeom>
            <a:avLst/>
            <a:gdLst/>
            <a:ahLst/>
            <a:cxnLst/>
            <a:rect l="l" t="t" r="r" b="b"/>
            <a:pathLst>
              <a:path w="83185" h="59055">
                <a:moveTo>
                  <a:pt x="36169" y="51904"/>
                </a:moveTo>
                <a:lnTo>
                  <a:pt x="22110" y="51904"/>
                </a:lnTo>
                <a:lnTo>
                  <a:pt x="22110" y="520"/>
                </a:lnTo>
                <a:lnTo>
                  <a:pt x="15341" y="520"/>
                </a:lnTo>
                <a:lnTo>
                  <a:pt x="1676" y="9893"/>
                </a:lnTo>
                <a:lnTo>
                  <a:pt x="1676" y="16852"/>
                </a:lnTo>
                <a:lnTo>
                  <a:pt x="14706" y="7543"/>
                </a:lnTo>
                <a:lnTo>
                  <a:pt x="14706" y="51904"/>
                </a:lnTo>
                <a:lnTo>
                  <a:pt x="0" y="51904"/>
                </a:lnTo>
                <a:lnTo>
                  <a:pt x="0" y="58191"/>
                </a:lnTo>
                <a:lnTo>
                  <a:pt x="36169" y="58191"/>
                </a:lnTo>
                <a:lnTo>
                  <a:pt x="36169" y="51904"/>
                </a:lnTo>
                <a:close/>
              </a:path>
              <a:path w="83185" h="59055">
                <a:moveTo>
                  <a:pt x="83045" y="19862"/>
                </a:moveTo>
                <a:lnTo>
                  <a:pt x="81267" y="12420"/>
                </a:lnTo>
                <a:lnTo>
                  <a:pt x="81000" y="11684"/>
                </a:lnTo>
                <a:lnTo>
                  <a:pt x="79781" y="8890"/>
                </a:lnTo>
                <a:lnTo>
                  <a:pt x="79692" y="8737"/>
                </a:lnTo>
                <a:lnTo>
                  <a:pt x="79438" y="8293"/>
                </a:lnTo>
                <a:lnTo>
                  <a:pt x="75717" y="3632"/>
                </a:lnTo>
                <a:lnTo>
                  <a:pt x="75717" y="20828"/>
                </a:lnTo>
                <a:lnTo>
                  <a:pt x="75653" y="37579"/>
                </a:lnTo>
                <a:lnTo>
                  <a:pt x="67310" y="52387"/>
                </a:lnTo>
                <a:lnTo>
                  <a:pt x="67703" y="52387"/>
                </a:lnTo>
                <a:lnTo>
                  <a:pt x="65786" y="52793"/>
                </a:lnTo>
                <a:lnTo>
                  <a:pt x="64668" y="52946"/>
                </a:lnTo>
                <a:lnTo>
                  <a:pt x="62369" y="52946"/>
                </a:lnTo>
                <a:lnTo>
                  <a:pt x="61252" y="52793"/>
                </a:lnTo>
                <a:lnTo>
                  <a:pt x="59334" y="52387"/>
                </a:lnTo>
                <a:lnTo>
                  <a:pt x="59690" y="52387"/>
                </a:lnTo>
                <a:lnTo>
                  <a:pt x="59169" y="52235"/>
                </a:lnTo>
                <a:lnTo>
                  <a:pt x="51498" y="38582"/>
                </a:lnTo>
                <a:lnTo>
                  <a:pt x="51498" y="19862"/>
                </a:lnTo>
                <a:lnTo>
                  <a:pt x="60248" y="6019"/>
                </a:lnTo>
                <a:lnTo>
                  <a:pt x="67017" y="6019"/>
                </a:lnTo>
                <a:lnTo>
                  <a:pt x="72186" y="9601"/>
                </a:lnTo>
                <a:lnTo>
                  <a:pt x="72555" y="10083"/>
                </a:lnTo>
                <a:lnTo>
                  <a:pt x="72859" y="10642"/>
                </a:lnTo>
                <a:lnTo>
                  <a:pt x="73190" y="11201"/>
                </a:lnTo>
                <a:lnTo>
                  <a:pt x="73431" y="11684"/>
                </a:lnTo>
                <a:lnTo>
                  <a:pt x="75171" y="17297"/>
                </a:lnTo>
                <a:lnTo>
                  <a:pt x="75272" y="17932"/>
                </a:lnTo>
                <a:lnTo>
                  <a:pt x="75717" y="20828"/>
                </a:lnTo>
                <a:lnTo>
                  <a:pt x="75717" y="3632"/>
                </a:lnTo>
                <a:lnTo>
                  <a:pt x="67729" y="0"/>
                </a:lnTo>
                <a:lnTo>
                  <a:pt x="59537" y="0"/>
                </a:lnTo>
                <a:lnTo>
                  <a:pt x="44932" y="15367"/>
                </a:lnTo>
                <a:lnTo>
                  <a:pt x="44500" y="17297"/>
                </a:lnTo>
                <a:lnTo>
                  <a:pt x="44399" y="17932"/>
                </a:lnTo>
                <a:lnTo>
                  <a:pt x="44069" y="19862"/>
                </a:lnTo>
                <a:lnTo>
                  <a:pt x="44094" y="38582"/>
                </a:lnTo>
                <a:lnTo>
                  <a:pt x="59385" y="58635"/>
                </a:lnTo>
                <a:lnTo>
                  <a:pt x="67500" y="58635"/>
                </a:lnTo>
                <a:lnTo>
                  <a:pt x="82981" y="38582"/>
                </a:lnTo>
                <a:lnTo>
                  <a:pt x="83045" y="19862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4" name="object 7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46808" y="2962349"/>
            <a:ext cx="91603" cy="126020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34169" y="471301"/>
            <a:ext cx="539799" cy="151320"/>
          </a:xfrm>
          <a:prstGeom prst="rect">
            <a:avLst/>
          </a:prstGeom>
        </p:spPr>
      </p:pic>
      <p:sp>
        <p:nvSpPr>
          <p:cNvPr id="76" name="object 76"/>
          <p:cNvSpPr txBox="1"/>
          <p:nvPr/>
        </p:nvSpPr>
        <p:spPr>
          <a:xfrm>
            <a:off x="4552949" y="838200"/>
            <a:ext cx="3524250" cy="85725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6667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525"/>
              </a:spcBef>
              <a:tabLst>
                <a:tab pos="1213485" algn="l"/>
              </a:tabLst>
            </a:pPr>
            <a:r>
              <a:rPr dirty="0" sz="1500" spc="-10">
                <a:solidFill>
                  <a:srgbClr val="333333"/>
                </a:solidFill>
                <a:latin typeface="Lucida Console"/>
                <a:cs typeface="Lucida Console"/>
              </a:rPr>
              <a:t>pchisq(q</a:t>
            </a:r>
            <a:r>
              <a:rPr dirty="0" sz="1500">
                <a:solidFill>
                  <a:srgbClr val="333333"/>
                </a:solidFill>
                <a:latin typeface="Lucida Console"/>
                <a:cs typeface="Lucida Console"/>
              </a:rPr>
              <a:t>	</a:t>
            </a:r>
            <a:r>
              <a:rPr dirty="0" sz="1300">
                <a:solidFill>
                  <a:srgbClr val="333333"/>
                </a:solidFill>
                <a:latin typeface="Century Gothic"/>
                <a:cs typeface="Century Gothic"/>
              </a:rPr>
              <a:t>=</a:t>
            </a:r>
            <a:r>
              <a:rPr dirty="0" sz="1300" spc="47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400" spc="-25">
                <a:solidFill>
                  <a:srgbClr val="008080"/>
                </a:solidFill>
                <a:latin typeface="Courier New"/>
                <a:cs typeface="Courier New"/>
              </a:rPr>
              <a:t>5</a:t>
            </a:r>
            <a:r>
              <a:rPr dirty="0" sz="15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1500">
              <a:latin typeface="Lucida Console"/>
              <a:cs typeface="Lucida Console"/>
            </a:endParaRPr>
          </a:p>
          <a:p>
            <a:pPr marL="802005" marR="759460">
              <a:lnSpc>
                <a:spcPct val="100000"/>
              </a:lnSpc>
              <a:tabLst>
                <a:tab pos="1213485" algn="l"/>
              </a:tabLst>
            </a:pPr>
            <a:r>
              <a:rPr dirty="0" sz="1500" spc="-25">
                <a:solidFill>
                  <a:srgbClr val="333333"/>
                </a:solidFill>
                <a:latin typeface="Lucida Console"/>
                <a:cs typeface="Lucida Console"/>
              </a:rPr>
              <a:t>df</a:t>
            </a:r>
            <a:r>
              <a:rPr dirty="0" sz="1500">
                <a:solidFill>
                  <a:srgbClr val="333333"/>
                </a:solidFill>
                <a:latin typeface="Lucida Console"/>
                <a:cs typeface="Lucida Console"/>
              </a:rPr>
              <a:t>	</a:t>
            </a:r>
            <a:r>
              <a:rPr dirty="0" sz="1300">
                <a:solidFill>
                  <a:srgbClr val="333333"/>
                </a:solidFill>
                <a:latin typeface="Century Gothic"/>
                <a:cs typeface="Century Gothic"/>
              </a:rPr>
              <a:t>=</a:t>
            </a:r>
            <a:r>
              <a:rPr dirty="0" sz="1300" spc="47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400" spc="-25">
                <a:solidFill>
                  <a:srgbClr val="008080"/>
                </a:solidFill>
                <a:latin typeface="Courier New"/>
                <a:cs typeface="Courier New"/>
              </a:rPr>
              <a:t>3</a:t>
            </a:r>
            <a:r>
              <a:rPr dirty="0" sz="15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500" spc="50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500" spc="-105">
                <a:solidFill>
                  <a:srgbClr val="333333"/>
                </a:solidFill>
                <a:latin typeface="Lucida Console"/>
                <a:cs typeface="Lucida Console"/>
              </a:rPr>
              <a:t>lower.tail</a:t>
            </a:r>
            <a:r>
              <a:rPr dirty="0" sz="1500" spc="-5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300">
                <a:solidFill>
                  <a:srgbClr val="333333"/>
                </a:solidFill>
                <a:latin typeface="Century Gothic"/>
                <a:cs typeface="Century Gothic"/>
              </a:rPr>
              <a:t>=</a:t>
            </a:r>
            <a:r>
              <a:rPr dirty="0" sz="1300" spc="49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400" spc="-35">
                <a:solidFill>
                  <a:srgbClr val="008080"/>
                </a:solidFill>
                <a:latin typeface="Courier New"/>
                <a:cs typeface="Courier New"/>
              </a:rPr>
              <a:t>FALSE</a:t>
            </a:r>
            <a:r>
              <a:rPr dirty="0" sz="1500" spc="-35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79" name="object 7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  <p:sp>
        <p:nvSpPr>
          <p:cNvPr id="77" name="object 77"/>
          <p:cNvSpPr txBox="1"/>
          <p:nvPr/>
        </p:nvSpPr>
        <p:spPr>
          <a:xfrm>
            <a:off x="4536826" y="1816293"/>
            <a:ext cx="1362710" cy="2425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007834"/>
                </a:solidFill>
                <a:latin typeface="Courier New"/>
                <a:cs typeface="Courier New"/>
              </a:rPr>
              <a:t>[1]</a:t>
            </a:r>
            <a:r>
              <a:rPr dirty="0" sz="1400" spc="-140">
                <a:solidFill>
                  <a:srgbClr val="007834"/>
                </a:solidFill>
                <a:latin typeface="Courier New"/>
                <a:cs typeface="Courier New"/>
              </a:rPr>
              <a:t> </a:t>
            </a:r>
            <a:r>
              <a:rPr dirty="0" sz="1400" spc="-25">
                <a:solidFill>
                  <a:srgbClr val="007834"/>
                </a:solidFill>
                <a:latin typeface="Courier New"/>
                <a:cs typeface="Courier New"/>
              </a:rPr>
              <a:t>0.1717971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733603" y="381546"/>
            <a:ext cx="115951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50" spc="-120" i="1">
                <a:latin typeface="Arial"/>
                <a:cs typeface="Arial"/>
              </a:rPr>
              <a:t>P</a:t>
            </a:r>
            <a:r>
              <a:rPr dirty="0" sz="1550" spc="-275" i="1">
                <a:latin typeface="Arial"/>
                <a:cs typeface="Arial"/>
              </a:rPr>
              <a:t> </a:t>
            </a:r>
            <a:r>
              <a:rPr dirty="0" sz="1500">
                <a:latin typeface="Lucida Sans"/>
                <a:cs typeface="Lucida Sans"/>
              </a:rPr>
              <a:t>(</a:t>
            </a:r>
            <a:r>
              <a:rPr dirty="0" sz="1550" i="1">
                <a:latin typeface="Arial"/>
                <a:cs typeface="Arial"/>
              </a:rPr>
              <a:t>χ</a:t>
            </a:r>
            <a:r>
              <a:rPr dirty="0" baseline="26455" sz="1575">
                <a:latin typeface="Lucida Sans"/>
                <a:cs typeface="Lucida Sans"/>
              </a:rPr>
              <a:t>2</a:t>
            </a:r>
            <a:r>
              <a:rPr dirty="0" baseline="26455" sz="1575" spc="-7">
                <a:latin typeface="Lucida Sans"/>
                <a:cs typeface="Lucida Sans"/>
              </a:rPr>
              <a:t> </a:t>
            </a:r>
            <a:r>
              <a:rPr dirty="0" sz="1500" spc="-20">
                <a:latin typeface="Lucida Sans"/>
                <a:cs typeface="Lucida Sans"/>
              </a:rPr>
              <a:t>≥</a:t>
            </a:r>
            <a:r>
              <a:rPr dirty="0" sz="1500" spc="50">
                <a:latin typeface="Lucida Sans"/>
                <a:cs typeface="Lucida Sans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5)</a:t>
            </a:r>
            <a:r>
              <a:rPr dirty="0" sz="1500" spc="-75">
                <a:latin typeface="Lucida Sans"/>
                <a:cs typeface="Lucida Sans"/>
              </a:rPr>
              <a:t> </a:t>
            </a:r>
            <a:r>
              <a:rPr dirty="0" sz="1500" spc="-25">
                <a:latin typeface="Lucida Sans"/>
                <a:cs typeface="Lucida Sans"/>
              </a:rPr>
              <a:t>=?</a:t>
            </a:r>
            <a:endParaRPr sz="15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33499" y="2809874"/>
            <a:ext cx="47625" cy="438150"/>
          </a:xfrm>
          <a:custGeom>
            <a:avLst/>
            <a:gdLst/>
            <a:ahLst/>
            <a:cxnLst/>
            <a:rect l="l" t="t" r="r" b="b"/>
            <a:pathLst>
              <a:path w="47625" h="438150">
                <a:moveTo>
                  <a:pt x="47624" y="438149"/>
                </a:moveTo>
                <a:lnTo>
                  <a:pt x="0" y="438149"/>
                </a:lnTo>
                <a:lnTo>
                  <a:pt x="0" y="0"/>
                </a:lnTo>
                <a:lnTo>
                  <a:pt x="47624" y="0"/>
                </a:lnTo>
                <a:lnTo>
                  <a:pt x="47624" y="438149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71499" y="3428999"/>
            <a:ext cx="7505700" cy="609600"/>
          </a:xfrm>
          <a:custGeom>
            <a:avLst/>
            <a:gdLst/>
            <a:ahLst/>
            <a:cxnLst/>
            <a:rect l="l" t="t" r="r" b="b"/>
            <a:pathLst>
              <a:path w="7505700" h="609600">
                <a:moveTo>
                  <a:pt x="7505699" y="609599"/>
                </a:moveTo>
                <a:lnTo>
                  <a:pt x="0" y="609599"/>
                </a:lnTo>
                <a:lnTo>
                  <a:pt x="0" y="0"/>
                </a:lnTo>
                <a:lnTo>
                  <a:pt x="7505699" y="0"/>
                </a:lnTo>
                <a:lnTo>
                  <a:pt x="7505699" y="60959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1524" y="1028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71524" y="16478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1524" y="20859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71524" y="24955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08000" y="461644"/>
            <a:ext cx="7157084" cy="2788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</a:pPr>
            <a:r>
              <a:rPr dirty="0" sz="1450" spc="-85" b="1">
                <a:latin typeface="Trebuchet MS"/>
                <a:cs typeface="Trebuchet MS"/>
              </a:rPr>
              <a:t>Back</a:t>
            </a:r>
            <a:r>
              <a:rPr dirty="0" sz="1450" spc="-120" b="1">
                <a:latin typeface="Trebuchet MS"/>
                <a:cs typeface="Trebuchet MS"/>
              </a:rPr>
              <a:t> </a:t>
            </a:r>
            <a:r>
              <a:rPr dirty="0" sz="1450" spc="-85" b="1">
                <a:latin typeface="Trebuchet MS"/>
                <a:cs typeface="Trebuchet MS"/>
              </a:rPr>
              <a:t>to</a:t>
            </a:r>
            <a:r>
              <a:rPr dirty="0" sz="1450" spc="-114" b="1">
                <a:latin typeface="Trebuchet MS"/>
                <a:cs typeface="Trebuchet MS"/>
              </a:rPr>
              <a:t> </a:t>
            </a:r>
            <a:r>
              <a:rPr dirty="0" sz="1450" spc="-100" b="1">
                <a:latin typeface="Trebuchet MS"/>
                <a:cs typeface="Trebuchet MS"/>
              </a:rPr>
              <a:t>our</a:t>
            </a:r>
            <a:r>
              <a:rPr dirty="0" sz="1450" spc="-12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example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450">
              <a:latin typeface="Trebuchet MS"/>
              <a:cs typeface="Trebuchet MS"/>
            </a:endParaRPr>
          </a:p>
          <a:p>
            <a:pPr marL="443865" marR="379095">
              <a:lnSpc>
                <a:spcPts val="1730"/>
              </a:lnSpc>
            </a:pPr>
            <a:r>
              <a:rPr dirty="0" sz="1450" spc="60">
                <a:latin typeface="Gill Sans MT"/>
                <a:cs typeface="Gill Sans MT"/>
              </a:rPr>
              <a:t>Assume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that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null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hypothesis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true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(callback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outcome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independent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of </a:t>
            </a:r>
            <a:r>
              <a:rPr dirty="0" sz="1450" spc="75">
                <a:latin typeface="Gill Sans MT"/>
                <a:cs typeface="Gill Sans MT"/>
              </a:rPr>
              <a:t>racialized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14">
                <a:latin typeface="Gill Sans MT"/>
                <a:cs typeface="Gill Sans MT"/>
              </a:rPr>
              <a:t>name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40">
                <a:latin typeface="Gill Sans MT"/>
                <a:cs typeface="Gill Sans MT"/>
              </a:rPr>
              <a:t>group).</a:t>
            </a:r>
            <a:endParaRPr sz="1450">
              <a:latin typeface="Gill Sans MT"/>
              <a:cs typeface="Gill Sans MT"/>
            </a:endParaRPr>
          </a:p>
          <a:p>
            <a:pPr marL="443865">
              <a:lnSpc>
                <a:spcPts val="1445"/>
              </a:lnSpc>
              <a:spcBef>
                <a:spcPts val="1250"/>
              </a:spcBef>
              <a:tabLst>
                <a:tab pos="4832985" algn="l"/>
              </a:tabLst>
            </a:pPr>
            <a:r>
              <a:rPr dirty="0" sz="1450" spc="-30">
                <a:latin typeface="Gill Sans MT"/>
                <a:cs typeface="Gill Sans MT"/>
              </a:rPr>
              <a:t>Our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sample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discrepancy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statistic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(chi-square)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is,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550" spc="-25" i="1">
                <a:latin typeface="Arial"/>
                <a:cs typeface="Arial"/>
              </a:rPr>
              <a:t>χ</a:t>
            </a:r>
            <a:r>
              <a:rPr dirty="0" baseline="26455" sz="1575" spc="-37">
                <a:latin typeface="Lucida Sans"/>
                <a:cs typeface="Lucida Sans"/>
              </a:rPr>
              <a:t>2</a:t>
            </a:r>
            <a:r>
              <a:rPr dirty="0" baseline="26455" sz="1575">
                <a:latin typeface="Lucida Sans"/>
                <a:cs typeface="Lucida Sans"/>
              </a:rPr>
              <a:t>	</a:t>
            </a:r>
            <a:r>
              <a:rPr dirty="0" sz="1500" spc="-60">
                <a:latin typeface="Lucida Sans"/>
                <a:cs typeface="Lucida Sans"/>
              </a:rPr>
              <a:t>=</a:t>
            </a:r>
            <a:r>
              <a:rPr dirty="0" sz="1500" spc="-75">
                <a:latin typeface="Lucida Sans"/>
                <a:cs typeface="Lucida Sans"/>
              </a:rPr>
              <a:t> </a:t>
            </a:r>
            <a:r>
              <a:rPr dirty="0" sz="1500" spc="-50">
                <a:latin typeface="Lucida Sans"/>
                <a:cs typeface="Lucida Sans"/>
              </a:rPr>
              <a:t>17.901</a:t>
            </a:r>
            <a:endParaRPr sz="1500">
              <a:latin typeface="Lucida Sans"/>
              <a:cs typeface="Lucida Sans"/>
            </a:endParaRPr>
          </a:p>
          <a:p>
            <a:pPr marL="4585335">
              <a:lnSpc>
                <a:spcPts val="844"/>
              </a:lnSpc>
            </a:pPr>
            <a:r>
              <a:rPr dirty="0" sz="1050" spc="-25">
                <a:latin typeface="Lucida Sans"/>
                <a:cs typeface="Lucida Sans"/>
              </a:rPr>
              <a:t>obs</a:t>
            </a:r>
            <a:endParaRPr sz="10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000">
              <a:latin typeface="Lucida Sans"/>
              <a:cs typeface="Lucida Sans"/>
            </a:endParaRPr>
          </a:p>
          <a:p>
            <a:pPr marL="443865">
              <a:lnSpc>
                <a:spcPct val="100000"/>
              </a:lnSpc>
            </a:pPr>
            <a:r>
              <a:rPr dirty="0" sz="1450">
                <a:latin typeface="Gill Sans MT"/>
                <a:cs typeface="Gill Sans MT"/>
              </a:rPr>
              <a:t>Degrees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freedom,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550" spc="75" i="1">
                <a:latin typeface="Arial"/>
                <a:cs typeface="Arial"/>
              </a:rPr>
              <a:t>df</a:t>
            </a:r>
            <a:r>
              <a:rPr dirty="0" sz="1550" spc="90" i="1">
                <a:latin typeface="Arial"/>
                <a:cs typeface="Arial"/>
              </a:rPr>
              <a:t> </a:t>
            </a:r>
            <a:r>
              <a:rPr dirty="0" sz="1500" spc="-60">
                <a:latin typeface="Lucida Sans"/>
                <a:cs typeface="Lucida Sans"/>
              </a:rPr>
              <a:t>=</a:t>
            </a:r>
            <a:r>
              <a:rPr dirty="0" sz="1500" spc="-40">
                <a:latin typeface="Lucida Sans"/>
                <a:cs typeface="Lucida Sans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(2</a:t>
            </a:r>
            <a:r>
              <a:rPr dirty="0" sz="1500" spc="-135">
                <a:latin typeface="Lucida Sans"/>
                <a:cs typeface="Lucida Sans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−</a:t>
            </a:r>
            <a:r>
              <a:rPr dirty="0" sz="1500" spc="-130">
                <a:latin typeface="Lucida Sans"/>
                <a:cs typeface="Lucida Sans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1)(2</a:t>
            </a:r>
            <a:r>
              <a:rPr dirty="0" sz="1500" spc="-135">
                <a:latin typeface="Lucida Sans"/>
                <a:cs typeface="Lucida Sans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−</a:t>
            </a:r>
            <a:r>
              <a:rPr dirty="0" sz="1500" spc="-130">
                <a:latin typeface="Lucida Sans"/>
                <a:cs typeface="Lucida Sans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1)</a:t>
            </a:r>
            <a:r>
              <a:rPr dirty="0" sz="1500" spc="-40">
                <a:latin typeface="Lucida Sans"/>
                <a:cs typeface="Lucida Sans"/>
              </a:rPr>
              <a:t> </a:t>
            </a:r>
            <a:r>
              <a:rPr dirty="0" sz="1500" spc="-60">
                <a:latin typeface="Lucida Sans"/>
                <a:cs typeface="Lucida Sans"/>
              </a:rPr>
              <a:t>=</a:t>
            </a:r>
            <a:r>
              <a:rPr dirty="0" sz="1500" spc="-45">
                <a:latin typeface="Lucida Sans"/>
                <a:cs typeface="Lucida Sans"/>
              </a:rPr>
              <a:t> </a:t>
            </a:r>
            <a:r>
              <a:rPr dirty="0" sz="1500" spc="-50">
                <a:latin typeface="Lucida Sans"/>
                <a:cs typeface="Lucida Sans"/>
              </a:rPr>
              <a:t>1</a:t>
            </a:r>
            <a:endParaRPr sz="1500">
              <a:latin typeface="Lucida Sans"/>
              <a:cs typeface="Lucida Sans"/>
            </a:endParaRPr>
          </a:p>
          <a:p>
            <a:pPr marL="443865">
              <a:lnSpc>
                <a:spcPct val="100000"/>
              </a:lnSpc>
              <a:spcBef>
                <a:spcPts val="1465"/>
              </a:spcBef>
            </a:pPr>
            <a:r>
              <a:rPr dirty="0" sz="1450" spc="35">
                <a:latin typeface="Gill Sans MT"/>
                <a:cs typeface="Gill Sans MT"/>
              </a:rPr>
              <a:t>Question:</a:t>
            </a:r>
            <a:endParaRPr sz="1450">
              <a:latin typeface="Gill Sans MT"/>
              <a:cs typeface="Gill Sans MT"/>
            </a:endParaRPr>
          </a:p>
          <a:p>
            <a:pPr marL="1055370" marR="17780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Gill Sans MT"/>
                <a:cs typeface="Gill Sans MT"/>
              </a:rPr>
              <a:t>What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probability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observing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sample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chi-</a:t>
            </a:r>
            <a:r>
              <a:rPr dirty="0" sz="1450" spc="85">
                <a:latin typeface="Gill Sans MT"/>
                <a:cs typeface="Gill Sans MT"/>
              </a:rPr>
              <a:t>square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statistic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at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least </a:t>
            </a:r>
            <a:r>
              <a:rPr dirty="0" sz="1450" b="1">
                <a:latin typeface="Trebuchet MS"/>
                <a:cs typeface="Trebuchet MS"/>
              </a:rPr>
              <a:t>as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large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as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55" b="1">
                <a:latin typeface="Trebuchet MS"/>
                <a:cs typeface="Trebuchet MS"/>
              </a:rPr>
              <a:t>17.901</a:t>
            </a:r>
            <a:r>
              <a:rPr dirty="0" sz="1450" spc="-25" b="1">
                <a:latin typeface="Trebuchet MS"/>
                <a:cs typeface="Trebuchet MS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if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null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hypothesis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true?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3561" y="3465226"/>
            <a:ext cx="684530" cy="35750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ts val="1295"/>
              </a:lnSpc>
              <a:spcBef>
                <a:spcPts val="115"/>
              </a:spcBef>
            </a:pP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pchisq(q</a:t>
            </a:r>
            <a:endParaRPr sz="1100">
              <a:latin typeface="Lucida Console"/>
              <a:cs typeface="Lucida Console"/>
            </a:endParaRPr>
          </a:p>
          <a:p>
            <a:pPr marL="521970">
              <a:lnSpc>
                <a:spcPts val="1295"/>
              </a:lnSpc>
            </a:pPr>
            <a:r>
              <a:rPr dirty="0" sz="1100" spc="-55">
                <a:solidFill>
                  <a:srgbClr val="333333"/>
                </a:solidFill>
                <a:latin typeface="Lucida Console"/>
                <a:cs typeface="Lucida Console"/>
              </a:rPr>
              <a:t>df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76012" y="3454434"/>
            <a:ext cx="684530" cy="370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ts val="1355"/>
              </a:lnSpc>
              <a:spcBef>
                <a:spcPts val="100"/>
              </a:spcBef>
            </a:pP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4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000" spc="-20">
                <a:solidFill>
                  <a:srgbClr val="008080"/>
                </a:solidFill>
                <a:latin typeface="Courier New"/>
                <a:cs typeface="Courier New"/>
              </a:rPr>
              <a:t>17.901</a:t>
            </a:r>
            <a:r>
              <a:rPr dirty="0" sz="1100" spc="-2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1100">
              <a:latin typeface="Lucida Console"/>
              <a:cs typeface="Lucida Console"/>
            </a:endParaRPr>
          </a:p>
          <a:p>
            <a:pPr>
              <a:lnSpc>
                <a:spcPts val="1360"/>
              </a:lnSpc>
            </a:pP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4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000" spc="-25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1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1524" y="49910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71524" y="53911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71524" y="57911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58800" y="3778284"/>
            <a:ext cx="7031990" cy="2367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96265">
              <a:lnSpc>
                <a:spcPct val="100000"/>
              </a:lnSpc>
              <a:spcBef>
                <a:spcPts val="100"/>
              </a:spcBef>
            </a:pPr>
            <a:r>
              <a:rPr dirty="0" sz="1100" spc="-80">
                <a:solidFill>
                  <a:srgbClr val="333333"/>
                </a:solidFill>
                <a:latin typeface="Lucida Console"/>
                <a:cs typeface="Lucida Console"/>
              </a:rPr>
              <a:t>lower.tail</a:t>
            </a:r>
            <a:r>
              <a:rPr dirty="0" sz="1100" spc="-9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3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000" spc="-10">
                <a:solidFill>
                  <a:srgbClr val="008080"/>
                </a:solidFill>
                <a:latin typeface="Courier New"/>
                <a:cs typeface="Courier New"/>
              </a:rPr>
              <a:t>FALSE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1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9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[1]</a:t>
            </a: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2.326988e-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05</a:t>
            </a:r>
            <a:endParaRPr sz="11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9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50" spc="-10" b="1">
                <a:latin typeface="Trebuchet MS"/>
                <a:cs typeface="Trebuchet MS"/>
              </a:rPr>
              <a:t>Conclusion:</a:t>
            </a:r>
            <a:endParaRPr sz="1450">
              <a:latin typeface="Trebuchet MS"/>
              <a:cs typeface="Trebuchet MS"/>
            </a:endParaRPr>
          </a:p>
          <a:p>
            <a:pPr marL="393065" marR="2700655">
              <a:lnSpc>
                <a:spcPct val="181000"/>
              </a:lnSpc>
            </a:pPr>
            <a:r>
              <a:rPr dirty="0" sz="1450">
                <a:latin typeface="Gill Sans MT"/>
                <a:cs typeface="Gill Sans MT"/>
              </a:rPr>
              <a:t>The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p-</a:t>
            </a:r>
            <a:r>
              <a:rPr dirty="0" sz="1450" spc="95">
                <a:latin typeface="Gill Sans MT"/>
                <a:cs typeface="Gill Sans MT"/>
              </a:rPr>
              <a:t>value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extremely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114">
                <a:latin typeface="Gill Sans MT"/>
                <a:cs typeface="Gill Sans MT"/>
              </a:rPr>
              <a:t>small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(very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close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to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-25">
                <a:latin typeface="Gill Sans MT"/>
                <a:cs typeface="Gill Sans MT"/>
              </a:rPr>
              <a:t>0). </a:t>
            </a:r>
            <a:r>
              <a:rPr dirty="0" sz="1450" spc="-140">
                <a:latin typeface="Gill Sans MT"/>
                <a:cs typeface="Gill Sans MT"/>
              </a:rPr>
              <a:t>We</a:t>
            </a:r>
            <a:r>
              <a:rPr dirty="0" sz="1450" spc="4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reject</a:t>
            </a:r>
            <a:r>
              <a:rPr dirty="0" sz="1450" spc="4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50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null</a:t>
            </a:r>
            <a:r>
              <a:rPr dirty="0" sz="1450" spc="4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hypothesis.</a:t>
            </a:r>
            <a:endParaRPr sz="1450">
              <a:latin typeface="Gill Sans MT"/>
              <a:cs typeface="Gill Sans MT"/>
            </a:endParaRPr>
          </a:p>
          <a:p>
            <a:pPr marL="393065" marR="5080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Gill Sans MT"/>
                <a:cs typeface="Gill Sans MT"/>
              </a:rPr>
              <a:t>The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data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provide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strong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evidence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significant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association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between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racialized </a:t>
            </a:r>
            <a:r>
              <a:rPr dirty="0" sz="1450" spc="114">
                <a:latin typeface="Gill Sans MT"/>
                <a:cs typeface="Gill Sans MT"/>
              </a:rPr>
              <a:t>name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group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callback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40">
                <a:latin typeface="Gill Sans MT"/>
                <a:cs typeface="Gill Sans MT"/>
              </a:rPr>
              <a:t>outcome.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60"/>
              <a:t>Cramer’s</a:t>
            </a:r>
            <a:r>
              <a:rPr dirty="0" spc="-155"/>
              <a:t> </a:t>
            </a:r>
            <a:r>
              <a:rPr dirty="0" sz="2500" spc="125" i="1">
                <a:latin typeface="Arial"/>
                <a:cs typeface="Arial"/>
              </a:rPr>
              <a:t>ϑ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800" y="795019"/>
            <a:ext cx="4812665" cy="6477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Gill Sans MT"/>
                <a:cs typeface="Gill Sans MT"/>
              </a:rPr>
              <a:t>The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chi-</a:t>
            </a:r>
            <a:r>
              <a:rPr dirty="0" sz="1450" spc="85">
                <a:latin typeface="Gill Sans MT"/>
                <a:cs typeface="Gill Sans MT"/>
              </a:rPr>
              <a:t>square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test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tells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us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whether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35">
                <a:latin typeface="Gill Sans MT"/>
                <a:cs typeface="Gill Sans MT"/>
              </a:rPr>
              <a:t>an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association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exists.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1450">
                <a:latin typeface="Gill Sans MT"/>
                <a:cs typeface="Gill Sans MT"/>
              </a:rPr>
              <a:t>Cramer’s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550" i="1">
                <a:latin typeface="Arial"/>
                <a:cs typeface="Arial"/>
              </a:rPr>
              <a:t>ϑ</a:t>
            </a:r>
            <a:r>
              <a:rPr dirty="0" sz="1550" spc="-5" i="1">
                <a:latin typeface="Arial"/>
                <a:cs typeface="Arial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provides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standardized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effect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size</a:t>
            </a:r>
            <a:r>
              <a:rPr dirty="0" sz="1450" spc="-10">
                <a:latin typeface="Gill Sans MT"/>
                <a:cs typeface="Gill Sans MT"/>
              </a:rPr>
              <a:t>: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1524" y="24764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71524" y="2695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2909887"/>
            <a:ext cx="66675" cy="666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39800" y="2366645"/>
            <a:ext cx="6059170" cy="6832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730"/>
              </a:lnSpc>
              <a:spcBef>
                <a:spcPts val="90"/>
              </a:spcBef>
            </a:pPr>
            <a:r>
              <a:rPr dirty="0" sz="1450" spc="-55">
                <a:latin typeface="Gill Sans MT"/>
                <a:cs typeface="Gill Sans MT"/>
              </a:rPr>
              <a:t>N: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total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sample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size</a:t>
            </a:r>
            <a:endParaRPr sz="1450">
              <a:latin typeface="Gill Sans MT"/>
              <a:cs typeface="Gill Sans MT"/>
            </a:endParaRPr>
          </a:p>
          <a:p>
            <a:pPr marL="393065" marR="5080" indent="-381000">
              <a:lnSpc>
                <a:spcPts val="1730"/>
              </a:lnSpc>
              <a:spcBef>
                <a:spcPts val="55"/>
              </a:spcBef>
            </a:pPr>
            <a:r>
              <a:rPr dirty="0" sz="1450">
                <a:latin typeface="Gill Sans MT"/>
                <a:cs typeface="Gill Sans MT"/>
              </a:rPr>
              <a:t>L: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smaller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number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rows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or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columns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contingency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table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-120" b="1">
                <a:latin typeface="Trebuchet MS"/>
                <a:cs typeface="Trebuchet MS"/>
              </a:rPr>
              <a:t>2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120" b="1">
                <a:latin typeface="Trebuchet MS"/>
                <a:cs typeface="Trebuchet MS"/>
              </a:rPr>
              <a:t>×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120" b="1">
                <a:latin typeface="Trebuchet MS"/>
                <a:cs typeface="Trebuchet MS"/>
              </a:rPr>
              <a:t>2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table,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L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-145">
                <a:latin typeface="Gill Sans MT"/>
                <a:cs typeface="Gill Sans MT"/>
              </a:rPr>
              <a:t>=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-25">
                <a:latin typeface="Gill Sans MT"/>
                <a:cs typeface="Gill Sans MT"/>
              </a:rPr>
              <a:t>2.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1524" y="4095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39800" y="3972471"/>
            <a:ext cx="484378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i="1">
                <a:latin typeface="Arial"/>
                <a:cs typeface="Arial"/>
              </a:rPr>
              <a:t>ϑ</a:t>
            </a:r>
            <a:r>
              <a:rPr dirty="0" sz="1550" spc="-35" i="1">
                <a:latin typeface="Arial"/>
                <a:cs typeface="Arial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ranges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from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0</a:t>
            </a:r>
            <a:r>
              <a:rPr dirty="0" sz="1450" spc="-45" b="1">
                <a:latin typeface="Trebuchet MS"/>
                <a:cs typeface="Trebuchet MS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(no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association)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to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-195" b="1">
                <a:latin typeface="Trebuchet MS"/>
                <a:cs typeface="Trebuchet MS"/>
              </a:rPr>
              <a:t>1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(perfect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association).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31951" y="1391284"/>
            <a:ext cx="560705" cy="6838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i="1">
                <a:latin typeface="Arial"/>
                <a:cs typeface="Arial"/>
              </a:rPr>
              <a:t>ϑ</a:t>
            </a:r>
            <a:r>
              <a:rPr dirty="0" sz="1550" spc="-45" i="1">
                <a:latin typeface="Arial"/>
                <a:cs typeface="Arial"/>
              </a:rPr>
              <a:t> </a:t>
            </a:r>
            <a:r>
              <a:rPr dirty="0" sz="1500" spc="-60">
                <a:latin typeface="Lucida Sans"/>
                <a:cs typeface="Lucida Sans"/>
              </a:rPr>
              <a:t>=</a:t>
            </a:r>
            <a:r>
              <a:rPr dirty="0" sz="1500" spc="-75">
                <a:latin typeface="Lucida Sans"/>
                <a:cs typeface="Lucida Sans"/>
              </a:rPr>
              <a:t> </a:t>
            </a:r>
            <a:r>
              <a:rPr dirty="0" baseline="-1937" sz="6450" spc="-1492">
                <a:latin typeface="Arial"/>
                <a:cs typeface="Arial"/>
              </a:rPr>
              <a:t>√</a:t>
            </a:r>
            <a:endParaRPr baseline="-1937" sz="64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181474" y="1638299"/>
            <a:ext cx="819150" cy="9525"/>
          </a:xfrm>
          <a:custGeom>
            <a:avLst/>
            <a:gdLst/>
            <a:ahLst/>
            <a:cxnLst/>
            <a:rect l="l" t="t" r="r" b="b"/>
            <a:pathLst>
              <a:path w="819150" h="9525">
                <a:moveTo>
                  <a:pt x="819149" y="9524"/>
                </a:moveTo>
                <a:lnTo>
                  <a:pt x="0" y="9524"/>
                </a:lnTo>
                <a:lnTo>
                  <a:pt x="0" y="0"/>
                </a:lnTo>
                <a:lnTo>
                  <a:pt x="819149" y="0"/>
                </a:lnTo>
                <a:lnTo>
                  <a:pt x="8191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459485" y="1572171"/>
            <a:ext cx="255904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4336" sz="2325" spc="-37" i="1">
                <a:latin typeface="Arial"/>
                <a:cs typeface="Arial"/>
              </a:rPr>
              <a:t>χ</a:t>
            </a:r>
            <a:r>
              <a:rPr dirty="0" sz="1050" spc="-25">
                <a:latin typeface="Lucida Sans"/>
                <a:cs typeface="Lucida Sans"/>
              </a:rPr>
              <a:t>2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06875" y="1886496"/>
            <a:ext cx="77025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105" i="1">
                <a:latin typeface="Arial"/>
                <a:cs typeface="Arial"/>
              </a:rPr>
              <a:t>N</a:t>
            </a:r>
            <a:r>
              <a:rPr dirty="0" sz="1500" spc="105">
                <a:latin typeface="Lucida Sans"/>
                <a:cs typeface="Lucida Sans"/>
              </a:rPr>
              <a:t>(</a:t>
            </a:r>
            <a:r>
              <a:rPr dirty="0" sz="1550" spc="105" i="1">
                <a:latin typeface="Arial"/>
                <a:cs typeface="Arial"/>
              </a:rPr>
              <a:t>L</a:t>
            </a:r>
            <a:r>
              <a:rPr dirty="0" sz="1550" spc="-114" i="1">
                <a:latin typeface="Arial"/>
                <a:cs typeface="Arial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−</a:t>
            </a:r>
            <a:r>
              <a:rPr dirty="0" sz="1500" spc="-150">
                <a:latin typeface="Lucida Sans"/>
                <a:cs typeface="Lucida Sans"/>
              </a:rPr>
              <a:t> </a:t>
            </a:r>
            <a:r>
              <a:rPr dirty="0" sz="1500" spc="-185">
                <a:latin typeface="Lucida Sans"/>
                <a:cs typeface="Lucida Sans"/>
              </a:rPr>
              <a:t>1)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200524" y="1904999"/>
            <a:ext cx="781050" cy="9525"/>
          </a:xfrm>
          <a:custGeom>
            <a:avLst/>
            <a:gdLst/>
            <a:ahLst/>
            <a:cxnLst/>
            <a:rect l="l" t="t" r="r" b="b"/>
            <a:pathLst>
              <a:path w="781050" h="9525">
                <a:moveTo>
                  <a:pt x="781049" y="9524"/>
                </a:moveTo>
                <a:lnTo>
                  <a:pt x="0" y="9524"/>
                </a:lnTo>
                <a:lnTo>
                  <a:pt x="0" y="0"/>
                </a:lnTo>
                <a:lnTo>
                  <a:pt x="781049" y="0"/>
                </a:lnTo>
                <a:lnTo>
                  <a:pt x="7810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216423" y="3353346"/>
            <a:ext cx="32702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i="1">
                <a:latin typeface="Arial"/>
                <a:cs typeface="Arial"/>
              </a:rPr>
              <a:t>ϑ</a:t>
            </a:r>
            <a:r>
              <a:rPr dirty="0" sz="1550" spc="-45" i="1">
                <a:latin typeface="Arial"/>
                <a:cs typeface="Arial"/>
              </a:rPr>
              <a:t> </a:t>
            </a:r>
            <a:r>
              <a:rPr dirty="0" sz="1500" spc="-50">
                <a:latin typeface="Lucida Sans"/>
                <a:cs typeface="Lucida Sans"/>
              </a:rPr>
              <a:t>=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68551" y="3020059"/>
            <a:ext cx="208279" cy="6838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300" spc="-994">
                <a:latin typeface="Arial"/>
                <a:cs typeface="Arial"/>
              </a:rPr>
              <a:t>√</a:t>
            </a:r>
            <a:endParaRPr sz="43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762374" y="3257549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1000124" y="9524"/>
                </a:moveTo>
                <a:lnTo>
                  <a:pt x="0" y="9524"/>
                </a:lnTo>
                <a:lnTo>
                  <a:pt x="0" y="0"/>
                </a:lnTo>
                <a:lnTo>
                  <a:pt x="1000124" y="0"/>
                </a:lnTo>
                <a:lnTo>
                  <a:pt x="100012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796829" y="3355659"/>
            <a:ext cx="63563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60">
                <a:latin typeface="Lucida Sans"/>
                <a:cs typeface="Lucida Sans"/>
              </a:rPr>
              <a:t>=</a:t>
            </a:r>
            <a:r>
              <a:rPr dirty="0" sz="1500" spc="-75">
                <a:latin typeface="Lucida Sans"/>
                <a:cs typeface="Lucida Sans"/>
              </a:rPr>
              <a:t> </a:t>
            </a:r>
            <a:r>
              <a:rPr dirty="0" sz="1500" spc="-150">
                <a:latin typeface="Lucida Sans"/>
                <a:cs typeface="Lucida Sans"/>
              </a:rPr>
              <a:t>0.061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768724" y="3231834"/>
            <a:ext cx="97790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38125" algn="l"/>
                <a:tab pos="964565" algn="l"/>
              </a:tabLst>
            </a:pPr>
            <a:r>
              <a:rPr dirty="0" u="sng" sz="145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	</a:t>
            </a:r>
            <a:r>
              <a:rPr dirty="0" u="sng" sz="1500" spc="-1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17.901</a:t>
            </a:r>
            <a:r>
              <a:rPr dirty="0" u="sng" sz="150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	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91346" y="3489009"/>
            <a:ext cx="94043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85">
                <a:latin typeface="Lucida Sans"/>
                <a:cs typeface="Lucida Sans"/>
              </a:rPr>
              <a:t>4890(2</a:t>
            </a:r>
            <a:r>
              <a:rPr dirty="0" sz="1500" spc="-145">
                <a:latin typeface="Lucida Sans"/>
                <a:cs typeface="Lucida Sans"/>
              </a:rPr>
              <a:t> </a:t>
            </a:r>
            <a:r>
              <a:rPr dirty="0" sz="1500" spc="-90">
                <a:latin typeface="Lucida Sans"/>
                <a:cs typeface="Lucida Sans"/>
              </a:rPr>
              <a:t>−</a:t>
            </a:r>
            <a:r>
              <a:rPr dirty="0" sz="1500" spc="-140">
                <a:latin typeface="Lucida Sans"/>
                <a:cs typeface="Lucida Sans"/>
              </a:rPr>
              <a:t> </a:t>
            </a:r>
            <a:r>
              <a:rPr dirty="0" sz="1500" spc="-200">
                <a:latin typeface="Lucida Sans"/>
                <a:cs typeface="Lucida Sans"/>
              </a:rPr>
              <a:t>1)</a:t>
            </a:r>
            <a:endParaRPr sz="15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20"/>
              <a:t>Relative</a:t>
            </a:r>
            <a:r>
              <a:rPr dirty="0" spc="-145"/>
              <a:t> </a:t>
            </a:r>
            <a:r>
              <a:rPr dirty="0" spc="-60"/>
              <a:t>Risk</a:t>
            </a:r>
            <a:r>
              <a:rPr dirty="0" spc="-150"/>
              <a:t> </a:t>
            </a:r>
            <a:r>
              <a:rPr dirty="0" spc="-80"/>
              <a:t>(Risk</a:t>
            </a:r>
            <a:r>
              <a:rPr dirty="0" spc="-145"/>
              <a:t> </a:t>
            </a:r>
            <a:r>
              <a:rPr dirty="0" spc="-95"/>
              <a:t>ratio)</a:t>
            </a:r>
          </a:p>
        </p:txBody>
      </p:sp>
      <p:sp>
        <p:nvSpPr>
          <p:cNvPr id="3" name="object 3"/>
          <p:cNvSpPr/>
          <p:nvPr/>
        </p:nvSpPr>
        <p:spPr>
          <a:xfrm>
            <a:off x="771524" y="1523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58800" y="795019"/>
            <a:ext cx="7271384" cy="86423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 spc="70">
                <a:latin typeface="Gill Sans MT"/>
                <a:cs typeface="Gill Sans MT"/>
              </a:rPr>
              <a:t>Relative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risk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>
                <a:latin typeface="Gill Sans MT"/>
                <a:cs typeface="Gill Sans MT"/>
              </a:rPr>
              <a:t> ratio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probability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135">
                <a:latin typeface="Gill Sans MT"/>
                <a:cs typeface="Gill Sans MT"/>
              </a:rPr>
              <a:t>an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event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one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group</a:t>
            </a:r>
            <a:r>
              <a:rPr dirty="0" sz="1450">
                <a:latin typeface="Gill Sans MT"/>
                <a:cs typeface="Gill Sans MT"/>
              </a:rPr>
              <a:t> to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probability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of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same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event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another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group.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For our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data:</a:t>
            </a:r>
            <a:endParaRPr sz="1450">
              <a:latin typeface="Gill Sans MT"/>
              <a:cs typeface="Gill Sans MT"/>
            </a:endParaRPr>
          </a:p>
          <a:p>
            <a:pPr marL="393065">
              <a:lnSpc>
                <a:spcPct val="100000"/>
              </a:lnSpc>
              <a:spcBef>
                <a:spcPts val="1350"/>
              </a:spcBef>
            </a:pPr>
            <a:r>
              <a:rPr dirty="0" sz="1450" spc="-45" b="1">
                <a:latin typeface="Trebuchet MS"/>
                <a:cs typeface="Trebuchet MS"/>
              </a:rPr>
              <a:t>White-</a:t>
            </a:r>
            <a:r>
              <a:rPr dirty="0" sz="1450" spc="-10" b="1">
                <a:latin typeface="Trebuchet MS"/>
                <a:cs typeface="Trebuchet MS"/>
              </a:rPr>
              <a:t>associated</a:t>
            </a:r>
            <a:r>
              <a:rPr dirty="0" sz="1450" spc="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names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1524" y="25145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1524" y="35051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39800" y="3395344"/>
            <a:ext cx="110299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35" b="1">
                <a:latin typeface="Trebuchet MS"/>
                <a:cs typeface="Trebuchet MS"/>
              </a:rPr>
              <a:t>Relative</a:t>
            </a:r>
            <a:r>
              <a:rPr dirty="0" sz="1450" spc="-5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Risk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8800" y="4414519"/>
            <a:ext cx="6849109" cy="8642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 b="1">
                <a:latin typeface="Trebuchet MS"/>
                <a:cs typeface="Trebuchet MS"/>
              </a:rPr>
              <a:t>Interpretation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1475"/>
              </a:spcBef>
            </a:pPr>
            <a:r>
              <a:rPr dirty="0" sz="1450" spc="75">
                <a:latin typeface="Gill Sans MT"/>
                <a:cs typeface="Gill Sans MT"/>
              </a:rPr>
              <a:t>Applicants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with</a:t>
            </a:r>
            <a:r>
              <a:rPr dirty="0" sz="1450">
                <a:latin typeface="Gill Sans MT"/>
                <a:cs typeface="Gill Sans MT"/>
              </a:rPr>
              <a:t> White-</a:t>
            </a:r>
            <a:r>
              <a:rPr dirty="0" sz="1450" spc="85">
                <a:latin typeface="Gill Sans MT"/>
                <a:cs typeface="Gill Sans MT"/>
              </a:rPr>
              <a:t>associated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names</a:t>
            </a:r>
            <a:r>
              <a:rPr dirty="0" sz="1450">
                <a:latin typeface="Gill Sans MT"/>
                <a:cs typeface="Gill Sans MT"/>
              </a:rPr>
              <a:t> were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about</a:t>
            </a:r>
            <a:r>
              <a:rPr dirty="0" sz="1450">
                <a:latin typeface="Gill Sans MT"/>
                <a:cs typeface="Gill Sans MT"/>
              </a:rPr>
              <a:t> 1.5 </a:t>
            </a:r>
            <a:r>
              <a:rPr dirty="0" sz="1450" spc="80">
                <a:latin typeface="Gill Sans MT"/>
                <a:cs typeface="Gill Sans MT"/>
              </a:rPr>
              <a:t>times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20">
                <a:latin typeface="Gill Sans MT"/>
                <a:cs typeface="Gill Sans MT"/>
              </a:rPr>
              <a:t>as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likely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to </a:t>
            </a:r>
            <a:r>
              <a:rPr dirty="0" sz="1450" spc="45">
                <a:latin typeface="Gill Sans MT"/>
                <a:cs typeface="Gill Sans MT"/>
              </a:rPr>
              <a:t>receive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a </a:t>
            </a:r>
            <a:r>
              <a:rPr dirty="0" sz="1450" spc="90">
                <a:latin typeface="Gill Sans MT"/>
                <a:cs typeface="Gill Sans MT"/>
              </a:rPr>
              <a:t>callback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20">
                <a:latin typeface="Gill Sans MT"/>
                <a:cs typeface="Gill Sans MT"/>
              </a:rPr>
              <a:t>as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applicants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with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African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American–</a:t>
            </a:r>
            <a:r>
              <a:rPr dirty="0" sz="1450" spc="85">
                <a:latin typeface="Gill Sans MT"/>
                <a:cs typeface="Gill Sans MT"/>
              </a:rPr>
              <a:t>associated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names.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05709" y="1774510"/>
            <a:ext cx="29972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220">
                <a:latin typeface="Lucida Sans"/>
                <a:cs typeface="Lucida Sans"/>
              </a:rPr>
              <a:t>246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400" y="1898335"/>
            <a:ext cx="4563110" cy="7518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675255">
              <a:lnSpc>
                <a:spcPct val="100000"/>
              </a:lnSpc>
              <a:spcBef>
                <a:spcPts val="125"/>
              </a:spcBef>
            </a:pPr>
            <a:r>
              <a:rPr dirty="0" sz="1500" spc="-35">
                <a:latin typeface="Lucida Sans"/>
                <a:cs typeface="Lucida Sans"/>
              </a:rPr>
              <a:t>Risk</a:t>
            </a:r>
            <a:r>
              <a:rPr dirty="0" baseline="-12626" sz="1650" spc="-52" i="1">
                <a:latin typeface="Arial"/>
                <a:cs typeface="Arial"/>
              </a:rPr>
              <a:t>W</a:t>
            </a:r>
            <a:r>
              <a:rPr dirty="0" baseline="-12626" sz="1650" spc="157" i="1">
                <a:latin typeface="Arial"/>
                <a:cs typeface="Arial"/>
              </a:rPr>
              <a:t> </a:t>
            </a:r>
            <a:r>
              <a:rPr dirty="0" sz="1500">
                <a:latin typeface="Lucida Sans"/>
                <a:cs typeface="Lucida Sans"/>
              </a:rPr>
              <a:t>=</a:t>
            </a:r>
            <a:r>
              <a:rPr dirty="0" sz="1500" spc="125">
                <a:latin typeface="Lucida Sans"/>
                <a:cs typeface="Lucida Sans"/>
              </a:rPr>
              <a:t> </a:t>
            </a:r>
            <a:r>
              <a:rPr dirty="0" baseline="-37037" sz="2250" spc="-277">
                <a:latin typeface="Lucida Sans"/>
                <a:cs typeface="Lucida Sans"/>
              </a:rPr>
              <a:t>2445</a:t>
            </a:r>
            <a:r>
              <a:rPr dirty="0" baseline="-37037" sz="2250" spc="179">
                <a:latin typeface="Lucida Sans"/>
                <a:cs typeface="Lucida Sans"/>
              </a:rPr>
              <a:t> </a:t>
            </a:r>
            <a:r>
              <a:rPr dirty="0" sz="1500" spc="-60">
                <a:latin typeface="Lucida Sans"/>
                <a:cs typeface="Lucida Sans"/>
              </a:rPr>
              <a:t>=</a:t>
            </a:r>
            <a:r>
              <a:rPr dirty="0" sz="1500" spc="-75">
                <a:latin typeface="Lucida Sans"/>
                <a:cs typeface="Lucida Sans"/>
              </a:rPr>
              <a:t> </a:t>
            </a:r>
            <a:r>
              <a:rPr dirty="0" sz="1500" spc="-60">
                <a:latin typeface="Lucida Sans"/>
                <a:cs typeface="Lucida Sans"/>
              </a:rPr>
              <a:t>0.101</a:t>
            </a: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450">
              <a:latin typeface="Lucida Sans"/>
              <a:cs typeface="Lucida Sans"/>
            </a:endParaRPr>
          </a:p>
          <a:p>
            <a:pPr marL="38100">
              <a:lnSpc>
                <a:spcPct val="100000"/>
              </a:lnSpc>
            </a:pPr>
            <a:r>
              <a:rPr dirty="0" sz="1450" spc="-45" b="1">
                <a:latin typeface="Trebuchet MS"/>
                <a:cs typeface="Trebuchet MS"/>
              </a:rPr>
              <a:t>African</a:t>
            </a:r>
            <a:r>
              <a:rPr dirty="0" sz="1450" spc="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American–</a:t>
            </a:r>
            <a:r>
              <a:rPr dirty="0" sz="1450" spc="-10" b="1">
                <a:latin typeface="Trebuchet MS"/>
                <a:cs typeface="Trebuchet MS"/>
              </a:rPr>
              <a:t>associated</a:t>
            </a:r>
            <a:r>
              <a:rPr dirty="0" sz="1450" spc="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names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52924" y="2057399"/>
            <a:ext cx="400050" cy="9525"/>
          </a:xfrm>
          <a:custGeom>
            <a:avLst/>
            <a:gdLst/>
            <a:ahLst/>
            <a:cxnLst/>
            <a:rect l="l" t="t" r="r" b="b"/>
            <a:pathLst>
              <a:path w="400050" h="9525">
                <a:moveTo>
                  <a:pt x="400049" y="9524"/>
                </a:moveTo>
                <a:lnTo>
                  <a:pt x="0" y="9524"/>
                </a:lnTo>
                <a:lnTo>
                  <a:pt x="0" y="0"/>
                </a:lnTo>
                <a:lnTo>
                  <a:pt x="400049" y="0"/>
                </a:lnTo>
                <a:lnTo>
                  <a:pt x="4000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435028" y="2765110"/>
            <a:ext cx="29972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220">
                <a:latin typeface="Lucida Sans"/>
                <a:cs typeface="Lucida Sans"/>
              </a:rPr>
              <a:t>164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22761" y="2888935"/>
            <a:ext cx="198437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500" spc="-10">
                <a:latin typeface="Lucida Sans"/>
                <a:cs typeface="Lucida Sans"/>
              </a:rPr>
              <a:t>Risk</a:t>
            </a:r>
            <a:r>
              <a:rPr dirty="0" baseline="-12626" sz="1650" spc="-15" i="1">
                <a:latin typeface="Arial"/>
                <a:cs typeface="Arial"/>
              </a:rPr>
              <a:t>AA</a:t>
            </a:r>
            <a:r>
              <a:rPr dirty="0" baseline="-12626" sz="1650" spc="37" i="1">
                <a:latin typeface="Arial"/>
                <a:cs typeface="Arial"/>
              </a:rPr>
              <a:t> </a:t>
            </a:r>
            <a:r>
              <a:rPr dirty="0" sz="1500">
                <a:latin typeface="Lucida Sans"/>
                <a:cs typeface="Lucida Sans"/>
              </a:rPr>
              <a:t>=</a:t>
            </a:r>
            <a:r>
              <a:rPr dirty="0" sz="1500" spc="130">
                <a:latin typeface="Lucida Sans"/>
                <a:cs typeface="Lucida Sans"/>
              </a:rPr>
              <a:t> </a:t>
            </a:r>
            <a:r>
              <a:rPr dirty="0" baseline="-37037" sz="2250" spc="-277">
                <a:latin typeface="Lucida Sans"/>
                <a:cs typeface="Lucida Sans"/>
              </a:rPr>
              <a:t>2445</a:t>
            </a:r>
            <a:r>
              <a:rPr dirty="0" baseline="-37037" sz="2250" spc="195">
                <a:latin typeface="Lucida Sans"/>
                <a:cs typeface="Lucida Sans"/>
              </a:rPr>
              <a:t> </a:t>
            </a:r>
            <a:r>
              <a:rPr dirty="0" sz="1500" spc="-60">
                <a:latin typeface="Lucida Sans"/>
                <a:cs typeface="Lucida Sans"/>
              </a:rPr>
              <a:t>=</a:t>
            </a:r>
            <a:r>
              <a:rPr dirty="0" sz="1500" spc="-75">
                <a:latin typeface="Lucida Sans"/>
                <a:cs typeface="Lucida Sans"/>
              </a:rPr>
              <a:t> </a:t>
            </a:r>
            <a:r>
              <a:rPr dirty="0" sz="1500" spc="-65">
                <a:latin typeface="Lucida Sans"/>
                <a:cs typeface="Lucida Sans"/>
              </a:rPr>
              <a:t>0.067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81499" y="3047999"/>
            <a:ext cx="400050" cy="9525"/>
          </a:xfrm>
          <a:custGeom>
            <a:avLst/>
            <a:gdLst/>
            <a:ahLst/>
            <a:cxnLst/>
            <a:rect l="l" t="t" r="r" b="b"/>
            <a:pathLst>
              <a:path w="400050" h="9525">
                <a:moveTo>
                  <a:pt x="400049" y="9524"/>
                </a:moveTo>
                <a:lnTo>
                  <a:pt x="0" y="9524"/>
                </a:lnTo>
                <a:lnTo>
                  <a:pt x="0" y="0"/>
                </a:lnTo>
                <a:lnTo>
                  <a:pt x="400049" y="0"/>
                </a:lnTo>
                <a:lnTo>
                  <a:pt x="4000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078459" y="3877221"/>
            <a:ext cx="49657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i="1">
                <a:latin typeface="Arial"/>
                <a:cs typeface="Arial"/>
              </a:rPr>
              <a:t>RR</a:t>
            </a:r>
            <a:r>
              <a:rPr dirty="0" sz="1550" spc="-105" i="1">
                <a:latin typeface="Arial"/>
                <a:cs typeface="Arial"/>
              </a:rPr>
              <a:t> </a:t>
            </a:r>
            <a:r>
              <a:rPr dirty="0" sz="1500" spc="-50">
                <a:latin typeface="Lucida Sans"/>
                <a:cs typeface="Lucida Sans"/>
              </a:rPr>
              <a:t>=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85605" y="3879534"/>
            <a:ext cx="128460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53110" algn="l"/>
              </a:tabLst>
            </a:pPr>
            <a:r>
              <a:rPr dirty="0" sz="1500" spc="-50">
                <a:latin typeface="Lucida Sans"/>
                <a:cs typeface="Lucida Sans"/>
              </a:rPr>
              <a:t>=</a:t>
            </a:r>
            <a:r>
              <a:rPr dirty="0" sz="1500">
                <a:latin typeface="Lucida Sans"/>
                <a:cs typeface="Lucida Sans"/>
              </a:rPr>
              <a:t>	</a:t>
            </a:r>
            <a:r>
              <a:rPr dirty="0" sz="1500" spc="-60">
                <a:latin typeface="Lucida Sans"/>
                <a:cs typeface="Lucida Sans"/>
              </a:rPr>
              <a:t>=</a:t>
            </a:r>
            <a:r>
              <a:rPr dirty="0" sz="1500" spc="-75">
                <a:latin typeface="Lucida Sans"/>
                <a:cs typeface="Lucida Sans"/>
              </a:rPr>
              <a:t> </a:t>
            </a:r>
            <a:r>
              <a:rPr dirty="0" sz="1500" spc="-130">
                <a:latin typeface="Lucida Sans"/>
                <a:cs typeface="Lucida Sans"/>
              </a:rPr>
              <a:t>1.51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42717" y="3755709"/>
            <a:ext cx="55245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500" spc="-20">
                <a:latin typeface="Lucida Sans"/>
                <a:cs typeface="Lucida Sans"/>
              </a:rPr>
              <a:t>Risk</a:t>
            </a:r>
            <a:r>
              <a:rPr dirty="0" baseline="-12626" sz="1650" spc="-30" i="1">
                <a:latin typeface="Arial"/>
                <a:cs typeface="Arial"/>
              </a:rPr>
              <a:t>W</a:t>
            </a:r>
            <a:endParaRPr baseline="-12626" sz="16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638549" y="4038599"/>
            <a:ext cx="590550" cy="9525"/>
          </a:xfrm>
          <a:custGeom>
            <a:avLst/>
            <a:gdLst/>
            <a:ahLst/>
            <a:cxnLst/>
            <a:rect l="l" t="t" r="r" b="b"/>
            <a:pathLst>
              <a:path w="590550" h="9525">
                <a:moveTo>
                  <a:pt x="590549" y="9524"/>
                </a:moveTo>
                <a:lnTo>
                  <a:pt x="0" y="9524"/>
                </a:lnTo>
                <a:lnTo>
                  <a:pt x="0" y="0"/>
                </a:lnTo>
                <a:lnTo>
                  <a:pt x="590549" y="0"/>
                </a:lnTo>
                <a:lnTo>
                  <a:pt x="5905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518818" y="3765234"/>
            <a:ext cx="44259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95">
                <a:latin typeface="Lucida Sans"/>
                <a:cs typeface="Lucida Sans"/>
              </a:rPr>
              <a:t>0.101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00698" y="4003359"/>
            <a:ext cx="138557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930275" algn="l"/>
              </a:tabLst>
            </a:pPr>
            <a:r>
              <a:rPr dirty="0" sz="1500" spc="-10">
                <a:latin typeface="Lucida Sans"/>
                <a:cs typeface="Lucida Sans"/>
              </a:rPr>
              <a:t>Risk</a:t>
            </a:r>
            <a:r>
              <a:rPr dirty="0" baseline="-12626" sz="1650" spc="-15" i="1">
                <a:latin typeface="Arial"/>
                <a:cs typeface="Arial"/>
              </a:rPr>
              <a:t>AA</a:t>
            </a:r>
            <a:r>
              <a:rPr dirty="0" baseline="-12626" sz="1650" i="1">
                <a:latin typeface="Arial"/>
                <a:cs typeface="Arial"/>
              </a:rPr>
              <a:t>	</a:t>
            </a:r>
            <a:r>
              <a:rPr dirty="0" sz="1500" spc="-155">
                <a:latin typeface="Lucida Sans"/>
                <a:cs typeface="Lucida Sans"/>
              </a:rPr>
              <a:t>0.067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14849" y="4038599"/>
            <a:ext cx="447675" cy="9525"/>
          </a:xfrm>
          <a:custGeom>
            <a:avLst/>
            <a:gdLst/>
            <a:ahLst/>
            <a:cxnLst/>
            <a:rect l="l" t="t" r="r" b="b"/>
            <a:pathLst>
              <a:path w="447675" h="9525">
                <a:moveTo>
                  <a:pt x="447674" y="9524"/>
                </a:moveTo>
                <a:lnTo>
                  <a:pt x="0" y="9524"/>
                </a:lnTo>
                <a:lnTo>
                  <a:pt x="0" y="0"/>
                </a:lnTo>
                <a:lnTo>
                  <a:pt x="447674" y="0"/>
                </a:lnTo>
                <a:lnTo>
                  <a:pt x="4476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8800" y="206375"/>
            <a:ext cx="734695" cy="4254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5"/>
              <a:t>Odds</a:t>
            </a:r>
          </a:p>
        </p:txBody>
      </p:sp>
      <p:sp>
        <p:nvSpPr>
          <p:cNvPr id="3" name="object 3"/>
          <p:cNvSpPr/>
          <p:nvPr/>
        </p:nvSpPr>
        <p:spPr>
          <a:xfrm>
            <a:off x="771524" y="17144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58800" y="795019"/>
            <a:ext cx="7062470" cy="10547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Gill Sans MT"/>
                <a:cs typeface="Gill Sans MT"/>
              </a:rPr>
              <a:t>Odds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compare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probability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event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to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probability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not</a:t>
            </a:r>
            <a:r>
              <a:rPr dirty="0" sz="1450" spc="-35" b="1">
                <a:latin typeface="Trebuchet MS"/>
                <a:cs typeface="Trebuchet MS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having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event: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our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example:</a:t>
            </a:r>
            <a:endParaRPr sz="1450">
              <a:latin typeface="Gill Sans MT"/>
              <a:cs typeface="Gill Sans MT"/>
            </a:endParaRPr>
          </a:p>
          <a:p>
            <a:pPr marL="393065">
              <a:lnSpc>
                <a:spcPct val="100000"/>
              </a:lnSpc>
              <a:spcBef>
                <a:spcPts val="1485"/>
              </a:spcBef>
            </a:pPr>
            <a:r>
              <a:rPr dirty="0" sz="1450" spc="-45" b="1">
                <a:latin typeface="Trebuchet MS"/>
                <a:cs typeface="Trebuchet MS"/>
              </a:rPr>
              <a:t>White-</a:t>
            </a:r>
            <a:r>
              <a:rPr dirty="0" sz="1450" spc="-10" b="1">
                <a:latin typeface="Trebuchet MS"/>
                <a:cs typeface="Trebuchet MS"/>
              </a:rPr>
              <a:t>associated</a:t>
            </a:r>
            <a:r>
              <a:rPr dirty="0" sz="1450" spc="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names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1524" y="27717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862808" y="2107885"/>
            <a:ext cx="3291204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1810385" algn="l"/>
                <a:tab pos="2642870" algn="l"/>
              </a:tabLst>
            </a:pPr>
            <a:r>
              <a:rPr dirty="0" sz="1500" spc="-95">
                <a:latin typeface="Lucida Sans"/>
                <a:cs typeface="Lucida Sans"/>
              </a:rPr>
              <a:t>Odds</a:t>
            </a:r>
            <a:r>
              <a:rPr dirty="0" baseline="-7575" sz="1650" spc="-142" i="1">
                <a:latin typeface="Arial"/>
                <a:cs typeface="Arial"/>
              </a:rPr>
              <a:t>W</a:t>
            </a:r>
            <a:r>
              <a:rPr dirty="0" baseline="-7575" sz="1650" spc="142" i="1">
                <a:latin typeface="Arial"/>
                <a:cs typeface="Arial"/>
              </a:rPr>
              <a:t> </a:t>
            </a:r>
            <a:r>
              <a:rPr dirty="0" sz="1500" spc="-50">
                <a:latin typeface="Lucida Sans"/>
                <a:cs typeface="Lucida Sans"/>
              </a:rPr>
              <a:t>=</a:t>
            </a:r>
            <a:r>
              <a:rPr dirty="0" sz="1500">
                <a:latin typeface="Lucida Sans"/>
                <a:cs typeface="Lucida Sans"/>
              </a:rPr>
              <a:t>	</a:t>
            </a:r>
            <a:r>
              <a:rPr dirty="0" sz="1500" spc="-50">
                <a:latin typeface="Lucida Sans"/>
                <a:cs typeface="Lucida Sans"/>
              </a:rPr>
              <a:t>=</a:t>
            </a:r>
            <a:r>
              <a:rPr dirty="0" sz="1500">
                <a:latin typeface="Lucida Sans"/>
                <a:cs typeface="Lucida Sans"/>
              </a:rPr>
              <a:t>	</a:t>
            </a:r>
            <a:r>
              <a:rPr dirty="0" sz="1500" spc="-60">
                <a:latin typeface="Lucida Sans"/>
                <a:cs typeface="Lucida Sans"/>
              </a:rPr>
              <a:t>=</a:t>
            </a:r>
            <a:r>
              <a:rPr dirty="0" sz="1500" spc="-75">
                <a:latin typeface="Lucida Sans"/>
                <a:cs typeface="Lucida Sans"/>
              </a:rPr>
              <a:t> </a:t>
            </a:r>
            <a:r>
              <a:rPr dirty="0" sz="1500" spc="-110">
                <a:latin typeface="Lucida Sans"/>
                <a:cs typeface="Lucida Sans"/>
              </a:rPr>
              <a:t>0.112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47144" y="2241235"/>
            <a:ext cx="848994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210">
                <a:latin typeface="Lucida Sans"/>
                <a:cs typeface="Lucida Sans"/>
              </a:rPr>
              <a:t>2199/2445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43324" y="2257424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857249" y="9524"/>
                </a:moveTo>
                <a:lnTo>
                  <a:pt x="0" y="9524"/>
                </a:lnTo>
                <a:lnTo>
                  <a:pt x="0" y="0"/>
                </a:lnTo>
                <a:lnTo>
                  <a:pt x="857249" y="0"/>
                </a:lnTo>
                <a:lnTo>
                  <a:pt x="8572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792835" y="1984060"/>
            <a:ext cx="163512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13790" algn="l"/>
              </a:tabLst>
            </a:pPr>
            <a:r>
              <a:rPr dirty="0" baseline="1851" sz="2250" spc="-15">
                <a:latin typeface="Lucida Sans"/>
                <a:cs typeface="Lucida Sans"/>
              </a:rPr>
              <a:t>246/2445</a:t>
            </a:r>
            <a:r>
              <a:rPr dirty="0" baseline="1851" sz="2250">
                <a:latin typeface="Lucida Sans"/>
                <a:cs typeface="Lucida Sans"/>
              </a:rPr>
              <a:t>	</a:t>
            </a:r>
            <a:r>
              <a:rPr dirty="0" sz="1500" spc="-195">
                <a:latin typeface="Lucida Sans"/>
                <a:cs typeface="Lucida Sans"/>
              </a:rPr>
              <a:t>0.1006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94312" y="2231710"/>
            <a:ext cx="53403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95">
                <a:latin typeface="Lucida Sans"/>
                <a:cs typeface="Lucida Sans"/>
              </a:rPr>
              <a:t>0.8994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86324" y="2257424"/>
            <a:ext cx="542925" cy="9525"/>
          </a:xfrm>
          <a:custGeom>
            <a:avLst/>
            <a:gdLst/>
            <a:ahLst/>
            <a:cxnLst/>
            <a:rect l="l" t="t" r="r" b="b"/>
            <a:pathLst>
              <a:path w="542925" h="9525">
                <a:moveTo>
                  <a:pt x="542924" y="9524"/>
                </a:moveTo>
                <a:lnTo>
                  <a:pt x="0" y="9524"/>
                </a:lnTo>
                <a:lnTo>
                  <a:pt x="0" y="0"/>
                </a:lnTo>
                <a:lnTo>
                  <a:pt x="542924" y="0"/>
                </a:lnTo>
                <a:lnTo>
                  <a:pt x="54292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71899" y="3324224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857249" y="9524"/>
                </a:moveTo>
                <a:lnTo>
                  <a:pt x="0" y="9524"/>
                </a:lnTo>
                <a:lnTo>
                  <a:pt x="0" y="0"/>
                </a:lnTo>
                <a:lnTo>
                  <a:pt x="857249" y="0"/>
                </a:lnTo>
                <a:lnTo>
                  <a:pt x="8572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914899" y="3324224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552449" y="9524"/>
                </a:moveTo>
                <a:lnTo>
                  <a:pt x="0" y="9524"/>
                </a:lnTo>
                <a:lnTo>
                  <a:pt x="0" y="0"/>
                </a:lnTo>
                <a:lnTo>
                  <a:pt x="552449" y="0"/>
                </a:lnTo>
                <a:lnTo>
                  <a:pt x="5524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418465">
              <a:lnSpc>
                <a:spcPct val="100000"/>
              </a:lnSpc>
              <a:spcBef>
                <a:spcPts val="90"/>
              </a:spcBef>
            </a:pPr>
            <a:r>
              <a:rPr dirty="0" spc="-45"/>
              <a:t>African</a:t>
            </a:r>
            <a:r>
              <a:rPr dirty="0" spc="5"/>
              <a:t> </a:t>
            </a:r>
            <a:r>
              <a:rPr dirty="0" spc="-25"/>
              <a:t>American–</a:t>
            </a:r>
            <a:r>
              <a:rPr dirty="0" spc="-10"/>
              <a:t>associated</a:t>
            </a:r>
            <a:r>
              <a:rPr dirty="0" spc="5"/>
              <a:t> </a:t>
            </a:r>
            <a:r>
              <a:rPr dirty="0" spc="-20"/>
              <a:t>names</a:t>
            </a:r>
          </a:p>
          <a:p>
            <a:pPr marL="3301365">
              <a:lnSpc>
                <a:spcPts val="1390"/>
              </a:lnSpc>
              <a:spcBef>
                <a:spcPts val="1285"/>
              </a:spcBef>
              <a:tabLst>
                <a:tab pos="4402455" algn="l"/>
              </a:tabLst>
            </a:pPr>
            <a:r>
              <a:rPr dirty="0" baseline="1851" sz="2250" spc="-15" b="0">
                <a:latin typeface="Lucida Sans"/>
                <a:cs typeface="Lucida Sans"/>
              </a:rPr>
              <a:t>164/2445</a:t>
            </a:r>
            <a:r>
              <a:rPr dirty="0" baseline="1851" sz="2250" b="0">
                <a:latin typeface="Lucida Sans"/>
                <a:cs typeface="Lucida Sans"/>
              </a:rPr>
              <a:t>	</a:t>
            </a:r>
            <a:r>
              <a:rPr dirty="0" sz="1500" spc="-50" b="0">
                <a:latin typeface="Lucida Sans"/>
                <a:cs typeface="Lucida Sans"/>
              </a:rPr>
              <a:t>0.0671</a:t>
            </a:r>
            <a:endParaRPr sz="1500">
              <a:latin typeface="Lucida Sans"/>
              <a:cs typeface="Lucida Sans"/>
            </a:endParaRPr>
          </a:p>
          <a:p>
            <a:pPr marL="3255645" marR="1744345" indent="-904875">
              <a:lnSpc>
                <a:spcPct val="58299"/>
              </a:lnSpc>
              <a:spcBef>
                <a:spcPts val="335"/>
              </a:spcBef>
              <a:tabLst>
                <a:tab pos="4169410" algn="l"/>
                <a:tab pos="4402455" algn="l"/>
                <a:tab pos="5001895" algn="l"/>
              </a:tabLst>
            </a:pPr>
            <a:r>
              <a:rPr dirty="0" sz="1500" spc="-60" b="0">
                <a:latin typeface="Lucida Sans"/>
                <a:cs typeface="Lucida Sans"/>
              </a:rPr>
              <a:t>Odds</a:t>
            </a:r>
            <a:r>
              <a:rPr dirty="0" baseline="-12626" sz="1650" spc="-89" b="0" i="1">
                <a:latin typeface="Arial"/>
                <a:cs typeface="Arial"/>
              </a:rPr>
              <a:t>AA</a:t>
            </a:r>
            <a:r>
              <a:rPr dirty="0" baseline="-12626" sz="1650" spc="44" b="0" i="1">
                <a:latin typeface="Arial"/>
                <a:cs typeface="Arial"/>
              </a:rPr>
              <a:t> </a:t>
            </a:r>
            <a:r>
              <a:rPr dirty="0" sz="1500" spc="-50" b="0">
                <a:latin typeface="Lucida Sans"/>
                <a:cs typeface="Lucida Sans"/>
              </a:rPr>
              <a:t>=</a:t>
            </a:r>
            <a:r>
              <a:rPr dirty="0" sz="1500" b="0">
                <a:latin typeface="Lucida Sans"/>
                <a:cs typeface="Lucida Sans"/>
              </a:rPr>
              <a:t>		</a:t>
            </a:r>
            <a:r>
              <a:rPr dirty="0" sz="1500" spc="-50" b="0">
                <a:latin typeface="Lucida Sans"/>
                <a:cs typeface="Lucida Sans"/>
              </a:rPr>
              <a:t>=</a:t>
            </a:r>
            <a:r>
              <a:rPr dirty="0" sz="1500" b="0">
                <a:latin typeface="Lucida Sans"/>
                <a:cs typeface="Lucida Sans"/>
              </a:rPr>
              <a:t>		</a:t>
            </a:r>
            <a:r>
              <a:rPr dirty="0" sz="1500" spc="-60" b="0">
                <a:latin typeface="Lucida Sans"/>
                <a:cs typeface="Lucida Sans"/>
              </a:rPr>
              <a:t>=</a:t>
            </a:r>
            <a:r>
              <a:rPr dirty="0" sz="1500" spc="-75" b="0">
                <a:latin typeface="Lucida Sans"/>
                <a:cs typeface="Lucida Sans"/>
              </a:rPr>
              <a:t> </a:t>
            </a:r>
            <a:r>
              <a:rPr dirty="0" sz="1500" spc="-170" b="0">
                <a:latin typeface="Lucida Sans"/>
                <a:cs typeface="Lucida Sans"/>
              </a:rPr>
              <a:t>0.072 </a:t>
            </a:r>
            <a:r>
              <a:rPr dirty="0" sz="1500" spc="-10" b="0">
                <a:latin typeface="Lucida Sans"/>
                <a:cs typeface="Lucida Sans"/>
              </a:rPr>
              <a:t>2281/2445</a:t>
            </a:r>
            <a:r>
              <a:rPr dirty="0" sz="1500" b="0">
                <a:latin typeface="Lucida Sans"/>
                <a:cs typeface="Lucida Sans"/>
              </a:rPr>
              <a:t>	</a:t>
            </a:r>
            <a:r>
              <a:rPr dirty="0" baseline="1851" sz="2250" spc="-75" b="0">
                <a:latin typeface="Lucida Sans"/>
                <a:cs typeface="Lucida Sans"/>
              </a:rPr>
              <a:t>0.9329</a:t>
            </a:r>
            <a:endParaRPr baseline="1851" sz="2250">
              <a:latin typeface="Lucida Sans"/>
              <a:cs typeface="Lucida Sans"/>
            </a:endParaRPr>
          </a:p>
          <a:p>
            <a:pPr marL="418465">
              <a:lnSpc>
                <a:spcPct val="100000"/>
              </a:lnSpc>
              <a:spcBef>
                <a:spcPts val="1450"/>
              </a:spcBef>
            </a:pPr>
            <a:r>
              <a:rPr dirty="0" sz="2600" spc="-35" b="0">
                <a:solidFill>
                  <a:srgbClr val="46484D"/>
                </a:solidFill>
                <a:latin typeface="Trebuchet MS"/>
                <a:cs typeface="Trebuchet MS"/>
              </a:rPr>
              <a:t>Odds</a:t>
            </a:r>
            <a:r>
              <a:rPr dirty="0" sz="2600" spc="-160" b="0">
                <a:solidFill>
                  <a:srgbClr val="46484D"/>
                </a:solidFill>
                <a:latin typeface="Trebuchet MS"/>
                <a:cs typeface="Trebuchet MS"/>
              </a:rPr>
              <a:t> </a:t>
            </a:r>
            <a:r>
              <a:rPr dirty="0" sz="2600" spc="-100" b="0">
                <a:solidFill>
                  <a:srgbClr val="46484D"/>
                </a:solidFill>
                <a:latin typeface="Trebuchet MS"/>
                <a:cs typeface="Trebuchet MS"/>
              </a:rPr>
              <a:t>Ratio</a:t>
            </a:r>
            <a:r>
              <a:rPr dirty="0" sz="2600" spc="-155" b="0">
                <a:solidFill>
                  <a:srgbClr val="46484D"/>
                </a:solidFill>
                <a:latin typeface="Trebuchet MS"/>
                <a:cs typeface="Trebuchet MS"/>
              </a:rPr>
              <a:t> </a:t>
            </a:r>
            <a:r>
              <a:rPr dirty="0" sz="2600" spc="-20" b="0">
                <a:solidFill>
                  <a:srgbClr val="46484D"/>
                </a:solidFill>
                <a:latin typeface="Trebuchet MS"/>
                <a:cs typeface="Trebuchet MS"/>
              </a:rPr>
              <a:t>(OR)</a:t>
            </a:r>
            <a:endParaRPr sz="2600">
              <a:latin typeface="Trebuchet MS"/>
              <a:cs typeface="Trebuchet MS"/>
            </a:endParaRPr>
          </a:p>
          <a:p>
            <a:pPr algn="ctr" marL="149860">
              <a:lnSpc>
                <a:spcPts val="1325"/>
              </a:lnSpc>
              <a:spcBef>
                <a:spcPts val="1280"/>
              </a:spcBef>
              <a:tabLst>
                <a:tab pos="1113155" algn="l"/>
              </a:tabLst>
            </a:pPr>
            <a:r>
              <a:rPr dirty="0" u="sng" b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r>
              <a:rPr dirty="0" u="sng" sz="1500" b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Odds</a:t>
            </a:r>
            <a:r>
              <a:rPr dirty="0" u="sng" baseline="-12626" sz="1650" b="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</a:t>
            </a:r>
            <a:r>
              <a:rPr dirty="0" u="sng" baseline="-12626" sz="1650" spc="600" b="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none" baseline="-12626" sz="1650" b="0" i="1">
                <a:latin typeface="Arial"/>
                <a:cs typeface="Arial"/>
              </a:rPr>
              <a:t>	</a:t>
            </a:r>
            <a:r>
              <a:rPr dirty="0" u="none" sz="1500" spc="-20" b="0">
                <a:latin typeface="Lucida Sans"/>
                <a:cs typeface="Lucida Sans"/>
              </a:rPr>
              <a:t>0.112</a:t>
            </a:r>
            <a:endParaRPr sz="1500">
              <a:latin typeface="Lucida Sans"/>
              <a:cs typeface="Lucida Sans"/>
            </a:endParaRPr>
          </a:p>
          <a:p>
            <a:pPr algn="ctr" marL="2525395" marR="2299970">
              <a:lnSpc>
                <a:spcPct val="57999"/>
              </a:lnSpc>
              <a:spcBef>
                <a:spcPts val="309"/>
              </a:spcBef>
              <a:tabLst>
                <a:tab pos="3469004" algn="l"/>
                <a:tab pos="3796665" algn="l"/>
                <a:tab pos="4537710" algn="l"/>
              </a:tabLst>
            </a:pPr>
            <a:r>
              <a:rPr dirty="0" sz="1550" spc="-80" b="0" i="1">
                <a:latin typeface="Arial"/>
                <a:cs typeface="Arial"/>
              </a:rPr>
              <a:t>OR</a:t>
            </a:r>
            <a:r>
              <a:rPr dirty="0" sz="1550" spc="-20" b="0" i="1">
                <a:latin typeface="Arial"/>
                <a:cs typeface="Arial"/>
              </a:rPr>
              <a:t> </a:t>
            </a:r>
            <a:r>
              <a:rPr dirty="0" sz="1500" spc="-60" b="0">
                <a:latin typeface="Lucida Sans"/>
                <a:cs typeface="Lucida Sans"/>
              </a:rPr>
              <a:t>=</a:t>
            </a:r>
            <a:r>
              <a:rPr dirty="0" sz="1500" b="0">
                <a:latin typeface="Lucida Sans"/>
                <a:cs typeface="Lucida Sans"/>
              </a:rPr>
              <a:t>		</a:t>
            </a:r>
            <a:r>
              <a:rPr dirty="0" sz="1500" spc="-50" b="0">
                <a:latin typeface="Lucida Sans"/>
                <a:cs typeface="Lucida Sans"/>
              </a:rPr>
              <a:t>=</a:t>
            </a:r>
            <a:r>
              <a:rPr dirty="0" sz="1500" b="0">
                <a:latin typeface="Lucida Sans"/>
                <a:cs typeface="Lucida Sans"/>
              </a:rPr>
              <a:t>	</a:t>
            </a:r>
            <a:r>
              <a:rPr dirty="0" sz="1500" spc="-60" b="0">
                <a:latin typeface="Lucida Sans"/>
                <a:cs typeface="Lucida Sans"/>
              </a:rPr>
              <a:t>=</a:t>
            </a:r>
            <a:r>
              <a:rPr dirty="0" sz="1500" spc="-75" b="0">
                <a:latin typeface="Lucida Sans"/>
                <a:cs typeface="Lucida Sans"/>
              </a:rPr>
              <a:t> </a:t>
            </a:r>
            <a:r>
              <a:rPr dirty="0" sz="1500" spc="-150" b="0">
                <a:latin typeface="Lucida Sans"/>
                <a:cs typeface="Lucida Sans"/>
              </a:rPr>
              <a:t>1.55 </a:t>
            </a:r>
            <a:r>
              <a:rPr dirty="0" baseline="1851" sz="2250" spc="-15" b="0">
                <a:latin typeface="Lucida Sans"/>
                <a:cs typeface="Lucida Sans"/>
              </a:rPr>
              <a:t>Odds</a:t>
            </a:r>
            <a:r>
              <a:rPr dirty="0" baseline="-12626" sz="1650" spc="-15" b="0" i="1">
                <a:latin typeface="Arial"/>
                <a:cs typeface="Arial"/>
              </a:rPr>
              <a:t>AA</a:t>
            </a:r>
            <a:r>
              <a:rPr dirty="0" baseline="-12626" sz="1650" b="0" i="1">
                <a:latin typeface="Arial"/>
                <a:cs typeface="Arial"/>
              </a:rPr>
              <a:t>	</a:t>
            </a:r>
            <a:r>
              <a:rPr dirty="0" sz="1500" spc="-20" b="0">
                <a:latin typeface="Lucida Sans"/>
                <a:cs typeface="Lucida Sans"/>
              </a:rPr>
              <a:t>0.072</a:t>
            </a:r>
            <a:endParaRPr sz="1500">
              <a:latin typeface="Lucida Sans"/>
              <a:cs typeface="Lucida Sans"/>
            </a:endParaRPr>
          </a:p>
          <a:p>
            <a:pPr marL="38100">
              <a:lnSpc>
                <a:spcPct val="100000"/>
              </a:lnSpc>
              <a:spcBef>
                <a:spcPts val="1325"/>
              </a:spcBef>
            </a:pPr>
            <a:r>
              <a:rPr dirty="0" spc="-10"/>
              <a:t>Interpretation</a:t>
            </a:r>
          </a:p>
          <a:p>
            <a:pPr marL="38100" marR="17780">
              <a:lnSpc>
                <a:spcPts val="1720"/>
              </a:lnSpc>
              <a:spcBef>
                <a:spcPts val="1555"/>
              </a:spcBef>
            </a:pPr>
            <a:r>
              <a:rPr dirty="0" b="0">
                <a:latin typeface="Gill Sans MT"/>
                <a:cs typeface="Gill Sans MT"/>
              </a:rPr>
              <a:t>The</a:t>
            </a:r>
            <a:r>
              <a:rPr dirty="0" spc="10" b="0">
                <a:latin typeface="Gill Sans MT"/>
                <a:cs typeface="Gill Sans MT"/>
              </a:rPr>
              <a:t> </a:t>
            </a:r>
            <a:r>
              <a:rPr dirty="0" spc="95" b="0">
                <a:latin typeface="Gill Sans MT"/>
                <a:cs typeface="Gill Sans MT"/>
              </a:rPr>
              <a:t>odds</a:t>
            </a:r>
            <a:r>
              <a:rPr dirty="0" spc="15" b="0">
                <a:latin typeface="Gill Sans MT"/>
                <a:cs typeface="Gill Sans MT"/>
              </a:rPr>
              <a:t> </a:t>
            </a:r>
            <a:r>
              <a:rPr dirty="0" spc="75" b="0">
                <a:latin typeface="Gill Sans MT"/>
                <a:cs typeface="Gill Sans MT"/>
              </a:rPr>
              <a:t>of</a:t>
            </a:r>
            <a:r>
              <a:rPr dirty="0" spc="10" b="0">
                <a:latin typeface="Gill Sans MT"/>
                <a:cs typeface="Gill Sans MT"/>
              </a:rPr>
              <a:t> </a:t>
            </a:r>
            <a:r>
              <a:rPr dirty="0" spc="65" b="0">
                <a:latin typeface="Gill Sans MT"/>
                <a:cs typeface="Gill Sans MT"/>
              </a:rPr>
              <a:t>receiving</a:t>
            </a:r>
            <a:r>
              <a:rPr dirty="0" spc="15" b="0">
                <a:latin typeface="Gill Sans MT"/>
                <a:cs typeface="Gill Sans MT"/>
              </a:rPr>
              <a:t> </a:t>
            </a:r>
            <a:r>
              <a:rPr dirty="0" spc="155" b="0">
                <a:latin typeface="Gill Sans MT"/>
                <a:cs typeface="Gill Sans MT"/>
              </a:rPr>
              <a:t>a</a:t>
            </a:r>
            <a:r>
              <a:rPr dirty="0" spc="10" b="0">
                <a:latin typeface="Gill Sans MT"/>
                <a:cs typeface="Gill Sans MT"/>
              </a:rPr>
              <a:t> </a:t>
            </a:r>
            <a:r>
              <a:rPr dirty="0" spc="90" b="0">
                <a:latin typeface="Gill Sans MT"/>
                <a:cs typeface="Gill Sans MT"/>
              </a:rPr>
              <a:t>callback</a:t>
            </a:r>
            <a:r>
              <a:rPr dirty="0" spc="15" b="0">
                <a:latin typeface="Gill Sans MT"/>
                <a:cs typeface="Gill Sans MT"/>
              </a:rPr>
              <a:t> </a:t>
            </a:r>
            <a:r>
              <a:rPr dirty="0" b="0">
                <a:latin typeface="Gill Sans MT"/>
                <a:cs typeface="Gill Sans MT"/>
              </a:rPr>
              <a:t>were</a:t>
            </a:r>
            <a:r>
              <a:rPr dirty="0" spc="10" b="0">
                <a:latin typeface="Gill Sans MT"/>
                <a:cs typeface="Gill Sans MT"/>
              </a:rPr>
              <a:t> </a:t>
            </a:r>
            <a:r>
              <a:rPr dirty="0"/>
              <a:t>55%</a:t>
            </a:r>
            <a:r>
              <a:rPr dirty="0" spc="-65"/>
              <a:t> </a:t>
            </a:r>
            <a:r>
              <a:rPr dirty="0" spc="-20"/>
              <a:t>higher </a:t>
            </a:r>
            <a:r>
              <a:rPr dirty="0" b="0">
                <a:latin typeface="Gill Sans MT"/>
                <a:cs typeface="Gill Sans MT"/>
              </a:rPr>
              <a:t>for</a:t>
            </a:r>
            <a:r>
              <a:rPr dirty="0" spc="10" b="0">
                <a:latin typeface="Gill Sans MT"/>
                <a:cs typeface="Gill Sans MT"/>
              </a:rPr>
              <a:t> </a:t>
            </a:r>
            <a:r>
              <a:rPr dirty="0" b="0">
                <a:latin typeface="Gill Sans MT"/>
                <a:cs typeface="Gill Sans MT"/>
              </a:rPr>
              <a:t>White-</a:t>
            </a:r>
            <a:r>
              <a:rPr dirty="0" spc="85" b="0">
                <a:latin typeface="Gill Sans MT"/>
                <a:cs typeface="Gill Sans MT"/>
              </a:rPr>
              <a:t>associated</a:t>
            </a:r>
            <a:r>
              <a:rPr dirty="0" spc="15" b="0">
                <a:latin typeface="Gill Sans MT"/>
                <a:cs typeface="Gill Sans MT"/>
              </a:rPr>
              <a:t> </a:t>
            </a:r>
            <a:r>
              <a:rPr dirty="0" spc="110" b="0">
                <a:latin typeface="Gill Sans MT"/>
                <a:cs typeface="Gill Sans MT"/>
              </a:rPr>
              <a:t>names</a:t>
            </a:r>
            <a:r>
              <a:rPr dirty="0" spc="10" b="0">
                <a:latin typeface="Gill Sans MT"/>
                <a:cs typeface="Gill Sans MT"/>
              </a:rPr>
              <a:t> </a:t>
            </a:r>
            <a:r>
              <a:rPr dirty="0" spc="60" b="0">
                <a:latin typeface="Gill Sans MT"/>
                <a:cs typeface="Gill Sans MT"/>
              </a:rPr>
              <a:t>compared </a:t>
            </a:r>
            <a:r>
              <a:rPr dirty="0" b="0">
                <a:latin typeface="Gill Sans MT"/>
                <a:cs typeface="Gill Sans MT"/>
              </a:rPr>
              <a:t>to</a:t>
            </a:r>
            <a:r>
              <a:rPr dirty="0" spc="10" b="0">
                <a:latin typeface="Gill Sans MT"/>
                <a:cs typeface="Gill Sans MT"/>
              </a:rPr>
              <a:t> </a:t>
            </a:r>
            <a:r>
              <a:rPr dirty="0" spc="45" b="0">
                <a:latin typeface="Gill Sans MT"/>
                <a:cs typeface="Gill Sans MT"/>
              </a:rPr>
              <a:t>African</a:t>
            </a:r>
            <a:r>
              <a:rPr dirty="0" spc="15" b="0">
                <a:latin typeface="Gill Sans MT"/>
                <a:cs typeface="Gill Sans MT"/>
              </a:rPr>
              <a:t> </a:t>
            </a:r>
            <a:r>
              <a:rPr dirty="0" spc="45" b="0">
                <a:latin typeface="Gill Sans MT"/>
                <a:cs typeface="Gill Sans MT"/>
              </a:rPr>
              <a:t>American–</a:t>
            </a:r>
            <a:r>
              <a:rPr dirty="0" spc="85" b="0">
                <a:latin typeface="Gill Sans MT"/>
                <a:cs typeface="Gill Sans MT"/>
              </a:rPr>
              <a:t>associated</a:t>
            </a:r>
            <a:r>
              <a:rPr dirty="0" spc="15" b="0">
                <a:latin typeface="Gill Sans MT"/>
                <a:cs typeface="Gill Sans MT"/>
              </a:rPr>
              <a:t> </a:t>
            </a:r>
            <a:r>
              <a:rPr dirty="0" spc="90" b="0">
                <a:latin typeface="Gill Sans MT"/>
                <a:cs typeface="Gill Sans MT"/>
              </a:rPr>
              <a:t>names.</a:t>
            </a:r>
          </a:p>
        </p:txBody>
      </p:sp>
      <p:sp>
        <p:nvSpPr>
          <p:cNvPr id="15" name="object 15"/>
          <p:cNvSpPr/>
          <p:nvPr/>
        </p:nvSpPr>
        <p:spPr>
          <a:xfrm>
            <a:off x="4543424" y="4543424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457199" y="9524"/>
                </a:moveTo>
                <a:lnTo>
                  <a:pt x="0" y="9524"/>
                </a:lnTo>
                <a:lnTo>
                  <a:pt x="0" y="0"/>
                </a:lnTo>
                <a:lnTo>
                  <a:pt x="457199" y="0"/>
                </a:lnTo>
                <a:lnTo>
                  <a:pt x="4571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499" y="3486149"/>
            <a:ext cx="47625" cy="438150"/>
          </a:xfrm>
          <a:custGeom>
            <a:avLst/>
            <a:gdLst/>
            <a:ahLst/>
            <a:cxnLst/>
            <a:rect l="l" t="t" r="r" b="b"/>
            <a:pathLst>
              <a:path w="47625" h="438150">
                <a:moveTo>
                  <a:pt x="47624" y="438149"/>
                </a:moveTo>
                <a:lnTo>
                  <a:pt x="0" y="438149"/>
                </a:lnTo>
                <a:lnTo>
                  <a:pt x="0" y="0"/>
                </a:lnTo>
                <a:lnTo>
                  <a:pt x="47624" y="0"/>
                </a:lnTo>
                <a:lnTo>
                  <a:pt x="47624" y="438149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8800" y="206375"/>
            <a:ext cx="1849120" cy="4254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85" b="1">
                <a:latin typeface="Trebuchet MS"/>
                <a:cs typeface="Trebuchet MS"/>
              </a:rPr>
              <a:t>Risk</a:t>
            </a:r>
            <a:r>
              <a:rPr dirty="0" spc="-215" b="1">
                <a:latin typeface="Trebuchet MS"/>
                <a:cs typeface="Trebuchet MS"/>
              </a:rPr>
              <a:t> </a:t>
            </a:r>
            <a:r>
              <a:rPr dirty="0" spc="-175" b="1">
                <a:latin typeface="Trebuchet MS"/>
                <a:cs typeface="Trebuchet MS"/>
              </a:rPr>
              <a:t>vs.</a:t>
            </a:r>
            <a:r>
              <a:rPr dirty="0" spc="-215" b="1">
                <a:latin typeface="Trebuchet MS"/>
                <a:cs typeface="Trebuchet MS"/>
              </a:rPr>
              <a:t> </a:t>
            </a:r>
            <a:r>
              <a:rPr dirty="0" spc="-60" b="1">
                <a:latin typeface="Trebuchet MS"/>
                <a:cs typeface="Trebuchet MS"/>
              </a:rPr>
              <a:t>Odds</a:t>
            </a:r>
          </a:p>
        </p:txBody>
      </p:sp>
      <p:sp>
        <p:nvSpPr>
          <p:cNvPr id="4" name="object 4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71524" y="1523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1524" y="2552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71524" y="27717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8800" y="795019"/>
            <a:ext cx="6734809" cy="31311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93065">
              <a:lnSpc>
                <a:spcPts val="1730"/>
              </a:lnSpc>
              <a:spcBef>
                <a:spcPts val="90"/>
              </a:spcBef>
            </a:pPr>
            <a:r>
              <a:rPr dirty="0" sz="1450" spc="-10" b="1">
                <a:latin typeface="Trebuchet MS"/>
                <a:cs typeface="Trebuchet MS"/>
              </a:rPr>
              <a:t>Risk: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ts val="1730"/>
              </a:lnSpc>
            </a:pPr>
            <a:r>
              <a:rPr dirty="0" sz="1450" spc="-10">
                <a:latin typeface="Gill Sans MT"/>
                <a:cs typeface="Gill Sans MT"/>
              </a:rPr>
              <a:t>“How</a:t>
            </a:r>
            <a:r>
              <a:rPr dirty="0" sz="1450" spc="-3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likely</a:t>
            </a:r>
            <a:r>
              <a:rPr dirty="0" sz="1450" spc="-3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-3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3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callback?”</a:t>
            </a:r>
            <a:endParaRPr sz="1450">
              <a:latin typeface="Gill Sans MT"/>
              <a:cs typeface="Gill Sans MT"/>
            </a:endParaRPr>
          </a:p>
          <a:p>
            <a:pPr marL="393065">
              <a:lnSpc>
                <a:spcPts val="1730"/>
              </a:lnSpc>
              <a:spcBef>
                <a:spcPts val="1410"/>
              </a:spcBef>
            </a:pPr>
            <a:r>
              <a:rPr dirty="0" sz="1450" spc="-10" b="1">
                <a:latin typeface="Trebuchet MS"/>
                <a:cs typeface="Trebuchet MS"/>
              </a:rPr>
              <a:t>Odds: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ts val="1730"/>
              </a:lnSpc>
            </a:pPr>
            <a:r>
              <a:rPr dirty="0" sz="1450" spc="-10">
                <a:latin typeface="Gill Sans MT"/>
                <a:cs typeface="Gill Sans MT"/>
              </a:rPr>
              <a:t>“How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likely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callback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relative</a:t>
            </a:r>
            <a:r>
              <a:rPr dirty="0" sz="1450" spc="-10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to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not</a:t>
            </a:r>
            <a:r>
              <a:rPr dirty="0" sz="1450" spc="-55" b="1">
                <a:latin typeface="Trebuchet MS"/>
                <a:cs typeface="Trebuchet MS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receiving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one?”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1450" b="1">
                <a:latin typeface="Trebuchet MS"/>
                <a:cs typeface="Trebuchet MS"/>
              </a:rPr>
              <a:t>In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our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data</a:t>
            </a:r>
            <a:endParaRPr sz="1450">
              <a:latin typeface="Trebuchet MS"/>
              <a:cs typeface="Trebuchet MS"/>
            </a:endParaRPr>
          </a:p>
          <a:p>
            <a:pPr marL="393065" marR="4802505">
              <a:lnSpc>
                <a:spcPts val="1730"/>
              </a:lnSpc>
              <a:spcBef>
                <a:spcPts val="1475"/>
              </a:spcBef>
            </a:pPr>
            <a:r>
              <a:rPr dirty="0" sz="1450" spc="70">
                <a:latin typeface="Gill Sans MT"/>
                <a:cs typeface="Gill Sans MT"/>
              </a:rPr>
              <a:t>Relative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Risk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-145">
                <a:latin typeface="Gill Sans MT"/>
                <a:cs typeface="Gill Sans MT"/>
              </a:rPr>
              <a:t>=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-55">
                <a:latin typeface="Gill Sans MT"/>
                <a:cs typeface="Gill Sans MT"/>
              </a:rPr>
              <a:t>1.51 </a:t>
            </a:r>
            <a:r>
              <a:rPr dirty="0" sz="1450">
                <a:latin typeface="Gill Sans MT"/>
                <a:cs typeface="Gill Sans MT"/>
              </a:rPr>
              <a:t>Odds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Ratio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-145">
                <a:latin typeface="Gill Sans MT"/>
                <a:cs typeface="Gill Sans MT"/>
              </a:rPr>
              <a:t>=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-20">
                <a:latin typeface="Gill Sans MT"/>
                <a:cs typeface="Gill Sans MT"/>
              </a:rPr>
              <a:t>1.55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450" spc="60">
                <a:latin typeface="Gill Sans MT"/>
                <a:cs typeface="Gill Sans MT"/>
              </a:rPr>
              <a:t>Both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tell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same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-10">
                <a:latin typeface="Gill Sans MT"/>
                <a:cs typeface="Gill Sans MT"/>
              </a:rPr>
              <a:t>story:</a:t>
            </a:r>
            <a:endParaRPr sz="1450">
              <a:latin typeface="Gill Sans MT"/>
              <a:cs typeface="Gill Sans MT"/>
            </a:endParaRPr>
          </a:p>
          <a:p>
            <a:pPr marL="623570">
              <a:lnSpc>
                <a:spcPts val="1730"/>
              </a:lnSpc>
              <a:spcBef>
                <a:spcPts val="1410"/>
              </a:spcBef>
            </a:pPr>
            <a:r>
              <a:rPr dirty="0" sz="1450" spc="75">
                <a:latin typeface="Gill Sans MT"/>
                <a:cs typeface="Gill Sans MT"/>
              </a:rPr>
              <a:t>Applicants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with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White-</a:t>
            </a:r>
            <a:r>
              <a:rPr dirty="0" sz="1450" spc="85">
                <a:latin typeface="Gill Sans MT"/>
                <a:cs typeface="Gill Sans MT"/>
              </a:rPr>
              <a:t>associated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names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are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substantially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more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likely</a:t>
            </a:r>
            <a:endParaRPr sz="1450">
              <a:latin typeface="Trebuchet MS"/>
              <a:cs typeface="Trebuchet MS"/>
            </a:endParaRPr>
          </a:p>
          <a:p>
            <a:pPr marL="623570">
              <a:lnSpc>
                <a:spcPts val="1735"/>
              </a:lnSpc>
            </a:pPr>
            <a:r>
              <a:rPr dirty="0" sz="1450">
                <a:latin typeface="Gill Sans MT"/>
                <a:cs typeface="Gill Sans MT"/>
              </a:rPr>
              <a:t>to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receive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callback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than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those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with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African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American–</a:t>
            </a:r>
            <a:r>
              <a:rPr dirty="0" sz="1450" spc="85">
                <a:latin typeface="Gill Sans MT"/>
                <a:cs typeface="Gill Sans MT"/>
              </a:rPr>
              <a:t>associated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names.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8800" y="461644"/>
            <a:ext cx="7350759" cy="7023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50" b="1">
                <a:latin typeface="Trebuchet MS"/>
                <a:cs typeface="Trebuchet MS"/>
              </a:rPr>
              <a:t>APA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130" b="1">
                <a:latin typeface="Trebuchet MS"/>
                <a:cs typeface="Trebuchet MS"/>
              </a:rPr>
              <a:t>Format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100" b="1">
                <a:latin typeface="Trebuchet MS"/>
                <a:cs typeface="Trebuchet MS"/>
              </a:rPr>
              <a:t>Write-</a:t>
            </a:r>
            <a:r>
              <a:rPr dirty="0" sz="1450" spc="-25" b="1">
                <a:latin typeface="Trebuchet MS"/>
                <a:cs typeface="Trebuchet MS"/>
              </a:rPr>
              <a:t>up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 spc="-150">
                <a:latin typeface="Gill Sans MT"/>
                <a:cs typeface="Gill Sans MT"/>
              </a:rPr>
              <a:t>A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chi-</a:t>
            </a:r>
            <a:r>
              <a:rPr dirty="0" sz="1450" spc="85">
                <a:latin typeface="Gill Sans MT"/>
                <a:cs typeface="Gill Sans MT"/>
              </a:rPr>
              <a:t>square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test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independence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was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conducted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to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examine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whether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callback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outcome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0" y="1124496"/>
            <a:ext cx="714629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7016115" algn="l"/>
              </a:tabLst>
            </a:pPr>
            <a:r>
              <a:rPr dirty="0" sz="1450" spc="70">
                <a:latin typeface="Gill Sans MT"/>
                <a:cs typeface="Gill Sans MT"/>
              </a:rPr>
              <a:t>was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associated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with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racialized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14">
                <a:latin typeface="Gill Sans MT"/>
                <a:cs typeface="Gill Sans MT"/>
              </a:rPr>
              <a:t>name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group.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The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test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was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statistically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significant,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550" spc="-25" i="1">
                <a:latin typeface="Arial"/>
                <a:cs typeface="Arial"/>
              </a:rPr>
              <a:t>χ</a:t>
            </a:r>
            <a:r>
              <a:rPr dirty="0" baseline="31746" sz="1575" spc="-37">
                <a:latin typeface="Lucida Sans"/>
                <a:cs typeface="Lucida Sans"/>
              </a:rPr>
              <a:t>2</a:t>
            </a:r>
            <a:r>
              <a:rPr dirty="0" baseline="31746" sz="1575">
                <a:latin typeface="Lucida Sans"/>
                <a:cs typeface="Lucida Sans"/>
              </a:rPr>
              <a:t>	</a:t>
            </a:r>
            <a:r>
              <a:rPr dirty="0" sz="1450" spc="-50">
                <a:latin typeface="Gill Sans MT"/>
                <a:cs typeface="Gill Sans MT"/>
              </a:rPr>
              <a:t>=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8800" y="1250368"/>
            <a:ext cx="7463790" cy="169481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r" marR="521970">
              <a:lnSpc>
                <a:spcPct val="100000"/>
              </a:lnSpc>
              <a:spcBef>
                <a:spcPts val="130"/>
              </a:spcBef>
            </a:pPr>
            <a:r>
              <a:rPr dirty="0" sz="1050" spc="-25">
                <a:latin typeface="Lucida Sans"/>
                <a:cs typeface="Lucida Sans"/>
              </a:rPr>
              <a:t>(1)</a:t>
            </a:r>
            <a:endParaRPr sz="1050">
              <a:latin typeface="Lucida Sans"/>
              <a:cs typeface="Lucida Sans"/>
            </a:endParaRPr>
          </a:p>
          <a:p>
            <a:pPr marL="12700" marR="532130">
              <a:lnSpc>
                <a:spcPts val="1730"/>
              </a:lnSpc>
              <a:spcBef>
                <a:spcPts val="130"/>
              </a:spcBef>
            </a:pPr>
            <a:r>
              <a:rPr dirty="0" sz="1450">
                <a:latin typeface="Gill Sans MT"/>
                <a:cs typeface="Gill Sans MT"/>
              </a:rPr>
              <a:t>17.90,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20">
                <a:latin typeface="Gill Sans MT"/>
                <a:cs typeface="Gill Sans MT"/>
              </a:rPr>
              <a:t>p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-145">
                <a:latin typeface="Gill Sans MT"/>
                <a:cs typeface="Gill Sans MT"/>
              </a:rPr>
              <a:t>&lt;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.001,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indicating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that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callback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rates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differed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by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14">
                <a:latin typeface="Gill Sans MT"/>
                <a:cs typeface="Gill Sans MT"/>
              </a:rPr>
              <a:t>name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group.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The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effect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size, </a:t>
            </a:r>
            <a:r>
              <a:rPr dirty="0" sz="1450" spc="80">
                <a:latin typeface="Gill Sans MT"/>
                <a:cs typeface="Gill Sans MT"/>
              </a:rPr>
              <a:t>measured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by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Cramer’s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550" i="1">
                <a:latin typeface="Arial"/>
                <a:cs typeface="Arial"/>
              </a:rPr>
              <a:t>ϑ</a:t>
            </a:r>
            <a:r>
              <a:rPr dirty="0" sz="1450">
                <a:latin typeface="Gill Sans MT"/>
                <a:cs typeface="Gill Sans MT"/>
              </a:rPr>
              <a:t>,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was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equal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to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-10">
                <a:latin typeface="Gill Sans MT"/>
                <a:cs typeface="Gill Sans MT"/>
              </a:rPr>
              <a:t>0.06.</a:t>
            </a:r>
            <a:endParaRPr sz="1450">
              <a:latin typeface="Gill Sans MT"/>
              <a:cs typeface="Gill Sans MT"/>
            </a:endParaRPr>
          </a:p>
          <a:p>
            <a:pPr marL="12700" marR="5080">
              <a:lnSpc>
                <a:spcPts val="1730"/>
              </a:lnSpc>
              <a:spcBef>
                <a:spcPts val="1415"/>
              </a:spcBef>
            </a:pPr>
            <a:r>
              <a:rPr dirty="0" sz="1450" spc="75">
                <a:latin typeface="Gill Sans MT"/>
                <a:cs typeface="Gill Sans MT"/>
              </a:rPr>
              <a:t>Applicants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with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White-</a:t>
            </a:r>
            <a:r>
              <a:rPr dirty="0" sz="1450" spc="85">
                <a:latin typeface="Gill Sans MT"/>
                <a:cs typeface="Gill Sans MT"/>
              </a:rPr>
              <a:t>associated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names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were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-60">
                <a:latin typeface="Gill Sans MT"/>
                <a:cs typeface="Gill Sans MT"/>
              </a:rPr>
              <a:t>1.51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times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more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likely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to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receive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callback </a:t>
            </a:r>
            <a:r>
              <a:rPr dirty="0" sz="1450" spc="100">
                <a:latin typeface="Gill Sans MT"/>
                <a:cs typeface="Gill Sans MT"/>
              </a:rPr>
              <a:t>than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applicants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with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African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American–</a:t>
            </a:r>
            <a:r>
              <a:rPr dirty="0" sz="1450" spc="85">
                <a:latin typeface="Gill Sans MT"/>
                <a:cs typeface="Gill Sans MT"/>
              </a:rPr>
              <a:t>associated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names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(RR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-145">
                <a:latin typeface="Gill Sans MT"/>
                <a:cs typeface="Gill Sans MT"/>
              </a:rPr>
              <a:t>=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-30">
                <a:latin typeface="Gill Sans MT"/>
                <a:cs typeface="Gill Sans MT"/>
              </a:rPr>
              <a:t>1.51).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Similarly,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odds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of </a:t>
            </a:r>
            <a:r>
              <a:rPr dirty="0" sz="1450" spc="65">
                <a:latin typeface="Gill Sans MT"/>
                <a:cs typeface="Gill Sans MT"/>
              </a:rPr>
              <a:t>receiving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callback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were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-10">
                <a:latin typeface="Gill Sans MT"/>
                <a:cs typeface="Gill Sans MT"/>
              </a:rPr>
              <a:t>1.55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times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higher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White-</a:t>
            </a:r>
            <a:r>
              <a:rPr dirty="0" sz="1450" spc="85">
                <a:latin typeface="Gill Sans MT"/>
                <a:cs typeface="Gill Sans MT"/>
              </a:rPr>
              <a:t>associated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names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compared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35">
                <a:latin typeface="Gill Sans MT"/>
                <a:cs typeface="Gill Sans MT"/>
              </a:rPr>
              <a:t>with </a:t>
            </a:r>
            <a:r>
              <a:rPr dirty="0" sz="1450" spc="45">
                <a:latin typeface="Gill Sans MT"/>
                <a:cs typeface="Gill Sans MT"/>
              </a:rPr>
              <a:t>African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American–</a:t>
            </a:r>
            <a:r>
              <a:rPr dirty="0" sz="1450" spc="85">
                <a:latin typeface="Gill Sans MT"/>
                <a:cs typeface="Gill Sans MT"/>
              </a:rPr>
              <a:t>associated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names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-70">
                <a:latin typeface="Gill Sans MT"/>
                <a:cs typeface="Gill Sans MT"/>
              </a:rPr>
              <a:t>(OR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-145">
                <a:latin typeface="Gill Sans MT"/>
                <a:cs typeface="Gill Sans MT"/>
              </a:rPr>
              <a:t>=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-10">
                <a:latin typeface="Gill Sans MT"/>
                <a:cs typeface="Gill Sans MT"/>
              </a:rPr>
              <a:t>1.55).</a:t>
            </a:r>
            <a:endParaRPr sz="145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1524" y="15335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1928812"/>
            <a:ext cx="66675" cy="666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2328862"/>
            <a:ext cx="66675" cy="666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2728912"/>
            <a:ext cx="66675" cy="666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3128962"/>
            <a:ext cx="66675" cy="6667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71524" y="4571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71524" y="52101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3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58800" y="394970"/>
            <a:ext cx="7449820" cy="53981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 b="1">
                <a:latin typeface="Trebuchet MS"/>
                <a:cs typeface="Trebuchet MS"/>
              </a:rPr>
              <a:t>Assumptions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of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the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Chi-</a:t>
            </a:r>
            <a:r>
              <a:rPr dirty="0" sz="1450" spc="-20" b="1">
                <a:latin typeface="Trebuchet MS"/>
                <a:cs typeface="Trebuchet MS"/>
              </a:rPr>
              <a:t>Square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Test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of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Independence</a:t>
            </a:r>
            <a:endParaRPr sz="1450">
              <a:latin typeface="Trebuchet MS"/>
              <a:cs typeface="Trebuchet MS"/>
            </a:endParaRPr>
          </a:p>
          <a:p>
            <a:pPr marL="393065" marR="12065">
              <a:lnSpc>
                <a:spcPts val="1730"/>
              </a:lnSpc>
              <a:spcBef>
                <a:spcPts val="1475"/>
              </a:spcBef>
            </a:pPr>
            <a:r>
              <a:rPr dirty="0" sz="1450" spc="95">
                <a:latin typeface="Gill Sans MT"/>
                <a:cs typeface="Gill Sans MT"/>
              </a:rPr>
              <a:t>Independent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observations: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Each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individual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(or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case)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must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contribute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to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one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only </a:t>
            </a:r>
            <a:r>
              <a:rPr dirty="0" sz="1450" spc="80">
                <a:latin typeface="Gill Sans MT"/>
                <a:cs typeface="Gill Sans MT"/>
              </a:rPr>
              <a:t>one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cell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contingency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table.</a:t>
            </a:r>
            <a:endParaRPr sz="1450">
              <a:latin typeface="Gill Sans MT"/>
              <a:cs typeface="Gill Sans MT"/>
            </a:endParaRPr>
          </a:p>
          <a:p>
            <a:pPr marL="393065">
              <a:lnSpc>
                <a:spcPct val="100000"/>
              </a:lnSpc>
              <a:spcBef>
                <a:spcPts val="1425"/>
              </a:spcBef>
            </a:pPr>
            <a:r>
              <a:rPr dirty="0" sz="1450" spc="65">
                <a:latin typeface="Gill Sans MT"/>
                <a:cs typeface="Gill Sans MT"/>
              </a:rPr>
              <a:t>Adequate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expected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cell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frequencies</a:t>
            </a:r>
            <a:endParaRPr sz="1450">
              <a:latin typeface="Gill Sans MT"/>
              <a:cs typeface="Gill Sans MT"/>
            </a:endParaRPr>
          </a:p>
          <a:p>
            <a:pPr marL="774065" marR="1604010">
              <a:lnSpc>
                <a:spcPct val="181000"/>
              </a:lnSpc>
            </a:pP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2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-145">
                <a:latin typeface="Gill Sans MT"/>
                <a:cs typeface="Gill Sans MT"/>
              </a:rPr>
              <a:t>×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2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table: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20">
                <a:latin typeface="Gill Sans MT"/>
                <a:cs typeface="Gill Sans MT"/>
              </a:rPr>
              <a:t>all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expected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cell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counts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should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be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at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least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-25">
                <a:latin typeface="Gill Sans MT"/>
                <a:cs typeface="Gill Sans MT"/>
              </a:rPr>
              <a:t>5.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-3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larger</a:t>
            </a:r>
            <a:r>
              <a:rPr dirty="0" sz="1450" spc="-3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tables:</a:t>
            </a:r>
            <a:endParaRPr sz="1450">
              <a:latin typeface="Gill Sans MT"/>
              <a:cs typeface="Gill Sans MT"/>
            </a:endParaRPr>
          </a:p>
          <a:p>
            <a:pPr marL="774065">
              <a:lnSpc>
                <a:spcPct val="100000"/>
              </a:lnSpc>
              <a:spcBef>
                <a:spcPts val="1410"/>
              </a:spcBef>
            </a:pPr>
            <a:r>
              <a:rPr dirty="0" sz="1450">
                <a:latin typeface="Gill Sans MT"/>
                <a:cs typeface="Gill Sans MT"/>
              </a:rPr>
              <a:t>All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expected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counts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should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be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greater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than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1,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and</a:t>
            </a:r>
            <a:endParaRPr sz="1450">
              <a:latin typeface="Gill Sans MT"/>
              <a:cs typeface="Gill Sans MT"/>
            </a:endParaRPr>
          </a:p>
          <a:p>
            <a:pPr marL="774065">
              <a:lnSpc>
                <a:spcPct val="100000"/>
              </a:lnSpc>
              <a:spcBef>
                <a:spcPts val="1410"/>
              </a:spcBef>
            </a:pPr>
            <a:r>
              <a:rPr dirty="0" sz="1450" spc="-50">
                <a:latin typeface="Gill Sans MT"/>
                <a:cs typeface="Gill Sans MT"/>
              </a:rPr>
              <a:t>No</a:t>
            </a:r>
            <a:r>
              <a:rPr dirty="0" sz="1450">
                <a:latin typeface="Gill Sans MT"/>
                <a:cs typeface="Gill Sans MT"/>
              </a:rPr>
              <a:t> more </a:t>
            </a:r>
            <a:r>
              <a:rPr dirty="0" sz="1450" spc="100">
                <a:latin typeface="Gill Sans MT"/>
                <a:cs typeface="Gill Sans MT"/>
              </a:rPr>
              <a:t>than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20%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cells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should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have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expected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counts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below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-25">
                <a:latin typeface="Gill Sans MT"/>
                <a:cs typeface="Gill Sans MT"/>
              </a:rPr>
              <a:t>5.</a:t>
            </a:r>
            <a:endParaRPr sz="1450">
              <a:latin typeface="Gill Sans MT"/>
              <a:cs typeface="Gill Sans MT"/>
            </a:endParaRPr>
          </a:p>
          <a:p>
            <a:pPr marL="12700" marR="142240">
              <a:lnSpc>
                <a:spcPts val="1730"/>
              </a:lnSpc>
              <a:spcBef>
                <a:spcPts val="1550"/>
              </a:spcBef>
            </a:pPr>
            <a:r>
              <a:rPr dirty="0" sz="1450" spc="90">
                <a:latin typeface="Gill Sans MT"/>
                <a:cs typeface="Gill Sans MT"/>
              </a:rPr>
              <a:t>If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these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assumptions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are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violated,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chi-</a:t>
            </a:r>
            <a:r>
              <a:rPr dirty="0" sz="1450" spc="85">
                <a:latin typeface="Gill Sans MT"/>
                <a:cs typeface="Gill Sans MT"/>
              </a:rPr>
              <a:t>square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approximation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may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be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inaccurate,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and </a:t>
            </a:r>
            <a:r>
              <a:rPr dirty="0" sz="1450" spc="110">
                <a:latin typeface="Gill Sans MT"/>
                <a:cs typeface="Gill Sans MT"/>
              </a:rPr>
              <a:t>p-</a:t>
            </a:r>
            <a:r>
              <a:rPr dirty="0" sz="1450" spc="95">
                <a:latin typeface="Gill Sans MT"/>
                <a:cs typeface="Gill Sans MT"/>
              </a:rPr>
              <a:t>values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may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not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be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valid.</a:t>
            </a:r>
            <a:endParaRPr sz="1450">
              <a:latin typeface="Gill Sans MT"/>
              <a:cs typeface="Gill Sans MT"/>
            </a:endParaRPr>
          </a:p>
          <a:p>
            <a:pPr algn="ctr" marL="12065" marR="3766820">
              <a:lnSpc>
                <a:spcPct val="173900"/>
              </a:lnSpc>
              <a:spcBef>
                <a:spcPts val="65"/>
              </a:spcBef>
            </a:pPr>
            <a:r>
              <a:rPr dirty="0" sz="1450" spc="-35" b="1">
                <a:latin typeface="Trebuchet MS"/>
                <a:cs typeface="Trebuchet MS"/>
              </a:rPr>
              <a:t>Alternatives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When</a:t>
            </a:r>
            <a:r>
              <a:rPr dirty="0" sz="1450" spc="-5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Assumptions</a:t>
            </a:r>
            <a:r>
              <a:rPr dirty="0" sz="1450" spc="-55" b="1">
                <a:latin typeface="Trebuchet MS"/>
                <a:cs typeface="Trebuchet MS"/>
              </a:rPr>
              <a:t> </a:t>
            </a:r>
            <a:r>
              <a:rPr dirty="0" sz="1450" spc="-75" b="1">
                <a:latin typeface="Trebuchet MS"/>
                <a:cs typeface="Trebuchet MS"/>
              </a:rPr>
              <a:t>Are</a:t>
            </a:r>
            <a:r>
              <a:rPr dirty="0" sz="1450" spc="-5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Not</a:t>
            </a:r>
            <a:r>
              <a:rPr dirty="0" sz="1450" spc="-5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Met </a:t>
            </a:r>
            <a:r>
              <a:rPr dirty="0" sz="1450" spc="-60" b="1">
                <a:latin typeface="Trebuchet MS"/>
                <a:cs typeface="Trebuchet MS"/>
              </a:rPr>
              <a:t>Fisher’s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Exact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Test</a:t>
            </a:r>
            <a:r>
              <a:rPr dirty="0" sz="1450" spc="-20" b="1">
                <a:latin typeface="Trebuchet MS"/>
                <a:cs typeface="Trebuchet MS"/>
              </a:rPr>
              <a:t> </a:t>
            </a:r>
            <a:r>
              <a:rPr dirty="0" sz="1450" spc="-50">
                <a:latin typeface="Gill Sans MT"/>
                <a:cs typeface="Gill Sans MT"/>
              </a:rPr>
              <a:t>(</a:t>
            </a:r>
            <a:r>
              <a:rPr dirty="0" sz="1650" spc="-50">
                <a:solidFill>
                  <a:srgbClr val="007834"/>
                </a:solidFill>
                <a:latin typeface="Lucida Console"/>
                <a:cs typeface="Lucida Console"/>
              </a:rPr>
              <a:t>?fisher.test</a:t>
            </a:r>
            <a:r>
              <a:rPr dirty="0" sz="1450" spc="-50">
                <a:latin typeface="Gill Sans MT"/>
                <a:cs typeface="Gill Sans MT"/>
              </a:rPr>
              <a:t>)</a:t>
            </a:r>
            <a:endParaRPr sz="1450">
              <a:latin typeface="Gill Sans MT"/>
              <a:cs typeface="Gill Sans MT"/>
            </a:endParaRPr>
          </a:p>
          <a:p>
            <a:pPr marL="393065">
              <a:lnSpc>
                <a:spcPct val="100000"/>
              </a:lnSpc>
              <a:spcBef>
                <a:spcPts val="20"/>
              </a:spcBef>
            </a:pPr>
            <a:r>
              <a:rPr dirty="0" sz="1450">
                <a:latin typeface="Gill Sans MT"/>
                <a:cs typeface="Gill Sans MT"/>
              </a:rPr>
              <a:t>Use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when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expected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frequencies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are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very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small.</a:t>
            </a:r>
            <a:endParaRPr sz="1450">
              <a:latin typeface="Gill Sans MT"/>
              <a:cs typeface="Gill Sans MT"/>
            </a:endParaRPr>
          </a:p>
          <a:p>
            <a:pPr algn="ctr" marR="3754754">
              <a:lnSpc>
                <a:spcPct val="100000"/>
              </a:lnSpc>
              <a:spcBef>
                <a:spcPts val="1285"/>
              </a:spcBef>
            </a:pPr>
            <a:r>
              <a:rPr dirty="0" sz="1450" spc="-35" b="1">
                <a:latin typeface="Trebuchet MS"/>
                <a:cs typeface="Trebuchet MS"/>
              </a:rPr>
              <a:t>McNemar’s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Test</a:t>
            </a:r>
            <a:r>
              <a:rPr dirty="0" sz="1450" spc="-20" b="1">
                <a:latin typeface="Trebuchet MS"/>
                <a:cs typeface="Trebuchet MS"/>
              </a:rPr>
              <a:t> </a:t>
            </a:r>
            <a:r>
              <a:rPr dirty="0" sz="1450" spc="-55">
                <a:latin typeface="Gill Sans MT"/>
                <a:cs typeface="Gill Sans MT"/>
              </a:rPr>
              <a:t>(</a:t>
            </a:r>
            <a:r>
              <a:rPr dirty="0" sz="1650" spc="-55">
                <a:solidFill>
                  <a:srgbClr val="007834"/>
                </a:solidFill>
                <a:latin typeface="Lucida Console"/>
                <a:cs typeface="Lucida Console"/>
              </a:rPr>
              <a:t>?mcnemar.test</a:t>
            </a:r>
            <a:r>
              <a:rPr dirty="0" sz="1450" spc="-55">
                <a:latin typeface="Gill Sans MT"/>
                <a:cs typeface="Gill Sans MT"/>
              </a:rPr>
              <a:t>)</a:t>
            </a:r>
            <a:endParaRPr sz="1450">
              <a:latin typeface="Gill Sans MT"/>
              <a:cs typeface="Gill Sans MT"/>
            </a:endParaRPr>
          </a:p>
          <a:p>
            <a:pPr marL="393065" marR="5080">
              <a:lnSpc>
                <a:spcPts val="1720"/>
              </a:lnSpc>
              <a:spcBef>
                <a:spcPts val="90"/>
              </a:spcBef>
            </a:pPr>
            <a:r>
              <a:rPr dirty="0" sz="1450">
                <a:latin typeface="Gill Sans MT"/>
                <a:cs typeface="Gill Sans MT"/>
              </a:rPr>
              <a:t>Use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when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observations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are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not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independent</a:t>
            </a:r>
            <a:r>
              <a:rPr dirty="0" sz="1450" spc="-20">
                <a:latin typeface="Gill Sans MT"/>
                <a:cs typeface="Gill Sans MT"/>
              </a:rPr>
              <a:t>,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such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20">
                <a:latin typeface="Gill Sans MT"/>
                <a:cs typeface="Gill Sans MT"/>
              </a:rPr>
              <a:t>as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with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matched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pairs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or </a:t>
            </a:r>
            <a:r>
              <a:rPr dirty="0" sz="1450" spc="60">
                <a:latin typeface="Gill Sans MT"/>
                <a:cs typeface="Gill Sans MT"/>
              </a:rPr>
              <a:t>repeated </a:t>
            </a:r>
            <a:r>
              <a:rPr dirty="0" sz="1450" spc="80">
                <a:latin typeface="Gill Sans MT"/>
                <a:cs typeface="Gill Sans MT"/>
              </a:rPr>
              <a:t>measures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on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same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individuals.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8800" y="461644"/>
            <a:ext cx="138303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85" b="1">
                <a:latin typeface="Trebuchet MS"/>
                <a:cs typeface="Trebuchet MS"/>
              </a:rPr>
              <a:t>R</a:t>
            </a:r>
            <a:r>
              <a:rPr dirty="0" sz="1450" spc="-135" b="1">
                <a:latin typeface="Trebuchet MS"/>
                <a:cs typeface="Trebuchet MS"/>
              </a:rPr>
              <a:t> </a:t>
            </a:r>
            <a:r>
              <a:rPr dirty="0" sz="1450" spc="-85" b="1">
                <a:latin typeface="Trebuchet MS"/>
                <a:cs typeface="Trebuchet MS"/>
              </a:rPr>
              <a:t>Implementation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1499" y="942974"/>
            <a:ext cx="7505700" cy="124777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25400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200"/>
              </a:spcBef>
            </a:pP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1150" spc="-9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Create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the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05" i="1">
                <a:solidFill>
                  <a:srgbClr val="999987"/>
                </a:solidFill>
                <a:latin typeface="Courier New"/>
                <a:cs typeface="Courier New"/>
              </a:rPr>
              <a:t>contingency</a:t>
            </a:r>
            <a:r>
              <a:rPr dirty="0" sz="11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table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by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cell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20" i="1">
                <a:solidFill>
                  <a:srgbClr val="999987"/>
                </a:solidFill>
                <a:latin typeface="Courier New"/>
                <a:cs typeface="Courier New"/>
              </a:rPr>
              <a:t>frequencies</a:t>
            </a:r>
            <a:endParaRPr sz="1150">
              <a:latin typeface="Courier New"/>
              <a:cs typeface="Courier New"/>
            </a:endParaRPr>
          </a:p>
          <a:p>
            <a:pPr marL="61594">
              <a:lnSpc>
                <a:spcPts val="1255"/>
              </a:lnSpc>
              <a:spcBef>
                <a:spcPts val="520"/>
              </a:spcBef>
            </a:pP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my.tab</a:t>
            </a:r>
            <a:r>
              <a:rPr dirty="0" sz="1100" spc="-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&lt;-</a:t>
            </a:r>
            <a:r>
              <a:rPr dirty="0" sz="1200" spc="-114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70">
                <a:solidFill>
                  <a:srgbClr val="333333"/>
                </a:solidFill>
                <a:latin typeface="Lucida Console"/>
                <a:cs typeface="Lucida Console"/>
              </a:rPr>
              <a:t>as.table(rbind(c(</a:t>
            </a:r>
            <a:r>
              <a:rPr dirty="0" sz="1000" spc="-70">
                <a:solidFill>
                  <a:srgbClr val="008080"/>
                </a:solidFill>
                <a:latin typeface="Courier New"/>
                <a:cs typeface="Courier New"/>
              </a:rPr>
              <a:t>2199</a:t>
            </a:r>
            <a:r>
              <a:rPr dirty="0" sz="1100" spc="-7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100" spc="-5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000" spc="-10">
                <a:solidFill>
                  <a:srgbClr val="008080"/>
                </a:solidFill>
                <a:latin typeface="Courier New"/>
                <a:cs typeface="Courier New"/>
              </a:rPr>
              <a:t>246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),</a:t>
            </a:r>
            <a:endParaRPr sz="1100">
              <a:latin typeface="Lucida Console"/>
              <a:cs typeface="Lucida Console"/>
            </a:endParaRPr>
          </a:p>
          <a:p>
            <a:pPr marL="1925955">
              <a:lnSpc>
                <a:spcPts val="1140"/>
              </a:lnSpc>
            </a:pP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c(</a:t>
            </a:r>
            <a:r>
              <a:rPr dirty="0" sz="1000" spc="-10">
                <a:solidFill>
                  <a:srgbClr val="008080"/>
                </a:solidFill>
                <a:latin typeface="Courier New"/>
                <a:cs typeface="Courier New"/>
              </a:rPr>
              <a:t>2281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000" spc="-10">
                <a:solidFill>
                  <a:srgbClr val="008080"/>
                </a:solidFill>
                <a:latin typeface="Courier New"/>
                <a:cs typeface="Courier New"/>
              </a:rPr>
              <a:t>164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)))</a:t>
            </a:r>
            <a:endParaRPr sz="1100">
              <a:latin typeface="Lucida Console"/>
              <a:cs typeface="Lucida Console"/>
            </a:endParaRPr>
          </a:p>
          <a:p>
            <a:pPr marL="61594">
              <a:lnSpc>
                <a:spcPts val="1205"/>
              </a:lnSpc>
              <a:spcBef>
                <a:spcPts val="530"/>
              </a:spcBef>
            </a:pPr>
            <a:r>
              <a:rPr dirty="0" sz="1100" spc="-80">
                <a:solidFill>
                  <a:srgbClr val="333333"/>
                </a:solidFill>
                <a:latin typeface="Lucida Console"/>
                <a:cs typeface="Lucida Console"/>
              </a:rPr>
              <a:t>dimnames(my.tab)</a:t>
            </a:r>
            <a:r>
              <a:rPr dirty="0" sz="1100" spc="-7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&lt;-</a:t>
            </a:r>
            <a:r>
              <a:rPr dirty="0" sz="1200" spc="-13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333333"/>
                </a:solidFill>
                <a:latin typeface="Lucida Console"/>
                <a:cs typeface="Lucida Console"/>
              </a:rPr>
              <a:t>list(racial_group</a:t>
            </a:r>
            <a:r>
              <a:rPr dirty="0" sz="1100" spc="-7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3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333333"/>
                </a:solidFill>
                <a:latin typeface="Lucida Console"/>
                <a:cs typeface="Lucida Console"/>
              </a:rPr>
              <a:t>c(</a:t>
            </a:r>
            <a:r>
              <a:rPr dirty="0" sz="1100" spc="-80">
                <a:solidFill>
                  <a:srgbClr val="DD1144"/>
                </a:solidFill>
                <a:latin typeface="Courier New"/>
                <a:cs typeface="Courier New"/>
              </a:rPr>
              <a:t>"White"</a:t>
            </a:r>
            <a:r>
              <a:rPr dirty="0" sz="1100" spc="-8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1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DD1144"/>
                </a:solidFill>
                <a:latin typeface="Courier New"/>
                <a:cs typeface="Courier New"/>
              </a:rPr>
              <a:t>"African</a:t>
            </a:r>
            <a:r>
              <a:rPr dirty="0" sz="1100" spc="-60">
                <a:solidFill>
                  <a:srgbClr val="DD1144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DD1144"/>
                </a:solidFill>
                <a:latin typeface="Courier New"/>
                <a:cs typeface="Courier New"/>
              </a:rPr>
              <a:t>American"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),</a:t>
            </a:r>
            <a:endParaRPr sz="1100">
              <a:latin typeface="Lucida Console"/>
              <a:cs typeface="Lucida Console"/>
            </a:endParaRPr>
          </a:p>
          <a:p>
            <a:pPr marL="1925955">
              <a:lnSpc>
                <a:spcPts val="1205"/>
              </a:lnSpc>
              <a:tabLst>
                <a:tab pos="2895600" algn="l"/>
              </a:tabLst>
            </a:pP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callback</a:t>
            </a:r>
            <a:r>
              <a:rPr dirty="0" sz="1100">
                <a:solidFill>
                  <a:srgbClr val="333333"/>
                </a:solidFill>
                <a:latin typeface="Lucida Console"/>
                <a:cs typeface="Lucida Console"/>
              </a:rPr>
              <a:t>	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4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c(</a:t>
            </a:r>
            <a:r>
              <a:rPr dirty="0" sz="1100" spc="-10">
                <a:solidFill>
                  <a:srgbClr val="DD1144"/>
                </a:solidFill>
                <a:latin typeface="Courier New"/>
                <a:cs typeface="Courier New"/>
              </a:rPr>
              <a:t>"No"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100" spc="-10">
                <a:solidFill>
                  <a:srgbClr val="DD1144"/>
                </a:solidFill>
                <a:latin typeface="Courier New"/>
                <a:cs typeface="Courier New"/>
              </a:rPr>
              <a:t>"Yes"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))</a:t>
            </a:r>
            <a:endParaRPr sz="1100">
              <a:latin typeface="Lucida Console"/>
              <a:cs typeface="Lucida Console"/>
            </a:endParaRPr>
          </a:p>
          <a:p>
            <a:pPr marL="61594">
              <a:lnSpc>
                <a:spcPct val="100000"/>
              </a:lnSpc>
              <a:spcBef>
                <a:spcPts val="610"/>
              </a:spcBef>
            </a:pP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my.tab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8800" y="2379377"/>
            <a:ext cx="920750" cy="1955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racial_group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1251" y="2255552"/>
            <a:ext cx="771525" cy="31940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ts val="1150"/>
              </a:lnSpc>
              <a:spcBef>
                <a:spcPts val="115"/>
              </a:spcBef>
            </a:pP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callback</a:t>
            </a:r>
            <a:endParaRPr sz="1100">
              <a:latin typeface="Lucida Console"/>
              <a:cs typeface="Lucida Console"/>
            </a:endParaRPr>
          </a:p>
          <a:p>
            <a:pPr marL="236220">
              <a:lnSpc>
                <a:spcPts val="1145"/>
              </a:lnSpc>
              <a:tabLst>
                <a:tab pos="534670" algn="l"/>
              </a:tabLst>
            </a:pP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No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65">
                <a:solidFill>
                  <a:srgbClr val="007834"/>
                </a:solidFill>
                <a:latin typeface="Lucida Console"/>
                <a:cs typeface="Lucida Console"/>
              </a:rPr>
              <a:t>Yes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7961" y="2503202"/>
            <a:ext cx="1964689" cy="31940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ts val="1150"/>
              </a:lnSpc>
              <a:spcBef>
                <a:spcPts val="115"/>
              </a:spcBef>
              <a:tabLst>
                <a:tab pos="1280160" algn="l"/>
                <a:tab pos="1727835" algn="l"/>
              </a:tabLst>
            </a:pP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White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20">
                <a:solidFill>
                  <a:srgbClr val="007834"/>
                </a:solidFill>
                <a:latin typeface="Lucida Console"/>
                <a:cs typeface="Lucida Console"/>
              </a:rPr>
              <a:t>2199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65">
                <a:solidFill>
                  <a:srgbClr val="007834"/>
                </a:solidFill>
                <a:latin typeface="Lucida Console"/>
                <a:cs typeface="Lucida Console"/>
              </a:rPr>
              <a:t>246</a:t>
            </a:r>
            <a:endParaRPr sz="1100">
              <a:latin typeface="Lucida Console"/>
              <a:cs typeface="Lucida Console"/>
            </a:endParaRPr>
          </a:p>
          <a:p>
            <a:pPr marL="12700">
              <a:lnSpc>
                <a:spcPts val="1145"/>
              </a:lnSpc>
              <a:tabLst>
                <a:tab pos="1727835" algn="l"/>
              </a:tabLst>
            </a:pP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African</a:t>
            </a:r>
            <a:r>
              <a:rPr dirty="0" sz="1100" spc="-4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American</a:t>
            </a:r>
            <a:r>
              <a:rPr dirty="0" sz="1100" spc="-4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20">
                <a:solidFill>
                  <a:srgbClr val="007834"/>
                </a:solidFill>
                <a:latin typeface="Lucida Console"/>
                <a:cs typeface="Lucida Console"/>
              </a:rPr>
              <a:t>2281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65">
                <a:solidFill>
                  <a:srgbClr val="007834"/>
                </a:solidFill>
                <a:latin typeface="Lucida Console"/>
                <a:cs typeface="Lucida Console"/>
              </a:rPr>
              <a:t>164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499" y="2924174"/>
            <a:ext cx="7505700" cy="86677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15875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125"/>
              </a:spcBef>
            </a:pP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1150" spc="-9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Create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the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05" i="1">
                <a:solidFill>
                  <a:srgbClr val="999987"/>
                </a:solidFill>
                <a:latin typeface="Courier New"/>
                <a:cs typeface="Courier New"/>
              </a:rPr>
              <a:t>contingency</a:t>
            </a:r>
            <a:r>
              <a:rPr dirty="0" sz="11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table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by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cell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20" i="1">
                <a:solidFill>
                  <a:srgbClr val="999987"/>
                </a:solidFill>
                <a:latin typeface="Courier New"/>
                <a:cs typeface="Courier New"/>
              </a:rPr>
              <a:t>frequencies</a:t>
            </a:r>
            <a:endParaRPr sz="1150">
              <a:latin typeface="Courier New"/>
              <a:cs typeface="Courier New"/>
            </a:endParaRPr>
          </a:p>
          <a:p>
            <a:pPr marL="61594">
              <a:lnSpc>
                <a:spcPts val="1205"/>
              </a:lnSpc>
              <a:spcBef>
                <a:spcPts val="520"/>
              </a:spcBef>
            </a:pP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fit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&lt;-</a:t>
            </a:r>
            <a:r>
              <a:rPr dirty="0" sz="1200" spc="-13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30">
                <a:solidFill>
                  <a:srgbClr val="333333"/>
                </a:solidFill>
                <a:latin typeface="Lucida Console"/>
                <a:cs typeface="Lucida Console"/>
              </a:rPr>
              <a:t>chisq.test(my.tab,</a:t>
            </a:r>
            <a:endParaRPr sz="1100">
              <a:latin typeface="Lucida Console"/>
              <a:cs typeface="Lucida Console"/>
            </a:endParaRPr>
          </a:p>
          <a:p>
            <a:pPr marL="1403985">
              <a:lnSpc>
                <a:spcPts val="1210"/>
              </a:lnSpc>
            </a:pP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correct</a:t>
            </a:r>
            <a:r>
              <a:rPr dirty="0" sz="11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14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000" spc="-10">
                <a:solidFill>
                  <a:srgbClr val="008080"/>
                </a:solidFill>
                <a:latin typeface="Courier New"/>
                <a:cs typeface="Courier New"/>
              </a:rPr>
              <a:t>FALSE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100">
              <a:latin typeface="Lucida Console"/>
              <a:cs typeface="Lucida Console"/>
            </a:endParaRPr>
          </a:p>
          <a:p>
            <a:pPr marL="61594">
              <a:lnSpc>
                <a:spcPct val="100000"/>
              </a:lnSpc>
              <a:spcBef>
                <a:spcPts val="685"/>
              </a:spcBef>
            </a:pPr>
            <a:r>
              <a:rPr dirty="0" sz="1100" spc="-25">
                <a:solidFill>
                  <a:srgbClr val="333333"/>
                </a:solidFill>
                <a:latin typeface="Lucida Console"/>
                <a:cs typeface="Lucida Console"/>
              </a:rPr>
              <a:t>fit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8800" y="3911339"/>
            <a:ext cx="3531235" cy="64452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310515">
              <a:lnSpc>
                <a:spcPct val="100000"/>
              </a:lnSpc>
              <a:spcBef>
                <a:spcPts val="725"/>
              </a:spcBef>
            </a:pP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Pearson's</a:t>
            </a:r>
            <a:r>
              <a:rPr dirty="0" sz="11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Chi-squared</a:t>
            </a:r>
            <a:r>
              <a:rPr dirty="0" sz="1100" spc="-4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20">
                <a:solidFill>
                  <a:srgbClr val="007834"/>
                </a:solidFill>
                <a:latin typeface="Lucida Console"/>
                <a:cs typeface="Lucida Console"/>
              </a:rPr>
              <a:t>test</a:t>
            </a:r>
            <a:endParaRPr sz="1100">
              <a:latin typeface="Lucida Console"/>
              <a:cs typeface="Lucida Console"/>
            </a:endParaRPr>
          </a:p>
          <a:p>
            <a:pPr marL="12700">
              <a:lnSpc>
                <a:spcPts val="1145"/>
              </a:lnSpc>
              <a:spcBef>
                <a:spcPts val="630"/>
              </a:spcBef>
              <a:tabLst>
                <a:tab pos="534670" algn="l"/>
              </a:tabLst>
            </a:pP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data: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my.tab</a:t>
            </a:r>
            <a:endParaRPr sz="1100">
              <a:latin typeface="Lucida Console"/>
              <a:cs typeface="Lucida Console"/>
            </a:endParaRPr>
          </a:p>
          <a:p>
            <a:pPr marL="12700">
              <a:lnSpc>
                <a:spcPts val="1145"/>
              </a:lnSpc>
            </a:pP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X-squared</a:t>
            </a:r>
            <a:r>
              <a:rPr dirty="0" sz="11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950">
                <a:solidFill>
                  <a:srgbClr val="007834"/>
                </a:solidFill>
                <a:latin typeface="Century Gothic"/>
                <a:cs typeface="Century Gothic"/>
              </a:rPr>
              <a:t>=</a:t>
            </a:r>
            <a:r>
              <a:rPr dirty="0" sz="950" spc="340">
                <a:solidFill>
                  <a:srgbClr val="007834"/>
                </a:solidFill>
                <a:latin typeface="Century Gothic"/>
                <a:cs typeface="Century Gothic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17.901,</a:t>
            </a:r>
            <a:r>
              <a:rPr dirty="0" sz="1100" spc="-5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df</a:t>
            </a:r>
            <a:r>
              <a:rPr dirty="0" sz="11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950">
                <a:solidFill>
                  <a:srgbClr val="007834"/>
                </a:solidFill>
                <a:latin typeface="Century Gothic"/>
                <a:cs typeface="Century Gothic"/>
              </a:rPr>
              <a:t>=</a:t>
            </a:r>
            <a:r>
              <a:rPr dirty="0" sz="950" spc="345">
                <a:solidFill>
                  <a:srgbClr val="007834"/>
                </a:solidFill>
                <a:latin typeface="Century Gothic"/>
                <a:cs typeface="Century Gothic"/>
              </a:rPr>
              <a:t> 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1,</a:t>
            </a:r>
            <a:r>
              <a:rPr dirty="0" sz="11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p-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value</a:t>
            </a:r>
            <a:r>
              <a:rPr dirty="0" sz="11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950">
                <a:solidFill>
                  <a:srgbClr val="007834"/>
                </a:solidFill>
                <a:latin typeface="Century Gothic"/>
                <a:cs typeface="Century Gothic"/>
              </a:rPr>
              <a:t>=</a:t>
            </a:r>
            <a:r>
              <a:rPr dirty="0" sz="950" spc="345">
                <a:solidFill>
                  <a:srgbClr val="007834"/>
                </a:solidFill>
                <a:latin typeface="Century Gothic"/>
                <a:cs typeface="Century Gothic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2.327e-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05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1499" y="4648199"/>
            <a:ext cx="7505700" cy="50482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19050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150"/>
              </a:spcBef>
            </a:pPr>
            <a:r>
              <a:rPr dirty="0" sz="1150" spc="-40" i="1">
                <a:solidFill>
                  <a:srgbClr val="999987"/>
                </a:solidFill>
                <a:latin typeface="Courier New"/>
                <a:cs typeface="Courier New"/>
              </a:rPr>
              <a:t>#fit</a:t>
            </a:r>
            <a:r>
              <a:rPr dirty="0" sz="1200" spc="-40" i="1">
                <a:solidFill>
                  <a:srgbClr val="999987"/>
                </a:solidFill>
                <a:latin typeface="Georgia"/>
                <a:cs typeface="Georgia"/>
              </a:rPr>
              <a:t>$</a:t>
            </a:r>
            <a:r>
              <a:rPr dirty="0" sz="1150" spc="-40" i="1">
                <a:solidFill>
                  <a:srgbClr val="999987"/>
                </a:solidFill>
                <a:latin typeface="Courier New"/>
                <a:cs typeface="Courier New"/>
              </a:rPr>
              <a:t>observed</a:t>
            </a:r>
            <a:endParaRPr sz="1150">
              <a:latin typeface="Courier New"/>
              <a:cs typeface="Courier New"/>
            </a:endParaRPr>
          </a:p>
          <a:p>
            <a:pPr marL="61594">
              <a:lnSpc>
                <a:spcPct val="100000"/>
              </a:lnSpc>
              <a:spcBef>
                <a:spcPts val="509"/>
              </a:spcBef>
            </a:pPr>
            <a:r>
              <a:rPr dirty="0" sz="1150" spc="-40" i="1">
                <a:solidFill>
                  <a:srgbClr val="999987"/>
                </a:solidFill>
                <a:latin typeface="Courier New"/>
                <a:cs typeface="Courier New"/>
              </a:rPr>
              <a:t>#fit</a:t>
            </a:r>
            <a:r>
              <a:rPr dirty="0" sz="1200" spc="-40" i="1">
                <a:solidFill>
                  <a:srgbClr val="999987"/>
                </a:solidFill>
                <a:latin typeface="Georgia"/>
                <a:cs typeface="Georgia"/>
              </a:rPr>
              <a:t>$</a:t>
            </a:r>
            <a:r>
              <a:rPr dirty="0" sz="1150" spc="-40" i="1">
                <a:solidFill>
                  <a:srgbClr val="999987"/>
                </a:solidFill>
                <a:latin typeface="Courier New"/>
                <a:cs typeface="Courier New"/>
              </a:rPr>
              <a:t>expected</a:t>
            </a:r>
            <a:endParaRPr sz="11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499" y="352425"/>
            <a:ext cx="7505700" cy="100012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76835" rIns="0" bIns="0" rtlCol="0" vert="horz">
            <a:spAutoFit/>
          </a:bodyPr>
          <a:lstStyle/>
          <a:p>
            <a:pPr marL="61594" marR="3706495">
              <a:lnSpc>
                <a:spcPct val="70700"/>
              </a:lnSpc>
              <a:spcBef>
                <a:spcPts val="605"/>
              </a:spcBef>
            </a:pP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11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05" i="1">
                <a:solidFill>
                  <a:srgbClr val="999987"/>
                </a:solidFill>
                <a:latin typeface="Courier New"/>
                <a:cs typeface="Courier New"/>
              </a:rPr>
              <a:t>Alternatively,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you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can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read</a:t>
            </a:r>
            <a:r>
              <a:rPr dirty="0" sz="11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the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dataset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and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then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create</a:t>
            </a:r>
            <a:r>
              <a:rPr dirty="0" sz="1150" spc="-7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two-way</a:t>
            </a:r>
            <a:r>
              <a:rPr dirty="0" sz="1150" spc="-7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table</a:t>
            </a:r>
            <a:r>
              <a:rPr dirty="0" sz="1150" spc="-7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from</a:t>
            </a:r>
            <a:r>
              <a:rPr dirty="0" sz="1150" spc="-7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the</a:t>
            </a:r>
            <a:r>
              <a:rPr dirty="0" sz="1150" spc="-7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0" i="1">
                <a:solidFill>
                  <a:srgbClr val="999987"/>
                </a:solidFill>
                <a:latin typeface="Courier New"/>
                <a:cs typeface="Courier New"/>
              </a:rPr>
              <a:t>dataset</a:t>
            </a:r>
            <a:endParaRPr sz="1150">
              <a:latin typeface="Courier New"/>
              <a:cs typeface="Courier New"/>
            </a:endParaRPr>
          </a:p>
          <a:p>
            <a:pPr marL="61594" marR="3408045">
              <a:lnSpc>
                <a:spcPct val="142400"/>
              </a:lnSpc>
              <a:spcBef>
                <a:spcPts val="880"/>
              </a:spcBef>
            </a:pPr>
            <a:r>
              <a:rPr dirty="0" sz="1100">
                <a:solidFill>
                  <a:srgbClr val="333333"/>
                </a:solidFill>
                <a:latin typeface="Lucida Console"/>
                <a:cs typeface="Lucida Console"/>
              </a:rPr>
              <a:t>d</a:t>
            </a:r>
            <a:r>
              <a:rPr dirty="0" sz="1100" spc="-1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&lt;-</a:t>
            </a:r>
            <a:r>
              <a:rPr dirty="0" sz="1200" spc="-14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read.csv(here(</a:t>
            </a:r>
            <a:r>
              <a:rPr dirty="0" sz="1100" spc="-85">
                <a:solidFill>
                  <a:srgbClr val="DD1144"/>
                </a:solidFill>
                <a:latin typeface="Courier New"/>
                <a:cs typeface="Courier New"/>
              </a:rPr>
              <a:t>'resources/datasets/callback.csv'</a:t>
            </a: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)) 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head(d)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39750" y="1470257"/>
          <a:ext cx="2377440" cy="877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665"/>
                <a:gridCol w="1268094"/>
                <a:gridCol w="666115"/>
              </a:tblGrid>
              <a:tr h="125730">
                <a:tc>
                  <a:txBody>
                    <a:bodyPr/>
                    <a:lstStyle/>
                    <a:p>
                      <a:pPr algn="r" marR="29209">
                        <a:lnSpc>
                          <a:spcPts val="890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ID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90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racial_group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90"/>
                        </a:lnSpc>
                      </a:pPr>
                      <a:r>
                        <a:rPr dirty="0" sz="11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callback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  <a:tabLst>
                          <a:tab pos="223520" algn="l"/>
                        </a:tabLst>
                      </a:pPr>
                      <a:r>
                        <a:rPr dirty="0" sz="11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r>
                        <a:rPr dirty="0" sz="110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	</a:t>
                      </a:r>
                      <a:r>
                        <a:rPr dirty="0" sz="11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White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75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No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8270">
                <a:tc>
                  <a:txBody>
                    <a:bodyPr/>
                    <a:lstStyle/>
                    <a:p>
                      <a:pPr algn="r" marR="29209">
                        <a:lnSpc>
                          <a:spcPts val="910"/>
                        </a:lnSpc>
                        <a:tabLst>
                          <a:tab pos="223520" algn="l"/>
                        </a:tabLst>
                      </a:pPr>
                      <a:r>
                        <a:rPr dirty="0" sz="11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2</a:t>
                      </a:r>
                      <a:r>
                        <a:rPr dirty="0" sz="110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	</a:t>
                      </a:r>
                      <a:r>
                        <a:rPr dirty="0" sz="11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2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10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White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10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No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8270">
                <a:tc>
                  <a:txBody>
                    <a:bodyPr/>
                    <a:lstStyle/>
                    <a:p>
                      <a:pPr algn="r" marR="29209">
                        <a:lnSpc>
                          <a:spcPts val="910"/>
                        </a:lnSpc>
                        <a:tabLst>
                          <a:tab pos="223520" algn="l"/>
                        </a:tabLst>
                      </a:pPr>
                      <a:r>
                        <a:rPr dirty="0" sz="11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3</a:t>
                      </a:r>
                      <a:r>
                        <a:rPr dirty="0" sz="110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	</a:t>
                      </a:r>
                      <a:r>
                        <a:rPr dirty="0" sz="11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3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10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White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10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No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  <a:tabLst>
                          <a:tab pos="223520" algn="l"/>
                        </a:tabLst>
                      </a:pPr>
                      <a:r>
                        <a:rPr dirty="0" sz="11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4</a:t>
                      </a:r>
                      <a:r>
                        <a:rPr dirty="0" sz="110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	</a:t>
                      </a:r>
                      <a:r>
                        <a:rPr dirty="0" sz="11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4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African</a:t>
                      </a:r>
                      <a:r>
                        <a:rPr dirty="0" sz="1100" spc="-4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American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75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Yes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  <a:tabLst>
                          <a:tab pos="223520" algn="l"/>
                        </a:tabLst>
                      </a:pPr>
                      <a:r>
                        <a:rPr dirty="0" sz="11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5</a:t>
                      </a:r>
                      <a:r>
                        <a:rPr dirty="0" sz="110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	</a:t>
                      </a:r>
                      <a:r>
                        <a:rPr dirty="0" sz="11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5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African</a:t>
                      </a:r>
                      <a:r>
                        <a:rPr dirty="0" sz="1100" spc="-4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American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75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No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5730">
                <a:tc>
                  <a:txBody>
                    <a:bodyPr/>
                    <a:lstStyle/>
                    <a:p>
                      <a:pPr algn="r" marR="29209">
                        <a:lnSpc>
                          <a:spcPts val="890"/>
                        </a:lnSpc>
                        <a:tabLst>
                          <a:tab pos="223520" algn="l"/>
                        </a:tabLst>
                      </a:pPr>
                      <a:r>
                        <a:rPr dirty="0" sz="11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6</a:t>
                      </a:r>
                      <a:r>
                        <a:rPr dirty="0" sz="110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	</a:t>
                      </a:r>
                      <a:r>
                        <a:rPr dirty="0" sz="11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6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90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White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90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No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71499" y="2457449"/>
            <a:ext cx="7505700" cy="62865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25400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200"/>
              </a:spcBef>
            </a:pP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1150" spc="-9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Create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the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05" i="1">
                <a:solidFill>
                  <a:srgbClr val="999987"/>
                </a:solidFill>
                <a:latin typeface="Courier New"/>
                <a:cs typeface="Courier New"/>
              </a:rPr>
              <a:t>contingency</a:t>
            </a:r>
            <a:r>
              <a:rPr dirty="0" sz="11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table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by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cell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20" i="1">
                <a:solidFill>
                  <a:srgbClr val="999987"/>
                </a:solidFill>
                <a:latin typeface="Courier New"/>
                <a:cs typeface="Courier New"/>
              </a:rPr>
              <a:t>frequencies</a:t>
            </a:r>
            <a:endParaRPr sz="1150">
              <a:latin typeface="Courier New"/>
              <a:cs typeface="Courier New"/>
            </a:endParaRPr>
          </a:p>
          <a:p>
            <a:pPr marL="61594" marR="4303395">
              <a:lnSpc>
                <a:spcPct val="72800"/>
              </a:lnSpc>
              <a:spcBef>
                <a:spcPts val="910"/>
              </a:spcBef>
            </a:pP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my.tab</a:t>
            </a:r>
            <a:r>
              <a:rPr dirty="0" sz="11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&lt;-</a:t>
            </a:r>
            <a:r>
              <a:rPr dirty="0" sz="1200" spc="-12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table(d</a:t>
            </a:r>
            <a:r>
              <a:rPr dirty="0" sz="1200" spc="-85">
                <a:solidFill>
                  <a:srgbClr val="333333"/>
                </a:solidFill>
                <a:latin typeface="Lucida Console"/>
                <a:cs typeface="Lucida Console"/>
              </a:rPr>
              <a:t>$</a:t>
            </a: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racial_group,d</a:t>
            </a:r>
            <a:r>
              <a:rPr dirty="0" sz="1200" spc="-85">
                <a:solidFill>
                  <a:srgbClr val="333333"/>
                </a:solidFill>
                <a:latin typeface="Lucida Console"/>
                <a:cs typeface="Lucida Console"/>
              </a:rPr>
              <a:t>$</a:t>
            </a: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callback) 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my.tab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7961" y="3274726"/>
            <a:ext cx="1964689" cy="44323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 marR="5080" indent="1416685">
              <a:lnSpc>
                <a:spcPct val="73900"/>
              </a:lnSpc>
              <a:spcBef>
                <a:spcPts val="459"/>
              </a:spcBef>
              <a:tabLst>
                <a:tab pos="1727835" algn="l"/>
              </a:tabLst>
            </a:pP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No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95">
                <a:solidFill>
                  <a:srgbClr val="007834"/>
                </a:solidFill>
                <a:latin typeface="Lucida Console"/>
                <a:cs typeface="Lucida Console"/>
              </a:rPr>
              <a:t>Yes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African</a:t>
            </a:r>
            <a:r>
              <a:rPr dirty="0" sz="1100" spc="-4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American</a:t>
            </a:r>
            <a:r>
              <a:rPr dirty="0" sz="1100" spc="-4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20">
                <a:solidFill>
                  <a:srgbClr val="007834"/>
                </a:solidFill>
                <a:latin typeface="Lucida Console"/>
                <a:cs typeface="Lucida Console"/>
              </a:rPr>
              <a:t>2281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95">
                <a:solidFill>
                  <a:srgbClr val="007834"/>
                </a:solidFill>
                <a:latin typeface="Lucida Console"/>
                <a:cs typeface="Lucida Console"/>
              </a:rPr>
              <a:t>164</a:t>
            </a:r>
            <a:endParaRPr sz="1100">
              <a:latin typeface="Lucida Console"/>
              <a:cs typeface="Lucida Console"/>
            </a:endParaRPr>
          </a:p>
          <a:p>
            <a:pPr marL="12700">
              <a:lnSpc>
                <a:spcPts val="975"/>
              </a:lnSpc>
              <a:tabLst>
                <a:tab pos="1280160" algn="l"/>
                <a:tab pos="1727835" algn="l"/>
              </a:tabLst>
            </a:pP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White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20">
                <a:solidFill>
                  <a:srgbClr val="007834"/>
                </a:solidFill>
                <a:latin typeface="Lucida Console"/>
                <a:cs typeface="Lucida Console"/>
              </a:rPr>
              <a:t>2199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65">
                <a:solidFill>
                  <a:srgbClr val="007834"/>
                </a:solidFill>
                <a:latin typeface="Lucida Console"/>
                <a:cs typeface="Lucida Console"/>
              </a:rPr>
              <a:t>246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1499" y="3819524"/>
            <a:ext cx="7505700" cy="86677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15875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125"/>
              </a:spcBef>
            </a:pP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1150" spc="-9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Create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the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05" i="1">
                <a:solidFill>
                  <a:srgbClr val="999987"/>
                </a:solidFill>
                <a:latin typeface="Courier New"/>
                <a:cs typeface="Courier New"/>
              </a:rPr>
              <a:t>contingency</a:t>
            </a:r>
            <a:r>
              <a:rPr dirty="0" sz="11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table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by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cell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20" i="1">
                <a:solidFill>
                  <a:srgbClr val="999987"/>
                </a:solidFill>
                <a:latin typeface="Courier New"/>
                <a:cs typeface="Courier New"/>
              </a:rPr>
              <a:t>frequencies</a:t>
            </a:r>
            <a:endParaRPr sz="1150">
              <a:latin typeface="Courier New"/>
              <a:cs typeface="Courier New"/>
            </a:endParaRPr>
          </a:p>
          <a:p>
            <a:pPr marL="61594">
              <a:lnSpc>
                <a:spcPts val="1205"/>
              </a:lnSpc>
              <a:spcBef>
                <a:spcPts val="520"/>
              </a:spcBef>
            </a:pP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fit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&lt;-</a:t>
            </a:r>
            <a:r>
              <a:rPr dirty="0" sz="1200" spc="-13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30">
                <a:solidFill>
                  <a:srgbClr val="333333"/>
                </a:solidFill>
                <a:latin typeface="Lucida Console"/>
                <a:cs typeface="Lucida Console"/>
              </a:rPr>
              <a:t>chisq.test(my.tab,</a:t>
            </a:r>
            <a:endParaRPr sz="1100">
              <a:latin typeface="Lucida Console"/>
              <a:cs typeface="Lucida Console"/>
            </a:endParaRPr>
          </a:p>
          <a:p>
            <a:pPr marL="1403985">
              <a:lnSpc>
                <a:spcPts val="1210"/>
              </a:lnSpc>
            </a:pP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correct</a:t>
            </a:r>
            <a:r>
              <a:rPr dirty="0" sz="11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14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000" spc="-10">
                <a:solidFill>
                  <a:srgbClr val="008080"/>
                </a:solidFill>
                <a:latin typeface="Courier New"/>
                <a:cs typeface="Courier New"/>
              </a:rPr>
              <a:t>FALSE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100">
              <a:latin typeface="Lucida Console"/>
              <a:cs typeface="Lucida Console"/>
            </a:endParaRPr>
          </a:p>
          <a:p>
            <a:pPr marL="61594">
              <a:lnSpc>
                <a:spcPct val="100000"/>
              </a:lnSpc>
              <a:spcBef>
                <a:spcPts val="685"/>
              </a:spcBef>
            </a:pPr>
            <a:r>
              <a:rPr dirty="0" sz="1100" spc="-25">
                <a:solidFill>
                  <a:srgbClr val="333333"/>
                </a:solidFill>
                <a:latin typeface="Lucida Console"/>
                <a:cs typeface="Lucida Console"/>
              </a:rPr>
              <a:t>fit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8800" y="4806689"/>
            <a:ext cx="3531235" cy="64452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310515">
              <a:lnSpc>
                <a:spcPct val="100000"/>
              </a:lnSpc>
              <a:spcBef>
                <a:spcPts val="725"/>
              </a:spcBef>
            </a:pP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Pearson's</a:t>
            </a:r>
            <a:r>
              <a:rPr dirty="0" sz="11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Chi-squared</a:t>
            </a:r>
            <a:r>
              <a:rPr dirty="0" sz="1100" spc="-4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20">
                <a:solidFill>
                  <a:srgbClr val="007834"/>
                </a:solidFill>
                <a:latin typeface="Lucida Console"/>
                <a:cs typeface="Lucida Console"/>
              </a:rPr>
              <a:t>test</a:t>
            </a:r>
            <a:endParaRPr sz="1100">
              <a:latin typeface="Lucida Console"/>
              <a:cs typeface="Lucida Console"/>
            </a:endParaRPr>
          </a:p>
          <a:p>
            <a:pPr marL="12700">
              <a:lnSpc>
                <a:spcPts val="1145"/>
              </a:lnSpc>
              <a:spcBef>
                <a:spcPts val="630"/>
              </a:spcBef>
              <a:tabLst>
                <a:tab pos="534670" algn="l"/>
              </a:tabLst>
            </a:pP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data: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my.tab</a:t>
            </a:r>
            <a:endParaRPr sz="1100">
              <a:latin typeface="Lucida Console"/>
              <a:cs typeface="Lucida Console"/>
            </a:endParaRPr>
          </a:p>
          <a:p>
            <a:pPr marL="12700">
              <a:lnSpc>
                <a:spcPts val="1150"/>
              </a:lnSpc>
            </a:pP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X-squared</a:t>
            </a:r>
            <a:r>
              <a:rPr dirty="0" sz="11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950">
                <a:solidFill>
                  <a:srgbClr val="007834"/>
                </a:solidFill>
                <a:latin typeface="Century Gothic"/>
                <a:cs typeface="Century Gothic"/>
              </a:rPr>
              <a:t>=</a:t>
            </a:r>
            <a:r>
              <a:rPr dirty="0" sz="950" spc="340">
                <a:solidFill>
                  <a:srgbClr val="007834"/>
                </a:solidFill>
                <a:latin typeface="Century Gothic"/>
                <a:cs typeface="Century Gothic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17.901,</a:t>
            </a:r>
            <a:r>
              <a:rPr dirty="0" sz="1100" spc="-5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df</a:t>
            </a:r>
            <a:r>
              <a:rPr dirty="0" sz="11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950">
                <a:solidFill>
                  <a:srgbClr val="007834"/>
                </a:solidFill>
                <a:latin typeface="Century Gothic"/>
                <a:cs typeface="Century Gothic"/>
              </a:rPr>
              <a:t>=</a:t>
            </a:r>
            <a:r>
              <a:rPr dirty="0" sz="950" spc="345">
                <a:solidFill>
                  <a:srgbClr val="007834"/>
                </a:solidFill>
                <a:latin typeface="Century Gothic"/>
                <a:cs typeface="Century Gothic"/>
              </a:rPr>
              <a:t> 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1,</a:t>
            </a:r>
            <a:r>
              <a:rPr dirty="0" sz="11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p-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value</a:t>
            </a:r>
            <a:r>
              <a:rPr dirty="0" sz="11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950">
                <a:solidFill>
                  <a:srgbClr val="007834"/>
                </a:solidFill>
                <a:latin typeface="Century Gothic"/>
                <a:cs typeface="Century Gothic"/>
              </a:rPr>
              <a:t>=</a:t>
            </a:r>
            <a:r>
              <a:rPr dirty="0" sz="950" spc="345">
                <a:solidFill>
                  <a:srgbClr val="007834"/>
                </a:solidFill>
                <a:latin typeface="Century Gothic"/>
                <a:cs typeface="Century Gothic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2.327e-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05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1499" y="5543549"/>
            <a:ext cx="7505700" cy="50482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19050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150"/>
              </a:spcBef>
            </a:pPr>
            <a:r>
              <a:rPr dirty="0" sz="1150" spc="-40" i="1">
                <a:solidFill>
                  <a:srgbClr val="999987"/>
                </a:solidFill>
                <a:latin typeface="Courier New"/>
                <a:cs typeface="Courier New"/>
              </a:rPr>
              <a:t>#fit</a:t>
            </a:r>
            <a:r>
              <a:rPr dirty="0" sz="1200" spc="-40" i="1">
                <a:solidFill>
                  <a:srgbClr val="999987"/>
                </a:solidFill>
                <a:latin typeface="Georgia"/>
                <a:cs typeface="Georgia"/>
              </a:rPr>
              <a:t>$</a:t>
            </a:r>
            <a:r>
              <a:rPr dirty="0" sz="1150" spc="-40" i="1">
                <a:solidFill>
                  <a:srgbClr val="999987"/>
                </a:solidFill>
                <a:latin typeface="Courier New"/>
                <a:cs typeface="Courier New"/>
              </a:rPr>
              <a:t>observed</a:t>
            </a:r>
            <a:endParaRPr sz="1150">
              <a:latin typeface="Courier New"/>
              <a:cs typeface="Courier New"/>
            </a:endParaRPr>
          </a:p>
          <a:p>
            <a:pPr marL="61594">
              <a:lnSpc>
                <a:spcPct val="100000"/>
              </a:lnSpc>
              <a:spcBef>
                <a:spcPts val="509"/>
              </a:spcBef>
            </a:pPr>
            <a:r>
              <a:rPr dirty="0" sz="1150" spc="-40" i="1">
                <a:solidFill>
                  <a:srgbClr val="999987"/>
                </a:solidFill>
                <a:latin typeface="Courier New"/>
                <a:cs typeface="Courier New"/>
              </a:rPr>
              <a:t>#fit</a:t>
            </a:r>
            <a:r>
              <a:rPr dirty="0" sz="1200" spc="-40" i="1">
                <a:solidFill>
                  <a:srgbClr val="999987"/>
                </a:solidFill>
                <a:latin typeface="Georgia"/>
                <a:cs typeface="Georgia"/>
              </a:rPr>
              <a:t>$</a:t>
            </a:r>
            <a:r>
              <a:rPr dirty="0" sz="1150" spc="-40" i="1">
                <a:solidFill>
                  <a:srgbClr val="999987"/>
                </a:solidFill>
                <a:latin typeface="Courier New"/>
                <a:cs typeface="Courier New"/>
              </a:rPr>
              <a:t>expected</a:t>
            </a:r>
            <a:endParaRPr sz="11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499" y="2647949"/>
            <a:ext cx="47625" cy="438150"/>
          </a:xfrm>
          <a:custGeom>
            <a:avLst/>
            <a:gdLst/>
            <a:ahLst/>
            <a:cxnLst/>
            <a:rect l="l" t="t" r="r" b="b"/>
            <a:pathLst>
              <a:path w="47625" h="438150">
                <a:moveTo>
                  <a:pt x="47624" y="438149"/>
                </a:moveTo>
                <a:lnTo>
                  <a:pt x="0" y="438149"/>
                </a:lnTo>
                <a:lnTo>
                  <a:pt x="0" y="0"/>
                </a:lnTo>
                <a:lnTo>
                  <a:pt x="47624" y="0"/>
                </a:lnTo>
                <a:lnTo>
                  <a:pt x="47624" y="438149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14374" y="3667124"/>
          <a:ext cx="7296150" cy="1445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3152775"/>
                <a:gridCol w="2838450"/>
              </a:tblGrid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b="1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35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b="1">
                          <a:latin typeface="Arial"/>
                          <a:cs typeface="Arial"/>
                        </a:rPr>
                        <a:t>enrolled</a:t>
                      </a:r>
                      <a:r>
                        <a:rPr dirty="0" sz="135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35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b="1">
                          <a:latin typeface="Arial"/>
                          <a:cs typeface="Arial"/>
                        </a:rPr>
                        <a:t>advanced</a:t>
                      </a:r>
                      <a:r>
                        <a:rPr dirty="0" sz="135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 b="1">
                          <a:latin typeface="Arial"/>
                          <a:cs typeface="Arial"/>
                        </a:rPr>
                        <a:t>coursework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b="1">
                          <a:latin typeface="Arial"/>
                          <a:cs typeface="Arial"/>
                        </a:rPr>
                        <a:t>Enrolled</a:t>
                      </a:r>
                      <a:r>
                        <a:rPr dirty="0" sz="135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35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b="1">
                          <a:latin typeface="Arial"/>
                          <a:cs typeface="Arial"/>
                        </a:rPr>
                        <a:t>advanced</a:t>
                      </a:r>
                      <a:r>
                        <a:rPr dirty="0" sz="135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 b="1">
                          <a:latin typeface="Arial"/>
                          <a:cs typeface="Arial"/>
                        </a:rPr>
                        <a:t>coursework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Low-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income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300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Middle-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income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260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190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High-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income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180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350" spc="-25">
                          <a:latin typeface="Arial"/>
                          <a:cs typeface="Arial"/>
                        </a:rPr>
                        <a:t>340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35"/>
              <a:t>In-</a:t>
            </a:r>
            <a:r>
              <a:rPr dirty="0" spc="-55"/>
              <a:t>class</a:t>
            </a:r>
            <a:r>
              <a:rPr dirty="0" spc="-135"/>
              <a:t> Practice</a:t>
            </a:r>
          </a:p>
        </p:txBody>
      </p:sp>
      <p:sp>
        <p:nvSpPr>
          <p:cNvPr id="5" name="object 5"/>
          <p:cNvSpPr/>
          <p:nvPr/>
        </p:nvSpPr>
        <p:spPr>
          <a:xfrm>
            <a:off x="771524" y="13049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1524" y="17144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58800" y="795019"/>
            <a:ext cx="7251065" cy="22929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55">
                <a:latin typeface="Gill Sans MT"/>
                <a:cs typeface="Gill Sans MT"/>
              </a:rPr>
              <a:t>Variables:</a:t>
            </a:r>
            <a:endParaRPr sz="1450">
              <a:latin typeface="Gill Sans MT"/>
              <a:cs typeface="Gill Sans MT"/>
            </a:endParaRPr>
          </a:p>
          <a:p>
            <a:pPr marL="393065">
              <a:lnSpc>
                <a:spcPct val="100000"/>
              </a:lnSpc>
              <a:spcBef>
                <a:spcPts val="1410"/>
              </a:spcBef>
            </a:pPr>
            <a:r>
              <a:rPr dirty="0" sz="1450" spc="65">
                <a:latin typeface="Gill Sans MT"/>
                <a:cs typeface="Gill Sans MT"/>
              </a:rPr>
              <a:t>Socioeconomic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status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(Low-</a:t>
            </a:r>
            <a:r>
              <a:rPr dirty="0" sz="1450" spc="75">
                <a:latin typeface="Gill Sans MT"/>
                <a:cs typeface="Gill Sans MT"/>
              </a:rPr>
              <a:t>income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330">
                <a:latin typeface="Gill Sans MT"/>
                <a:cs typeface="Gill Sans MT"/>
              </a:rPr>
              <a:t>/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Middle-</a:t>
            </a:r>
            <a:r>
              <a:rPr dirty="0" sz="1450" spc="75">
                <a:latin typeface="Gill Sans MT"/>
                <a:cs typeface="Gill Sans MT"/>
              </a:rPr>
              <a:t>income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330">
                <a:latin typeface="Gill Sans MT"/>
                <a:cs typeface="Gill Sans MT"/>
              </a:rPr>
              <a:t>/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High-</a:t>
            </a:r>
            <a:r>
              <a:rPr dirty="0" sz="1450" spc="55">
                <a:latin typeface="Gill Sans MT"/>
                <a:cs typeface="Gill Sans MT"/>
              </a:rPr>
              <a:t>income)</a:t>
            </a:r>
            <a:endParaRPr sz="1450">
              <a:latin typeface="Gill Sans MT"/>
              <a:cs typeface="Gill Sans MT"/>
            </a:endParaRPr>
          </a:p>
          <a:p>
            <a:pPr marL="393065" marR="5080">
              <a:lnSpc>
                <a:spcPts val="1730"/>
              </a:lnSpc>
              <a:spcBef>
                <a:spcPts val="1550"/>
              </a:spcBef>
            </a:pPr>
            <a:r>
              <a:rPr dirty="0" sz="1450" spc="85">
                <a:latin typeface="Gill Sans MT"/>
                <a:cs typeface="Gill Sans MT"/>
              </a:rPr>
              <a:t>Student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outcome: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Participation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AP/IB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or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not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(Enrolled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advanced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coursework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280">
                <a:latin typeface="Gill Sans MT"/>
                <a:cs typeface="Gill Sans MT"/>
              </a:rPr>
              <a:t>/ </a:t>
            </a:r>
            <a:r>
              <a:rPr dirty="0" sz="1450" spc="-10">
                <a:latin typeface="Gill Sans MT"/>
                <a:cs typeface="Gill Sans MT"/>
              </a:rPr>
              <a:t>Not</a:t>
            </a:r>
            <a:r>
              <a:rPr dirty="0" sz="1450" spc="-8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enrolled)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450" spc="55">
                <a:latin typeface="Gill Sans MT"/>
                <a:cs typeface="Gill Sans MT"/>
              </a:rPr>
              <a:t>Research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question:</a:t>
            </a:r>
            <a:endParaRPr sz="1450">
              <a:latin typeface="Gill Sans MT"/>
              <a:cs typeface="Gill Sans MT"/>
            </a:endParaRPr>
          </a:p>
          <a:p>
            <a:pPr marL="623570" marR="809625">
              <a:lnSpc>
                <a:spcPts val="1730"/>
              </a:lnSpc>
              <a:spcBef>
                <a:spcPts val="1475"/>
              </a:spcBef>
            </a:pPr>
            <a:r>
              <a:rPr dirty="0" sz="1450" spc="80">
                <a:latin typeface="Gill Sans MT"/>
                <a:cs typeface="Gill Sans MT"/>
              </a:rPr>
              <a:t>Is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student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enrollment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advanced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coursework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(AP/IB)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associated</a:t>
            </a:r>
            <a:r>
              <a:rPr dirty="0" sz="1450" spc="35">
                <a:latin typeface="Gill Sans MT"/>
                <a:cs typeface="Gill Sans MT"/>
              </a:rPr>
              <a:t> with </a:t>
            </a:r>
            <a:r>
              <a:rPr dirty="0" sz="1450" spc="65">
                <a:latin typeface="Gill Sans MT"/>
                <a:cs typeface="Gill Sans MT"/>
              </a:rPr>
              <a:t>socioeconomic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status?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F97B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Relationship between two categorical variables</dc:title>
  <dcterms:created xsi:type="dcterms:W3CDTF">2025-11-18T21:19:57Z</dcterms:created>
  <dcterms:modified xsi:type="dcterms:W3CDTF">2025-11-18T21:19:57Z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2025-11-18T00:00:00Z</vt:filetime>
  </property>
  <property fmtid="{D5CDD505-2E9C-101B-9397-08002B2CF9AE}" pid="3" name="Creator">
    <vt:lpwstr>Mozilla/5.0 (Windows NT 10.0; Win64; x64) AppleWebKit/537.36 (KHTML, like Gecko) Chrome/141.0.0.0 Safari/537.36</vt:lpwstr>
  </property>
  <property fmtid="{D5CDD505-2E9C-101B-9397-08002B2CF9AE}" pid="4" name="LastSaved">
    <vt:filetime>2025-11-18T00:00:00Z</vt:filetime>
  </property>
  <property fmtid="{D5CDD505-2E9C-101B-9397-08002B2CF9AE}" pid="5" name="Producer">
    <vt:lpwstr>Skia/PDF m141</vt:lpwstr>
  </property>
</Properties>
</file>